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  <p:sldMasterId id="2147483672" r:id="rId2"/>
  </p:sldMasterIdLst>
  <p:notesMasterIdLst>
    <p:notesMasterId r:id="rId4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9144000" cy="5143500" type="screen16x9"/>
  <p:notesSz cx="6858000" cy="9144000"/>
  <p:embeddedFontLst>
    <p:embeddedFont>
      <p:font typeface="Inter" panose="020B0604020202020204" charset="0"/>
      <p:regular r:id="rId46"/>
      <p:bold r:id="rId47"/>
      <p:italic r:id="rId48"/>
      <p:boldItalic r:id="rId49"/>
    </p:embeddedFont>
    <p:embeddedFont>
      <p:font typeface="Merriweather" panose="00000500000000000000" pitchFamily="2" charset="0"/>
      <p:regular r:id="rId50"/>
      <p:bold r:id="rId51"/>
      <p:italic r:id="rId52"/>
      <p:boldItalic r:id="rId53"/>
    </p:embeddedFont>
    <p:embeddedFont>
      <p:font typeface="Play" panose="020B0604020202020204" charset="0"/>
      <p:regular r:id="rId54"/>
      <p:bold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68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font" Target="fonts/font6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1.fntdata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97528abd9_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g3a97528abd9_2_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g3a97528abd9_2_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a97528abd9_2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g3a97528abd9_2_1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g3a97528abd9_2_1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a97528abd9_2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g3a97528abd9_2_1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g3a97528abd9_2_1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a97528abd9_2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5" name="Google Shape;265;g3a97528abd9_2_2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3a97528abd9_2_2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a97528abd9_2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7" name="Google Shape;337;g3a97528abd9_2_2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g3a97528abd9_2_28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a97528abd9_2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2" name="Google Shape;422;g3a97528abd9_2_36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g3a97528abd9_2_36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a97528abd9_2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1" name="Google Shape;481;g3a97528abd9_2_4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g3a97528abd9_2_4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a97528abd9_2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9" name="Google Shape;519;g3a97528abd9_2_4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g3a97528abd9_2_4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a97528abd9_2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3" name="Google Shape;543;g3a97528abd9_2_48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a97528abd9_2_48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a97528abd9_2_5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9" name="Google Shape;619;g3a97528abd9_2_5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g3a97528abd9_2_5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a97528abd9_2_6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1" name="Google Shape;661;g3a97528abd9_2_6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2" name="Google Shape;662;g3a97528abd9_2_69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3a97528abd9_2_8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3" name="Google Shape;683;g3a97528abd9_2_8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g3a97528abd9_2_8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3a97528abd9_2_9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6" name="Google Shape;706;g3a97528abd9_2_9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g3a97528abd9_2_93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a97528abd9_2_10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3" name="Google Shape;753;g3a97528abd9_2_10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g3a97528abd9_2_10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3a97528abd9_2_1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8" name="Google Shape;778;g3a97528abd9_2_11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9" name="Google Shape;779;g3a97528abd9_2_11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a97528abd9_2_1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3" name="Google Shape;803;g3a97528abd9_2_12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g3a97528abd9_2_12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g3a97528abd9_2_14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4" name="Google Shape;864;g3a97528abd9_2_14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5" name="Google Shape;865;g3a97528abd9_2_140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g3a97528abd9_2_15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1" name="Google Shape;1021;g3a97528abd9_2_15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2" name="Google Shape;1022;g3a97528abd9_2_15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3a97528abd9_2_16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1" name="Google Shape;1091;g3a97528abd9_2_16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g3a97528abd9_2_16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Google Shape;1128;g3a97528abd9_2_16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9" name="Google Shape;1129;g3a97528abd9_2_16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0" name="Google Shape;1130;g3a97528abd9_2_16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g3a97528abd9_2_1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6" name="Google Shape;1176;g3a97528abd9_2_17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g3a97528abd9_2_17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Google Shape;1241;g3a97528abd9_2_18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2" name="Google Shape;1242;g3a97528abd9_2_185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3" name="Google Shape;1243;g3a97528abd9_2_185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g3a97528abd9_2_19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9" name="Google Shape;1269;g3a97528abd9_2_19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0" name="Google Shape;1270;g3a97528abd9_2_19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Google Shape;1306;g3a97528abd9_2_20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7" name="Google Shape;1307;g3a97528abd9_2_20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8" name="Google Shape;1308;g3a97528abd9_2_200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Google Shape;1332;g3a97528abd9_2_2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3" name="Google Shape;1333;g3a97528abd9_2_210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4" name="Google Shape;1334;g3a97528abd9_2_210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Google Shape;1358;g3a97528abd9_2_2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9" name="Google Shape;1359;g3a97528abd9_2_2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0" name="Google Shape;1360;g3a97528abd9_2_22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Google Shape;1384;g3a97528abd9_2_2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5" name="Google Shape;1385;g3a97528abd9_2_23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6" name="Google Shape;1386;g3a97528abd9_2_23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a97528abd9_2_2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1" name="Google Shape;1461;g3a97528abd9_2_23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2" name="Google Shape;1462;g3a97528abd9_2_239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3a97528abd9_2_2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7" name="Google Shape;1507;g3a97528abd9_2_24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8" name="Google Shape;1508;g3a97528abd9_2_246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Google Shape;1551;g3a97528abd9_2_25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2" name="Google Shape;1552;g3a97528abd9_2_25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3" name="Google Shape;1553;g3a97528abd9_2_25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Google Shape;1629;g3a97528abd9_2_27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0" name="Google Shape;1630;g3a97528abd9_2_27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1" name="Google Shape;1631;g3a97528abd9_2_27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Google Shape;1656;g3a97528abd9_2_28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7" name="Google Shape;1657;g3a97528abd9_2_28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8" name="Google Shape;1658;g3a97528abd9_2_28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Google Shape;1700;g3a97528abd9_2_29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1" name="Google Shape;1701;g3a97528abd9_2_29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2" name="Google Shape;1702;g3a97528abd9_2_29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5" name="Google Shape;1755;g3a97528abd9_2_30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6" name="Google Shape;1756;g3a97528abd9_2_30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7" name="Google Shape;1757;g3a97528abd9_2_30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3" name="Google Shape;1793;g3a97528abd9_2_30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4" name="Google Shape;1794;g3a97528abd9_2_307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5" name="Google Shape;1795;g3a97528abd9_2_307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2" name="Google Shape;1902;g3a97528abd9_2_3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3" name="Google Shape;1903;g3a97528abd9_2_31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4" name="Google Shape;1904;g3a97528abd9_2_31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0" name="Google Shape;2080;g3a97528abd9_2_3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1" name="Google Shape;2081;g3a97528abd9_2_33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2" name="Google Shape;2082;g3a97528abd9_2_336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0" name="Google Shape;2250;g3a97528abd9_2_35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1" name="Google Shape;2251;g3a97528abd9_2_35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2" name="Google Shape;2252;g3a97528abd9_2_35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1" name="Google Shape;2371;g3a97528abd9_2_3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2" name="Google Shape;2372;g3a97528abd9_2_36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3" name="Google Shape;2373;g3a97528abd9_2_365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5" name="Google Shape;2485;g3a97528abd9_2_37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86" name="Google Shape;2486;g3a97528abd9_2_37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7" name="Google Shape;2487;g3a97528abd9_2_37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2" name="Google Shape;2522;g3a97528abd9_2_38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23" name="Google Shape;2523;g3a97528abd9_2_38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4" name="Google Shape;2524;g3a97528abd9_2_380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4" name="Google Shape;2664;g3a97528abd9_2_39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5" name="Google Shape;2665;g3a97528abd9_2_39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6" name="Google Shape;2666;g3a97528abd9_2_39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9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9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2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3" name="Google Shape;103;p22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04" name="Google Shape;104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3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3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1" name="Google Shape;111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4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25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2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11" Type="http://schemas.openxmlformats.org/officeDocument/2006/relationships/image" Target="../media/image5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11" Type="http://schemas.openxmlformats.org/officeDocument/2006/relationships/image" Target="../media/image12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12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12.png"/><Relationship Id="rId4" Type="http://schemas.openxmlformats.org/officeDocument/2006/relationships/image" Target="../media/image35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4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45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29.png"/><Relationship Id="rId9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29.png"/><Relationship Id="rId4" Type="http://schemas.openxmlformats.org/officeDocument/2006/relationships/image" Target="../media/image5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2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3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7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8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49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Relationship Id="rId9" Type="http://schemas.openxmlformats.org/officeDocument/2006/relationships/image" Target="../media/image9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43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10" Type="http://schemas.openxmlformats.org/officeDocument/2006/relationships/image" Target="../media/image100.png"/><Relationship Id="rId4" Type="http://schemas.openxmlformats.org/officeDocument/2006/relationships/image" Target="../media/image95.png"/><Relationship Id="rId9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1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4.png"/><Relationship Id="rId7" Type="http://schemas.openxmlformats.org/officeDocument/2006/relationships/image" Target="../media/image10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8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5.pn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6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7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3" Type="http://schemas.openxmlformats.org/officeDocument/2006/relationships/image" Target="../media/image108.png"/><Relationship Id="rId7" Type="http://schemas.openxmlformats.org/officeDocument/2006/relationships/image" Target="../media/image1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6.png"/><Relationship Id="rId5" Type="http://schemas.openxmlformats.org/officeDocument/2006/relationships/image" Target="../media/image110.png"/><Relationship Id="rId10" Type="http://schemas.openxmlformats.org/officeDocument/2006/relationships/image" Target="../media/image5.png"/><Relationship Id="rId4" Type="http://schemas.openxmlformats.org/officeDocument/2006/relationships/image" Target="../media/image109.png"/><Relationship Id="rId9" Type="http://schemas.openxmlformats.org/officeDocument/2006/relationships/image" Target="../media/image11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12" Type="http://schemas.openxmlformats.org/officeDocument/2006/relationships/image" Target="../media/image1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7.png"/><Relationship Id="rId11" Type="http://schemas.openxmlformats.org/officeDocument/2006/relationships/image" Target="../media/image120.png"/><Relationship Id="rId5" Type="http://schemas.openxmlformats.org/officeDocument/2006/relationships/image" Target="../media/image116.png"/><Relationship Id="rId10" Type="http://schemas.openxmlformats.org/officeDocument/2006/relationships/image" Target="../media/image113.png"/><Relationship Id="rId4" Type="http://schemas.openxmlformats.org/officeDocument/2006/relationships/image" Target="../media/image115.png"/><Relationship Id="rId9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5.png"/><Relationship Id="rId11" Type="http://schemas.openxmlformats.org/officeDocument/2006/relationships/image" Target="../media/image128.jpg"/><Relationship Id="rId5" Type="http://schemas.openxmlformats.org/officeDocument/2006/relationships/image" Target="../media/image124.png"/><Relationship Id="rId10" Type="http://schemas.openxmlformats.org/officeDocument/2006/relationships/image" Target="../media/image113.png"/><Relationship Id="rId4" Type="http://schemas.openxmlformats.org/officeDocument/2006/relationships/image" Target="../media/image123.png"/><Relationship Id="rId9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2.png"/><Relationship Id="rId11" Type="http://schemas.openxmlformats.org/officeDocument/2006/relationships/image" Target="../media/image135.png"/><Relationship Id="rId5" Type="http://schemas.openxmlformats.org/officeDocument/2006/relationships/image" Target="../media/image131.png"/><Relationship Id="rId10" Type="http://schemas.openxmlformats.org/officeDocument/2006/relationships/image" Target="../media/image113.png"/><Relationship Id="rId4" Type="http://schemas.openxmlformats.org/officeDocument/2006/relationships/image" Target="../media/image130.png"/><Relationship Id="rId9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138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29.png"/><Relationship Id="rId4" Type="http://schemas.openxmlformats.org/officeDocument/2006/relationships/image" Target="../media/image139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4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4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Relationship Id="rId9" Type="http://schemas.openxmlformats.org/officeDocument/2006/relationships/image" Target="../media/image14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46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9.png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13" Type="http://schemas.openxmlformats.org/officeDocument/2006/relationships/image" Target="../media/image161.png"/><Relationship Id="rId18" Type="http://schemas.openxmlformats.org/officeDocument/2006/relationships/image" Target="../media/image146.png"/><Relationship Id="rId3" Type="http://schemas.openxmlformats.org/officeDocument/2006/relationships/image" Target="../media/image151.png"/><Relationship Id="rId7" Type="http://schemas.openxmlformats.org/officeDocument/2006/relationships/image" Target="../media/image155.png"/><Relationship Id="rId12" Type="http://schemas.openxmlformats.org/officeDocument/2006/relationships/image" Target="../media/image160.png"/><Relationship Id="rId17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6" Type="http://schemas.openxmlformats.org/officeDocument/2006/relationships/image" Target="../media/image16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4.png"/><Relationship Id="rId11" Type="http://schemas.openxmlformats.org/officeDocument/2006/relationships/image" Target="../media/image159.png"/><Relationship Id="rId5" Type="http://schemas.openxmlformats.org/officeDocument/2006/relationships/image" Target="../media/image153.png"/><Relationship Id="rId15" Type="http://schemas.openxmlformats.org/officeDocument/2006/relationships/image" Target="../media/image163.png"/><Relationship Id="rId10" Type="http://schemas.openxmlformats.org/officeDocument/2006/relationships/image" Target="../media/image158.png"/><Relationship Id="rId4" Type="http://schemas.openxmlformats.org/officeDocument/2006/relationships/image" Target="../media/image152.png"/><Relationship Id="rId9" Type="http://schemas.openxmlformats.org/officeDocument/2006/relationships/image" Target="../media/image157.png"/><Relationship Id="rId14" Type="http://schemas.openxmlformats.org/officeDocument/2006/relationships/image" Target="../media/image16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9.png"/><Relationship Id="rId3" Type="http://schemas.openxmlformats.org/officeDocument/2006/relationships/image" Target="../media/image65.png"/><Relationship Id="rId7" Type="http://schemas.openxmlformats.org/officeDocument/2006/relationships/image" Target="../media/image16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7.png"/><Relationship Id="rId11" Type="http://schemas.openxmlformats.org/officeDocument/2006/relationships/image" Target="../media/image171.png"/><Relationship Id="rId5" Type="http://schemas.openxmlformats.org/officeDocument/2006/relationships/image" Target="../media/image166.png"/><Relationship Id="rId10" Type="http://schemas.openxmlformats.org/officeDocument/2006/relationships/image" Target="../media/image146.png"/><Relationship Id="rId4" Type="http://schemas.openxmlformats.org/officeDocument/2006/relationships/image" Target="../media/image165.png"/><Relationship Id="rId9" Type="http://schemas.openxmlformats.org/officeDocument/2006/relationships/image" Target="../media/image17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89.png"/><Relationship Id="rId7" Type="http://schemas.openxmlformats.org/officeDocument/2006/relationships/image" Target="../media/image17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4.png"/><Relationship Id="rId11" Type="http://schemas.openxmlformats.org/officeDocument/2006/relationships/image" Target="../media/image146.png"/><Relationship Id="rId5" Type="http://schemas.openxmlformats.org/officeDocument/2006/relationships/image" Target="../media/image173.png"/><Relationship Id="rId10" Type="http://schemas.openxmlformats.org/officeDocument/2006/relationships/image" Target="../media/image177.png"/><Relationship Id="rId4" Type="http://schemas.openxmlformats.org/officeDocument/2006/relationships/image" Target="../media/image172.png"/><Relationship Id="rId9" Type="http://schemas.openxmlformats.org/officeDocument/2006/relationships/image" Target="../media/image176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3.png"/><Relationship Id="rId13" Type="http://schemas.openxmlformats.org/officeDocument/2006/relationships/image" Target="../media/image5.png"/><Relationship Id="rId3" Type="http://schemas.openxmlformats.org/officeDocument/2006/relationships/image" Target="../media/image178.png"/><Relationship Id="rId7" Type="http://schemas.openxmlformats.org/officeDocument/2006/relationships/image" Target="../media/image182.png"/><Relationship Id="rId12" Type="http://schemas.openxmlformats.org/officeDocument/2006/relationships/image" Target="../media/image18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1.png"/><Relationship Id="rId11" Type="http://schemas.openxmlformats.org/officeDocument/2006/relationships/image" Target="../media/image186.png"/><Relationship Id="rId5" Type="http://schemas.openxmlformats.org/officeDocument/2006/relationships/image" Target="../media/image180.png"/><Relationship Id="rId10" Type="http://schemas.openxmlformats.org/officeDocument/2006/relationships/image" Target="../media/image185.png"/><Relationship Id="rId4" Type="http://schemas.openxmlformats.org/officeDocument/2006/relationships/image" Target="../media/image179.png"/><Relationship Id="rId9" Type="http://schemas.openxmlformats.org/officeDocument/2006/relationships/image" Target="../media/image184.png"/><Relationship Id="rId14" Type="http://schemas.openxmlformats.org/officeDocument/2006/relationships/image" Target="../media/image146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3.png"/><Relationship Id="rId13" Type="http://schemas.openxmlformats.org/officeDocument/2006/relationships/image" Target="../media/image198.png"/><Relationship Id="rId18" Type="http://schemas.openxmlformats.org/officeDocument/2006/relationships/image" Target="../media/image203.png"/><Relationship Id="rId3" Type="http://schemas.openxmlformats.org/officeDocument/2006/relationships/image" Target="../media/image188.png"/><Relationship Id="rId21" Type="http://schemas.openxmlformats.org/officeDocument/2006/relationships/image" Target="../media/image5.png"/><Relationship Id="rId7" Type="http://schemas.openxmlformats.org/officeDocument/2006/relationships/image" Target="../media/image192.png"/><Relationship Id="rId12" Type="http://schemas.openxmlformats.org/officeDocument/2006/relationships/image" Target="../media/image197.png"/><Relationship Id="rId17" Type="http://schemas.openxmlformats.org/officeDocument/2006/relationships/image" Target="../media/image202.png"/><Relationship Id="rId2" Type="http://schemas.openxmlformats.org/officeDocument/2006/relationships/notesSlide" Target="../notesSlides/notesSlide39.xml"/><Relationship Id="rId16" Type="http://schemas.openxmlformats.org/officeDocument/2006/relationships/image" Target="../media/image201.png"/><Relationship Id="rId20" Type="http://schemas.openxmlformats.org/officeDocument/2006/relationships/image" Target="../media/image20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1.png"/><Relationship Id="rId11" Type="http://schemas.openxmlformats.org/officeDocument/2006/relationships/image" Target="../media/image196.png"/><Relationship Id="rId5" Type="http://schemas.openxmlformats.org/officeDocument/2006/relationships/image" Target="../media/image190.png"/><Relationship Id="rId15" Type="http://schemas.openxmlformats.org/officeDocument/2006/relationships/image" Target="../media/image200.png"/><Relationship Id="rId10" Type="http://schemas.openxmlformats.org/officeDocument/2006/relationships/image" Target="../media/image195.png"/><Relationship Id="rId19" Type="http://schemas.openxmlformats.org/officeDocument/2006/relationships/image" Target="../media/image170.png"/><Relationship Id="rId4" Type="http://schemas.openxmlformats.org/officeDocument/2006/relationships/image" Target="../media/image189.png"/><Relationship Id="rId9" Type="http://schemas.openxmlformats.org/officeDocument/2006/relationships/image" Target="../media/image194.png"/><Relationship Id="rId14" Type="http://schemas.openxmlformats.org/officeDocument/2006/relationships/image" Target="../media/image199.png"/><Relationship Id="rId22" Type="http://schemas.openxmlformats.org/officeDocument/2006/relationships/image" Target="../media/image146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40.png"/><Relationship Id="rId7" Type="http://schemas.openxmlformats.org/officeDocument/2006/relationships/image" Target="../media/image20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7.png"/><Relationship Id="rId5" Type="http://schemas.openxmlformats.org/officeDocument/2006/relationships/image" Target="../media/image206.png"/><Relationship Id="rId4" Type="http://schemas.openxmlformats.org/officeDocument/2006/relationships/image" Target="../media/image205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4.png"/><Relationship Id="rId13" Type="http://schemas.openxmlformats.org/officeDocument/2006/relationships/image" Target="../media/image219.png"/><Relationship Id="rId3" Type="http://schemas.openxmlformats.org/officeDocument/2006/relationships/image" Target="../media/image209.png"/><Relationship Id="rId7" Type="http://schemas.openxmlformats.org/officeDocument/2006/relationships/image" Target="../media/image213.png"/><Relationship Id="rId12" Type="http://schemas.openxmlformats.org/officeDocument/2006/relationships/image" Target="../media/image218.png"/><Relationship Id="rId2" Type="http://schemas.openxmlformats.org/officeDocument/2006/relationships/notesSlide" Target="../notesSlides/notesSlide41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2.png"/><Relationship Id="rId11" Type="http://schemas.openxmlformats.org/officeDocument/2006/relationships/image" Target="../media/image217.png"/><Relationship Id="rId5" Type="http://schemas.openxmlformats.org/officeDocument/2006/relationships/image" Target="../media/image211.png"/><Relationship Id="rId15" Type="http://schemas.openxmlformats.org/officeDocument/2006/relationships/image" Target="../media/image221.png"/><Relationship Id="rId10" Type="http://schemas.openxmlformats.org/officeDocument/2006/relationships/image" Target="../media/image216.png"/><Relationship Id="rId4" Type="http://schemas.openxmlformats.org/officeDocument/2006/relationships/image" Target="../media/image210.png"/><Relationship Id="rId9" Type="http://schemas.openxmlformats.org/officeDocument/2006/relationships/image" Target="../media/image215.png"/><Relationship Id="rId14" Type="http://schemas.openxmlformats.org/officeDocument/2006/relationships/image" Target="../media/image220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7.png"/><Relationship Id="rId3" Type="http://schemas.openxmlformats.org/officeDocument/2006/relationships/image" Target="../media/image222.png"/><Relationship Id="rId7" Type="http://schemas.openxmlformats.org/officeDocument/2006/relationships/image" Target="../media/image22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5.png"/><Relationship Id="rId5" Type="http://schemas.openxmlformats.org/officeDocument/2006/relationships/image" Target="../media/image224.png"/><Relationship Id="rId10" Type="http://schemas.openxmlformats.org/officeDocument/2006/relationships/image" Target="../media/image5.png"/><Relationship Id="rId4" Type="http://schemas.openxmlformats.org/officeDocument/2006/relationships/image" Target="../media/image223.png"/><Relationship Id="rId9" Type="http://schemas.openxmlformats.org/officeDocument/2006/relationships/image" Target="../media/image2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6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6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6"/>
          <p:cNvSpPr/>
          <p:nvPr/>
        </p:nvSpPr>
        <p:spPr>
          <a:xfrm>
            <a:off x="0" y="0"/>
            <a:ext cx="171450" cy="51435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6"/>
          <p:cNvSpPr/>
          <p:nvPr/>
        </p:nvSpPr>
        <p:spPr>
          <a:xfrm>
            <a:off x="6781877" y="0"/>
            <a:ext cx="2362123" cy="5143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6"/>
          <p:cNvSpPr/>
          <p:nvPr/>
        </p:nvSpPr>
        <p:spPr>
          <a:xfrm>
            <a:off x="6781876" y="0"/>
            <a:ext cx="6858" cy="51435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6"/>
          <p:cNvSpPr/>
          <p:nvPr/>
        </p:nvSpPr>
        <p:spPr>
          <a:xfrm>
            <a:off x="742721" y="471830"/>
            <a:ext cx="342900" cy="34290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8446" y="557555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6"/>
          <p:cNvSpPr txBox="1"/>
          <p:nvPr/>
        </p:nvSpPr>
        <p:spPr>
          <a:xfrm>
            <a:off x="1200150" y="471830"/>
            <a:ext cx="3279496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Arial"/>
              <a:buNone/>
            </a:pPr>
            <a:r>
              <a:rPr lang="en" sz="1400" b="1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CARNEGIE MELLON UNIVERSITY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6"/>
          <p:cNvSpPr txBox="1"/>
          <p:nvPr/>
        </p:nvSpPr>
        <p:spPr>
          <a:xfrm>
            <a:off x="1200150" y="692658"/>
            <a:ext cx="198264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Inter"/>
              <a:buNone/>
            </a:pPr>
            <a:r>
              <a:rPr lang="en" sz="8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SCHOOL OF COMPUTER SCIENCE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6"/>
          <p:cNvSpPr txBox="1"/>
          <p:nvPr/>
        </p:nvSpPr>
        <p:spPr>
          <a:xfrm>
            <a:off x="742721" y="881939"/>
            <a:ext cx="6758559" cy="100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3400"/>
              <a:buFont typeface="Arial"/>
              <a:buNone/>
            </a:pPr>
            <a:r>
              <a:rPr lang="en" sz="3400" b="1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Automated Data Science Workflow System</a:t>
            </a:r>
            <a:endParaRPr sz="3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26"/>
          <p:cNvSpPr/>
          <p:nvPr/>
        </p:nvSpPr>
        <p:spPr>
          <a:xfrm>
            <a:off x="742721" y="2096491"/>
            <a:ext cx="9141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6"/>
          <p:cNvSpPr txBox="1"/>
          <p:nvPr/>
        </p:nvSpPr>
        <p:spPr>
          <a:xfrm>
            <a:off x="742721" y="2396871"/>
            <a:ext cx="6872402" cy="672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2000"/>
              <a:buFont typeface="Inter"/>
              <a:buNone/>
            </a:pPr>
            <a:r>
              <a:rPr lang="en" sz="2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From Sequential LLM Pipelines to Intelligent Multi-Agent Orchestration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6"/>
          <p:cNvSpPr/>
          <p:nvPr/>
        </p:nvSpPr>
        <p:spPr>
          <a:xfrm>
            <a:off x="742721" y="3546958"/>
            <a:ext cx="3828821" cy="1028700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6"/>
          <p:cNvSpPr/>
          <p:nvPr/>
        </p:nvSpPr>
        <p:spPr>
          <a:xfrm>
            <a:off x="742721" y="3546958"/>
            <a:ext cx="28804" cy="10287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942975" y="3725266"/>
            <a:ext cx="711175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PRESENTER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6"/>
          <p:cNvSpPr txBox="1"/>
          <p:nvPr/>
        </p:nvSpPr>
        <p:spPr>
          <a:xfrm>
            <a:off x="942975" y="3925520"/>
            <a:ext cx="168638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Anurag Kumar Jha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" name="Google Shape;147;p2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2975" y="4247159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6"/>
          <p:cNvSpPr txBox="1"/>
          <p:nvPr/>
        </p:nvSpPr>
        <p:spPr>
          <a:xfrm>
            <a:off x="1143229" y="4225214"/>
            <a:ext cx="1754276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00"/>
              <a:buFont typeface="Inter"/>
              <a:buNone/>
            </a:pPr>
            <a:r>
              <a:rPr lang="en"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anuragkj@andrew.cmu.edu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6"/>
          <p:cNvSpPr/>
          <p:nvPr/>
        </p:nvSpPr>
        <p:spPr>
          <a:xfrm>
            <a:off x="4915129" y="3546958"/>
            <a:ext cx="3657371" cy="1028700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6"/>
          <p:cNvSpPr/>
          <p:nvPr/>
        </p:nvSpPr>
        <p:spPr>
          <a:xfrm>
            <a:off x="4915129" y="3546958"/>
            <a:ext cx="28804" cy="102870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26"/>
          <p:cNvSpPr txBox="1"/>
          <p:nvPr/>
        </p:nvSpPr>
        <p:spPr>
          <a:xfrm>
            <a:off x="5114696" y="3725266"/>
            <a:ext cx="60418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CONTEXT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6"/>
          <p:cNvSpPr txBox="1"/>
          <p:nvPr/>
        </p:nvSpPr>
        <p:spPr>
          <a:xfrm>
            <a:off x="5114696" y="3925520"/>
            <a:ext cx="2307717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Data Science Final Project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26" descr="preencoded.png"/>
          <p:cNvPicPr preferRelativeResize="0"/>
          <p:nvPr/>
        </p:nvPicPr>
        <p:blipFill rotWithShape="1">
          <a:blip r:embed="rId5">
            <a:alphaModFix/>
          </a:blip>
          <a:srcRect t="-43" b="-42"/>
          <a:stretch/>
        </p:blipFill>
        <p:spPr>
          <a:xfrm>
            <a:off x="5114696" y="4247159"/>
            <a:ext cx="100126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6"/>
          <p:cNvSpPr txBox="1"/>
          <p:nvPr/>
        </p:nvSpPr>
        <p:spPr>
          <a:xfrm>
            <a:off x="5300549" y="4225214"/>
            <a:ext cx="1311250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00"/>
              <a:buFont typeface="Inter"/>
              <a:buNone/>
            </a:pPr>
            <a:r>
              <a:rPr lang="en"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November 24, 2025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" name="Google Shape;155;p26" descr="preencoded.png"/>
          <p:cNvPicPr preferRelativeResize="0"/>
          <p:nvPr/>
        </p:nvPicPr>
        <p:blipFill rotWithShape="1">
          <a:blip r:embed="rId6">
            <a:alphaModFix amt="10000"/>
          </a:blip>
          <a:srcRect l="-13" r="-13"/>
          <a:stretch/>
        </p:blipFill>
        <p:spPr>
          <a:xfrm>
            <a:off x="7886700" y="4000271"/>
            <a:ext cx="1028700" cy="914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6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7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7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7"/>
          <p:cNvSpPr/>
          <p:nvPr/>
        </p:nvSpPr>
        <p:spPr>
          <a:xfrm>
            <a:off x="342900" y="628879"/>
            <a:ext cx="5300548" cy="120700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7"/>
          <p:cNvSpPr/>
          <p:nvPr/>
        </p:nvSpPr>
        <p:spPr>
          <a:xfrm>
            <a:off x="342900" y="628879"/>
            <a:ext cx="56921" cy="12070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p27" descr="preencoded.png"/>
          <p:cNvPicPr preferRelativeResize="0"/>
          <p:nvPr/>
        </p:nvPicPr>
        <p:blipFill rotWithShape="1">
          <a:blip r:embed="rId3">
            <a:alphaModFix/>
          </a:blip>
          <a:srcRect l="-4137" r="-4137"/>
          <a:stretch/>
        </p:blipFill>
        <p:spPr>
          <a:xfrm>
            <a:off x="628879" y="892912"/>
            <a:ext cx="157048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7"/>
          <p:cNvSpPr txBox="1"/>
          <p:nvPr/>
        </p:nvSpPr>
        <p:spPr>
          <a:xfrm>
            <a:off x="842849" y="857250"/>
            <a:ext cx="625450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VISION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7"/>
          <p:cNvSpPr txBox="1"/>
          <p:nvPr/>
        </p:nvSpPr>
        <p:spPr>
          <a:xfrm>
            <a:off x="628879" y="1171346"/>
            <a:ext cx="4884953" cy="421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i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"Create an intelligent agent that automates end-to-end data science pipeline from data preprocessing to model training and reporting."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7"/>
          <p:cNvSpPr/>
          <p:nvPr/>
        </p:nvSpPr>
        <p:spPr>
          <a:xfrm>
            <a:off x="342900" y="2407844"/>
            <a:ext cx="1257071" cy="1440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7"/>
          <p:cNvSpPr txBox="1"/>
          <p:nvPr/>
        </p:nvSpPr>
        <p:spPr>
          <a:xfrm>
            <a:off x="342900" y="2128724"/>
            <a:ext cx="1386002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Key Objectives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7"/>
          <p:cNvSpPr/>
          <p:nvPr/>
        </p:nvSpPr>
        <p:spPr>
          <a:xfrm>
            <a:off x="342900" y="259301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2" name="Google Shape;172;p2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5196" y="2693137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7"/>
          <p:cNvSpPr txBox="1"/>
          <p:nvPr/>
        </p:nvSpPr>
        <p:spPr>
          <a:xfrm>
            <a:off x="800329" y="2614955"/>
            <a:ext cx="1575283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Eliminate Manual Tasks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800329" y="2835783"/>
            <a:ext cx="305798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Automate repetitive steps in data analysis and cleaning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7"/>
          <p:cNvSpPr/>
          <p:nvPr/>
        </p:nvSpPr>
        <p:spPr>
          <a:xfrm>
            <a:off x="342900" y="3164967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2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3026" y="3264408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7"/>
          <p:cNvSpPr txBox="1"/>
          <p:nvPr/>
        </p:nvSpPr>
        <p:spPr>
          <a:xfrm>
            <a:off x="800329" y="3186227"/>
            <a:ext cx="1639747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Prevent Common Pitfalls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7"/>
          <p:cNvSpPr txBox="1"/>
          <p:nvPr/>
        </p:nvSpPr>
        <p:spPr>
          <a:xfrm>
            <a:off x="800329" y="3407741"/>
            <a:ext cx="3193771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Safeguard against data leakage and poor model selection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7"/>
          <p:cNvSpPr/>
          <p:nvPr/>
        </p:nvSpPr>
        <p:spPr>
          <a:xfrm>
            <a:off x="342900" y="3736238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2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5196" y="3836366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7"/>
          <p:cNvSpPr txBox="1"/>
          <p:nvPr/>
        </p:nvSpPr>
        <p:spPr>
          <a:xfrm>
            <a:off x="800329" y="3757499"/>
            <a:ext cx="911429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Accessibility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7"/>
          <p:cNvSpPr txBox="1"/>
          <p:nvPr/>
        </p:nvSpPr>
        <p:spPr>
          <a:xfrm>
            <a:off x="800329" y="3979012"/>
            <a:ext cx="3100502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Make advanced data science accessible to non-experts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42900" y="430751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F5F3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4" name="Google Shape;184;p27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0858" y="4407637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7"/>
          <p:cNvSpPr txBox="1"/>
          <p:nvPr/>
        </p:nvSpPr>
        <p:spPr>
          <a:xfrm>
            <a:off x="800329" y="4329455"/>
            <a:ext cx="1532763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Professional Reporting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7"/>
          <p:cNvSpPr txBox="1"/>
          <p:nvPr/>
        </p:nvSpPr>
        <p:spPr>
          <a:xfrm>
            <a:off x="800329" y="4550283"/>
            <a:ext cx="3300755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Generate reproducible, publication-quality research reports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5981548" y="628879"/>
            <a:ext cx="2822067" cy="4079138"/>
          </a:xfrm>
          <a:prstGeom prst="roundRect">
            <a:avLst>
              <a:gd name="adj" fmla="val 73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7"/>
          <p:cNvSpPr/>
          <p:nvPr/>
        </p:nvSpPr>
        <p:spPr>
          <a:xfrm>
            <a:off x="5989091" y="635737"/>
            <a:ext cx="2807666" cy="55001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27"/>
          <p:cNvSpPr/>
          <p:nvPr/>
        </p:nvSpPr>
        <p:spPr>
          <a:xfrm>
            <a:off x="5989091" y="1178891"/>
            <a:ext cx="2807666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0" name="Google Shape;190;p27" descr="preencoded.png"/>
          <p:cNvPicPr preferRelativeResize="0"/>
          <p:nvPr/>
        </p:nvPicPr>
        <p:blipFill rotWithShape="1">
          <a:blip r:embed="rId8">
            <a:alphaModFix/>
          </a:blip>
          <a:srcRect l="-1282" r="-1282"/>
          <a:stretch/>
        </p:blipFill>
        <p:spPr>
          <a:xfrm>
            <a:off x="6160541" y="835991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7"/>
          <p:cNvSpPr txBox="1"/>
          <p:nvPr/>
        </p:nvSpPr>
        <p:spPr>
          <a:xfrm>
            <a:off x="6410173" y="807187"/>
            <a:ext cx="1621917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Two-Phase Approach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7"/>
          <p:cNvSpPr/>
          <p:nvPr/>
        </p:nvSpPr>
        <p:spPr>
          <a:xfrm>
            <a:off x="7377151" y="1871549"/>
            <a:ext cx="28804" cy="21431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7"/>
          <p:cNvSpPr/>
          <p:nvPr/>
        </p:nvSpPr>
        <p:spPr>
          <a:xfrm>
            <a:off x="0" y="5050917"/>
            <a:ext cx="9143771" cy="12138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7"/>
          <p:cNvSpPr/>
          <p:nvPr/>
        </p:nvSpPr>
        <p:spPr>
          <a:xfrm>
            <a:off x="0" y="5050917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7"/>
          <p:cNvSpPr txBox="1"/>
          <p:nvPr/>
        </p:nvSpPr>
        <p:spPr>
          <a:xfrm>
            <a:off x="342900" y="5057775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7"/>
          <p:cNvSpPr txBox="1"/>
          <p:nvPr/>
        </p:nvSpPr>
        <p:spPr>
          <a:xfrm>
            <a:off x="8525866" y="5057775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7"/>
          <p:cNvSpPr/>
          <p:nvPr/>
        </p:nvSpPr>
        <p:spPr>
          <a:xfrm>
            <a:off x="0" y="-1"/>
            <a:ext cx="9143771" cy="56441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7"/>
          <p:cNvSpPr/>
          <p:nvPr/>
        </p:nvSpPr>
        <p:spPr>
          <a:xfrm>
            <a:off x="250318" y="131328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27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1641" y="202651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7"/>
          <p:cNvSpPr txBox="1"/>
          <p:nvPr/>
        </p:nvSpPr>
        <p:spPr>
          <a:xfrm>
            <a:off x="650139" y="166990"/>
            <a:ext cx="1636319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Project Overview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7"/>
          <p:cNvSpPr txBox="1"/>
          <p:nvPr/>
        </p:nvSpPr>
        <p:spPr>
          <a:xfrm>
            <a:off x="7289369" y="78867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/>
          <p:nvPr/>
        </p:nvSpPr>
        <p:spPr>
          <a:xfrm>
            <a:off x="6217463" y="1700099"/>
            <a:ext cx="2350237" cy="886054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7"/>
          <p:cNvSpPr/>
          <p:nvPr/>
        </p:nvSpPr>
        <p:spPr>
          <a:xfrm>
            <a:off x="6217463" y="1700099"/>
            <a:ext cx="28804" cy="88605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7"/>
          <p:cNvSpPr/>
          <p:nvPr/>
        </p:nvSpPr>
        <p:spPr>
          <a:xfrm>
            <a:off x="6160541" y="2057400"/>
            <a:ext cx="171450" cy="171450"/>
          </a:xfrm>
          <a:prstGeom prst="roundRect">
            <a:avLst>
              <a:gd name="adj" fmla="val 400000"/>
            </a:avLst>
          </a:prstGeom>
          <a:solidFill>
            <a:srgbClr val="3B82F6"/>
          </a:solidFill>
          <a:ln w="508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7"/>
          <p:cNvSpPr txBox="1"/>
          <p:nvPr/>
        </p:nvSpPr>
        <p:spPr>
          <a:xfrm>
            <a:off x="6227750" y="2086204"/>
            <a:ext cx="107671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7"/>
          <p:cNvSpPr txBox="1"/>
          <p:nvPr/>
        </p:nvSpPr>
        <p:spPr>
          <a:xfrm>
            <a:off x="6417716" y="1892808"/>
            <a:ext cx="1346911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8A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LLM-Based Pipeline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7"/>
          <p:cNvSpPr txBox="1"/>
          <p:nvPr/>
        </p:nvSpPr>
        <p:spPr>
          <a:xfrm>
            <a:off x="6417716" y="2136267"/>
            <a:ext cx="2018309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Sequential intelligent decision making for standard workflows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27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338060" y="285018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/>
          <p:nvPr/>
        </p:nvSpPr>
        <p:spPr>
          <a:xfrm>
            <a:off x="6217463" y="3300755"/>
            <a:ext cx="2350237" cy="886054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7"/>
          <p:cNvSpPr/>
          <p:nvPr/>
        </p:nvSpPr>
        <p:spPr>
          <a:xfrm>
            <a:off x="6217463" y="3300755"/>
            <a:ext cx="28804" cy="88605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7"/>
          <p:cNvSpPr/>
          <p:nvPr/>
        </p:nvSpPr>
        <p:spPr>
          <a:xfrm>
            <a:off x="6160541" y="3657371"/>
            <a:ext cx="171450" cy="171450"/>
          </a:xfrm>
          <a:prstGeom prst="roundRect">
            <a:avLst>
              <a:gd name="adj" fmla="val 400000"/>
            </a:avLst>
          </a:prstGeom>
          <a:solidFill>
            <a:srgbClr val="C41230"/>
          </a:solidFill>
          <a:ln w="508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7"/>
          <p:cNvSpPr txBox="1"/>
          <p:nvPr/>
        </p:nvSpPr>
        <p:spPr>
          <a:xfrm>
            <a:off x="6218834" y="3686175"/>
            <a:ext cx="12207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7"/>
          <p:cNvSpPr txBox="1"/>
          <p:nvPr/>
        </p:nvSpPr>
        <p:spPr>
          <a:xfrm>
            <a:off x="6417716" y="3493466"/>
            <a:ext cx="1353769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Multi-Agent System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7"/>
          <p:cNvSpPr txBox="1"/>
          <p:nvPr/>
        </p:nvSpPr>
        <p:spPr>
          <a:xfrm>
            <a:off x="6417716" y="3736238"/>
            <a:ext cx="1832458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Collaborative specialized agents with quality control loops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5" name="Google Shape;215;p27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7" name="Google Shape;217;p27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226;p28">
            <a:extLst>
              <a:ext uri="{FF2B5EF4-FFF2-40B4-BE49-F238E27FC236}">
                <a16:creationId xmlns:a16="http://schemas.microsoft.com/office/drawing/2014/main" id="{E0608887-F774-E538-7A46-CDF4F2C98087}"/>
              </a:ext>
            </a:extLst>
          </p:cNvPr>
          <p:cNvSpPr/>
          <p:nvPr/>
        </p:nvSpPr>
        <p:spPr>
          <a:xfrm>
            <a:off x="0" y="534923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8"/>
          <p:cNvSpPr/>
          <p:nvPr/>
        </p:nvSpPr>
        <p:spPr>
          <a:xfrm>
            <a:off x="0" y="0"/>
            <a:ext cx="9143771" cy="718649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8"/>
          <p:cNvSpPr/>
          <p:nvPr/>
        </p:nvSpPr>
        <p:spPr>
          <a:xfrm>
            <a:off x="0" y="0"/>
            <a:ext cx="9143771" cy="718649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8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8"/>
          <p:cNvSpPr/>
          <p:nvPr/>
        </p:nvSpPr>
        <p:spPr>
          <a:xfrm>
            <a:off x="0" y="628879"/>
            <a:ext cx="9143771" cy="621540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8"/>
          <p:cNvSpPr/>
          <p:nvPr/>
        </p:nvSpPr>
        <p:spPr>
          <a:xfrm>
            <a:off x="285979" y="914171"/>
            <a:ext cx="5565267" cy="4043477"/>
          </a:xfrm>
          <a:prstGeom prst="roundRect">
            <a:avLst>
              <a:gd name="adj" fmla="val 360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8"/>
          <p:cNvSpPr txBox="1"/>
          <p:nvPr/>
        </p:nvSpPr>
        <p:spPr>
          <a:xfrm>
            <a:off x="521208" y="1150087"/>
            <a:ext cx="1743304" cy="229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Current Pain Points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8"/>
          <p:cNvSpPr txBox="1"/>
          <p:nvPr/>
        </p:nvSpPr>
        <p:spPr>
          <a:xfrm>
            <a:off x="643280" y="1643177"/>
            <a:ext cx="34290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🔄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8"/>
          <p:cNvSpPr txBox="1"/>
          <p:nvPr/>
        </p:nvSpPr>
        <p:spPr>
          <a:xfrm>
            <a:off x="1007440" y="1657579"/>
            <a:ext cx="1675409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Repetitive Preprocessing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8"/>
          <p:cNvSpPr txBox="1"/>
          <p:nvPr/>
        </p:nvSpPr>
        <p:spPr>
          <a:xfrm>
            <a:off x="1007441" y="1850288"/>
            <a:ext cx="3758184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Manual cleaning, encoding, and scaling steps performed repeatedly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8"/>
          <p:cNvSpPr txBox="1"/>
          <p:nvPr/>
        </p:nvSpPr>
        <p:spPr>
          <a:xfrm>
            <a:off x="643280" y="2300174"/>
            <a:ext cx="34290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🐛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28"/>
          <p:cNvSpPr txBox="1"/>
          <p:nvPr/>
        </p:nvSpPr>
        <p:spPr>
          <a:xfrm>
            <a:off x="1007440" y="2314575"/>
            <a:ext cx="1082879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Common Errors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1007440" y="2507285"/>
            <a:ext cx="3336417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Subtle pitfalls like data leakage and improper train/test splits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8"/>
          <p:cNvSpPr txBox="1"/>
          <p:nvPr/>
        </p:nvSpPr>
        <p:spPr>
          <a:xfrm>
            <a:off x="643280" y="2957855"/>
            <a:ext cx="34290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⏱️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1007440" y="2971571"/>
            <a:ext cx="1661008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Time-Consuming Tuning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8"/>
          <p:cNvSpPr txBox="1"/>
          <p:nvPr/>
        </p:nvSpPr>
        <p:spPr>
          <a:xfrm>
            <a:off x="1007440" y="3164967"/>
            <a:ext cx="3593592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Manual model selection and hyperparameter optimization is slow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28"/>
          <p:cNvSpPr txBox="1"/>
          <p:nvPr/>
        </p:nvSpPr>
        <p:spPr>
          <a:xfrm>
            <a:off x="643280" y="3614852"/>
            <a:ext cx="34290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📊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8"/>
          <p:cNvSpPr txBox="1"/>
          <p:nvPr/>
        </p:nvSpPr>
        <p:spPr>
          <a:xfrm>
            <a:off x="1007440" y="3629254"/>
            <a:ext cx="1411376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Manual Visualization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8"/>
          <p:cNvSpPr txBox="1"/>
          <p:nvPr/>
        </p:nvSpPr>
        <p:spPr>
          <a:xfrm>
            <a:off x="1007441" y="3821963"/>
            <a:ext cx="3465347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Report generation and chart creation requires significant effort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8"/>
          <p:cNvSpPr txBox="1"/>
          <p:nvPr/>
        </p:nvSpPr>
        <p:spPr>
          <a:xfrm>
            <a:off x="643280" y="4271849"/>
            <a:ext cx="34290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🧠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8"/>
          <p:cNvSpPr txBox="1"/>
          <p:nvPr/>
        </p:nvSpPr>
        <p:spPr>
          <a:xfrm>
            <a:off x="1007440" y="4286250"/>
            <a:ext cx="1647292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Deep Expertise Required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8"/>
          <p:cNvSpPr txBox="1"/>
          <p:nvPr/>
        </p:nvSpPr>
        <p:spPr>
          <a:xfrm>
            <a:off x="1007440" y="4478960"/>
            <a:ext cx="3793846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Requires domain knowledge at every step, creating a barrier to entry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8"/>
          <p:cNvSpPr/>
          <p:nvPr/>
        </p:nvSpPr>
        <p:spPr>
          <a:xfrm>
            <a:off x="6072759" y="914171"/>
            <a:ext cx="2786405" cy="4043477"/>
          </a:xfrm>
          <a:prstGeom prst="roundRect">
            <a:avLst>
              <a:gd name="adj" fmla="val 757"/>
            </a:avLst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" name="Google Shape;246;p28" descr="preencoded.png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6358052" y="3986555"/>
            <a:ext cx="85725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8"/>
          <p:cNvSpPr/>
          <p:nvPr/>
        </p:nvSpPr>
        <p:spPr>
          <a:xfrm>
            <a:off x="0" y="6843598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8"/>
          <p:cNvSpPr txBox="1"/>
          <p:nvPr/>
        </p:nvSpPr>
        <p:spPr>
          <a:xfrm>
            <a:off x="285521" y="4989194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8"/>
          <p:cNvSpPr txBox="1"/>
          <p:nvPr/>
        </p:nvSpPr>
        <p:spPr>
          <a:xfrm>
            <a:off x="8515579" y="5021770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8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8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2" name="Google Shape;252;p2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8"/>
          <p:cNvSpPr txBox="1"/>
          <p:nvPr/>
        </p:nvSpPr>
        <p:spPr>
          <a:xfrm>
            <a:off x="742721" y="178308"/>
            <a:ext cx="1807769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8"/>
          <p:cNvSpPr txBox="1"/>
          <p:nvPr/>
        </p:nvSpPr>
        <p:spPr>
          <a:xfrm>
            <a:off x="6969785" y="221513"/>
            <a:ext cx="1911325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The Data Science Workflow Challenge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8"/>
          <p:cNvSpPr/>
          <p:nvPr/>
        </p:nvSpPr>
        <p:spPr>
          <a:xfrm>
            <a:off x="7122719" y="2057400"/>
            <a:ext cx="685800" cy="685800"/>
          </a:xfrm>
          <a:prstGeom prst="roundRect">
            <a:avLst>
              <a:gd name="adj" fmla="val 100000"/>
            </a:avLst>
          </a:prstGeom>
          <a:solidFill>
            <a:srgbClr val="C41230"/>
          </a:solidFill>
          <a:ln w="50800" cap="flat" cmpd="sng">
            <a:solidFill>
              <a:srgbClr val="1F2937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6" name="Google Shape;256;p2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36688" y="2272055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8"/>
          <p:cNvSpPr txBox="1"/>
          <p:nvPr/>
        </p:nvSpPr>
        <p:spPr>
          <a:xfrm>
            <a:off x="6982130" y="2921508"/>
            <a:ext cx="1100709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Why It Fails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8"/>
          <p:cNvSpPr txBox="1"/>
          <p:nvPr/>
        </p:nvSpPr>
        <p:spPr>
          <a:xfrm>
            <a:off x="6329248" y="3278810"/>
            <a:ext cx="235778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900"/>
              <a:buFont typeface="Inter"/>
              <a:buNone/>
            </a:pPr>
            <a:r>
              <a:rPr lang="en" sz="900">
                <a:solidFill>
                  <a:srgbClr val="D1D5DB"/>
                </a:solidFill>
                <a:latin typeface="Inter"/>
                <a:ea typeface="Inter"/>
                <a:cs typeface="Inter"/>
                <a:sym typeface="Inter"/>
              </a:rPr>
              <a:t>"Traditional workflows are brittle, prone to human error, and create bottlenecks that slow down innovation."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Google Shape;259;p2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8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1" name="Google Shape;261;p2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8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9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9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9"/>
          <p:cNvSpPr/>
          <p:nvPr/>
        </p:nvSpPr>
        <p:spPr>
          <a:xfrm>
            <a:off x="0" y="285979"/>
            <a:ext cx="9143771" cy="4893183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29"/>
          <p:cNvSpPr/>
          <p:nvPr/>
        </p:nvSpPr>
        <p:spPr>
          <a:xfrm>
            <a:off x="342900" y="914858"/>
            <a:ext cx="5300548" cy="1440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9"/>
          <p:cNvSpPr/>
          <p:nvPr/>
        </p:nvSpPr>
        <p:spPr>
          <a:xfrm>
            <a:off x="342900" y="628879"/>
            <a:ext cx="228371" cy="228371"/>
          </a:xfrm>
          <a:prstGeom prst="roundRect">
            <a:avLst>
              <a:gd name="adj" fmla="val 300300"/>
            </a:avLst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3" name="Google Shape;273;p29" descr="preencoded.png"/>
          <p:cNvPicPr preferRelativeResize="0"/>
          <p:nvPr/>
        </p:nvPicPr>
        <p:blipFill rotWithShape="1">
          <a:blip r:embed="rId3">
            <a:alphaModFix/>
          </a:blip>
          <a:srcRect l="-1506" r="-1506"/>
          <a:stretch/>
        </p:blipFill>
        <p:spPr>
          <a:xfrm>
            <a:off x="392963" y="692658"/>
            <a:ext cx="128930" cy="100127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9"/>
          <p:cNvSpPr txBox="1"/>
          <p:nvPr/>
        </p:nvSpPr>
        <p:spPr>
          <a:xfrm>
            <a:off x="656996" y="635737"/>
            <a:ext cx="1357884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Who Benefits?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9"/>
          <p:cNvSpPr/>
          <p:nvPr/>
        </p:nvSpPr>
        <p:spPr>
          <a:xfrm>
            <a:off x="342900" y="1100024"/>
            <a:ext cx="5300548" cy="678942"/>
          </a:xfrm>
          <a:prstGeom prst="roundRect">
            <a:avLst>
              <a:gd name="adj" fmla="val 8506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9"/>
          <p:cNvSpPr/>
          <p:nvPr/>
        </p:nvSpPr>
        <p:spPr>
          <a:xfrm>
            <a:off x="342900" y="1100024"/>
            <a:ext cx="28804" cy="67894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9"/>
          <p:cNvSpPr/>
          <p:nvPr/>
        </p:nvSpPr>
        <p:spPr>
          <a:xfrm>
            <a:off x="514350" y="1243355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p29" descr="preencoded.png"/>
          <p:cNvPicPr preferRelativeResize="0"/>
          <p:nvPr/>
        </p:nvPicPr>
        <p:blipFill rotWithShape="1">
          <a:blip r:embed="rId4">
            <a:alphaModFix/>
          </a:blip>
          <a:srcRect t="-180" b="-179"/>
          <a:stretch/>
        </p:blipFill>
        <p:spPr>
          <a:xfrm>
            <a:off x="585673" y="1329080"/>
            <a:ext cx="142646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9"/>
          <p:cNvSpPr txBox="1"/>
          <p:nvPr/>
        </p:nvSpPr>
        <p:spPr>
          <a:xfrm>
            <a:off x="914171" y="1264615"/>
            <a:ext cx="1604086" cy="15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Students &amp; Researchers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9"/>
          <p:cNvSpPr txBox="1"/>
          <p:nvPr/>
        </p:nvSpPr>
        <p:spPr>
          <a:xfrm>
            <a:off x="914171" y="1486129"/>
            <a:ext cx="446867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Enables rapid prototyping and experimentation without getting bogged down in routine code.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9"/>
          <p:cNvSpPr/>
          <p:nvPr/>
        </p:nvSpPr>
        <p:spPr>
          <a:xfrm>
            <a:off x="342900" y="1919555"/>
            <a:ext cx="5300548" cy="678942"/>
          </a:xfrm>
          <a:prstGeom prst="roundRect">
            <a:avLst>
              <a:gd name="adj" fmla="val 8506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9"/>
          <p:cNvSpPr/>
          <p:nvPr/>
        </p:nvSpPr>
        <p:spPr>
          <a:xfrm>
            <a:off x="342900" y="1919555"/>
            <a:ext cx="28804" cy="67894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9"/>
          <p:cNvSpPr/>
          <p:nvPr/>
        </p:nvSpPr>
        <p:spPr>
          <a:xfrm>
            <a:off x="514350" y="2062886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4" name="Google Shape;284;p2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0075" y="2148611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9"/>
          <p:cNvSpPr txBox="1"/>
          <p:nvPr/>
        </p:nvSpPr>
        <p:spPr>
          <a:xfrm>
            <a:off x="914171" y="2084147"/>
            <a:ext cx="1261187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Business Analysts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9"/>
          <p:cNvSpPr txBox="1"/>
          <p:nvPr/>
        </p:nvSpPr>
        <p:spPr>
          <a:xfrm>
            <a:off x="914171" y="2305660"/>
            <a:ext cx="3776015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Provides self-service analytics capabilities requiring minimal coding expertise.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9"/>
          <p:cNvSpPr/>
          <p:nvPr/>
        </p:nvSpPr>
        <p:spPr>
          <a:xfrm>
            <a:off x="342900" y="2739771"/>
            <a:ext cx="5300548" cy="678942"/>
          </a:xfrm>
          <a:prstGeom prst="roundRect">
            <a:avLst>
              <a:gd name="adj" fmla="val 8506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9"/>
          <p:cNvSpPr/>
          <p:nvPr/>
        </p:nvSpPr>
        <p:spPr>
          <a:xfrm>
            <a:off x="342900" y="2739771"/>
            <a:ext cx="28804" cy="67894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9" name="Google Shape;289;p29" descr="preencoded.png"/>
          <p:cNvPicPr preferRelativeResize="0"/>
          <p:nvPr/>
        </p:nvPicPr>
        <p:blipFill rotWithShape="1">
          <a:blip r:embed="rId6">
            <a:alphaModFix/>
          </a:blip>
          <a:srcRect t="-100" b="-100"/>
          <a:stretch/>
        </p:blipFill>
        <p:spPr>
          <a:xfrm>
            <a:off x="614477" y="2968142"/>
            <a:ext cx="85725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9"/>
          <p:cNvSpPr txBox="1"/>
          <p:nvPr/>
        </p:nvSpPr>
        <p:spPr>
          <a:xfrm>
            <a:off x="914171" y="2903677"/>
            <a:ext cx="1353770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Small Organizations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9"/>
          <p:cNvSpPr txBox="1"/>
          <p:nvPr/>
        </p:nvSpPr>
        <p:spPr>
          <a:xfrm>
            <a:off x="914171" y="3125191"/>
            <a:ext cx="446867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Democratizes access to machine learning solutions without expensive dedicated data teams.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9"/>
          <p:cNvSpPr/>
          <p:nvPr/>
        </p:nvSpPr>
        <p:spPr>
          <a:xfrm>
            <a:off x="342900" y="3559302"/>
            <a:ext cx="5300548" cy="678942"/>
          </a:xfrm>
          <a:prstGeom prst="roundRect">
            <a:avLst>
              <a:gd name="adj" fmla="val 8506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29"/>
          <p:cNvSpPr/>
          <p:nvPr/>
        </p:nvSpPr>
        <p:spPr>
          <a:xfrm>
            <a:off x="342900" y="3559302"/>
            <a:ext cx="28804" cy="67894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9"/>
          <p:cNvSpPr/>
          <p:nvPr/>
        </p:nvSpPr>
        <p:spPr>
          <a:xfrm>
            <a:off x="514350" y="3701948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F5F3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5" name="Google Shape;295;p29" descr="preencoded.png"/>
          <p:cNvPicPr preferRelativeResize="0"/>
          <p:nvPr/>
        </p:nvPicPr>
        <p:blipFill rotWithShape="1">
          <a:blip r:embed="rId7">
            <a:alphaModFix/>
          </a:blip>
          <a:srcRect t="-43" b="-42"/>
          <a:stretch/>
        </p:blipFill>
        <p:spPr>
          <a:xfrm>
            <a:off x="606933" y="3787673"/>
            <a:ext cx="100127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29"/>
          <p:cNvSpPr txBox="1"/>
          <p:nvPr/>
        </p:nvSpPr>
        <p:spPr>
          <a:xfrm>
            <a:off x="914171" y="3723894"/>
            <a:ext cx="1047217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Data Scientists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9"/>
          <p:cNvSpPr txBox="1"/>
          <p:nvPr/>
        </p:nvSpPr>
        <p:spPr>
          <a:xfrm>
            <a:off x="914171" y="3945407"/>
            <a:ext cx="408325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Automates routine tasks, allowing focus on complex problem-solving and innovation.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9"/>
          <p:cNvSpPr/>
          <p:nvPr/>
        </p:nvSpPr>
        <p:spPr>
          <a:xfrm>
            <a:off x="5981548" y="628879"/>
            <a:ext cx="2822067" cy="4207383"/>
          </a:xfrm>
          <a:prstGeom prst="roundRect">
            <a:avLst>
              <a:gd name="adj" fmla="val 73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9"/>
          <p:cNvSpPr/>
          <p:nvPr/>
        </p:nvSpPr>
        <p:spPr>
          <a:xfrm>
            <a:off x="5989091" y="635737"/>
            <a:ext cx="2807666" cy="5500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9"/>
          <p:cNvSpPr/>
          <p:nvPr/>
        </p:nvSpPr>
        <p:spPr>
          <a:xfrm>
            <a:off x="5989091" y="1178891"/>
            <a:ext cx="2807666" cy="6858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1" name="Google Shape;301;p29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160541" y="835991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29"/>
          <p:cNvSpPr txBox="1"/>
          <p:nvPr/>
        </p:nvSpPr>
        <p:spPr>
          <a:xfrm>
            <a:off x="6388912" y="807187"/>
            <a:ext cx="1193292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Market Context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29"/>
          <p:cNvSpPr/>
          <p:nvPr/>
        </p:nvSpPr>
        <p:spPr>
          <a:xfrm>
            <a:off x="5989091" y="1185749"/>
            <a:ext cx="2807666" cy="35860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29"/>
          <p:cNvSpPr/>
          <p:nvPr/>
        </p:nvSpPr>
        <p:spPr>
          <a:xfrm>
            <a:off x="6217463" y="1414805"/>
            <a:ext cx="2350237" cy="1214551"/>
          </a:xfrm>
          <a:prstGeom prst="roundRect">
            <a:avLst>
              <a:gd name="adj" fmla="val 3986"/>
            </a:avLst>
          </a:prstGeom>
          <a:solidFill>
            <a:srgbClr val="F9FAFB"/>
          </a:solidFill>
          <a:ln w="12700" cap="flat" cmpd="sng">
            <a:solidFill>
              <a:srgbClr val="F3F4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9"/>
          <p:cNvSpPr txBox="1"/>
          <p:nvPr/>
        </p:nvSpPr>
        <p:spPr>
          <a:xfrm>
            <a:off x="6818909" y="1549908"/>
            <a:ext cx="1407947" cy="421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Inter"/>
              <a:buNone/>
            </a:pPr>
            <a:r>
              <a:rPr lang="en" sz="27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$14.5B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9"/>
          <p:cNvSpPr txBox="1"/>
          <p:nvPr/>
        </p:nvSpPr>
        <p:spPr>
          <a:xfrm>
            <a:off x="6722212" y="2007337"/>
            <a:ext cx="1429207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AutoML Market by 2030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9"/>
          <p:cNvSpPr/>
          <p:nvPr/>
        </p:nvSpPr>
        <p:spPr>
          <a:xfrm>
            <a:off x="7220102" y="2250110"/>
            <a:ext cx="342900" cy="28804"/>
          </a:xfrm>
          <a:prstGeom prst="roundRect">
            <a:avLst>
              <a:gd name="adj" fmla="val 2380940"/>
            </a:avLst>
          </a:prstGeom>
          <a:solidFill>
            <a:srgbClr val="D1D5D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9"/>
          <p:cNvSpPr txBox="1"/>
          <p:nvPr/>
        </p:nvSpPr>
        <p:spPr>
          <a:xfrm>
            <a:off x="6914236" y="2335835"/>
            <a:ext cx="102184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PROJECTED GROWTH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9"/>
          <p:cNvSpPr/>
          <p:nvPr/>
        </p:nvSpPr>
        <p:spPr>
          <a:xfrm>
            <a:off x="6217463" y="2857729"/>
            <a:ext cx="2350237" cy="729005"/>
          </a:xfrm>
          <a:prstGeom prst="roundRect">
            <a:avLst>
              <a:gd name="adj" fmla="val 7378"/>
            </a:avLst>
          </a:prstGeom>
          <a:solidFill>
            <a:srgbClr val="EFF6FF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9"/>
          <p:cNvSpPr/>
          <p:nvPr/>
        </p:nvSpPr>
        <p:spPr>
          <a:xfrm>
            <a:off x="6338849" y="3007233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1" name="Google Shape;311;p29" descr="preencoded.png"/>
          <p:cNvPicPr preferRelativeResize="0"/>
          <p:nvPr/>
        </p:nvPicPr>
        <p:blipFill rotWithShape="1">
          <a:blip r:embed="rId9">
            <a:alphaModFix/>
          </a:blip>
          <a:srcRect t="-180" b="-179"/>
          <a:stretch/>
        </p:blipFill>
        <p:spPr>
          <a:xfrm>
            <a:off x="6410173" y="3092958"/>
            <a:ext cx="142646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9"/>
          <p:cNvSpPr txBox="1"/>
          <p:nvPr/>
        </p:nvSpPr>
        <p:spPr>
          <a:xfrm>
            <a:off x="6738671" y="2993517"/>
            <a:ext cx="134348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Citizen Data Scientists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29"/>
          <p:cNvSpPr txBox="1"/>
          <p:nvPr/>
        </p:nvSpPr>
        <p:spPr>
          <a:xfrm>
            <a:off x="6738671" y="3186227"/>
            <a:ext cx="1668551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Rapidly growing demand for tools empowering non-experts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9"/>
          <p:cNvSpPr/>
          <p:nvPr/>
        </p:nvSpPr>
        <p:spPr>
          <a:xfrm>
            <a:off x="6217463" y="3815105"/>
            <a:ext cx="2350237" cy="729005"/>
          </a:xfrm>
          <a:prstGeom prst="roundRect">
            <a:avLst>
              <a:gd name="adj" fmla="val 7378"/>
            </a:avLst>
          </a:prstGeom>
          <a:solidFill>
            <a:srgbClr val="ECFDF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29"/>
          <p:cNvSpPr/>
          <p:nvPr/>
        </p:nvSpPr>
        <p:spPr>
          <a:xfrm>
            <a:off x="6338849" y="3964610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6" name="Google Shape;316;p29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24574" y="4050335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29"/>
          <p:cNvSpPr txBox="1"/>
          <p:nvPr/>
        </p:nvSpPr>
        <p:spPr>
          <a:xfrm>
            <a:off x="6738671" y="3950208"/>
            <a:ext cx="1057504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Workflow Quality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29"/>
          <p:cNvSpPr txBox="1"/>
          <p:nvPr/>
        </p:nvSpPr>
        <p:spPr>
          <a:xfrm>
            <a:off x="6738671" y="4143604"/>
            <a:ext cx="1489558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Critical need for reproducible, explainable AI processes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9"/>
          <p:cNvSpPr/>
          <p:nvPr/>
        </p:nvSpPr>
        <p:spPr>
          <a:xfrm>
            <a:off x="5989091" y="4771796"/>
            <a:ext cx="2807666" cy="56921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29"/>
          <p:cNvSpPr/>
          <p:nvPr/>
        </p:nvSpPr>
        <p:spPr>
          <a:xfrm>
            <a:off x="5989091" y="4771796"/>
            <a:ext cx="936117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29"/>
          <p:cNvSpPr/>
          <p:nvPr/>
        </p:nvSpPr>
        <p:spPr>
          <a:xfrm>
            <a:off x="6923837" y="4771796"/>
            <a:ext cx="936117" cy="56921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29"/>
          <p:cNvSpPr/>
          <p:nvPr/>
        </p:nvSpPr>
        <p:spPr>
          <a:xfrm>
            <a:off x="7858583" y="4771796"/>
            <a:ext cx="936117" cy="5692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29"/>
          <p:cNvSpPr/>
          <p:nvPr/>
        </p:nvSpPr>
        <p:spPr>
          <a:xfrm>
            <a:off x="0" y="5179162"/>
            <a:ext cx="9143771" cy="12138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29"/>
          <p:cNvSpPr/>
          <p:nvPr/>
        </p:nvSpPr>
        <p:spPr>
          <a:xfrm>
            <a:off x="0" y="5179162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29"/>
          <p:cNvSpPr txBox="1"/>
          <p:nvPr/>
        </p:nvSpPr>
        <p:spPr>
          <a:xfrm>
            <a:off x="342900" y="5186705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29"/>
          <p:cNvSpPr txBox="1"/>
          <p:nvPr/>
        </p:nvSpPr>
        <p:spPr>
          <a:xfrm>
            <a:off x="8522437" y="5186705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29"/>
          <p:cNvSpPr/>
          <p:nvPr/>
        </p:nvSpPr>
        <p:spPr>
          <a:xfrm>
            <a:off x="0" y="0"/>
            <a:ext cx="9143771" cy="49240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29"/>
          <p:cNvSpPr/>
          <p:nvPr/>
        </p:nvSpPr>
        <p:spPr>
          <a:xfrm>
            <a:off x="342900" y="102410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9" name="Google Shape;329;p29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14223" y="173733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29"/>
          <p:cNvSpPr txBox="1"/>
          <p:nvPr/>
        </p:nvSpPr>
        <p:spPr>
          <a:xfrm>
            <a:off x="742721" y="138072"/>
            <a:ext cx="245036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Why This Problem Matters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9"/>
          <p:cNvSpPr txBox="1"/>
          <p:nvPr/>
        </p:nvSpPr>
        <p:spPr>
          <a:xfrm>
            <a:off x="7564374" y="78867"/>
            <a:ext cx="131810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Relevance &amp; Beneficiaries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2" name="Google Shape;332;p29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9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4" name="Google Shape;334;p29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26;p28">
            <a:extLst>
              <a:ext uri="{FF2B5EF4-FFF2-40B4-BE49-F238E27FC236}">
                <a16:creationId xmlns:a16="http://schemas.microsoft.com/office/drawing/2014/main" id="{E588FAD1-EFAC-B9BD-A19E-DCC2DD6BF35D}"/>
              </a:ext>
            </a:extLst>
          </p:cNvPr>
          <p:cNvSpPr/>
          <p:nvPr/>
        </p:nvSpPr>
        <p:spPr>
          <a:xfrm>
            <a:off x="0" y="485204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0"/>
          <p:cNvSpPr/>
          <p:nvPr/>
        </p:nvSpPr>
        <p:spPr>
          <a:xfrm>
            <a:off x="0" y="0"/>
            <a:ext cx="9143771" cy="57867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0"/>
          <p:cNvSpPr/>
          <p:nvPr/>
        </p:nvSpPr>
        <p:spPr>
          <a:xfrm>
            <a:off x="0" y="0"/>
            <a:ext cx="9143771" cy="57867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0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3" name="Google Shape;343;p3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30"/>
          <p:cNvSpPr txBox="1"/>
          <p:nvPr/>
        </p:nvSpPr>
        <p:spPr>
          <a:xfrm>
            <a:off x="742721" y="178308"/>
            <a:ext cx="245036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Related Work &amp; Motivation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30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30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30"/>
          <p:cNvSpPr/>
          <p:nvPr/>
        </p:nvSpPr>
        <p:spPr>
          <a:xfrm>
            <a:off x="0" y="628879"/>
            <a:ext cx="9143771" cy="48150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30"/>
          <p:cNvSpPr/>
          <p:nvPr/>
        </p:nvSpPr>
        <p:spPr>
          <a:xfrm>
            <a:off x="285979" y="914171"/>
            <a:ext cx="228371" cy="285979"/>
          </a:xfrm>
          <a:prstGeom prst="roundRect">
            <a:avLst>
              <a:gd name="adj" fmla="val 75075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9" name="Google Shape;349;p3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2900" y="999896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30"/>
          <p:cNvSpPr txBox="1"/>
          <p:nvPr/>
        </p:nvSpPr>
        <p:spPr>
          <a:xfrm>
            <a:off x="600075" y="971779"/>
            <a:ext cx="194355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Existing AutoML Solutions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30"/>
          <p:cNvSpPr/>
          <p:nvPr/>
        </p:nvSpPr>
        <p:spPr>
          <a:xfrm>
            <a:off x="285979" y="1314679"/>
            <a:ext cx="8572500" cy="2243252"/>
          </a:xfrm>
          <a:prstGeom prst="roundRect">
            <a:avLst>
              <a:gd name="adj" fmla="val 1168"/>
            </a:avLst>
          </a:prstGeom>
          <a:noFill/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30"/>
          <p:cNvSpPr/>
          <p:nvPr/>
        </p:nvSpPr>
        <p:spPr>
          <a:xfrm>
            <a:off x="292837" y="1321537"/>
            <a:ext cx="8558099" cy="378562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30"/>
          <p:cNvSpPr/>
          <p:nvPr/>
        </p:nvSpPr>
        <p:spPr>
          <a:xfrm>
            <a:off x="292837" y="1693240"/>
            <a:ext cx="1714500" cy="685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30"/>
          <p:cNvSpPr txBox="1"/>
          <p:nvPr/>
        </p:nvSpPr>
        <p:spPr>
          <a:xfrm>
            <a:off x="407365" y="1442924"/>
            <a:ext cx="52532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SYSTEM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30"/>
          <p:cNvSpPr/>
          <p:nvPr/>
        </p:nvSpPr>
        <p:spPr>
          <a:xfrm>
            <a:off x="2004593" y="1693240"/>
            <a:ext cx="2143125" cy="685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30"/>
          <p:cNvSpPr txBox="1"/>
          <p:nvPr/>
        </p:nvSpPr>
        <p:spPr>
          <a:xfrm>
            <a:off x="2119122" y="1442924"/>
            <a:ext cx="67551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APPROACH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30"/>
          <p:cNvSpPr/>
          <p:nvPr/>
        </p:nvSpPr>
        <p:spPr>
          <a:xfrm>
            <a:off x="4144289" y="1693240"/>
            <a:ext cx="3429000" cy="685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30"/>
          <p:cNvSpPr txBox="1"/>
          <p:nvPr/>
        </p:nvSpPr>
        <p:spPr>
          <a:xfrm>
            <a:off x="4258133" y="1442924"/>
            <a:ext cx="768096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LIMITATIONS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30"/>
          <p:cNvSpPr/>
          <p:nvPr/>
        </p:nvSpPr>
        <p:spPr>
          <a:xfrm>
            <a:off x="7567117" y="1693240"/>
            <a:ext cx="1285875" cy="685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30"/>
          <p:cNvSpPr txBox="1"/>
          <p:nvPr/>
        </p:nvSpPr>
        <p:spPr>
          <a:xfrm>
            <a:off x="7764628" y="1442924"/>
            <a:ext cx="968350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EXPLAINABILITY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30"/>
          <p:cNvSpPr/>
          <p:nvPr/>
        </p:nvSpPr>
        <p:spPr>
          <a:xfrm>
            <a:off x="292837" y="2217878"/>
            <a:ext cx="8558099" cy="52120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30"/>
          <p:cNvSpPr/>
          <p:nvPr/>
        </p:nvSpPr>
        <p:spPr>
          <a:xfrm>
            <a:off x="292837" y="3147137"/>
            <a:ext cx="8558099" cy="40736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30"/>
          <p:cNvSpPr/>
          <p:nvPr/>
        </p:nvSpPr>
        <p:spPr>
          <a:xfrm>
            <a:off x="292837" y="2211020"/>
            <a:ext cx="1714500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30"/>
          <p:cNvSpPr/>
          <p:nvPr/>
        </p:nvSpPr>
        <p:spPr>
          <a:xfrm>
            <a:off x="2004593" y="2211020"/>
            <a:ext cx="214312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30"/>
          <p:cNvSpPr/>
          <p:nvPr/>
        </p:nvSpPr>
        <p:spPr>
          <a:xfrm>
            <a:off x="292837" y="2732227"/>
            <a:ext cx="1714500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30"/>
          <p:cNvSpPr/>
          <p:nvPr/>
        </p:nvSpPr>
        <p:spPr>
          <a:xfrm>
            <a:off x="2004593" y="2732227"/>
            <a:ext cx="214312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30"/>
          <p:cNvSpPr/>
          <p:nvPr/>
        </p:nvSpPr>
        <p:spPr>
          <a:xfrm>
            <a:off x="292837" y="3140278"/>
            <a:ext cx="1714500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30"/>
          <p:cNvSpPr/>
          <p:nvPr/>
        </p:nvSpPr>
        <p:spPr>
          <a:xfrm>
            <a:off x="2004593" y="3140278"/>
            <a:ext cx="214312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30"/>
          <p:cNvSpPr txBox="1"/>
          <p:nvPr/>
        </p:nvSpPr>
        <p:spPr>
          <a:xfrm>
            <a:off x="407366" y="1885950"/>
            <a:ext cx="400508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TPOT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30"/>
          <p:cNvSpPr txBox="1"/>
          <p:nvPr/>
        </p:nvSpPr>
        <p:spPr>
          <a:xfrm>
            <a:off x="2119122" y="1885950"/>
            <a:ext cx="1264615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Genetic Programming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30"/>
          <p:cNvSpPr txBox="1"/>
          <p:nvPr/>
        </p:nvSpPr>
        <p:spPr>
          <a:xfrm>
            <a:off x="407366" y="2407158"/>
            <a:ext cx="829133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Auto-sklearn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30"/>
          <p:cNvSpPr txBox="1"/>
          <p:nvPr/>
        </p:nvSpPr>
        <p:spPr>
          <a:xfrm>
            <a:off x="2119122" y="2407158"/>
            <a:ext cx="1285875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Bayesian Optimization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30"/>
          <p:cNvSpPr txBox="1"/>
          <p:nvPr/>
        </p:nvSpPr>
        <p:spPr>
          <a:xfrm>
            <a:off x="407366" y="2872130"/>
            <a:ext cx="800329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H2O AutoML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30"/>
          <p:cNvSpPr txBox="1"/>
          <p:nvPr/>
        </p:nvSpPr>
        <p:spPr>
          <a:xfrm>
            <a:off x="2119122" y="2872130"/>
            <a:ext cx="1121969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Ensemble Methods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30"/>
          <p:cNvSpPr txBox="1"/>
          <p:nvPr/>
        </p:nvSpPr>
        <p:spPr>
          <a:xfrm>
            <a:off x="407366" y="3278810"/>
            <a:ext cx="672084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DataRobot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30"/>
          <p:cNvSpPr txBox="1"/>
          <p:nvPr/>
        </p:nvSpPr>
        <p:spPr>
          <a:xfrm>
            <a:off x="2119122" y="3278810"/>
            <a:ext cx="1222096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Commercial Platform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30"/>
          <p:cNvSpPr/>
          <p:nvPr/>
        </p:nvSpPr>
        <p:spPr>
          <a:xfrm>
            <a:off x="4144289" y="2211020"/>
            <a:ext cx="3429000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30"/>
          <p:cNvSpPr/>
          <p:nvPr/>
        </p:nvSpPr>
        <p:spPr>
          <a:xfrm>
            <a:off x="4144289" y="2732227"/>
            <a:ext cx="3429000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30"/>
          <p:cNvSpPr/>
          <p:nvPr/>
        </p:nvSpPr>
        <p:spPr>
          <a:xfrm>
            <a:off x="4144289" y="3140278"/>
            <a:ext cx="3429000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30"/>
          <p:cNvSpPr txBox="1"/>
          <p:nvPr/>
        </p:nvSpPr>
        <p:spPr>
          <a:xfrm>
            <a:off x="4258133" y="1821485"/>
            <a:ext cx="3247263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No automated cleaning; limited to model selection; computationally expensive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4258133" y="2878988"/>
            <a:ext cx="290436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"Black box" nature; limited transparency on internal choices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30"/>
          <p:cNvSpPr txBox="1"/>
          <p:nvPr/>
        </p:nvSpPr>
        <p:spPr>
          <a:xfrm>
            <a:off x="4258133" y="3286354"/>
            <a:ext cx="3190342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Expensive licensing; proprietary/closed source; hard to customize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30"/>
          <p:cNvSpPr/>
          <p:nvPr/>
        </p:nvSpPr>
        <p:spPr>
          <a:xfrm>
            <a:off x="7567117" y="2211020"/>
            <a:ext cx="128587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4" name="Google Shape;384;p3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52105" y="1900352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30"/>
          <p:cNvSpPr txBox="1"/>
          <p:nvPr/>
        </p:nvSpPr>
        <p:spPr>
          <a:xfrm>
            <a:off x="4258133" y="2343379"/>
            <a:ext cx="3018892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Doesn't handle complex preprocessing decisions; constrained search space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30"/>
          <p:cNvSpPr/>
          <p:nvPr/>
        </p:nvSpPr>
        <p:spPr>
          <a:xfrm>
            <a:off x="7567117" y="3140278"/>
            <a:ext cx="128587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30"/>
          <p:cNvSpPr/>
          <p:nvPr/>
        </p:nvSpPr>
        <p:spPr>
          <a:xfrm>
            <a:off x="7567117" y="2732227"/>
            <a:ext cx="128587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8" name="Google Shape;388;p30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52105" y="2421560"/>
            <a:ext cx="114529" cy="1145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3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52105" y="2885846"/>
            <a:ext cx="114529" cy="1145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30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52105" y="3293212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30"/>
          <p:cNvSpPr/>
          <p:nvPr/>
        </p:nvSpPr>
        <p:spPr>
          <a:xfrm>
            <a:off x="285979" y="3786302"/>
            <a:ext cx="8572500" cy="13716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0"/>
          <p:cNvSpPr/>
          <p:nvPr/>
        </p:nvSpPr>
        <p:spPr>
          <a:xfrm>
            <a:off x="3200629" y="3964610"/>
            <a:ext cx="6858" cy="101429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3" name="Google Shape;393;p30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287" y="4135374"/>
            <a:ext cx="128930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0"/>
          <p:cNvSpPr txBox="1"/>
          <p:nvPr/>
        </p:nvSpPr>
        <p:spPr>
          <a:xfrm>
            <a:off x="650138" y="4099712"/>
            <a:ext cx="1139800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Gap in Literature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30"/>
          <p:cNvSpPr txBox="1"/>
          <p:nvPr/>
        </p:nvSpPr>
        <p:spPr>
          <a:xfrm>
            <a:off x="464287" y="4371290"/>
            <a:ext cx="2525801" cy="450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Current solutions excel at model selection but fail at intelligent data preparation and reasoning transparency.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0"/>
          <p:cNvSpPr/>
          <p:nvPr/>
        </p:nvSpPr>
        <p:spPr>
          <a:xfrm>
            <a:off x="3431057" y="3964610"/>
            <a:ext cx="1678838" cy="1014299"/>
          </a:xfrm>
          <a:prstGeom prst="roundRect">
            <a:avLst>
              <a:gd name="adj" fmla="val 3809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30"/>
          <p:cNvSpPr/>
          <p:nvPr/>
        </p:nvSpPr>
        <p:spPr>
          <a:xfrm>
            <a:off x="3431057" y="3964610"/>
            <a:ext cx="28804" cy="1014299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8" name="Google Shape;398;p30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574390" y="4103827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30"/>
          <p:cNvSpPr txBox="1"/>
          <p:nvPr/>
        </p:nvSpPr>
        <p:spPr>
          <a:xfrm>
            <a:off x="3574390" y="4343171"/>
            <a:ext cx="1068476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Disjointed Workflow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30"/>
          <p:cNvSpPr txBox="1"/>
          <p:nvPr/>
        </p:nvSpPr>
        <p:spPr>
          <a:xfrm>
            <a:off x="3574390" y="4507763"/>
            <a:ext cx="1443609" cy="2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No end-to-end system integrating cleaning with modeling logic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30"/>
          <p:cNvSpPr/>
          <p:nvPr/>
        </p:nvSpPr>
        <p:spPr>
          <a:xfrm>
            <a:off x="5218938" y="3964610"/>
            <a:ext cx="1678838" cy="1014299"/>
          </a:xfrm>
          <a:prstGeom prst="roundRect">
            <a:avLst>
              <a:gd name="adj" fmla="val 3809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30"/>
          <p:cNvSpPr/>
          <p:nvPr/>
        </p:nvSpPr>
        <p:spPr>
          <a:xfrm>
            <a:off x="5218938" y="3964610"/>
            <a:ext cx="28804" cy="1014299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3" name="Google Shape;403;p30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361584" y="4103827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30"/>
          <p:cNvSpPr txBox="1"/>
          <p:nvPr/>
        </p:nvSpPr>
        <p:spPr>
          <a:xfrm>
            <a:off x="5361584" y="4343171"/>
            <a:ext cx="1004011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Missing Reasoning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0"/>
          <p:cNvSpPr txBox="1"/>
          <p:nvPr/>
        </p:nvSpPr>
        <p:spPr>
          <a:xfrm>
            <a:off x="5361584" y="4507763"/>
            <a:ext cx="1471727" cy="2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Lack of semantic understanding of data characteristics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0"/>
          <p:cNvSpPr/>
          <p:nvPr/>
        </p:nvSpPr>
        <p:spPr>
          <a:xfrm>
            <a:off x="7006133" y="3964610"/>
            <a:ext cx="1678838" cy="1014299"/>
          </a:xfrm>
          <a:prstGeom prst="roundRect">
            <a:avLst>
              <a:gd name="adj" fmla="val 3809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30"/>
          <p:cNvSpPr/>
          <p:nvPr/>
        </p:nvSpPr>
        <p:spPr>
          <a:xfrm>
            <a:off x="7006133" y="3964610"/>
            <a:ext cx="28804" cy="1014299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8" name="Google Shape;408;p30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149465" y="4103827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30"/>
          <p:cNvSpPr txBox="1"/>
          <p:nvPr/>
        </p:nvSpPr>
        <p:spPr>
          <a:xfrm>
            <a:off x="7149465" y="4343171"/>
            <a:ext cx="1032815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Low Interpretability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30"/>
          <p:cNvSpPr txBox="1"/>
          <p:nvPr/>
        </p:nvSpPr>
        <p:spPr>
          <a:xfrm>
            <a:off x="7149465" y="4507763"/>
            <a:ext cx="1350340" cy="2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Decisions are opaque to human users ("why did it do that?")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30"/>
          <p:cNvSpPr/>
          <p:nvPr/>
        </p:nvSpPr>
        <p:spPr>
          <a:xfrm>
            <a:off x="0" y="544388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30"/>
          <p:cNvSpPr/>
          <p:nvPr/>
        </p:nvSpPr>
        <p:spPr>
          <a:xfrm>
            <a:off x="0" y="544388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30"/>
          <p:cNvSpPr txBox="1"/>
          <p:nvPr/>
        </p:nvSpPr>
        <p:spPr>
          <a:xfrm>
            <a:off x="342900" y="5561152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30"/>
          <p:cNvSpPr txBox="1"/>
          <p:nvPr/>
        </p:nvSpPr>
        <p:spPr>
          <a:xfrm>
            <a:off x="8527238" y="5561152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5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0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6" name="Google Shape;416;p30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30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30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30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328;p29">
            <a:extLst>
              <a:ext uri="{FF2B5EF4-FFF2-40B4-BE49-F238E27FC236}">
                <a16:creationId xmlns:a16="http://schemas.microsoft.com/office/drawing/2014/main" id="{9C420B96-C177-191C-D5B5-60AA3E1D2053}"/>
              </a:ext>
            </a:extLst>
          </p:cNvPr>
          <p:cNvSpPr/>
          <p:nvPr/>
        </p:nvSpPr>
        <p:spPr>
          <a:xfrm>
            <a:off x="342900" y="102410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Google Shape;329;p29" descr="preencoded.png">
            <a:extLst>
              <a:ext uri="{FF2B5EF4-FFF2-40B4-BE49-F238E27FC236}">
                <a16:creationId xmlns:a16="http://schemas.microsoft.com/office/drawing/2014/main" id="{E39877F7-8820-BE4D-EF78-026FA73FC349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14223" y="173733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330;p29">
            <a:extLst>
              <a:ext uri="{FF2B5EF4-FFF2-40B4-BE49-F238E27FC236}">
                <a16:creationId xmlns:a16="http://schemas.microsoft.com/office/drawing/2014/main" id="{D172B2D4-8D47-4537-26AF-20BE025F037A}"/>
              </a:ext>
            </a:extLst>
          </p:cNvPr>
          <p:cNvSpPr txBox="1"/>
          <p:nvPr/>
        </p:nvSpPr>
        <p:spPr>
          <a:xfrm>
            <a:off x="742721" y="138072"/>
            <a:ext cx="245036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Existing Solutions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3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3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31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8" name="Google Shape;428;p31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31"/>
          <p:cNvSpPr txBox="1"/>
          <p:nvPr/>
        </p:nvSpPr>
        <p:spPr>
          <a:xfrm>
            <a:off x="742721" y="178308"/>
            <a:ext cx="3114904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Contribution of Proposed Solution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31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31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31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31"/>
          <p:cNvSpPr txBox="1"/>
          <p:nvPr/>
        </p:nvSpPr>
        <p:spPr>
          <a:xfrm>
            <a:off x="3302127" y="1173404"/>
            <a:ext cx="2704109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00"/>
              <a:buFont typeface="Inter"/>
              <a:buNone/>
            </a:pPr>
            <a:r>
              <a:rPr lang="en" sz="1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Key Novel Contributions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31"/>
          <p:cNvSpPr txBox="1"/>
          <p:nvPr/>
        </p:nvSpPr>
        <p:spPr>
          <a:xfrm>
            <a:off x="2778862" y="1501902"/>
            <a:ext cx="3679317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Bridging the gap between automated tools and intelligent research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31"/>
          <p:cNvSpPr/>
          <p:nvPr/>
        </p:nvSpPr>
        <p:spPr>
          <a:xfrm>
            <a:off x="285979" y="1830401"/>
            <a:ext cx="4171721" cy="1100023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31"/>
          <p:cNvSpPr/>
          <p:nvPr/>
        </p:nvSpPr>
        <p:spPr>
          <a:xfrm>
            <a:off x="285979" y="1830401"/>
            <a:ext cx="4171721" cy="288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31"/>
          <p:cNvSpPr/>
          <p:nvPr/>
        </p:nvSpPr>
        <p:spPr>
          <a:xfrm>
            <a:off x="457429" y="2030653"/>
            <a:ext cx="457429" cy="457429"/>
          </a:xfrm>
          <a:prstGeom prst="roundRect">
            <a:avLst>
              <a:gd name="adj" fmla="val 149925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8" name="Google Shape;438;p3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8815" y="2152040"/>
            <a:ext cx="214655" cy="214655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31"/>
          <p:cNvSpPr txBox="1"/>
          <p:nvPr/>
        </p:nvSpPr>
        <p:spPr>
          <a:xfrm>
            <a:off x="1057504" y="2045056"/>
            <a:ext cx="216507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LLM-Guided Decision Making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0" name="Google Shape;440;p31" descr="preencoded.png"/>
          <p:cNvPicPr preferRelativeResize="0"/>
          <p:nvPr/>
        </p:nvPicPr>
        <p:blipFill rotWithShape="1">
          <a:blip r:embed="rId5">
            <a:alphaModFix/>
          </a:blip>
          <a:srcRect l="-2571" r="-2570"/>
          <a:stretch/>
        </p:blipFill>
        <p:spPr>
          <a:xfrm>
            <a:off x="1057504" y="2316632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31"/>
          <p:cNvSpPr txBox="1"/>
          <p:nvPr/>
        </p:nvSpPr>
        <p:spPr>
          <a:xfrm>
            <a:off x="1193292" y="2294687"/>
            <a:ext cx="2911221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Context-aware choices for imputation, encoding, and model selection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2" name="Google Shape;442;p31" descr="preencoded.png"/>
          <p:cNvPicPr preferRelativeResize="0"/>
          <p:nvPr/>
        </p:nvPicPr>
        <p:blipFill rotWithShape="1">
          <a:blip r:embed="rId5">
            <a:alphaModFix/>
          </a:blip>
          <a:srcRect l="-2571" r="-2570"/>
          <a:stretch/>
        </p:blipFill>
        <p:spPr>
          <a:xfrm>
            <a:off x="1057504" y="2648560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31"/>
          <p:cNvSpPr txBox="1"/>
          <p:nvPr/>
        </p:nvSpPr>
        <p:spPr>
          <a:xfrm>
            <a:off x="1193292" y="2627300"/>
            <a:ext cx="2553920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Detailed reasoning for every decision (explainability)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31"/>
          <p:cNvSpPr/>
          <p:nvPr/>
        </p:nvSpPr>
        <p:spPr>
          <a:xfrm>
            <a:off x="4686071" y="1830401"/>
            <a:ext cx="4171721" cy="1100023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31"/>
          <p:cNvSpPr/>
          <p:nvPr/>
        </p:nvSpPr>
        <p:spPr>
          <a:xfrm>
            <a:off x="4686071" y="1830401"/>
            <a:ext cx="4171721" cy="2880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31"/>
          <p:cNvSpPr/>
          <p:nvPr/>
        </p:nvSpPr>
        <p:spPr>
          <a:xfrm>
            <a:off x="4857521" y="2030653"/>
            <a:ext cx="457429" cy="457429"/>
          </a:xfrm>
          <a:prstGeom prst="roundRect">
            <a:avLst>
              <a:gd name="adj" fmla="val 149925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7" name="Google Shape;447;p3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978908" y="2152040"/>
            <a:ext cx="214655" cy="214655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1"/>
          <p:cNvSpPr txBox="1"/>
          <p:nvPr/>
        </p:nvSpPr>
        <p:spPr>
          <a:xfrm>
            <a:off x="5457596" y="2045056"/>
            <a:ext cx="184343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Data Leakage Prevention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9" name="Google Shape;449;p31" descr="preencoded.png"/>
          <p:cNvPicPr preferRelativeResize="0"/>
          <p:nvPr/>
        </p:nvPicPr>
        <p:blipFill rotWithShape="1">
          <a:blip r:embed="rId5">
            <a:alphaModFix/>
          </a:blip>
          <a:srcRect l="-2571" r="-2570"/>
          <a:stretch/>
        </p:blipFill>
        <p:spPr>
          <a:xfrm>
            <a:off x="5457596" y="2316632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31"/>
          <p:cNvSpPr txBox="1"/>
          <p:nvPr/>
        </p:nvSpPr>
        <p:spPr>
          <a:xfrm>
            <a:off x="5593385" y="2294687"/>
            <a:ext cx="249699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Built-in safeguards with strict fit/transform patterns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1" name="Google Shape;451;p31" descr="preencoded.png"/>
          <p:cNvPicPr preferRelativeResize="0"/>
          <p:nvPr/>
        </p:nvPicPr>
        <p:blipFill rotWithShape="1">
          <a:blip r:embed="rId5">
            <a:alphaModFix/>
          </a:blip>
          <a:srcRect l="-2571" r="-2570"/>
          <a:stretch/>
        </p:blipFill>
        <p:spPr>
          <a:xfrm>
            <a:off x="5457596" y="2510714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31"/>
          <p:cNvSpPr txBox="1"/>
          <p:nvPr/>
        </p:nvSpPr>
        <p:spPr>
          <a:xfrm>
            <a:off x="5593385" y="2489454"/>
            <a:ext cx="1796796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Early train/test splitting enforcement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31"/>
          <p:cNvSpPr/>
          <p:nvPr/>
        </p:nvSpPr>
        <p:spPr>
          <a:xfrm>
            <a:off x="285979" y="3157424"/>
            <a:ext cx="4171721" cy="1100024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31"/>
          <p:cNvSpPr/>
          <p:nvPr/>
        </p:nvSpPr>
        <p:spPr>
          <a:xfrm>
            <a:off x="285979" y="3157424"/>
            <a:ext cx="4171721" cy="288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31"/>
          <p:cNvSpPr/>
          <p:nvPr/>
        </p:nvSpPr>
        <p:spPr>
          <a:xfrm>
            <a:off x="457429" y="3357677"/>
            <a:ext cx="457429" cy="457429"/>
          </a:xfrm>
          <a:prstGeom prst="roundRect">
            <a:avLst>
              <a:gd name="adj" fmla="val 149925"/>
            </a:avLst>
          </a:prstGeom>
          <a:solidFill>
            <a:srgbClr val="F5F3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6" name="Google Shape;456;p31" descr="preencoded.png"/>
          <p:cNvPicPr preferRelativeResize="0"/>
          <p:nvPr/>
        </p:nvPicPr>
        <p:blipFill rotWithShape="1">
          <a:blip r:embed="rId7">
            <a:alphaModFix/>
          </a:blip>
          <a:srcRect l="-607" r="-607"/>
          <a:stretch/>
        </p:blipFill>
        <p:spPr>
          <a:xfrm>
            <a:off x="550012" y="3479063"/>
            <a:ext cx="271576" cy="214655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31"/>
          <p:cNvSpPr txBox="1"/>
          <p:nvPr/>
        </p:nvSpPr>
        <p:spPr>
          <a:xfrm>
            <a:off x="1057504" y="3372079"/>
            <a:ext cx="185783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Multi-Agent Architecture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31" descr="preencoded.png"/>
          <p:cNvPicPr preferRelativeResize="0"/>
          <p:nvPr/>
        </p:nvPicPr>
        <p:blipFill rotWithShape="1">
          <a:blip r:embed="rId5">
            <a:alphaModFix/>
          </a:blip>
          <a:srcRect l="-2571" r="-2570"/>
          <a:stretch/>
        </p:blipFill>
        <p:spPr>
          <a:xfrm>
            <a:off x="1057504" y="3643655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31"/>
          <p:cNvSpPr txBox="1"/>
          <p:nvPr/>
        </p:nvSpPr>
        <p:spPr>
          <a:xfrm>
            <a:off x="1193292" y="3621710"/>
            <a:ext cx="2182901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Specialized agents with quality control loops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0" name="Google Shape;460;p31" descr="preencoded.png"/>
          <p:cNvPicPr preferRelativeResize="0"/>
          <p:nvPr/>
        </p:nvPicPr>
        <p:blipFill rotWithShape="1">
          <a:blip r:embed="rId5">
            <a:alphaModFix/>
          </a:blip>
          <a:srcRect l="-2571" r="-2570"/>
          <a:stretch/>
        </p:blipFill>
        <p:spPr>
          <a:xfrm>
            <a:off x="1057504" y="3837737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31"/>
          <p:cNvSpPr txBox="1"/>
          <p:nvPr/>
        </p:nvSpPr>
        <p:spPr>
          <a:xfrm>
            <a:off x="1193292" y="3816477"/>
            <a:ext cx="2382470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Adaptive workflow based on data characteristics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1"/>
          <p:cNvSpPr/>
          <p:nvPr/>
        </p:nvSpPr>
        <p:spPr>
          <a:xfrm>
            <a:off x="4686071" y="3157424"/>
            <a:ext cx="4171721" cy="1100024"/>
          </a:xfrm>
          <a:prstGeom prst="roundRect">
            <a:avLst>
              <a:gd name="adj" fmla="val 4858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31"/>
          <p:cNvSpPr/>
          <p:nvPr/>
        </p:nvSpPr>
        <p:spPr>
          <a:xfrm>
            <a:off x="4686071" y="3157424"/>
            <a:ext cx="4171721" cy="288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31"/>
          <p:cNvSpPr/>
          <p:nvPr/>
        </p:nvSpPr>
        <p:spPr>
          <a:xfrm>
            <a:off x="4857521" y="3357677"/>
            <a:ext cx="457429" cy="457429"/>
          </a:xfrm>
          <a:prstGeom prst="roundRect">
            <a:avLst>
              <a:gd name="adj" fmla="val 149925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31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978908" y="3479063"/>
            <a:ext cx="214655" cy="214655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31"/>
          <p:cNvSpPr txBox="1"/>
          <p:nvPr/>
        </p:nvSpPr>
        <p:spPr>
          <a:xfrm>
            <a:off x="5457596" y="3372079"/>
            <a:ext cx="1636318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Complete Automation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7" name="Google Shape;467;p31" descr="preencoded.png"/>
          <p:cNvPicPr preferRelativeResize="0"/>
          <p:nvPr/>
        </p:nvPicPr>
        <p:blipFill rotWithShape="1">
          <a:blip r:embed="rId5">
            <a:alphaModFix/>
          </a:blip>
          <a:srcRect l="-2571" r="-2570"/>
          <a:stretch/>
        </p:blipFill>
        <p:spPr>
          <a:xfrm>
            <a:off x="5457596" y="3643655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31"/>
          <p:cNvSpPr txBox="1"/>
          <p:nvPr/>
        </p:nvSpPr>
        <p:spPr>
          <a:xfrm>
            <a:off x="5593385" y="3621710"/>
            <a:ext cx="249699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From raw CSV to publication-ready research report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9" name="Google Shape;469;p31" descr="preencoded.png"/>
          <p:cNvPicPr preferRelativeResize="0"/>
          <p:nvPr/>
        </p:nvPicPr>
        <p:blipFill rotWithShape="1">
          <a:blip r:embed="rId5">
            <a:alphaModFix/>
          </a:blip>
          <a:srcRect l="-2571" r="-2570"/>
          <a:stretch/>
        </p:blipFill>
        <p:spPr>
          <a:xfrm>
            <a:off x="5457596" y="3837737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1"/>
          <p:cNvSpPr txBox="1"/>
          <p:nvPr/>
        </p:nvSpPr>
        <p:spPr>
          <a:xfrm>
            <a:off x="5593384" y="3816477"/>
            <a:ext cx="2775433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Includes hypothesis generation, code, visualizations, and references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31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31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1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31"/>
          <p:cNvSpPr txBox="1"/>
          <p:nvPr/>
        </p:nvSpPr>
        <p:spPr>
          <a:xfrm>
            <a:off x="8525180" y="4918558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31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6" name="Google Shape;476;p31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31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8" name="Google Shape;478;p31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328;p29">
            <a:extLst>
              <a:ext uri="{FF2B5EF4-FFF2-40B4-BE49-F238E27FC236}">
                <a16:creationId xmlns:a16="http://schemas.microsoft.com/office/drawing/2014/main" id="{7EA34619-CFEA-0A44-6761-5D593D494452}"/>
              </a:ext>
            </a:extLst>
          </p:cNvPr>
          <p:cNvSpPr/>
          <p:nvPr/>
        </p:nvSpPr>
        <p:spPr>
          <a:xfrm>
            <a:off x="342900" y="102410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Google Shape;329;p29" descr="preencoded.png">
            <a:extLst>
              <a:ext uri="{FF2B5EF4-FFF2-40B4-BE49-F238E27FC236}">
                <a16:creationId xmlns:a16="http://schemas.microsoft.com/office/drawing/2014/main" id="{90519BEF-AB89-DE6F-66ED-A9947AF9C9FB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14223" y="173733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330;p29">
            <a:extLst>
              <a:ext uri="{FF2B5EF4-FFF2-40B4-BE49-F238E27FC236}">
                <a16:creationId xmlns:a16="http://schemas.microsoft.com/office/drawing/2014/main" id="{8E7A3912-DCDF-C175-1CAD-9B3DEAEE6236}"/>
              </a:ext>
            </a:extLst>
          </p:cNvPr>
          <p:cNvSpPr txBox="1"/>
          <p:nvPr/>
        </p:nvSpPr>
        <p:spPr>
          <a:xfrm>
            <a:off x="742721" y="138072"/>
            <a:ext cx="245036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Contributions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32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2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32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32"/>
          <p:cNvSpPr/>
          <p:nvPr/>
        </p:nvSpPr>
        <p:spPr>
          <a:xfrm>
            <a:off x="0" y="1671980"/>
            <a:ext cx="685800" cy="13716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32"/>
          <p:cNvSpPr/>
          <p:nvPr/>
        </p:nvSpPr>
        <p:spPr>
          <a:xfrm>
            <a:off x="8229600" y="1929155"/>
            <a:ext cx="914171" cy="1829029"/>
          </a:xfrm>
          <a:prstGeom prst="roundRect">
            <a:avLst>
              <a:gd name="adj" fmla="val 75019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32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32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1" name="Google Shape;491;p32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2"/>
          <p:cNvSpPr txBox="1"/>
          <p:nvPr/>
        </p:nvSpPr>
        <p:spPr>
          <a:xfrm>
            <a:off x="742721" y="178308"/>
            <a:ext cx="3365221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Part 1: LLM-Based Pipeline Approach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32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32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32"/>
          <p:cNvSpPr/>
          <p:nvPr/>
        </p:nvSpPr>
        <p:spPr>
          <a:xfrm>
            <a:off x="4264991" y="914171"/>
            <a:ext cx="614476" cy="571271"/>
          </a:xfrm>
          <a:prstGeom prst="roundRect">
            <a:avLst>
              <a:gd name="adj" fmla="val 120048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6" name="Google Shape;496;p32" descr="preencoded.png"/>
          <p:cNvPicPr preferRelativeResize="0"/>
          <p:nvPr/>
        </p:nvPicPr>
        <p:blipFill rotWithShape="1">
          <a:blip r:embed="rId4">
            <a:alphaModFix/>
          </a:blip>
          <a:srcRect l="-44" r="-44"/>
          <a:stretch/>
        </p:blipFill>
        <p:spPr>
          <a:xfrm>
            <a:off x="4378833" y="1028700"/>
            <a:ext cx="38610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32"/>
          <p:cNvSpPr txBox="1"/>
          <p:nvPr/>
        </p:nvSpPr>
        <p:spPr>
          <a:xfrm>
            <a:off x="2589581" y="1671980"/>
            <a:ext cx="4293794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3400"/>
              <a:buFont typeface="Inter"/>
              <a:buNone/>
            </a:pPr>
            <a:r>
              <a:rPr lang="en" sz="3400" b="1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LLM-Based Pipeline Approach</a:t>
            </a:r>
            <a:endParaRPr sz="3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32"/>
          <p:cNvSpPr/>
          <p:nvPr/>
        </p:nvSpPr>
        <p:spPr>
          <a:xfrm>
            <a:off x="4114800" y="2800121"/>
            <a:ext cx="9141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32"/>
          <p:cNvSpPr txBox="1"/>
          <p:nvPr/>
        </p:nvSpPr>
        <p:spPr>
          <a:xfrm>
            <a:off x="1771421" y="3178683"/>
            <a:ext cx="5729859" cy="486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From raw CSV data to trained models using explainable LLM decisions and leakage-safe preprocessing mechanisms.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32"/>
          <p:cNvSpPr/>
          <p:nvPr/>
        </p:nvSpPr>
        <p:spPr>
          <a:xfrm>
            <a:off x="1879092" y="4158005"/>
            <a:ext cx="1500530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1" name="Google Shape;501;p3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58086" y="4264991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2"/>
          <p:cNvSpPr/>
          <p:nvPr/>
        </p:nvSpPr>
        <p:spPr>
          <a:xfrm>
            <a:off x="3601135" y="4158005"/>
            <a:ext cx="1693240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32"/>
          <p:cNvSpPr txBox="1"/>
          <p:nvPr/>
        </p:nvSpPr>
        <p:spPr>
          <a:xfrm>
            <a:off x="2286457" y="4264991"/>
            <a:ext cx="1000582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Sequential Logic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4" name="Google Shape;504;p3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779444" y="4264991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505" name="Google Shape;505;p32"/>
          <p:cNvSpPr/>
          <p:nvPr/>
        </p:nvSpPr>
        <p:spPr>
          <a:xfrm>
            <a:off x="5517261" y="4158005"/>
            <a:ext cx="1750162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32"/>
          <p:cNvSpPr txBox="1"/>
          <p:nvPr/>
        </p:nvSpPr>
        <p:spPr>
          <a:xfrm>
            <a:off x="4008501" y="4264991"/>
            <a:ext cx="1193292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Intelligent Decisions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7" name="Google Shape;507;p3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695569" y="4264991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32"/>
          <p:cNvSpPr txBox="1"/>
          <p:nvPr/>
        </p:nvSpPr>
        <p:spPr>
          <a:xfrm>
            <a:off x="5923940" y="4264991"/>
            <a:ext cx="1250213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Automated Reporting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32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32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32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32"/>
          <p:cNvSpPr txBox="1"/>
          <p:nvPr/>
        </p:nvSpPr>
        <p:spPr>
          <a:xfrm>
            <a:off x="8529295" y="4918558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7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3" name="Google Shape;513;p3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514" name="Google Shape;514;p32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5" name="Google Shape;515;p3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32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33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33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33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5" name="Google Shape;525;p33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33"/>
          <p:cNvSpPr txBox="1"/>
          <p:nvPr/>
        </p:nvSpPr>
        <p:spPr>
          <a:xfrm>
            <a:off x="742721" y="178308"/>
            <a:ext cx="2393442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LLM Pipeline Architecture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33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33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33"/>
          <p:cNvSpPr/>
          <p:nvPr/>
        </p:nvSpPr>
        <p:spPr>
          <a:xfrm>
            <a:off x="3913175" y="4443299"/>
            <a:ext cx="114529" cy="114529"/>
          </a:xfrm>
          <a:prstGeom prst="roundRect">
            <a:avLst>
              <a:gd name="adj" fmla="val 149700"/>
            </a:avLst>
          </a:prstGeom>
          <a:noFill/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33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33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33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33"/>
          <p:cNvSpPr txBox="1"/>
          <p:nvPr/>
        </p:nvSpPr>
        <p:spPr>
          <a:xfrm>
            <a:off x="8525180" y="4918558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33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5" name="Google Shape;535;p3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33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7" name="Google Shape;537;p3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538" name="Google Shape;538;p33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33"/>
          <p:cNvSpPr txBox="1"/>
          <p:nvPr/>
        </p:nvSpPr>
        <p:spPr>
          <a:xfrm>
            <a:off x="742721" y="178308"/>
            <a:ext cx="3365221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LLM Pipeline Architecture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0" name="Google Shape;540;p3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185645" y="628193"/>
            <a:ext cx="4276252" cy="41724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34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34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34"/>
          <p:cNvSpPr/>
          <p:nvPr/>
        </p:nvSpPr>
        <p:spPr>
          <a:xfrm>
            <a:off x="0" y="292837"/>
            <a:ext cx="9143771" cy="49720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34"/>
          <p:cNvSpPr/>
          <p:nvPr/>
        </p:nvSpPr>
        <p:spPr>
          <a:xfrm>
            <a:off x="285979" y="571271"/>
            <a:ext cx="4200525" cy="2114321"/>
          </a:xfrm>
          <a:prstGeom prst="roundRect">
            <a:avLst>
              <a:gd name="adj" fmla="val 1315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34"/>
          <p:cNvSpPr/>
          <p:nvPr/>
        </p:nvSpPr>
        <p:spPr>
          <a:xfrm>
            <a:off x="285979" y="571271"/>
            <a:ext cx="28804" cy="211432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34"/>
          <p:cNvSpPr/>
          <p:nvPr/>
        </p:nvSpPr>
        <p:spPr>
          <a:xfrm>
            <a:off x="485546" y="1114425"/>
            <a:ext cx="3828821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34"/>
          <p:cNvSpPr/>
          <p:nvPr/>
        </p:nvSpPr>
        <p:spPr>
          <a:xfrm>
            <a:off x="485546" y="742721"/>
            <a:ext cx="285979" cy="285979"/>
          </a:xfrm>
          <a:prstGeom prst="roundRect">
            <a:avLst>
              <a:gd name="adj" fmla="val 4796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3" name="Google Shape;553;p3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7555" y="814730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34"/>
          <p:cNvSpPr txBox="1"/>
          <p:nvPr/>
        </p:nvSpPr>
        <p:spPr>
          <a:xfrm>
            <a:off x="857250" y="800329"/>
            <a:ext cx="1222096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LLM Framework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5" name="Google Shape;555;p3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5546" y="1264615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34"/>
          <p:cNvSpPr txBox="1"/>
          <p:nvPr/>
        </p:nvSpPr>
        <p:spPr>
          <a:xfrm>
            <a:off x="685800" y="1250213"/>
            <a:ext cx="1207693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OpenAI GPT Models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34"/>
          <p:cNvSpPr txBox="1"/>
          <p:nvPr/>
        </p:nvSpPr>
        <p:spPr>
          <a:xfrm>
            <a:off x="685800" y="1414805"/>
            <a:ext cx="266844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Inter"/>
              <a:buNone/>
            </a:pPr>
            <a:r>
              <a:rPr lang="en" sz="8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GPT-4 (gpt-4-1106-preview) &amp; GPT-3.5 (gpt-3.5-turbo)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8" name="Google Shape;558;p3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5546" y="1693240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34"/>
          <p:cNvSpPr txBox="1"/>
          <p:nvPr/>
        </p:nvSpPr>
        <p:spPr>
          <a:xfrm>
            <a:off x="685800" y="1678838"/>
            <a:ext cx="685800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LangChain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34"/>
          <p:cNvSpPr txBox="1"/>
          <p:nvPr/>
        </p:nvSpPr>
        <p:spPr>
          <a:xfrm>
            <a:off x="685800" y="1843430"/>
            <a:ext cx="292562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Inter"/>
              <a:buNone/>
            </a:pPr>
            <a:r>
              <a:rPr lang="en" sz="8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Prompt engineering, chain orchestration, and output parsing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34"/>
          <p:cNvSpPr/>
          <p:nvPr/>
        </p:nvSpPr>
        <p:spPr>
          <a:xfrm>
            <a:off x="4657954" y="571271"/>
            <a:ext cx="4200525" cy="2114321"/>
          </a:xfrm>
          <a:prstGeom prst="roundRect">
            <a:avLst>
              <a:gd name="adj" fmla="val 1315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34"/>
          <p:cNvSpPr/>
          <p:nvPr/>
        </p:nvSpPr>
        <p:spPr>
          <a:xfrm>
            <a:off x="4657954" y="571271"/>
            <a:ext cx="28804" cy="2114321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34"/>
          <p:cNvSpPr/>
          <p:nvPr/>
        </p:nvSpPr>
        <p:spPr>
          <a:xfrm>
            <a:off x="4857521" y="1114425"/>
            <a:ext cx="3828821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34"/>
          <p:cNvSpPr/>
          <p:nvPr/>
        </p:nvSpPr>
        <p:spPr>
          <a:xfrm>
            <a:off x="4857521" y="742721"/>
            <a:ext cx="285979" cy="285979"/>
          </a:xfrm>
          <a:prstGeom prst="roundRect">
            <a:avLst>
              <a:gd name="adj" fmla="val 47962"/>
            </a:avLst>
          </a:prstGeom>
          <a:solidFill>
            <a:srgbClr val="FFFB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5" name="Google Shape;565;p34" descr="preencoded.png"/>
          <p:cNvPicPr preferRelativeResize="0"/>
          <p:nvPr/>
        </p:nvPicPr>
        <p:blipFill rotWithShape="1">
          <a:blip r:embed="rId5">
            <a:alphaModFix/>
          </a:blip>
          <a:srcRect l="-1648" r="-1647"/>
          <a:stretch/>
        </p:blipFill>
        <p:spPr>
          <a:xfrm>
            <a:off x="4936388" y="814730"/>
            <a:ext cx="128930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34"/>
          <p:cNvSpPr txBox="1"/>
          <p:nvPr/>
        </p:nvSpPr>
        <p:spPr>
          <a:xfrm>
            <a:off x="5229225" y="800329"/>
            <a:ext cx="125021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Data Processing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7" name="Google Shape;567;p3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57521" y="1264615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34"/>
          <p:cNvSpPr txBox="1"/>
          <p:nvPr/>
        </p:nvSpPr>
        <p:spPr>
          <a:xfrm>
            <a:off x="5057775" y="1250213"/>
            <a:ext cx="871651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Core Libraries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34"/>
          <p:cNvSpPr/>
          <p:nvPr/>
        </p:nvSpPr>
        <p:spPr>
          <a:xfrm>
            <a:off x="5057775" y="1414805"/>
            <a:ext cx="900455" cy="17145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34"/>
          <p:cNvSpPr txBox="1"/>
          <p:nvPr/>
        </p:nvSpPr>
        <p:spPr>
          <a:xfrm>
            <a:off x="5114696" y="1428521"/>
            <a:ext cx="861365" cy="135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urier New"/>
              <a:buNone/>
            </a:pPr>
            <a:r>
              <a:rPr lang="en" sz="800">
                <a:solidFill>
                  <a:srgbClr val="6B7280"/>
                </a:solidFill>
                <a:latin typeface="Courier New"/>
                <a:ea typeface="Courier New"/>
                <a:cs typeface="Courier New"/>
                <a:sym typeface="Courier New"/>
              </a:rPr>
              <a:t>pandas, numpy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1" name="Google Shape;571;p3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57521" y="1728902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572" name="Google Shape;572;p34"/>
          <p:cNvSpPr txBox="1"/>
          <p:nvPr/>
        </p:nvSpPr>
        <p:spPr>
          <a:xfrm>
            <a:off x="5057775" y="1714500"/>
            <a:ext cx="1093165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Machine Learning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34"/>
          <p:cNvSpPr/>
          <p:nvPr/>
        </p:nvSpPr>
        <p:spPr>
          <a:xfrm>
            <a:off x="5057775" y="1879092"/>
            <a:ext cx="835990" cy="17145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34"/>
          <p:cNvSpPr txBox="1"/>
          <p:nvPr/>
        </p:nvSpPr>
        <p:spPr>
          <a:xfrm>
            <a:off x="5114696" y="1892808"/>
            <a:ext cx="796900" cy="135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urier New"/>
              <a:buNone/>
            </a:pPr>
            <a:r>
              <a:rPr lang="en" sz="800">
                <a:solidFill>
                  <a:srgbClr val="6B7280"/>
                </a:solidFill>
                <a:latin typeface="Courier New"/>
                <a:ea typeface="Courier New"/>
                <a:cs typeface="Courier New"/>
                <a:sym typeface="Courier New"/>
              </a:rPr>
              <a:t>scikit-learn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5" name="Google Shape;575;p3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57521" y="2193188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p34"/>
          <p:cNvSpPr txBox="1"/>
          <p:nvPr/>
        </p:nvSpPr>
        <p:spPr>
          <a:xfrm>
            <a:off x="5057775" y="2178787"/>
            <a:ext cx="779068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Data Quality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34"/>
          <p:cNvSpPr/>
          <p:nvPr/>
        </p:nvSpPr>
        <p:spPr>
          <a:xfrm>
            <a:off x="5057775" y="2343379"/>
            <a:ext cx="1078763" cy="17145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34"/>
          <p:cNvSpPr txBox="1"/>
          <p:nvPr/>
        </p:nvSpPr>
        <p:spPr>
          <a:xfrm>
            <a:off x="5114696" y="2357780"/>
            <a:ext cx="1039672" cy="135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urier New"/>
              <a:buNone/>
            </a:pPr>
            <a:r>
              <a:rPr lang="en" sz="800">
                <a:solidFill>
                  <a:srgbClr val="6B7280"/>
                </a:solidFill>
                <a:latin typeface="Courier New"/>
                <a:ea typeface="Courier New"/>
                <a:cs typeface="Courier New"/>
                <a:sym typeface="Courier New"/>
              </a:rPr>
              <a:t>imbalanced-learn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34"/>
          <p:cNvSpPr/>
          <p:nvPr/>
        </p:nvSpPr>
        <p:spPr>
          <a:xfrm>
            <a:off x="285979" y="2857729"/>
            <a:ext cx="4200525" cy="2114321"/>
          </a:xfrm>
          <a:prstGeom prst="roundRect">
            <a:avLst>
              <a:gd name="adj" fmla="val 1315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34"/>
          <p:cNvSpPr/>
          <p:nvPr/>
        </p:nvSpPr>
        <p:spPr>
          <a:xfrm>
            <a:off x="285979" y="2857729"/>
            <a:ext cx="28804" cy="2114321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34"/>
          <p:cNvSpPr/>
          <p:nvPr/>
        </p:nvSpPr>
        <p:spPr>
          <a:xfrm>
            <a:off x="485546" y="3400882"/>
            <a:ext cx="3828821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34"/>
          <p:cNvSpPr/>
          <p:nvPr/>
        </p:nvSpPr>
        <p:spPr>
          <a:xfrm>
            <a:off x="485546" y="3029179"/>
            <a:ext cx="285979" cy="285979"/>
          </a:xfrm>
          <a:prstGeom prst="roundRect">
            <a:avLst>
              <a:gd name="adj" fmla="val 47962"/>
            </a:avLst>
          </a:prstGeom>
          <a:solidFill>
            <a:srgbClr val="F5F3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3" name="Google Shape;583;p34" descr="preencoded.png"/>
          <p:cNvPicPr preferRelativeResize="0"/>
          <p:nvPr/>
        </p:nvPicPr>
        <p:blipFill rotWithShape="1">
          <a:blip r:embed="rId6">
            <a:alphaModFix/>
          </a:blip>
          <a:srcRect l="-1282" r="-1282"/>
          <a:stretch/>
        </p:blipFill>
        <p:spPr>
          <a:xfrm>
            <a:off x="546583" y="3100502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Google Shape;584;p34"/>
          <p:cNvSpPr txBox="1"/>
          <p:nvPr/>
        </p:nvSpPr>
        <p:spPr>
          <a:xfrm>
            <a:off x="857250" y="3086100"/>
            <a:ext cx="132908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Visualization &amp; UI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5" name="Google Shape;585;p3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5546" y="3550387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34"/>
          <p:cNvSpPr txBox="1"/>
          <p:nvPr/>
        </p:nvSpPr>
        <p:spPr>
          <a:xfrm>
            <a:off x="685800" y="3535985"/>
            <a:ext cx="1036243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Plotting Libraries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34"/>
          <p:cNvSpPr/>
          <p:nvPr/>
        </p:nvSpPr>
        <p:spPr>
          <a:xfrm>
            <a:off x="685800" y="3700577"/>
            <a:ext cx="1735760" cy="17145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34"/>
          <p:cNvSpPr txBox="1"/>
          <p:nvPr/>
        </p:nvSpPr>
        <p:spPr>
          <a:xfrm>
            <a:off x="742721" y="3714979"/>
            <a:ext cx="1696670" cy="135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urier New"/>
              <a:buNone/>
            </a:pPr>
            <a:r>
              <a:rPr lang="en" sz="800">
                <a:solidFill>
                  <a:srgbClr val="6B7280"/>
                </a:solidFill>
                <a:latin typeface="Courier New"/>
                <a:ea typeface="Courier New"/>
                <a:cs typeface="Courier New"/>
                <a:sym typeface="Courier New"/>
              </a:rPr>
              <a:t>matplotlib, seaborn, plotly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9" name="Google Shape;589;p3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5546" y="4014674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34"/>
          <p:cNvSpPr txBox="1"/>
          <p:nvPr/>
        </p:nvSpPr>
        <p:spPr>
          <a:xfrm>
            <a:off x="685800" y="4000271"/>
            <a:ext cx="1322222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Interactive Dashboard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34"/>
          <p:cNvSpPr txBox="1"/>
          <p:nvPr/>
        </p:nvSpPr>
        <p:spPr>
          <a:xfrm>
            <a:off x="685800" y="4164863"/>
            <a:ext cx="2654046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Inter"/>
              <a:buNone/>
            </a:pPr>
            <a:r>
              <a:rPr lang="en" sz="8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Streamlit based UI for real-time interaction and display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34"/>
          <p:cNvSpPr/>
          <p:nvPr/>
        </p:nvSpPr>
        <p:spPr>
          <a:xfrm>
            <a:off x="4657954" y="2864587"/>
            <a:ext cx="4200525" cy="2114321"/>
          </a:xfrm>
          <a:prstGeom prst="roundRect">
            <a:avLst>
              <a:gd name="adj" fmla="val 1315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34"/>
          <p:cNvSpPr/>
          <p:nvPr/>
        </p:nvSpPr>
        <p:spPr>
          <a:xfrm>
            <a:off x="4657954" y="2857729"/>
            <a:ext cx="28804" cy="211432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34"/>
          <p:cNvSpPr/>
          <p:nvPr/>
        </p:nvSpPr>
        <p:spPr>
          <a:xfrm>
            <a:off x="4857521" y="3400882"/>
            <a:ext cx="3828821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34"/>
          <p:cNvSpPr/>
          <p:nvPr/>
        </p:nvSpPr>
        <p:spPr>
          <a:xfrm>
            <a:off x="4857521" y="3029179"/>
            <a:ext cx="285979" cy="285979"/>
          </a:xfrm>
          <a:prstGeom prst="roundRect">
            <a:avLst>
              <a:gd name="adj" fmla="val 47962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6" name="Google Shape;596;p3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911014" y="3100502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34"/>
          <p:cNvSpPr txBox="1"/>
          <p:nvPr/>
        </p:nvSpPr>
        <p:spPr>
          <a:xfrm>
            <a:off x="5229225" y="3086100"/>
            <a:ext cx="1143229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Model Support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34"/>
          <p:cNvSpPr txBox="1"/>
          <p:nvPr/>
        </p:nvSpPr>
        <p:spPr>
          <a:xfrm>
            <a:off x="4857521" y="3521583"/>
            <a:ext cx="81473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CLASSIFICATION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34"/>
          <p:cNvSpPr txBox="1"/>
          <p:nvPr/>
        </p:nvSpPr>
        <p:spPr>
          <a:xfrm>
            <a:off x="4857521" y="3976955"/>
            <a:ext cx="63642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34"/>
          <p:cNvSpPr txBox="1"/>
          <p:nvPr/>
        </p:nvSpPr>
        <p:spPr>
          <a:xfrm>
            <a:off x="4857521" y="4431640"/>
            <a:ext cx="63642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CLUSTERING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34"/>
          <p:cNvSpPr txBox="1"/>
          <p:nvPr/>
        </p:nvSpPr>
        <p:spPr>
          <a:xfrm>
            <a:off x="4857521" y="3636112"/>
            <a:ext cx="3357676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Courier New"/>
              <a:buNone/>
            </a:pPr>
            <a:r>
              <a:rPr lang="en" sz="700">
                <a:solidFill>
                  <a:srgbClr val="4B5563"/>
                </a:solidFill>
                <a:latin typeface="Courier New"/>
                <a:ea typeface="Courier New"/>
                <a:cs typeface="Courier New"/>
                <a:sym typeface="Courier New"/>
              </a:rPr>
              <a:t>LogisticRegression, SVC, RandomForest, XGBoost, GradientBoosting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34"/>
          <p:cNvSpPr txBox="1"/>
          <p:nvPr/>
        </p:nvSpPr>
        <p:spPr>
          <a:xfrm>
            <a:off x="4857521" y="4090797"/>
            <a:ext cx="2950997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Courier New"/>
              <a:buNone/>
            </a:pPr>
            <a:r>
              <a:rPr lang="en" sz="700">
                <a:solidFill>
                  <a:srgbClr val="4B5563"/>
                </a:solidFill>
                <a:latin typeface="Courier New"/>
                <a:ea typeface="Courier New"/>
                <a:cs typeface="Courier New"/>
                <a:sym typeface="Courier New"/>
              </a:rPr>
              <a:t>LinearRegression, Ridge, Lasso, ElasticNet, RandomForest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34"/>
          <p:cNvSpPr txBox="1"/>
          <p:nvPr/>
        </p:nvSpPr>
        <p:spPr>
          <a:xfrm>
            <a:off x="4857521" y="4545482"/>
            <a:ext cx="238658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Courier New"/>
              <a:buNone/>
            </a:pPr>
            <a:r>
              <a:rPr lang="en" sz="700">
                <a:solidFill>
                  <a:srgbClr val="4B5563"/>
                </a:solidFill>
                <a:latin typeface="Courier New"/>
                <a:ea typeface="Courier New"/>
                <a:cs typeface="Courier New"/>
                <a:sym typeface="Courier New"/>
              </a:rPr>
              <a:t>KMeans, DBSCAN, GaussianMixture, Hierarchical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34"/>
          <p:cNvSpPr/>
          <p:nvPr/>
        </p:nvSpPr>
        <p:spPr>
          <a:xfrm>
            <a:off x="0" y="5258029"/>
            <a:ext cx="9143771" cy="12138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34"/>
          <p:cNvSpPr/>
          <p:nvPr/>
        </p:nvSpPr>
        <p:spPr>
          <a:xfrm>
            <a:off x="0" y="5258029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34"/>
          <p:cNvSpPr txBox="1"/>
          <p:nvPr/>
        </p:nvSpPr>
        <p:spPr>
          <a:xfrm>
            <a:off x="342900" y="5264887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34"/>
          <p:cNvSpPr txBox="1"/>
          <p:nvPr/>
        </p:nvSpPr>
        <p:spPr>
          <a:xfrm>
            <a:off x="8525180" y="5264887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4"/>
          <p:cNvSpPr/>
          <p:nvPr/>
        </p:nvSpPr>
        <p:spPr>
          <a:xfrm>
            <a:off x="0" y="-1"/>
            <a:ext cx="9143771" cy="44234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34"/>
          <p:cNvSpPr/>
          <p:nvPr/>
        </p:nvSpPr>
        <p:spPr>
          <a:xfrm>
            <a:off x="342900" y="80465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0" name="Google Shape;610;p34" descr="preencoded.png"/>
          <p:cNvPicPr preferRelativeResize="0"/>
          <p:nvPr/>
        </p:nvPicPr>
        <p:blipFill rotWithShape="1">
          <a:blip r:embed="rId8">
            <a:alphaModFix/>
          </a:blip>
          <a:srcRect l="-1282" r="-1282"/>
          <a:stretch/>
        </p:blipFill>
        <p:spPr>
          <a:xfrm>
            <a:off x="403937" y="151788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34"/>
          <p:cNvSpPr txBox="1"/>
          <p:nvPr/>
        </p:nvSpPr>
        <p:spPr>
          <a:xfrm>
            <a:off x="742721" y="116127"/>
            <a:ext cx="330761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Technical Stack - Pipeline Approach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34"/>
          <p:cNvSpPr txBox="1"/>
          <p:nvPr/>
        </p:nvSpPr>
        <p:spPr>
          <a:xfrm>
            <a:off x="7289369" y="78867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3" name="Google Shape;613;p3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614" name="Google Shape;614;p34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5" name="Google Shape;615;p3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34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528;p33">
            <a:extLst>
              <a:ext uri="{FF2B5EF4-FFF2-40B4-BE49-F238E27FC236}">
                <a16:creationId xmlns:a16="http://schemas.microsoft.com/office/drawing/2014/main" id="{0C70AB62-4D1E-1459-29EA-BDB170059A24}"/>
              </a:ext>
            </a:extLst>
          </p:cNvPr>
          <p:cNvSpPr/>
          <p:nvPr/>
        </p:nvSpPr>
        <p:spPr>
          <a:xfrm>
            <a:off x="0" y="433995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5"/>
          <p:cNvSpPr/>
          <p:nvPr/>
        </p:nvSpPr>
        <p:spPr>
          <a:xfrm>
            <a:off x="0" y="0"/>
            <a:ext cx="9143771" cy="527243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35"/>
          <p:cNvSpPr/>
          <p:nvPr/>
        </p:nvSpPr>
        <p:spPr>
          <a:xfrm>
            <a:off x="0" y="0"/>
            <a:ext cx="9143771" cy="527243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35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5" name="Google Shape;625;p3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392" y="21465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p35"/>
          <p:cNvSpPr txBox="1"/>
          <p:nvPr/>
        </p:nvSpPr>
        <p:spPr>
          <a:xfrm>
            <a:off x="742721" y="178308"/>
            <a:ext cx="2786405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LLM Decision-Making Process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35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35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35"/>
          <p:cNvSpPr/>
          <p:nvPr/>
        </p:nvSpPr>
        <p:spPr>
          <a:xfrm>
            <a:off x="0" y="628879"/>
            <a:ext cx="9143771" cy="4300652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35"/>
          <p:cNvSpPr/>
          <p:nvPr/>
        </p:nvSpPr>
        <p:spPr>
          <a:xfrm>
            <a:off x="228371" y="857250"/>
            <a:ext cx="2671876" cy="2272055"/>
          </a:xfrm>
          <a:prstGeom prst="roundRect">
            <a:avLst>
              <a:gd name="adj" fmla="val 1139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1" name="Google Shape;631;p3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7365" y="1064362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632" name="Google Shape;632;p35"/>
          <p:cNvSpPr txBox="1"/>
          <p:nvPr/>
        </p:nvSpPr>
        <p:spPr>
          <a:xfrm>
            <a:off x="571271" y="1035558"/>
            <a:ext cx="1250213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Prompt Strategy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3" name="Google Shape;633;p3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7366" y="1378458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35"/>
          <p:cNvSpPr txBox="1"/>
          <p:nvPr/>
        </p:nvSpPr>
        <p:spPr>
          <a:xfrm>
            <a:off x="606933" y="1364742"/>
            <a:ext cx="1429207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Structured JSON Output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35"/>
          <p:cNvSpPr txBox="1"/>
          <p:nvPr/>
        </p:nvSpPr>
        <p:spPr>
          <a:xfrm>
            <a:off x="606933" y="1528648"/>
            <a:ext cx="1882521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Enforces machine-readable format for reliable parsing in the pipeline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6" name="Google Shape;636;p3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7366" y="1950416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p35"/>
          <p:cNvSpPr txBox="1"/>
          <p:nvPr/>
        </p:nvSpPr>
        <p:spPr>
          <a:xfrm>
            <a:off x="606933" y="1936013"/>
            <a:ext cx="1400404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Reasoning Requirement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35"/>
          <p:cNvSpPr txBox="1"/>
          <p:nvPr/>
        </p:nvSpPr>
        <p:spPr>
          <a:xfrm>
            <a:off x="606933" y="2100605"/>
            <a:ext cx="2147239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Forces LLM to explain "why" (explainability) before making a choice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9" name="Google Shape;639;p3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7366" y="2521687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35"/>
          <p:cNvSpPr txBox="1"/>
          <p:nvPr/>
        </p:nvSpPr>
        <p:spPr>
          <a:xfrm>
            <a:off x="606933" y="2507285"/>
            <a:ext cx="1028700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Context Injection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35"/>
          <p:cNvSpPr txBox="1"/>
          <p:nvPr/>
        </p:nvSpPr>
        <p:spPr>
          <a:xfrm>
            <a:off x="606933" y="2671877"/>
            <a:ext cx="2104034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Dynamic insertion of data types, head, and attributes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35"/>
          <p:cNvSpPr/>
          <p:nvPr/>
        </p:nvSpPr>
        <p:spPr>
          <a:xfrm>
            <a:off x="228371" y="3300755"/>
            <a:ext cx="2671876" cy="1400404"/>
          </a:xfrm>
          <a:prstGeom prst="roundRect">
            <a:avLst>
              <a:gd name="adj" fmla="val 2998"/>
            </a:avLst>
          </a:prstGeom>
          <a:solidFill>
            <a:srgbClr val="EFF6FF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35"/>
          <p:cNvSpPr txBox="1"/>
          <p:nvPr/>
        </p:nvSpPr>
        <p:spPr>
          <a:xfrm>
            <a:off x="407366" y="3493466"/>
            <a:ext cx="1100709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Why this matters?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35"/>
          <p:cNvSpPr txBox="1"/>
          <p:nvPr/>
        </p:nvSpPr>
        <p:spPr>
          <a:xfrm>
            <a:off x="407366" y="3721837"/>
            <a:ext cx="2218563" cy="450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800"/>
              <a:buFont typeface="Inter"/>
              <a:buNone/>
            </a:pPr>
            <a:r>
              <a:rPr lang="en" sz="800">
                <a:solidFill>
                  <a:srgbClr val="1D4ED8"/>
                </a:solidFill>
                <a:latin typeface="Inter"/>
                <a:ea typeface="Inter"/>
                <a:cs typeface="Inter"/>
                <a:sym typeface="Inter"/>
              </a:rPr>
              <a:t>Standard AutoML tools use hard-coded heuristics (e.g., "if columns &gt; 100, use PCA"). This system uses semantic understanding: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35"/>
          <p:cNvSpPr txBox="1"/>
          <p:nvPr/>
        </p:nvSpPr>
        <p:spPr>
          <a:xfrm>
            <a:off x="407366" y="4209440"/>
            <a:ext cx="2325547" cy="285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800"/>
              <a:buFont typeface="Inter"/>
              <a:buNone/>
            </a:pPr>
            <a:r>
              <a:rPr lang="en" sz="800" i="1">
                <a:solidFill>
                  <a:srgbClr val="1D4ED8"/>
                </a:solidFill>
                <a:latin typeface="Inter"/>
                <a:ea typeface="Inter"/>
                <a:cs typeface="Inter"/>
                <a:sym typeface="Inter"/>
              </a:rPr>
              <a:t>"This column contains ID numbers, not features - drop it."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35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35"/>
          <p:cNvSpPr/>
          <p:nvPr/>
        </p:nvSpPr>
        <p:spPr>
          <a:xfrm>
            <a:off x="7668616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35"/>
          <p:cNvSpPr/>
          <p:nvPr/>
        </p:nvSpPr>
        <p:spPr>
          <a:xfrm>
            <a:off x="0" y="4927473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35"/>
          <p:cNvSpPr/>
          <p:nvPr/>
        </p:nvSpPr>
        <p:spPr>
          <a:xfrm>
            <a:off x="0" y="4927473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35"/>
          <p:cNvSpPr txBox="1"/>
          <p:nvPr/>
        </p:nvSpPr>
        <p:spPr>
          <a:xfrm>
            <a:off x="342900" y="5045431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35"/>
          <p:cNvSpPr txBox="1"/>
          <p:nvPr/>
        </p:nvSpPr>
        <p:spPr>
          <a:xfrm>
            <a:off x="8488832" y="5045431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10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35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3" name="Google Shape;653;p3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35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5" name="Google Shape;655;p3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656" name="Google Shape;656;p35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7" name="Google Shape;657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514298" y="796208"/>
            <a:ext cx="4590144" cy="4153911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35"/>
          <p:cNvSpPr txBox="1"/>
          <p:nvPr/>
        </p:nvSpPr>
        <p:spPr>
          <a:xfrm>
            <a:off x="485546" y="215341"/>
            <a:ext cx="330761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LLM Decision Making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36"/>
          <p:cNvSpPr/>
          <p:nvPr/>
        </p:nvSpPr>
        <p:spPr>
          <a:xfrm>
            <a:off x="0" y="0"/>
            <a:ext cx="9143771" cy="527243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36"/>
          <p:cNvSpPr/>
          <p:nvPr/>
        </p:nvSpPr>
        <p:spPr>
          <a:xfrm>
            <a:off x="0" y="0"/>
            <a:ext cx="9143771" cy="527243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36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7" name="Google Shape;667;p3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392" y="21465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668" name="Google Shape;668;p36"/>
          <p:cNvSpPr txBox="1"/>
          <p:nvPr/>
        </p:nvSpPr>
        <p:spPr>
          <a:xfrm>
            <a:off x="742721" y="178308"/>
            <a:ext cx="2786405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LLM Decision-Making Process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36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36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36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36"/>
          <p:cNvSpPr/>
          <p:nvPr/>
        </p:nvSpPr>
        <p:spPr>
          <a:xfrm>
            <a:off x="7668616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36"/>
          <p:cNvSpPr/>
          <p:nvPr/>
        </p:nvSpPr>
        <p:spPr>
          <a:xfrm>
            <a:off x="0" y="4927473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36"/>
          <p:cNvSpPr/>
          <p:nvPr/>
        </p:nvSpPr>
        <p:spPr>
          <a:xfrm>
            <a:off x="0" y="4927473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36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76" name="Google Shape;676;p3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677" name="Google Shape;677;p36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78" name="Google Shape;678;p3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36"/>
          <p:cNvSpPr txBox="1"/>
          <p:nvPr/>
        </p:nvSpPr>
        <p:spPr>
          <a:xfrm>
            <a:off x="485546" y="215341"/>
            <a:ext cx="330761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LLM: Handle Missing Values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0" name="Google Shape;680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64690" y="628192"/>
            <a:ext cx="5066234" cy="4170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37"/>
          <p:cNvSpPr/>
          <p:nvPr/>
        </p:nvSpPr>
        <p:spPr>
          <a:xfrm>
            <a:off x="0" y="0"/>
            <a:ext cx="9143771" cy="527243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37"/>
          <p:cNvSpPr/>
          <p:nvPr/>
        </p:nvSpPr>
        <p:spPr>
          <a:xfrm>
            <a:off x="0" y="0"/>
            <a:ext cx="9143771" cy="527243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37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9" name="Google Shape;689;p3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392" y="21465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p37"/>
          <p:cNvSpPr txBox="1"/>
          <p:nvPr/>
        </p:nvSpPr>
        <p:spPr>
          <a:xfrm>
            <a:off x="742721" y="178308"/>
            <a:ext cx="2786405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LLM Decision-Making Process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37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37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37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37"/>
          <p:cNvSpPr/>
          <p:nvPr/>
        </p:nvSpPr>
        <p:spPr>
          <a:xfrm>
            <a:off x="7668616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37"/>
          <p:cNvSpPr/>
          <p:nvPr/>
        </p:nvSpPr>
        <p:spPr>
          <a:xfrm>
            <a:off x="0" y="4927473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37"/>
          <p:cNvSpPr/>
          <p:nvPr/>
        </p:nvSpPr>
        <p:spPr>
          <a:xfrm>
            <a:off x="0" y="4927473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37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8" name="Google Shape;698;p3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699" name="Google Shape;699;p3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0" name="Google Shape;700;p3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701" name="Google Shape;701;p3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37"/>
          <p:cNvSpPr txBox="1"/>
          <p:nvPr/>
        </p:nvSpPr>
        <p:spPr>
          <a:xfrm>
            <a:off x="485546" y="215341"/>
            <a:ext cx="330761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LLM: Encoding Strategy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3" name="Google Shape;703;p3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12376" y="628193"/>
            <a:ext cx="4224479" cy="43971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38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38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38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2" name="Google Shape;712;p38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38"/>
          <p:cNvSpPr txBox="1"/>
          <p:nvPr/>
        </p:nvSpPr>
        <p:spPr>
          <a:xfrm>
            <a:off x="742721" y="178308"/>
            <a:ext cx="335767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Pipeline Stage 3: PCA Decision Logic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38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38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38"/>
          <p:cNvSpPr/>
          <p:nvPr/>
        </p:nvSpPr>
        <p:spPr>
          <a:xfrm>
            <a:off x="0" y="628879"/>
            <a:ext cx="9143771" cy="432945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38"/>
          <p:cNvSpPr/>
          <p:nvPr/>
        </p:nvSpPr>
        <p:spPr>
          <a:xfrm>
            <a:off x="228371" y="857250"/>
            <a:ext cx="2671876" cy="2272055"/>
          </a:xfrm>
          <a:prstGeom prst="roundRect">
            <a:avLst>
              <a:gd name="adj" fmla="val 1139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8" name="Google Shape;718;p3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7366" y="1064362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719" name="Google Shape;719;p38"/>
          <p:cNvSpPr txBox="1"/>
          <p:nvPr/>
        </p:nvSpPr>
        <p:spPr>
          <a:xfrm>
            <a:off x="643280" y="1035558"/>
            <a:ext cx="1136371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Decision Logic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38"/>
          <p:cNvSpPr/>
          <p:nvPr/>
        </p:nvSpPr>
        <p:spPr>
          <a:xfrm>
            <a:off x="407366" y="1378458"/>
            <a:ext cx="228371" cy="228371"/>
          </a:xfrm>
          <a:prstGeom prst="roundRect">
            <a:avLst>
              <a:gd name="adj" fmla="val 300300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38"/>
          <p:cNvSpPr txBox="1"/>
          <p:nvPr/>
        </p:nvSpPr>
        <p:spPr>
          <a:xfrm>
            <a:off x="496520" y="1421663"/>
            <a:ext cx="135788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38"/>
          <p:cNvSpPr txBox="1"/>
          <p:nvPr/>
        </p:nvSpPr>
        <p:spPr>
          <a:xfrm>
            <a:off x="721462" y="1364742"/>
            <a:ext cx="1236497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Standardization First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38"/>
          <p:cNvSpPr txBox="1"/>
          <p:nvPr/>
        </p:nvSpPr>
        <p:spPr>
          <a:xfrm>
            <a:off x="721462" y="1528648"/>
            <a:ext cx="1904467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Data must be scaled (mean=0, var=1) before PCA to prevent magnitude bias.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38"/>
          <p:cNvSpPr/>
          <p:nvPr/>
        </p:nvSpPr>
        <p:spPr>
          <a:xfrm>
            <a:off x="407366" y="1950416"/>
            <a:ext cx="228371" cy="228371"/>
          </a:xfrm>
          <a:prstGeom prst="roundRect">
            <a:avLst>
              <a:gd name="adj" fmla="val 300300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38"/>
          <p:cNvSpPr txBox="1"/>
          <p:nvPr/>
        </p:nvSpPr>
        <p:spPr>
          <a:xfrm>
            <a:off x="485546" y="1992935"/>
            <a:ext cx="16459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38"/>
          <p:cNvSpPr txBox="1"/>
          <p:nvPr/>
        </p:nvSpPr>
        <p:spPr>
          <a:xfrm>
            <a:off x="721462" y="1936013"/>
            <a:ext cx="1164488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Variance Threshold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38"/>
          <p:cNvSpPr txBox="1"/>
          <p:nvPr/>
        </p:nvSpPr>
        <p:spPr>
          <a:xfrm>
            <a:off x="721462" y="2100605"/>
            <a:ext cx="2011451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Target retention of 0.95 (95%) of original information.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38"/>
          <p:cNvSpPr/>
          <p:nvPr/>
        </p:nvSpPr>
        <p:spPr>
          <a:xfrm>
            <a:off x="407366" y="2521687"/>
            <a:ext cx="228371" cy="228371"/>
          </a:xfrm>
          <a:prstGeom prst="roundRect">
            <a:avLst>
              <a:gd name="adj" fmla="val 300300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38"/>
          <p:cNvSpPr txBox="1"/>
          <p:nvPr/>
        </p:nvSpPr>
        <p:spPr>
          <a:xfrm>
            <a:off x="484861" y="2564892"/>
            <a:ext cx="16459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38"/>
          <p:cNvSpPr txBox="1"/>
          <p:nvPr/>
        </p:nvSpPr>
        <p:spPr>
          <a:xfrm>
            <a:off x="721462" y="2507285"/>
            <a:ext cx="102184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Efficiency Check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38"/>
          <p:cNvSpPr txBox="1"/>
          <p:nvPr/>
        </p:nvSpPr>
        <p:spPr>
          <a:xfrm>
            <a:off x="721462" y="2671877"/>
            <a:ext cx="2068373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Only apply PCA if dimensions are reduced by at least 10%.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38"/>
          <p:cNvSpPr/>
          <p:nvPr/>
        </p:nvSpPr>
        <p:spPr>
          <a:xfrm>
            <a:off x="228371" y="3300755"/>
            <a:ext cx="2671876" cy="1428521"/>
          </a:xfrm>
          <a:prstGeom prst="roundRect">
            <a:avLst>
              <a:gd name="adj" fmla="val 2880"/>
            </a:avLst>
          </a:prstGeom>
          <a:solidFill>
            <a:srgbClr val="EFF6FF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3" name="Google Shape;733;p3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7366" y="3507867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38"/>
          <p:cNvSpPr txBox="1"/>
          <p:nvPr/>
        </p:nvSpPr>
        <p:spPr>
          <a:xfrm>
            <a:off x="578816" y="3479063"/>
            <a:ext cx="101498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Why this check?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38"/>
          <p:cNvSpPr txBox="1"/>
          <p:nvPr/>
        </p:nvSpPr>
        <p:spPr>
          <a:xfrm>
            <a:off x="407365" y="3750641"/>
            <a:ext cx="2375612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800"/>
              <a:buFont typeface="Inter"/>
              <a:buNone/>
            </a:pPr>
            <a:r>
              <a:rPr lang="en" sz="800">
                <a:solidFill>
                  <a:srgbClr val="1D4ED8"/>
                </a:solidFill>
                <a:latin typeface="Inter"/>
                <a:ea typeface="Inter"/>
                <a:cs typeface="Inter"/>
                <a:sym typeface="Inter"/>
              </a:rPr>
              <a:t>Applying PCA indiscriminately reduces interpretability. If 95% variance requires keeping 99% of features, PCA adds complexity without benefit. The pipeline intelligently skips PCA in such cases.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38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38"/>
          <p:cNvSpPr txBox="1"/>
          <p:nvPr/>
        </p:nvSpPr>
        <p:spPr>
          <a:xfrm>
            <a:off x="3651885" y="1357199"/>
            <a:ext cx="26129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38"/>
          <p:cNvSpPr txBox="1"/>
          <p:nvPr/>
        </p:nvSpPr>
        <p:spPr>
          <a:xfrm>
            <a:off x="6772961" y="1357199"/>
            <a:ext cx="13990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38"/>
          <p:cNvSpPr/>
          <p:nvPr/>
        </p:nvSpPr>
        <p:spPr>
          <a:xfrm>
            <a:off x="7068541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38"/>
          <p:cNvSpPr txBox="1"/>
          <p:nvPr/>
        </p:nvSpPr>
        <p:spPr>
          <a:xfrm>
            <a:off x="8809101" y="1357199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38"/>
          <p:cNvSpPr/>
          <p:nvPr/>
        </p:nvSpPr>
        <p:spPr>
          <a:xfrm>
            <a:off x="0" y="4956277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38"/>
          <p:cNvSpPr/>
          <p:nvPr/>
        </p:nvSpPr>
        <p:spPr>
          <a:xfrm>
            <a:off x="0" y="4956277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38"/>
          <p:cNvSpPr txBox="1"/>
          <p:nvPr/>
        </p:nvSpPr>
        <p:spPr>
          <a:xfrm>
            <a:off x="342900" y="507354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38"/>
          <p:cNvSpPr txBox="1"/>
          <p:nvPr/>
        </p:nvSpPr>
        <p:spPr>
          <a:xfrm>
            <a:off x="8490204" y="5073548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13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38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LLM: PCA Decision Logic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6" name="Google Shape;746;p3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747" name="Google Shape;747;p38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8" name="Google Shape;748;p3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749" name="Google Shape;749;p38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0" name="Google Shape;750;p38" descr="Principal Component Analysis (PCA) Explained Visually with Zero Math |  Towards Data Science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78721" y="1118740"/>
            <a:ext cx="4778870" cy="35681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39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39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39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9" name="Google Shape;759;p39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760" name="Google Shape;760;p39"/>
          <p:cNvSpPr txBox="1"/>
          <p:nvPr/>
        </p:nvSpPr>
        <p:spPr>
          <a:xfrm>
            <a:off x="742721" y="178308"/>
            <a:ext cx="335767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Pipeline Stage 3: PCA Decision Logic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39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39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39"/>
          <p:cNvSpPr/>
          <p:nvPr/>
        </p:nvSpPr>
        <p:spPr>
          <a:xfrm>
            <a:off x="0" y="628879"/>
            <a:ext cx="9143700" cy="43296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39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39"/>
          <p:cNvSpPr txBox="1"/>
          <p:nvPr/>
        </p:nvSpPr>
        <p:spPr>
          <a:xfrm>
            <a:off x="3651885" y="1357199"/>
            <a:ext cx="26129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39"/>
          <p:cNvSpPr txBox="1"/>
          <p:nvPr/>
        </p:nvSpPr>
        <p:spPr>
          <a:xfrm>
            <a:off x="6772961" y="1357199"/>
            <a:ext cx="13990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39"/>
          <p:cNvSpPr/>
          <p:nvPr/>
        </p:nvSpPr>
        <p:spPr>
          <a:xfrm>
            <a:off x="7068541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39"/>
          <p:cNvSpPr txBox="1"/>
          <p:nvPr/>
        </p:nvSpPr>
        <p:spPr>
          <a:xfrm>
            <a:off x="8809101" y="1357199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39"/>
          <p:cNvSpPr/>
          <p:nvPr/>
        </p:nvSpPr>
        <p:spPr>
          <a:xfrm>
            <a:off x="0" y="4956277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39"/>
          <p:cNvSpPr/>
          <p:nvPr/>
        </p:nvSpPr>
        <p:spPr>
          <a:xfrm>
            <a:off x="0" y="4956277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39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Data Leakage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2" name="Google Shape;772;p3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39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39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5" name="Google Shape;775;p3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34589" y="676907"/>
            <a:ext cx="3958410" cy="4352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40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40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40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4" name="Google Shape;784;p40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785" name="Google Shape;785;p40"/>
          <p:cNvSpPr txBox="1"/>
          <p:nvPr/>
        </p:nvSpPr>
        <p:spPr>
          <a:xfrm>
            <a:off x="742721" y="178308"/>
            <a:ext cx="335767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Pipeline Stage 3: PCA Decision Logic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40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40"/>
          <p:cNvSpPr/>
          <p:nvPr/>
        </p:nvSpPr>
        <p:spPr>
          <a:xfrm>
            <a:off x="0" y="628879"/>
            <a:ext cx="9143771" cy="432945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40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40"/>
          <p:cNvSpPr txBox="1"/>
          <p:nvPr/>
        </p:nvSpPr>
        <p:spPr>
          <a:xfrm>
            <a:off x="3651885" y="1357199"/>
            <a:ext cx="26129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40"/>
          <p:cNvSpPr txBox="1"/>
          <p:nvPr/>
        </p:nvSpPr>
        <p:spPr>
          <a:xfrm>
            <a:off x="6772961" y="1357199"/>
            <a:ext cx="13990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40"/>
          <p:cNvSpPr/>
          <p:nvPr/>
        </p:nvSpPr>
        <p:spPr>
          <a:xfrm>
            <a:off x="7068541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40"/>
          <p:cNvSpPr txBox="1"/>
          <p:nvPr/>
        </p:nvSpPr>
        <p:spPr>
          <a:xfrm>
            <a:off x="8809101" y="1357199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40"/>
          <p:cNvSpPr/>
          <p:nvPr/>
        </p:nvSpPr>
        <p:spPr>
          <a:xfrm>
            <a:off x="0" y="4956277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40"/>
          <p:cNvSpPr/>
          <p:nvPr/>
        </p:nvSpPr>
        <p:spPr>
          <a:xfrm>
            <a:off x="0" y="4956277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40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Fixed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7" name="Google Shape;797;p4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40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40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0" name="Google Shape;800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64619" y="692974"/>
            <a:ext cx="4488706" cy="419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4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" name="Google Shape;807;p4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41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9" name="Google Shape;809;p4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392" y="21465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810" name="Google Shape;810;p41"/>
          <p:cNvSpPr txBox="1"/>
          <p:nvPr/>
        </p:nvSpPr>
        <p:spPr>
          <a:xfrm>
            <a:off x="742721" y="178308"/>
            <a:ext cx="2379041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Model Selection with LLM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41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41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41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4" name="Google Shape;814;p41" descr="preencoded.png"/>
          <p:cNvPicPr preferRelativeResize="0"/>
          <p:nvPr/>
        </p:nvPicPr>
        <p:blipFill rotWithShape="1">
          <a:blip r:embed="rId4">
            <a:alphaModFix/>
          </a:blip>
          <a:srcRect l="-760" r="-759"/>
          <a:stretch/>
        </p:blipFill>
        <p:spPr>
          <a:xfrm>
            <a:off x="228371" y="892912"/>
            <a:ext cx="114529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815" name="Google Shape;815;p41"/>
          <p:cNvSpPr txBox="1"/>
          <p:nvPr/>
        </p:nvSpPr>
        <p:spPr>
          <a:xfrm>
            <a:off x="399821" y="857250"/>
            <a:ext cx="1854403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Intelligent Algorithm Choice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41"/>
          <p:cNvSpPr/>
          <p:nvPr/>
        </p:nvSpPr>
        <p:spPr>
          <a:xfrm>
            <a:off x="3332302" y="878509"/>
            <a:ext cx="1014299" cy="157049"/>
          </a:xfrm>
          <a:prstGeom prst="roundRect">
            <a:avLst>
              <a:gd name="adj" fmla="val 79396"/>
            </a:avLst>
          </a:prstGeom>
          <a:solidFill>
            <a:srgbClr val="D1FAE5"/>
          </a:solidFill>
          <a:ln w="12700" cap="flat" cmpd="sng">
            <a:solidFill>
              <a:srgbClr val="34D39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41"/>
          <p:cNvSpPr txBox="1"/>
          <p:nvPr/>
        </p:nvSpPr>
        <p:spPr>
          <a:xfrm>
            <a:off x="3411170" y="900455"/>
            <a:ext cx="92171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JSON Parsed Output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41"/>
          <p:cNvSpPr/>
          <p:nvPr/>
        </p:nvSpPr>
        <p:spPr>
          <a:xfrm>
            <a:off x="228371" y="1200150"/>
            <a:ext cx="4114800" cy="714604"/>
          </a:xfrm>
          <a:prstGeom prst="roundRect">
            <a:avLst>
              <a:gd name="adj" fmla="val 7678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41"/>
          <p:cNvSpPr/>
          <p:nvPr/>
        </p:nvSpPr>
        <p:spPr>
          <a:xfrm>
            <a:off x="228371" y="1200150"/>
            <a:ext cx="28804" cy="7146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41"/>
          <p:cNvSpPr/>
          <p:nvPr/>
        </p:nvSpPr>
        <p:spPr>
          <a:xfrm>
            <a:off x="371704" y="1342796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1" name="Google Shape;821;p4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429" y="1428521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822" name="Google Shape;822;p41"/>
          <p:cNvSpPr txBox="1"/>
          <p:nvPr/>
        </p:nvSpPr>
        <p:spPr>
          <a:xfrm>
            <a:off x="771525" y="1329080"/>
            <a:ext cx="1293418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1. Logistic Regression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3" name="Google Shape;823;p41"/>
          <p:cNvSpPr txBox="1"/>
          <p:nvPr/>
        </p:nvSpPr>
        <p:spPr>
          <a:xfrm>
            <a:off x="771525" y="1521791"/>
            <a:ext cx="3118333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Selected as an interpretable baseline to establish a performance benchmark for linear relationships.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4" name="Google Shape;824;p41"/>
          <p:cNvSpPr/>
          <p:nvPr/>
        </p:nvSpPr>
        <p:spPr>
          <a:xfrm>
            <a:off x="228371" y="2057400"/>
            <a:ext cx="4114800" cy="714604"/>
          </a:xfrm>
          <a:prstGeom prst="roundRect">
            <a:avLst>
              <a:gd name="adj" fmla="val 7678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41"/>
          <p:cNvSpPr/>
          <p:nvPr/>
        </p:nvSpPr>
        <p:spPr>
          <a:xfrm>
            <a:off x="228371" y="2057400"/>
            <a:ext cx="28804" cy="7146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6" name="Google Shape;826;p41"/>
          <p:cNvSpPr/>
          <p:nvPr/>
        </p:nvSpPr>
        <p:spPr>
          <a:xfrm>
            <a:off x="371704" y="2200046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F5F3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7" name="Google Shape;827;p41" descr="preencoded.png"/>
          <p:cNvPicPr preferRelativeResize="0"/>
          <p:nvPr/>
        </p:nvPicPr>
        <p:blipFill rotWithShape="1">
          <a:blip r:embed="rId6">
            <a:alphaModFix/>
          </a:blip>
          <a:srcRect t="-43" b="-42"/>
          <a:stretch/>
        </p:blipFill>
        <p:spPr>
          <a:xfrm>
            <a:off x="464287" y="2285771"/>
            <a:ext cx="100127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828" name="Google Shape;828;p41"/>
          <p:cNvSpPr txBox="1"/>
          <p:nvPr/>
        </p:nvSpPr>
        <p:spPr>
          <a:xfrm>
            <a:off x="771525" y="2186330"/>
            <a:ext cx="1057504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2. Random Forest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41"/>
          <p:cNvSpPr txBox="1"/>
          <p:nvPr/>
        </p:nvSpPr>
        <p:spPr>
          <a:xfrm>
            <a:off x="771525" y="2379041"/>
            <a:ext cx="3347390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Chosen for ability to handle non-linear interactions and robustness to outliers in the dataset.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41"/>
          <p:cNvSpPr/>
          <p:nvPr/>
        </p:nvSpPr>
        <p:spPr>
          <a:xfrm>
            <a:off x="228371" y="2914650"/>
            <a:ext cx="4114800" cy="714604"/>
          </a:xfrm>
          <a:prstGeom prst="roundRect">
            <a:avLst>
              <a:gd name="adj" fmla="val 7678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41"/>
          <p:cNvSpPr/>
          <p:nvPr/>
        </p:nvSpPr>
        <p:spPr>
          <a:xfrm>
            <a:off x="228371" y="2914650"/>
            <a:ext cx="28804" cy="71460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41"/>
          <p:cNvSpPr/>
          <p:nvPr/>
        </p:nvSpPr>
        <p:spPr>
          <a:xfrm>
            <a:off x="371704" y="3057296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3" name="Google Shape;833;p4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7429" y="3143021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834" name="Google Shape;834;p41"/>
          <p:cNvSpPr txBox="1"/>
          <p:nvPr/>
        </p:nvSpPr>
        <p:spPr>
          <a:xfrm>
            <a:off x="771525" y="3043580"/>
            <a:ext cx="707746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3. XGBoost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41"/>
          <p:cNvSpPr txBox="1"/>
          <p:nvPr/>
        </p:nvSpPr>
        <p:spPr>
          <a:xfrm>
            <a:off x="771525" y="3236291"/>
            <a:ext cx="3490037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Selected for state-of-the-art performance on tabular data and capability to handle class imbalance.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41"/>
          <p:cNvSpPr/>
          <p:nvPr/>
        </p:nvSpPr>
        <p:spPr>
          <a:xfrm>
            <a:off x="228371" y="3872027"/>
            <a:ext cx="4114800" cy="700201"/>
          </a:xfrm>
          <a:prstGeom prst="roundRect">
            <a:avLst>
              <a:gd name="adj" fmla="val 7995"/>
            </a:avLst>
          </a:prstGeom>
          <a:solidFill>
            <a:srgbClr val="F3F4F6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7" name="Google Shape;837;p41" descr="preencoded.png"/>
          <p:cNvPicPr preferRelativeResize="0"/>
          <p:nvPr/>
        </p:nvPicPr>
        <p:blipFill rotWithShape="1">
          <a:blip r:embed="rId8">
            <a:alphaModFix/>
          </a:blip>
          <a:srcRect l="-2512" r="-2512"/>
          <a:stretch/>
        </p:blipFill>
        <p:spPr>
          <a:xfrm>
            <a:off x="349758" y="4014674"/>
            <a:ext cx="7886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838" name="Google Shape;838;p41"/>
          <p:cNvSpPr txBox="1"/>
          <p:nvPr/>
        </p:nvSpPr>
        <p:spPr>
          <a:xfrm>
            <a:off x="485546" y="3993413"/>
            <a:ext cx="1403833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Overall Strategy Reasoning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41"/>
          <p:cNvSpPr txBox="1"/>
          <p:nvPr/>
        </p:nvSpPr>
        <p:spPr>
          <a:xfrm>
            <a:off x="349758" y="4171721"/>
            <a:ext cx="3404312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"Selected diverse model families (Linear, Bagging, Boosting) to ensure comprehensive evaluation coverage and reduce bias."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41"/>
          <p:cNvSpPr/>
          <p:nvPr/>
        </p:nvSpPr>
        <p:spPr>
          <a:xfrm>
            <a:off x="4965192" y="1342796"/>
            <a:ext cx="6858" cy="14264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41"/>
          <p:cNvSpPr/>
          <p:nvPr/>
        </p:nvSpPr>
        <p:spPr>
          <a:xfrm>
            <a:off x="6868287" y="1342796"/>
            <a:ext cx="6858" cy="14264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41"/>
          <p:cNvSpPr/>
          <p:nvPr/>
        </p:nvSpPr>
        <p:spPr>
          <a:xfrm>
            <a:off x="7691247" y="1342796"/>
            <a:ext cx="6858" cy="14264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41"/>
          <p:cNvSpPr/>
          <p:nvPr/>
        </p:nvSpPr>
        <p:spPr>
          <a:xfrm>
            <a:off x="4572229" y="3986555"/>
            <a:ext cx="1392860" cy="585674"/>
          </a:xfrm>
          <a:prstGeom prst="roundRect">
            <a:avLst>
              <a:gd name="adj" fmla="val 5712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41"/>
          <p:cNvSpPr txBox="1"/>
          <p:nvPr/>
        </p:nvSpPr>
        <p:spPr>
          <a:xfrm>
            <a:off x="4887697" y="4050335"/>
            <a:ext cx="82913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Structured Output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41"/>
          <p:cNvSpPr txBox="1"/>
          <p:nvPr/>
        </p:nvSpPr>
        <p:spPr>
          <a:xfrm>
            <a:off x="4767682" y="4179266"/>
            <a:ext cx="1086307" cy="314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Ensures parseable JSON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41"/>
          <p:cNvSpPr/>
          <p:nvPr/>
        </p:nvSpPr>
        <p:spPr>
          <a:xfrm>
            <a:off x="6048071" y="3986555"/>
            <a:ext cx="1392860" cy="585674"/>
          </a:xfrm>
          <a:prstGeom prst="roundRect">
            <a:avLst>
              <a:gd name="adj" fmla="val 5712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41"/>
          <p:cNvSpPr txBox="1"/>
          <p:nvPr/>
        </p:nvSpPr>
        <p:spPr>
          <a:xfrm>
            <a:off x="6314161" y="4050335"/>
            <a:ext cx="92925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Constraint Checking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41"/>
          <p:cNvSpPr txBox="1"/>
          <p:nvPr/>
        </p:nvSpPr>
        <p:spPr>
          <a:xfrm>
            <a:off x="6197575" y="4179266"/>
            <a:ext cx="1178890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Limits choices to list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>
            <a:off x="7524598" y="3986555"/>
            <a:ext cx="1392860" cy="585674"/>
          </a:xfrm>
          <a:prstGeom prst="roundRect">
            <a:avLst>
              <a:gd name="adj" fmla="val 5712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41"/>
          <p:cNvSpPr txBox="1"/>
          <p:nvPr/>
        </p:nvSpPr>
        <p:spPr>
          <a:xfrm>
            <a:off x="7938135" y="4050335"/>
            <a:ext cx="62887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Explainability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41"/>
          <p:cNvSpPr txBox="1"/>
          <p:nvPr/>
        </p:nvSpPr>
        <p:spPr>
          <a:xfrm>
            <a:off x="7645298" y="4179266"/>
            <a:ext cx="1236497" cy="314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Mandatory reasoning field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41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41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41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41"/>
          <p:cNvSpPr txBox="1"/>
          <p:nvPr/>
        </p:nvSpPr>
        <p:spPr>
          <a:xfrm>
            <a:off x="8490204" y="4918558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16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6" name="Google Shape;856;p41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857" name="Google Shape;857;p41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8" name="Google Shape;858;p41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859" name="Google Shape;859;p41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41"/>
          <p:cNvSpPr/>
          <p:nvPr/>
        </p:nvSpPr>
        <p:spPr>
          <a:xfrm>
            <a:off x="-1" y="-685"/>
            <a:ext cx="9143771" cy="5760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LLM: Choosing Algorithms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61" name="Google Shape;861;p41" descr="How to choose the right Machine Learning model for your data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762681" y="813358"/>
            <a:ext cx="3914746" cy="29906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42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42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69" name="Google Shape;869;p4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870" name="Google Shape;870;p42"/>
          <p:cNvSpPr txBox="1"/>
          <p:nvPr/>
        </p:nvSpPr>
        <p:spPr>
          <a:xfrm>
            <a:off x="742721" y="178308"/>
            <a:ext cx="250042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Pipeline Approach: Results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42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42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42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42"/>
          <p:cNvSpPr/>
          <p:nvPr/>
        </p:nvSpPr>
        <p:spPr>
          <a:xfrm>
            <a:off x="228371" y="857250"/>
            <a:ext cx="1335938" cy="101429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42"/>
          <p:cNvSpPr/>
          <p:nvPr/>
        </p:nvSpPr>
        <p:spPr>
          <a:xfrm>
            <a:off x="228371" y="857250"/>
            <a:ext cx="28804" cy="101429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6" name="Google Shape;876;p42"/>
          <p:cNvSpPr/>
          <p:nvPr/>
        </p:nvSpPr>
        <p:spPr>
          <a:xfrm>
            <a:off x="342900" y="942975"/>
            <a:ext cx="214655" cy="257175"/>
          </a:xfrm>
          <a:prstGeom prst="roundRect">
            <a:avLst>
              <a:gd name="adj" fmla="val 85197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7" name="Google Shape;877;p42" descr="preencoded.png"/>
          <p:cNvPicPr preferRelativeResize="0"/>
          <p:nvPr/>
        </p:nvPicPr>
        <p:blipFill rotWithShape="1">
          <a:blip r:embed="rId4">
            <a:alphaModFix/>
          </a:blip>
          <a:srcRect l="-1506" r="-1506"/>
          <a:stretch/>
        </p:blipFill>
        <p:spPr>
          <a:xfrm>
            <a:off x="386105" y="1026643"/>
            <a:ext cx="128930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42"/>
          <p:cNvSpPr/>
          <p:nvPr/>
        </p:nvSpPr>
        <p:spPr>
          <a:xfrm>
            <a:off x="1123340" y="942975"/>
            <a:ext cx="357301" cy="200254"/>
          </a:xfrm>
          <a:prstGeom prst="roundRect">
            <a:avLst>
              <a:gd name="adj" fmla="val 342465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42"/>
          <p:cNvSpPr txBox="1"/>
          <p:nvPr/>
        </p:nvSpPr>
        <p:spPr>
          <a:xfrm>
            <a:off x="1165860" y="971779"/>
            <a:ext cx="357301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Auto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42"/>
          <p:cNvSpPr txBox="1"/>
          <p:nvPr/>
        </p:nvSpPr>
        <p:spPr>
          <a:xfrm>
            <a:off x="342900" y="1228954"/>
            <a:ext cx="7715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0-Code Analysis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42"/>
          <p:cNvSpPr txBox="1"/>
          <p:nvPr/>
        </p:nvSpPr>
        <p:spPr>
          <a:xfrm>
            <a:off x="342900" y="1357199"/>
            <a:ext cx="1021842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End-to-end workflow without manual coding.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42"/>
          <p:cNvSpPr/>
          <p:nvPr/>
        </p:nvSpPr>
        <p:spPr>
          <a:xfrm>
            <a:off x="1676096" y="857250"/>
            <a:ext cx="1335938" cy="101429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2"/>
          <p:cNvSpPr/>
          <p:nvPr/>
        </p:nvSpPr>
        <p:spPr>
          <a:xfrm>
            <a:off x="1676095" y="857250"/>
            <a:ext cx="28804" cy="1014299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42"/>
          <p:cNvSpPr/>
          <p:nvPr/>
        </p:nvSpPr>
        <p:spPr>
          <a:xfrm>
            <a:off x="1790624" y="942975"/>
            <a:ext cx="171450" cy="257175"/>
          </a:xfrm>
          <a:prstGeom prst="roundRect">
            <a:avLst>
              <a:gd name="adj" fmla="val 133333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5" name="Google Shape;885;p42" descr="preencoded.png"/>
          <p:cNvPicPr preferRelativeResize="0"/>
          <p:nvPr/>
        </p:nvPicPr>
        <p:blipFill rotWithShape="1">
          <a:blip r:embed="rId5">
            <a:alphaModFix/>
          </a:blip>
          <a:srcRect t="-1100" b="-1100"/>
          <a:stretch/>
        </p:blipFill>
        <p:spPr>
          <a:xfrm>
            <a:off x="1833830" y="1026643"/>
            <a:ext cx="85725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42"/>
          <p:cNvSpPr/>
          <p:nvPr/>
        </p:nvSpPr>
        <p:spPr>
          <a:xfrm>
            <a:off x="2483282" y="942975"/>
            <a:ext cx="443026" cy="200254"/>
          </a:xfrm>
          <a:prstGeom prst="roundRect">
            <a:avLst>
              <a:gd name="adj" fmla="val 342465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42"/>
          <p:cNvSpPr txBox="1"/>
          <p:nvPr/>
        </p:nvSpPr>
        <p:spPr>
          <a:xfrm>
            <a:off x="2525801" y="971779"/>
            <a:ext cx="443026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Speed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42"/>
          <p:cNvSpPr txBox="1"/>
          <p:nvPr/>
        </p:nvSpPr>
        <p:spPr>
          <a:xfrm>
            <a:off x="1790624" y="1228954"/>
            <a:ext cx="61447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5-10 Minutes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42"/>
          <p:cNvSpPr txBox="1"/>
          <p:nvPr/>
        </p:nvSpPr>
        <p:spPr>
          <a:xfrm>
            <a:off x="1790624" y="1357199"/>
            <a:ext cx="1107567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Rapid execution vs hours of manual work.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42"/>
          <p:cNvSpPr/>
          <p:nvPr/>
        </p:nvSpPr>
        <p:spPr>
          <a:xfrm>
            <a:off x="3124504" y="857250"/>
            <a:ext cx="1335938" cy="101429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42"/>
          <p:cNvSpPr/>
          <p:nvPr/>
        </p:nvSpPr>
        <p:spPr>
          <a:xfrm>
            <a:off x="3124505" y="857250"/>
            <a:ext cx="28804" cy="101429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42"/>
          <p:cNvSpPr/>
          <p:nvPr/>
        </p:nvSpPr>
        <p:spPr>
          <a:xfrm>
            <a:off x="3238348" y="942975"/>
            <a:ext cx="185851" cy="257175"/>
          </a:xfrm>
          <a:prstGeom prst="roundRect">
            <a:avLst>
              <a:gd name="adj" fmla="val 113540"/>
            </a:avLst>
          </a:prstGeom>
          <a:solidFill>
            <a:srgbClr val="EDE9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3" name="Google Shape;893;p4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281553" y="1026643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42"/>
          <p:cNvSpPr/>
          <p:nvPr/>
        </p:nvSpPr>
        <p:spPr>
          <a:xfrm>
            <a:off x="3878885" y="942975"/>
            <a:ext cx="499949" cy="200254"/>
          </a:xfrm>
          <a:prstGeom prst="roundRect">
            <a:avLst>
              <a:gd name="adj" fmla="val 342465"/>
            </a:avLst>
          </a:prstGeom>
          <a:solidFill>
            <a:srgbClr val="EDE9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42"/>
          <p:cNvSpPr txBox="1"/>
          <p:nvPr/>
        </p:nvSpPr>
        <p:spPr>
          <a:xfrm>
            <a:off x="3922091" y="971779"/>
            <a:ext cx="500634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5B21B6"/>
                </a:solidFill>
                <a:latin typeface="Inter"/>
                <a:ea typeface="Inter"/>
                <a:cs typeface="Inter"/>
                <a:sym typeface="Inter"/>
              </a:rPr>
              <a:t>Explain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42"/>
          <p:cNvSpPr txBox="1"/>
          <p:nvPr/>
        </p:nvSpPr>
        <p:spPr>
          <a:xfrm>
            <a:off x="3238348" y="1228954"/>
            <a:ext cx="81473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Full Transparency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42"/>
          <p:cNvSpPr txBox="1"/>
          <p:nvPr/>
        </p:nvSpPr>
        <p:spPr>
          <a:xfrm>
            <a:off x="3238348" y="1357199"/>
            <a:ext cx="971779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Reasoning for preprocessing &amp; models.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42"/>
          <p:cNvSpPr/>
          <p:nvPr/>
        </p:nvSpPr>
        <p:spPr>
          <a:xfrm>
            <a:off x="4572229" y="857250"/>
            <a:ext cx="1335938" cy="101429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42"/>
          <p:cNvSpPr/>
          <p:nvPr/>
        </p:nvSpPr>
        <p:spPr>
          <a:xfrm>
            <a:off x="4572229" y="857250"/>
            <a:ext cx="28804" cy="101429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42"/>
          <p:cNvSpPr/>
          <p:nvPr/>
        </p:nvSpPr>
        <p:spPr>
          <a:xfrm>
            <a:off x="4686071" y="942975"/>
            <a:ext cx="185851" cy="257175"/>
          </a:xfrm>
          <a:prstGeom prst="roundRect">
            <a:avLst>
              <a:gd name="adj" fmla="val 113540"/>
            </a:avLst>
          </a:prstGeom>
          <a:solidFill>
            <a:srgbClr val="FEE2E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1" name="Google Shape;901;p4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29277" y="1026643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902" name="Google Shape;902;p42"/>
          <p:cNvSpPr/>
          <p:nvPr/>
        </p:nvSpPr>
        <p:spPr>
          <a:xfrm>
            <a:off x="5368442" y="942975"/>
            <a:ext cx="457429" cy="200254"/>
          </a:xfrm>
          <a:prstGeom prst="roundRect">
            <a:avLst>
              <a:gd name="adj" fmla="val 342465"/>
            </a:avLst>
          </a:prstGeom>
          <a:solidFill>
            <a:srgbClr val="FEE2E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42"/>
          <p:cNvSpPr txBox="1"/>
          <p:nvPr/>
        </p:nvSpPr>
        <p:spPr>
          <a:xfrm>
            <a:off x="5411648" y="971779"/>
            <a:ext cx="457429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Safety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42"/>
          <p:cNvSpPr txBox="1"/>
          <p:nvPr/>
        </p:nvSpPr>
        <p:spPr>
          <a:xfrm>
            <a:off x="4686071" y="1228954"/>
            <a:ext cx="67208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Leakage Proof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42"/>
          <p:cNvSpPr txBox="1"/>
          <p:nvPr/>
        </p:nvSpPr>
        <p:spPr>
          <a:xfrm>
            <a:off x="4686071" y="1357199"/>
            <a:ext cx="1178890" cy="285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Built-in fit/transform safeguards.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42"/>
          <p:cNvSpPr/>
          <p:nvPr/>
        </p:nvSpPr>
        <p:spPr>
          <a:xfrm>
            <a:off x="228371" y="2042999"/>
            <a:ext cx="5679110" cy="3100502"/>
          </a:xfrm>
          <a:prstGeom prst="roundRect">
            <a:avLst>
              <a:gd name="adj" fmla="val 919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7" name="Google Shape;907;p4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1704" y="2207591"/>
            <a:ext cx="10012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908" name="Google Shape;908;p42"/>
          <p:cNvSpPr txBox="1"/>
          <p:nvPr/>
        </p:nvSpPr>
        <p:spPr>
          <a:xfrm>
            <a:off x="528751" y="2186330"/>
            <a:ext cx="172547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Experimental Results (5 Datasets)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42"/>
          <p:cNvSpPr/>
          <p:nvPr/>
        </p:nvSpPr>
        <p:spPr>
          <a:xfrm>
            <a:off x="371704" y="2414701"/>
            <a:ext cx="5393817" cy="2014880"/>
          </a:xfrm>
          <a:prstGeom prst="roundRect">
            <a:avLst>
              <a:gd name="adj" fmla="val 966"/>
            </a:avLst>
          </a:prstGeom>
          <a:noFill/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42"/>
          <p:cNvSpPr/>
          <p:nvPr/>
        </p:nvSpPr>
        <p:spPr>
          <a:xfrm>
            <a:off x="1450467" y="2654046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42"/>
          <p:cNvSpPr txBox="1"/>
          <p:nvPr/>
        </p:nvSpPr>
        <p:spPr>
          <a:xfrm>
            <a:off x="435483" y="2714396"/>
            <a:ext cx="91485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Survey Lung Cancer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42"/>
          <p:cNvSpPr txBox="1"/>
          <p:nvPr/>
        </p:nvSpPr>
        <p:spPr>
          <a:xfrm>
            <a:off x="435483" y="2857729"/>
            <a:ext cx="1014984" cy="2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Total: 447 | Train: 386 | Test: 61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>
            <a:off x="2525801" y="2654046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42"/>
          <p:cNvSpPr txBox="1"/>
          <p:nvPr/>
        </p:nvSpPr>
        <p:spPr>
          <a:xfrm>
            <a:off x="1514933" y="2714396"/>
            <a:ext cx="37170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SMOTE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42"/>
          <p:cNvSpPr/>
          <p:nvPr/>
        </p:nvSpPr>
        <p:spPr>
          <a:xfrm>
            <a:off x="3601135" y="2654046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42"/>
          <p:cNvSpPr txBox="1"/>
          <p:nvPr/>
        </p:nvSpPr>
        <p:spPr>
          <a:xfrm>
            <a:off x="2836468" y="2714396"/>
            <a:ext cx="52875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88.5%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42"/>
          <p:cNvSpPr txBox="1"/>
          <p:nvPr/>
        </p:nvSpPr>
        <p:spPr>
          <a:xfrm>
            <a:off x="2662276" y="2828925"/>
            <a:ext cx="87919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F1: 0.63 | AUC: 0.94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42"/>
          <p:cNvSpPr/>
          <p:nvPr/>
        </p:nvSpPr>
        <p:spPr>
          <a:xfrm>
            <a:off x="4676471" y="2654046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42"/>
          <p:cNvSpPr txBox="1"/>
          <p:nvPr/>
        </p:nvSpPr>
        <p:spPr>
          <a:xfrm>
            <a:off x="3910432" y="2714396"/>
            <a:ext cx="52875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90.2%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42"/>
          <p:cNvSpPr txBox="1"/>
          <p:nvPr/>
        </p:nvSpPr>
        <p:spPr>
          <a:xfrm>
            <a:off x="3742411" y="2828925"/>
            <a:ext cx="86479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F1: 0.67 | AUC: 0.95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42"/>
          <p:cNvSpPr/>
          <p:nvPr/>
        </p:nvSpPr>
        <p:spPr>
          <a:xfrm>
            <a:off x="4679900" y="2654046"/>
            <a:ext cx="1078763" cy="49309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42"/>
          <p:cNvSpPr txBox="1"/>
          <p:nvPr/>
        </p:nvSpPr>
        <p:spPr>
          <a:xfrm>
            <a:off x="4986452" y="2714396"/>
            <a:ext cx="53629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93.4%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42"/>
          <p:cNvSpPr txBox="1"/>
          <p:nvPr/>
        </p:nvSpPr>
        <p:spPr>
          <a:xfrm>
            <a:off x="4817060" y="2828925"/>
            <a:ext cx="87165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F1: 0.80 | AUC: 0.95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42"/>
          <p:cNvSpPr/>
          <p:nvPr/>
        </p:nvSpPr>
        <p:spPr>
          <a:xfrm>
            <a:off x="378562" y="3147137"/>
            <a:ext cx="537941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42"/>
          <p:cNvSpPr/>
          <p:nvPr/>
        </p:nvSpPr>
        <p:spPr>
          <a:xfrm>
            <a:off x="1450467" y="3147137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42"/>
          <p:cNvSpPr txBox="1"/>
          <p:nvPr/>
        </p:nvSpPr>
        <p:spPr>
          <a:xfrm>
            <a:off x="435483" y="3207487"/>
            <a:ext cx="55069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Iris Flowers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42"/>
          <p:cNvSpPr txBox="1"/>
          <p:nvPr/>
        </p:nvSpPr>
        <p:spPr>
          <a:xfrm>
            <a:off x="435483" y="3350133"/>
            <a:ext cx="979322" cy="2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Total: 150 | Train: 120 | Test: 30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42"/>
          <p:cNvSpPr/>
          <p:nvPr/>
        </p:nvSpPr>
        <p:spPr>
          <a:xfrm>
            <a:off x="2525801" y="3147137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9" name="Google Shape;929;p42"/>
          <p:cNvSpPr txBox="1"/>
          <p:nvPr/>
        </p:nvSpPr>
        <p:spPr>
          <a:xfrm>
            <a:off x="1514933" y="3207487"/>
            <a:ext cx="28597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None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" name="Google Shape;930;p42"/>
          <p:cNvSpPr/>
          <p:nvPr/>
        </p:nvSpPr>
        <p:spPr>
          <a:xfrm>
            <a:off x="2529230" y="3147137"/>
            <a:ext cx="1078763" cy="49309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42"/>
          <p:cNvSpPr/>
          <p:nvPr/>
        </p:nvSpPr>
        <p:spPr>
          <a:xfrm>
            <a:off x="3601135" y="3147137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42"/>
          <p:cNvSpPr txBox="1"/>
          <p:nvPr/>
        </p:nvSpPr>
        <p:spPr>
          <a:xfrm>
            <a:off x="2855672" y="3207487"/>
            <a:ext cx="49309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100%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3" name="Google Shape;933;p42"/>
          <p:cNvSpPr txBox="1"/>
          <p:nvPr/>
        </p:nvSpPr>
        <p:spPr>
          <a:xfrm>
            <a:off x="2944139" y="3322016"/>
            <a:ext cx="31478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F1: 1.0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42"/>
          <p:cNvSpPr/>
          <p:nvPr/>
        </p:nvSpPr>
        <p:spPr>
          <a:xfrm>
            <a:off x="3604565" y="3147137"/>
            <a:ext cx="1078763" cy="49309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42"/>
          <p:cNvSpPr/>
          <p:nvPr/>
        </p:nvSpPr>
        <p:spPr>
          <a:xfrm>
            <a:off x="4676471" y="3147137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42"/>
          <p:cNvSpPr txBox="1"/>
          <p:nvPr/>
        </p:nvSpPr>
        <p:spPr>
          <a:xfrm>
            <a:off x="3931006" y="3207487"/>
            <a:ext cx="49309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100%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42"/>
          <p:cNvSpPr txBox="1"/>
          <p:nvPr/>
        </p:nvSpPr>
        <p:spPr>
          <a:xfrm>
            <a:off x="4019474" y="3322016"/>
            <a:ext cx="31478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F1: 1.0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42"/>
          <p:cNvSpPr txBox="1"/>
          <p:nvPr/>
        </p:nvSpPr>
        <p:spPr>
          <a:xfrm>
            <a:off x="4991938" y="3207487"/>
            <a:ext cx="52189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96.7%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42"/>
          <p:cNvSpPr txBox="1"/>
          <p:nvPr/>
        </p:nvSpPr>
        <p:spPr>
          <a:xfrm>
            <a:off x="5064633" y="3322016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F1: 0.97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42"/>
          <p:cNvSpPr/>
          <p:nvPr/>
        </p:nvSpPr>
        <p:spPr>
          <a:xfrm>
            <a:off x="378562" y="3639541"/>
            <a:ext cx="537941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" name="Google Shape;941;p42"/>
          <p:cNvSpPr/>
          <p:nvPr/>
        </p:nvSpPr>
        <p:spPr>
          <a:xfrm>
            <a:off x="1450467" y="363954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2" name="Google Shape;942;p42"/>
          <p:cNvSpPr txBox="1"/>
          <p:nvPr/>
        </p:nvSpPr>
        <p:spPr>
          <a:xfrm>
            <a:off x="435483" y="3700577"/>
            <a:ext cx="35730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Titanic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42"/>
          <p:cNvSpPr txBox="1"/>
          <p:nvPr/>
        </p:nvSpPr>
        <p:spPr>
          <a:xfrm>
            <a:off x="435483" y="3843224"/>
            <a:ext cx="971779" cy="2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Total: 891 | Train: 712 | Test: 179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42"/>
          <p:cNvSpPr/>
          <p:nvPr/>
        </p:nvSpPr>
        <p:spPr>
          <a:xfrm>
            <a:off x="2525801" y="363954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42"/>
          <p:cNvSpPr txBox="1"/>
          <p:nvPr/>
        </p:nvSpPr>
        <p:spPr>
          <a:xfrm>
            <a:off x="1514933" y="3700577"/>
            <a:ext cx="37170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SMOTE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42"/>
          <p:cNvSpPr/>
          <p:nvPr/>
        </p:nvSpPr>
        <p:spPr>
          <a:xfrm>
            <a:off x="3601135" y="363954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42"/>
          <p:cNvSpPr txBox="1"/>
          <p:nvPr/>
        </p:nvSpPr>
        <p:spPr>
          <a:xfrm>
            <a:off x="2839898" y="3700577"/>
            <a:ext cx="52189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79.3%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42"/>
          <p:cNvSpPr txBox="1"/>
          <p:nvPr/>
        </p:nvSpPr>
        <p:spPr>
          <a:xfrm>
            <a:off x="2912593" y="3815105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F1: 0.74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42"/>
          <p:cNvSpPr/>
          <p:nvPr/>
        </p:nvSpPr>
        <p:spPr>
          <a:xfrm>
            <a:off x="3604565" y="3639541"/>
            <a:ext cx="1078763" cy="49309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42"/>
          <p:cNvSpPr/>
          <p:nvPr/>
        </p:nvSpPr>
        <p:spPr>
          <a:xfrm>
            <a:off x="4676471" y="363954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42"/>
          <p:cNvSpPr txBox="1"/>
          <p:nvPr/>
        </p:nvSpPr>
        <p:spPr>
          <a:xfrm>
            <a:off x="3911117" y="3700577"/>
            <a:ext cx="52875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83.2%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42"/>
          <p:cNvSpPr txBox="1"/>
          <p:nvPr/>
        </p:nvSpPr>
        <p:spPr>
          <a:xfrm>
            <a:off x="3987242" y="3815105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F1: 0.78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42"/>
          <p:cNvSpPr txBox="1"/>
          <p:nvPr/>
        </p:nvSpPr>
        <p:spPr>
          <a:xfrm>
            <a:off x="4996738" y="3700577"/>
            <a:ext cx="51435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81.6%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42"/>
          <p:cNvSpPr txBox="1"/>
          <p:nvPr/>
        </p:nvSpPr>
        <p:spPr>
          <a:xfrm>
            <a:off x="5064633" y="3815105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F1: 0.76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42"/>
          <p:cNvSpPr/>
          <p:nvPr/>
        </p:nvSpPr>
        <p:spPr>
          <a:xfrm>
            <a:off x="378562" y="4132631"/>
            <a:ext cx="537941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42"/>
          <p:cNvSpPr/>
          <p:nvPr/>
        </p:nvSpPr>
        <p:spPr>
          <a:xfrm>
            <a:off x="1450467" y="413263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42"/>
          <p:cNvSpPr txBox="1"/>
          <p:nvPr/>
        </p:nvSpPr>
        <p:spPr>
          <a:xfrm>
            <a:off x="435483" y="4193667"/>
            <a:ext cx="40736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WineQT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42"/>
          <p:cNvSpPr txBox="1"/>
          <p:nvPr/>
        </p:nvSpPr>
        <p:spPr>
          <a:xfrm>
            <a:off x="435483" y="4336313"/>
            <a:ext cx="1014984" cy="2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Total: 1143 | Train: 914 | Test: 229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42"/>
          <p:cNvSpPr/>
          <p:nvPr/>
        </p:nvSpPr>
        <p:spPr>
          <a:xfrm>
            <a:off x="2525801" y="413263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42"/>
          <p:cNvSpPr txBox="1"/>
          <p:nvPr/>
        </p:nvSpPr>
        <p:spPr>
          <a:xfrm>
            <a:off x="1514933" y="4193667"/>
            <a:ext cx="37170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SMOTE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42"/>
          <p:cNvSpPr/>
          <p:nvPr/>
        </p:nvSpPr>
        <p:spPr>
          <a:xfrm>
            <a:off x="3601135" y="413263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42"/>
          <p:cNvSpPr txBox="1"/>
          <p:nvPr/>
        </p:nvSpPr>
        <p:spPr>
          <a:xfrm>
            <a:off x="2837155" y="4193667"/>
            <a:ext cx="52875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58.5%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42"/>
          <p:cNvSpPr txBox="1"/>
          <p:nvPr/>
        </p:nvSpPr>
        <p:spPr>
          <a:xfrm>
            <a:off x="2909849" y="4307510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F1: 0.56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42"/>
          <p:cNvSpPr/>
          <p:nvPr/>
        </p:nvSpPr>
        <p:spPr>
          <a:xfrm>
            <a:off x="3604565" y="4132631"/>
            <a:ext cx="1078763" cy="49309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42"/>
          <p:cNvSpPr/>
          <p:nvPr/>
        </p:nvSpPr>
        <p:spPr>
          <a:xfrm>
            <a:off x="4676471" y="413263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42"/>
          <p:cNvSpPr txBox="1"/>
          <p:nvPr/>
        </p:nvSpPr>
        <p:spPr>
          <a:xfrm>
            <a:off x="3918662" y="4193667"/>
            <a:ext cx="51435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67.2%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42"/>
          <p:cNvSpPr txBox="1"/>
          <p:nvPr/>
        </p:nvSpPr>
        <p:spPr>
          <a:xfrm>
            <a:off x="3985870" y="4307510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F1: 0.65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42"/>
          <p:cNvSpPr txBox="1"/>
          <p:nvPr/>
        </p:nvSpPr>
        <p:spPr>
          <a:xfrm>
            <a:off x="4987823" y="4193667"/>
            <a:ext cx="52875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64.6% Acc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42"/>
          <p:cNvSpPr txBox="1"/>
          <p:nvPr/>
        </p:nvSpPr>
        <p:spPr>
          <a:xfrm>
            <a:off x="5062576" y="4307510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F1: 0.62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42"/>
          <p:cNvSpPr/>
          <p:nvPr/>
        </p:nvSpPr>
        <p:spPr>
          <a:xfrm>
            <a:off x="378562" y="4625721"/>
            <a:ext cx="537941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42"/>
          <p:cNvSpPr/>
          <p:nvPr/>
        </p:nvSpPr>
        <p:spPr>
          <a:xfrm>
            <a:off x="1450467" y="462572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42"/>
          <p:cNvSpPr txBox="1"/>
          <p:nvPr/>
        </p:nvSpPr>
        <p:spPr>
          <a:xfrm>
            <a:off x="435483" y="4686071"/>
            <a:ext cx="62887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Housing Data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42"/>
          <p:cNvSpPr txBox="1"/>
          <p:nvPr/>
        </p:nvSpPr>
        <p:spPr>
          <a:xfrm>
            <a:off x="435483" y="4829404"/>
            <a:ext cx="1014984" cy="2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Total: 506 | Train: 404 | Test: 102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p42"/>
          <p:cNvSpPr/>
          <p:nvPr/>
        </p:nvSpPr>
        <p:spPr>
          <a:xfrm>
            <a:off x="2525801" y="462572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42"/>
          <p:cNvSpPr txBox="1"/>
          <p:nvPr/>
        </p:nvSpPr>
        <p:spPr>
          <a:xfrm>
            <a:off x="1514933" y="4686071"/>
            <a:ext cx="28597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None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42"/>
          <p:cNvSpPr/>
          <p:nvPr/>
        </p:nvSpPr>
        <p:spPr>
          <a:xfrm>
            <a:off x="3601135" y="462572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42"/>
          <p:cNvSpPr txBox="1"/>
          <p:nvPr/>
        </p:nvSpPr>
        <p:spPr>
          <a:xfrm>
            <a:off x="2916022" y="4686071"/>
            <a:ext cx="37170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0.72 R²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42"/>
          <p:cNvSpPr txBox="1"/>
          <p:nvPr/>
        </p:nvSpPr>
        <p:spPr>
          <a:xfrm>
            <a:off x="2859100" y="4800600"/>
            <a:ext cx="48623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RMSE: 4.8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9" name="Google Shape;979;p42"/>
          <p:cNvSpPr/>
          <p:nvPr/>
        </p:nvSpPr>
        <p:spPr>
          <a:xfrm>
            <a:off x="4676471" y="4625721"/>
            <a:ext cx="6858" cy="49309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0" name="Google Shape;980;p42"/>
          <p:cNvSpPr txBox="1"/>
          <p:nvPr/>
        </p:nvSpPr>
        <p:spPr>
          <a:xfrm>
            <a:off x="3987927" y="4686071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0.86 R²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1" name="Google Shape;981;p42"/>
          <p:cNvSpPr txBox="1"/>
          <p:nvPr/>
        </p:nvSpPr>
        <p:spPr>
          <a:xfrm>
            <a:off x="3933063" y="4800600"/>
            <a:ext cx="48623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RMSE: 3.4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42"/>
          <p:cNvSpPr/>
          <p:nvPr/>
        </p:nvSpPr>
        <p:spPr>
          <a:xfrm>
            <a:off x="4679900" y="4625721"/>
            <a:ext cx="1078763" cy="49309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42"/>
          <p:cNvSpPr txBox="1"/>
          <p:nvPr/>
        </p:nvSpPr>
        <p:spPr>
          <a:xfrm>
            <a:off x="5065319" y="4686071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0.89 R²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42"/>
          <p:cNvSpPr txBox="1"/>
          <p:nvPr/>
        </p:nvSpPr>
        <p:spPr>
          <a:xfrm>
            <a:off x="5010455" y="4800600"/>
            <a:ext cx="48623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RMSE: 2.9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42"/>
          <p:cNvSpPr/>
          <p:nvPr/>
        </p:nvSpPr>
        <p:spPr>
          <a:xfrm>
            <a:off x="6076873" y="857250"/>
            <a:ext cx="2843327" cy="2050542"/>
          </a:xfrm>
          <a:prstGeom prst="roundRect">
            <a:avLst>
              <a:gd name="adj" fmla="val 1398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42"/>
          <p:cNvSpPr/>
          <p:nvPr/>
        </p:nvSpPr>
        <p:spPr>
          <a:xfrm>
            <a:off x="6219521" y="1285875"/>
            <a:ext cx="255734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7" name="Google Shape;987;p4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19521" y="1049960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988" name="Google Shape;988;p42"/>
          <p:cNvSpPr txBox="1"/>
          <p:nvPr/>
        </p:nvSpPr>
        <p:spPr>
          <a:xfrm>
            <a:off x="6377255" y="1028700"/>
            <a:ext cx="818159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Cost Efficiency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42"/>
          <p:cNvSpPr/>
          <p:nvPr/>
        </p:nvSpPr>
        <p:spPr>
          <a:xfrm>
            <a:off x="7812634" y="999896"/>
            <a:ext cx="964235" cy="200254"/>
          </a:xfrm>
          <a:prstGeom prst="roundRect">
            <a:avLst>
              <a:gd name="adj" fmla="val 342465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42"/>
          <p:cNvSpPr txBox="1"/>
          <p:nvPr/>
        </p:nvSpPr>
        <p:spPr>
          <a:xfrm>
            <a:off x="7870241" y="1028700"/>
            <a:ext cx="936117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99.9% Savings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42"/>
          <p:cNvSpPr txBox="1"/>
          <p:nvPr/>
        </p:nvSpPr>
        <p:spPr>
          <a:xfrm>
            <a:off x="6667348" y="1421663"/>
            <a:ext cx="82913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42"/>
          <p:cNvSpPr/>
          <p:nvPr/>
        </p:nvSpPr>
        <p:spPr>
          <a:xfrm>
            <a:off x="6667348" y="1607515"/>
            <a:ext cx="571271" cy="571271"/>
          </a:xfrm>
          <a:prstGeom prst="roundRect">
            <a:avLst>
              <a:gd name="adj" fmla="val 120048"/>
            </a:avLst>
          </a:prstGeom>
          <a:solidFill>
            <a:srgbClr val="ECFDF5"/>
          </a:solidFill>
          <a:ln w="50800" cap="flat" cmpd="sng">
            <a:solidFill>
              <a:srgbClr val="10B9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42"/>
          <p:cNvSpPr txBox="1"/>
          <p:nvPr/>
        </p:nvSpPr>
        <p:spPr>
          <a:xfrm>
            <a:off x="6745529" y="1721358"/>
            <a:ext cx="52875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$0.02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42"/>
          <p:cNvSpPr txBox="1"/>
          <p:nvPr/>
        </p:nvSpPr>
        <p:spPr>
          <a:xfrm>
            <a:off x="6758559" y="1921612"/>
            <a:ext cx="478688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Inter"/>
              <a:buNone/>
            </a:pPr>
            <a:r>
              <a:rPr lang="en" sz="9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per run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95" name="Google Shape;995;p42" descr="preencoded.png"/>
          <p:cNvPicPr preferRelativeResize="0"/>
          <p:nvPr/>
        </p:nvPicPr>
        <p:blipFill rotWithShape="1">
          <a:blip r:embed="rId10">
            <a:alphaModFix/>
          </a:blip>
          <a:srcRect l="-760" r="-759"/>
          <a:stretch/>
        </p:blipFill>
        <p:spPr>
          <a:xfrm>
            <a:off x="7524598" y="1723415"/>
            <a:ext cx="114529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996" name="Google Shape;996;p42"/>
          <p:cNvSpPr txBox="1"/>
          <p:nvPr/>
        </p:nvSpPr>
        <p:spPr>
          <a:xfrm>
            <a:off x="7783145" y="1421663"/>
            <a:ext cx="600075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MANUAL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7" name="Google Shape;997;p42"/>
          <p:cNvSpPr/>
          <p:nvPr/>
        </p:nvSpPr>
        <p:spPr>
          <a:xfrm>
            <a:off x="7752969" y="1607515"/>
            <a:ext cx="571271" cy="571271"/>
          </a:xfrm>
          <a:prstGeom prst="roundRect">
            <a:avLst>
              <a:gd name="adj" fmla="val 120048"/>
            </a:avLst>
          </a:prstGeom>
          <a:solidFill>
            <a:srgbClr val="F9FAFB">
              <a:alpha val="60000"/>
            </a:srgbClr>
          </a:solidFill>
          <a:ln w="508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42"/>
          <p:cNvSpPr txBox="1"/>
          <p:nvPr/>
        </p:nvSpPr>
        <p:spPr>
          <a:xfrm>
            <a:off x="7842123" y="1728902"/>
            <a:ext cx="496519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$150+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42"/>
          <p:cNvSpPr txBox="1"/>
          <p:nvPr/>
        </p:nvSpPr>
        <p:spPr>
          <a:xfrm>
            <a:off x="7901788" y="1921612"/>
            <a:ext cx="364846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3 hrs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42"/>
          <p:cNvSpPr/>
          <p:nvPr/>
        </p:nvSpPr>
        <p:spPr>
          <a:xfrm>
            <a:off x="6219521" y="2293316"/>
            <a:ext cx="2557349" cy="471830"/>
          </a:xfrm>
          <a:prstGeom prst="roundRect">
            <a:avLst>
              <a:gd name="adj" fmla="val 17618"/>
            </a:avLst>
          </a:prstGeom>
          <a:solidFill>
            <a:srgbClr val="FFFBEB"/>
          </a:solidFill>
          <a:ln w="12700" cap="flat" cmpd="sng">
            <a:solidFill>
              <a:srgbClr val="FEF3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1" name="Google Shape;1001;p42"/>
          <p:cNvSpPr txBox="1"/>
          <p:nvPr/>
        </p:nvSpPr>
        <p:spPr>
          <a:xfrm>
            <a:off x="6283985" y="2357780"/>
            <a:ext cx="251482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Inter"/>
              <a:buNone/>
            </a:pPr>
            <a:r>
              <a:rPr lang="en" sz="900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GPT-4 for strategy + GPT-3.5 for tasks optimizes cost/quality.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42"/>
          <p:cNvSpPr/>
          <p:nvPr/>
        </p:nvSpPr>
        <p:spPr>
          <a:xfrm>
            <a:off x="6076873" y="3079242"/>
            <a:ext cx="2843327" cy="1814627"/>
          </a:xfrm>
          <a:prstGeom prst="roundRect">
            <a:avLst>
              <a:gd name="adj" fmla="val 1785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3" name="Google Shape;1003;p42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219521" y="3243149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04" name="Google Shape;1004;p42"/>
          <p:cNvSpPr txBox="1"/>
          <p:nvPr/>
        </p:nvSpPr>
        <p:spPr>
          <a:xfrm>
            <a:off x="6377255" y="3221888"/>
            <a:ext cx="1647292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Lung Cancer Model Comparison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5" name="Google Shape;1005;p42" descr="preencoded.png"/>
          <p:cNvPicPr preferRelativeResize="0"/>
          <p:nvPr/>
        </p:nvPicPr>
        <p:blipFill rotWithShape="1">
          <a:blip r:embed="rId12">
            <a:alphaModFix/>
          </a:blip>
          <a:srcRect l="-121" r="-121"/>
          <a:stretch/>
        </p:blipFill>
        <p:spPr>
          <a:xfrm>
            <a:off x="6219521" y="3450260"/>
            <a:ext cx="2557349" cy="1071905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42"/>
          <p:cNvSpPr txBox="1"/>
          <p:nvPr/>
        </p:nvSpPr>
        <p:spPr>
          <a:xfrm>
            <a:off x="6277127" y="4593488"/>
            <a:ext cx="1143229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Logistic Regression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42"/>
          <p:cNvSpPr txBox="1"/>
          <p:nvPr/>
        </p:nvSpPr>
        <p:spPr>
          <a:xfrm>
            <a:off x="7382637" y="4593488"/>
            <a:ext cx="900455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42"/>
          <p:cNvSpPr txBox="1"/>
          <p:nvPr/>
        </p:nvSpPr>
        <p:spPr>
          <a:xfrm>
            <a:off x="8246060" y="4593488"/>
            <a:ext cx="557555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Google Shape;1009;p42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42"/>
          <p:cNvSpPr txBox="1"/>
          <p:nvPr/>
        </p:nvSpPr>
        <p:spPr>
          <a:xfrm>
            <a:off x="8490204" y="4918558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19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42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Result Analysis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42"/>
          <p:cNvSpPr/>
          <p:nvPr/>
        </p:nvSpPr>
        <p:spPr>
          <a:xfrm>
            <a:off x="378562" y="2421560"/>
            <a:ext cx="5379415" cy="23591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42"/>
          <p:cNvSpPr/>
          <p:nvPr/>
        </p:nvSpPr>
        <p:spPr>
          <a:xfrm>
            <a:off x="378562" y="2650617"/>
            <a:ext cx="5379415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42"/>
          <p:cNvSpPr txBox="1"/>
          <p:nvPr/>
        </p:nvSpPr>
        <p:spPr>
          <a:xfrm>
            <a:off x="435483" y="2479167"/>
            <a:ext cx="6501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Dataset &amp; Info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42"/>
          <p:cNvSpPr txBox="1"/>
          <p:nvPr/>
        </p:nvSpPr>
        <p:spPr>
          <a:xfrm>
            <a:off x="1510817" y="2479167"/>
            <a:ext cx="47868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Balancing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42"/>
          <p:cNvSpPr txBox="1"/>
          <p:nvPr/>
        </p:nvSpPr>
        <p:spPr>
          <a:xfrm>
            <a:off x="2796692" y="2479167"/>
            <a:ext cx="60761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Logistic Reg.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42"/>
          <p:cNvSpPr txBox="1"/>
          <p:nvPr/>
        </p:nvSpPr>
        <p:spPr>
          <a:xfrm>
            <a:off x="3828136" y="2479167"/>
            <a:ext cx="6933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Google Shape;1018;p42"/>
          <p:cNvSpPr txBox="1"/>
          <p:nvPr/>
        </p:nvSpPr>
        <p:spPr>
          <a:xfrm>
            <a:off x="5035829" y="2479167"/>
            <a:ext cx="43616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43"/>
          <p:cNvSpPr/>
          <p:nvPr/>
        </p:nvSpPr>
        <p:spPr>
          <a:xfrm>
            <a:off x="0" y="0"/>
            <a:ext cx="9143771" cy="63793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43"/>
          <p:cNvSpPr/>
          <p:nvPr/>
        </p:nvSpPr>
        <p:spPr>
          <a:xfrm>
            <a:off x="0" y="0"/>
            <a:ext cx="9143771" cy="637931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43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7" name="Google Shape;1027;p4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028" name="Google Shape;1028;p43"/>
          <p:cNvSpPr txBox="1"/>
          <p:nvPr/>
        </p:nvSpPr>
        <p:spPr>
          <a:xfrm>
            <a:off x="742721" y="178308"/>
            <a:ext cx="2986659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Limitations of Pipeline Approach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43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43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43"/>
          <p:cNvSpPr/>
          <p:nvPr/>
        </p:nvSpPr>
        <p:spPr>
          <a:xfrm>
            <a:off x="0" y="628879"/>
            <a:ext cx="9143771" cy="54075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43"/>
          <p:cNvSpPr/>
          <p:nvPr/>
        </p:nvSpPr>
        <p:spPr>
          <a:xfrm>
            <a:off x="285979" y="914171"/>
            <a:ext cx="228371" cy="285979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3" name="Google Shape;1033;p4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2900" y="999896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034" name="Google Shape;1034;p43"/>
          <p:cNvSpPr txBox="1"/>
          <p:nvPr/>
        </p:nvSpPr>
        <p:spPr>
          <a:xfrm>
            <a:off x="600075" y="971779"/>
            <a:ext cx="27507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Identified Drawbacks &amp; Critical Issues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43"/>
          <p:cNvSpPr/>
          <p:nvPr/>
        </p:nvSpPr>
        <p:spPr>
          <a:xfrm>
            <a:off x="285979" y="1371600"/>
            <a:ext cx="8572500" cy="3236291"/>
          </a:xfrm>
          <a:prstGeom prst="roundRect">
            <a:avLst>
              <a:gd name="adj" fmla="val 561"/>
            </a:avLst>
          </a:prstGeom>
          <a:noFill/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43"/>
          <p:cNvSpPr/>
          <p:nvPr/>
        </p:nvSpPr>
        <p:spPr>
          <a:xfrm>
            <a:off x="292837" y="2154098"/>
            <a:ext cx="85580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7" name="Google Shape;1037;p43" descr="preencoded.png"/>
          <p:cNvPicPr preferRelativeResize="0"/>
          <p:nvPr/>
        </p:nvPicPr>
        <p:blipFill rotWithShape="1">
          <a:blip r:embed="rId5">
            <a:alphaModFix/>
          </a:blip>
          <a:srcRect l="-2571" r="-2570"/>
          <a:stretch/>
        </p:blipFill>
        <p:spPr>
          <a:xfrm>
            <a:off x="521208" y="1914754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38" name="Google Shape;1038;p43"/>
          <p:cNvSpPr/>
          <p:nvPr/>
        </p:nvSpPr>
        <p:spPr>
          <a:xfrm>
            <a:off x="292837" y="2160956"/>
            <a:ext cx="8558099" cy="40736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43"/>
          <p:cNvSpPr/>
          <p:nvPr/>
        </p:nvSpPr>
        <p:spPr>
          <a:xfrm>
            <a:off x="292837" y="2561463"/>
            <a:ext cx="85580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43"/>
          <p:cNvSpPr/>
          <p:nvPr/>
        </p:nvSpPr>
        <p:spPr>
          <a:xfrm>
            <a:off x="292837" y="2968828"/>
            <a:ext cx="85580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1" name="Google Shape;1041;p43"/>
          <p:cNvSpPr/>
          <p:nvPr/>
        </p:nvSpPr>
        <p:spPr>
          <a:xfrm>
            <a:off x="292837" y="2975687"/>
            <a:ext cx="8558099" cy="40736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43"/>
          <p:cNvSpPr/>
          <p:nvPr/>
        </p:nvSpPr>
        <p:spPr>
          <a:xfrm>
            <a:off x="292837" y="3376193"/>
            <a:ext cx="85580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43"/>
          <p:cNvSpPr txBox="1"/>
          <p:nvPr/>
        </p:nvSpPr>
        <p:spPr>
          <a:xfrm>
            <a:off x="656996" y="1871549"/>
            <a:ext cx="72900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Linear Flow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43"/>
          <p:cNvSpPr txBox="1"/>
          <p:nvPr/>
        </p:nvSpPr>
        <p:spPr>
          <a:xfrm>
            <a:off x="643280" y="2278913"/>
            <a:ext cx="11144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No Quality Control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43"/>
          <p:cNvSpPr txBox="1"/>
          <p:nvPr/>
        </p:nvSpPr>
        <p:spPr>
          <a:xfrm>
            <a:off x="2119122" y="1892808"/>
            <a:ext cx="264718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Sequential execution with no backtracking mechanism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43"/>
          <p:cNvSpPr txBox="1"/>
          <p:nvPr/>
        </p:nvSpPr>
        <p:spPr>
          <a:xfrm>
            <a:off x="5541950" y="1892808"/>
            <a:ext cx="244693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800"/>
              <a:buFont typeface="Inter"/>
              <a:buNone/>
            </a:pPr>
            <a:r>
              <a:rPr lang="en" sz="80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Can't refine early decisions based on later results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7" name="Google Shape;1047;p43" descr="preencoded.png"/>
          <p:cNvPicPr preferRelativeResize="0"/>
          <p:nvPr/>
        </p:nvPicPr>
        <p:blipFill rotWithShape="1">
          <a:blip r:embed="rId6">
            <a:alphaModFix/>
          </a:blip>
          <a:srcRect l="-133" r="-133"/>
          <a:stretch/>
        </p:blipFill>
        <p:spPr>
          <a:xfrm>
            <a:off x="521208" y="2321433"/>
            <a:ext cx="6446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8" name="Google Shape;1048;p43"/>
          <p:cNvSpPr txBox="1"/>
          <p:nvPr/>
        </p:nvSpPr>
        <p:spPr>
          <a:xfrm>
            <a:off x="2119122" y="2300174"/>
            <a:ext cx="2232965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No validation of intermediate outputs or steps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43"/>
          <p:cNvSpPr txBox="1"/>
          <p:nvPr/>
        </p:nvSpPr>
        <p:spPr>
          <a:xfrm>
            <a:off x="5541950" y="2300174"/>
            <a:ext cx="206151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800"/>
              <a:buFont typeface="Inter"/>
              <a:buNone/>
            </a:pPr>
            <a:r>
              <a:rPr lang="en" sz="80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Errors propagate downstream unchecked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0" name="Google Shape;1050;p43" descr="preencoded.png"/>
          <p:cNvPicPr preferRelativeResize="0"/>
          <p:nvPr/>
        </p:nvPicPr>
        <p:blipFill rotWithShape="1">
          <a:blip r:embed="rId7">
            <a:alphaModFix/>
          </a:blip>
          <a:srcRect t="-80" b="-80"/>
          <a:stretch/>
        </p:blipFill>
        <p:spPr>
          <a:xfrm>
            <a:off x="521208" y="2728799"/>
            <a:ext cx="10698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1" name="Google Shape;1051;p43"/>
          <p:cNvSpPr txBox="1"/>
          <p:nvPr/>
        </p:nvSpPr>
        <p:spPr>
          <a:xfrm>
            <a:off x="685800" y="2686279"/>
            <a:ext cx="971779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Limited Context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43"/>
          <p:cNvSpPr txBox="1"/>
          <p:nvPr/>
        </p:nvSpPr>
        <p:spPr>
          <a:xfrm>
            <a:off x="2119122" y="2707538"/>
            <a:ext cx="2654046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Each stage isolated; LLM unaware of full pipeline state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3" name="Google Shape;1053;p43"/>
          <p:cNvSpPr txBox="1"/>
          <p:nvPr/>
        </p:nvSpPr>
        <p:spPr>
          <a:xfrm>
            <a:off x="5541949" y="2707538"/>
            <a:ext cx="239001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800"/>
              <a:buFont typeface="Inter"/>
              <a:buNone/>
            </a:pPr>
            <a:r>
              <a:rPr lang="en" sz="80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Decisions don't consider holistic workflow goals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4" name="Google Shape;1054;p43" descr="preencoded.png"/>
          <p:cNvPicPr preferRelativeResize="0"/>
          <p:nvPr/>
        </p:nvPicPr>
        <p:blipFill rotWithShape="1">
          <a:blip r:embed="rId8">
            <a:alphaModFix/>
          </a:blip>
          <a:srcRect t="-80" b="-80"/>
          <a:stretch/>
        </p:blipFill>
        <p:spPr>
          <a:xfrm>
            <a:off x="521208" y="3136163"/>
            <a:ext cx="10698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5" name="Google Shape;1055;p43"/>
          <p:cNvSpPr/>
          <p:nvPr/>
        </p:nvSpPr>
        <p:spPr>
          <a:xfrm>
            <a:off x="292837" y="3782873"/>
            <a:ext cx="85580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43"/>
          <p:cNvSpPr/>
          <p:nvPr/>
        </p:nvSpPr>
        <p:spPr>
          <a:xfrm>
            <a:off x="292837" y="3789731"/>
            <a:ext cx="8558099" cy="407365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43"/>
          <p:cNvSpPr/>
          <p:nvPr/>
        </p:nvSpPr>
        <p:spPr>
          <a:xfrm>
            <a:off x="292837" y="4190238"/>
            <a:ext cx="85580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43"/>
          <p:cNvSpPr txBox="1"/>
          <p:nvPr/>
        </p:nvSpPr>
        <p:spPr>
          <a:xfrm>
            <a:off x="685800" y="3092958"/>
            <a:ext cx="100744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Single LLM Calls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43"/>
          <p:cNvSpPr txBox="1"/>
          <p:nvPr/>
        </p:nvSpPr>
        <p:spPr>
          <a:xfrm>
            <a:off x="685800" y="3907688"/>
            <a:ext cx="879196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Brittle Parsing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43"/>
          <p:cNvSpPr txBox="1"/>
          <p:nvPr/>
        </p:nvSpPr>
        <p:spPr>
          <a:xfrm>
            <a:off x="2119122" y="3114904"/>
            <a:ext cx="2247367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One decision per stage; "fire and forget" logic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43"/>
          <p:cNvSpPr txBox="1"/>
          <p:nvPr/>
        </p:nvSpPr>
        <p:spPr>
          <a:xfrm>
            <a:off x="5541950" y="3114904"/>
            <a:ext cx="214723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800"/>
              <a:buFont typeface="Inter"/>
              <a:buNone/>
            </a:pPr>
            <a:r>
              <a:rPr lang="en" sz="80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No iterative improvement or self-correction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2" name="Google Shape;1062;p43" descr="preencoded.png"/>
          <p:cNvPicPr preferRelativeResize="0"/>
          <p:nvPr/>
        </p:nvPicPr>
        <p:blipFill rotWithShape="1">
          <a:blip r:embed="rId9">
            <a:alphaModFix/>
          </a:blip>
          <a:srcRect l="-2571" r="-2570"/>
          <a:stretch/>
        </p:blipFill>
        <p:spPr>
          <a:xfrm>
            <a:off x="521208" y="3543529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63" name="Google Shape;1063;p43"/>
          <p:cNvSpPr txBox="1"/>
          <p:nvPr/>
        </p:nvSpPr>
        <p:spPr>
          <a:xfrm>
            <a:off x="656996" y="3500324"/>
            <a:ext cx="1164488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No Research Phase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43"/>
          <p:cNvSpPr txBox="1"/>
          <p:nvPr/>
        </p:nvSpPr>
        <p:spPr>
          <a:xfrm>
            <a:off x="2119122" y="3521583"/>
            <a:ext cx="2511400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Missing literature review and hypothesis generation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43"/>
          <p:cNvSpPr txBox="1"/>
          <p:nvPr/>
        </p:nvSpPr>
        <p:spPr>
          <a:xfrm>
            <a:off x="5541949" y="3521583"/>
            <a:ext cx="204711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800"/>
              <a:buFont typeface="Inter"/>
              <a:buNone/>
            </a:pPr>
            <a:r>
              <a:rPr lang="en" sz="80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Lacks domain context and scientific rigor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6" name="Google Shape;1066;p43" descr="preencoded.png"/>
          <p:cNvPicPr preferRelativeResize="0"/>
          <p:nvPr/>
        </p:nvPicPr>
        <p:blipFill rotWithShape="1">
          <a:blip r:embed="rId10">
            <a:alphaModFix/>
          </a:blip>
          <a:srcRect t="-80" b="-80"/>
          <a:stretch/>
        </p:blipFill>
        <p:spPr>
          <a:xfrm>
            <a:off x="521208" y="3950208"/>
            <a:ext cx="10698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67" name="Google Shape;1067;p43"/>
          <p:cNvSpPr txBox="1"/>
          <p:nvPr/>
        </p:nvSpPr>
        <p:spPr>
          <a:xfrm>
            <a:off x="2119122" y="3928949"/>
            <a:ext cx="2440076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JSON parsing failures crash entire pipeline stages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8" name="Google Shape;1068;p43"/>
          <p:cNvSpPr txBox="1"/>
          <p:nvPr/>
        </p:nvSpPr>
        <p:spPr>
          <a:xfrm>
            <a:off x="5541949" y="3928949"/>
            <a:ext cx="2182901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800"/>
              <a:buFont typeface="Inter"/>
              <a:buNone/>
            </a:pPr>
            <a:r>
              <a:rPr lang="en" sz="80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System fragility on unexpected LLM outputs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9" name="Google Shape;1069;p43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21208" y="4357574"/>
            <a:ext cx="8572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0" name="Google Shape;1070;p43"/>
          <p:cNvSpPr txBox="1"/>
          <p:nvPr/>
        </p:nvSpPr>
        <p:spPr>
          <a:xfrm>
            <a:off x="664541" y="4315054"/>
            <a:ext cx="115763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No Code Validation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43"/>
          <p:cNvSpPr txBox="1"/>
          <p:nvPr/>
        </p:nvSpPr>
        <p:spPr>
          <a:xfrm>
            <a:off x="2119122" y="4336313"/>
            <a:ext cx="256146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Generated code not checked for logic/security flaws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43"/>
          <p:cNvSpPr txBox="1"/>
          <p:nvPr/>
        </p:nvSpPr>
        <p:spPr>
          <a:xfrm>
            <a:off x="5541949" y="4336313"/>
            <a:ext cx="183245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800"/>
              <a:buFont typeface="Inter"/>
              <a:buNone/>
            </a:pPr>
            <a:r>
              <a:rPr lang="en" sz="80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Risk of subtle bugs and data leakage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43"/>
          <p:cNvSpPr/>
          <p:nvPr/>
        </p:nvSpPr>
        <p:spPr>
          <a:xfrm>
            <a:off x="0" y="6036412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43"/>
          <p:cNvSpPr/>
          <p:nvPr/>
        </p:nvSpPr>
        <p:spPr>
          <a:xfrm>
            <a:off x="0" y="6036412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5" name="Google Shape;1075;p43"/>
          <p:cNvSpPr txBox="1"/>
          <p:nvPr/>
        </p:nvSpPr>
        <p:spPr>
          <a:xfrm>
            <a:off x="342900" y="6154369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6" name="Google Shape;1076;p43"/>
          <p:cNvSpPr txBox="1"/>
          <p:nvPr/>
        </p:nvSpPr>
        <p:spPr>
          <a:xfrm>
            <a:off x="8471687" y="6154369"/>
            <a:ext cx="4005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20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43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Issues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43"/>
          <p:cNvSpPr/>
          <p:nvPr/>
        </p:nvSpPr>
        <p:spPr>
          <a:xfrm>
            <a:off x="292837" y="1378458"/>
            <a:ext cx="8558099" cy="378562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43"/>
          <p:cNvSpPr/>
          <p:nvPr/>
        </p:nvSpPr>
        <p:spPr>
          <a:xfrm>
            <a:off x="292837" y="1750162"/>
            <a:ext cx="1714500" cy="685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43"/>
          <p:cNvSpPr txBox="1"/>
          <p:nvPr/>
        </p:nvSpPr>
        <p:spPr>
          <a:xfrm>
            <a:off x="521208" y="1500530"/>
            <a:ext cx="39707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ISSUE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43"/>
          <p:cNvSpPr/>
          <p:nvPr/>
        </p:nvSpPr>
        <p:spPr>
          <a:xfrm>
            <a:off x="2004593" y="1750162"/>
            <a:ext cx="3429000" cy="685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2" name="Google Shape;1082;p43"/>
          <p:cNvSpPr txBox="1"/>
          <p:nvPr/>
        </p:nvSpPr>
        <p:spPr>
          <a:xfrm>
            <a:off x="2119122" y="1500530"/>
            <a:ext cx="811301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DESCRIPTION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3" name="Google Shape;1083;p43"/>
          <p:cNvSpPr/>
          <p:nvPr/>
        </p:nvSpPr>
        <p:spPr>
          <a:xfrm>
            <a:off x="5427422" y="1750162"/>
            <a:ext cx="3429000" cy="685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43"/>
          <p:cNvSpPr txBox="1"/>
          <p:nvPr/>
        </p:nvSpPr>
        <p:spPr>
          <a:xfrm>
            <a:off x="5541950" y="1500530"/>
            <a:ext cx="136131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IMPACT ON WORKFLOW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5" name="Google Shape;1085;p43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86" name="Google Shape;1086;p43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7" name="Google Shape;1087;p43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88" name="Google Shape;1088;p43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44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44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6" name="Google Shape;1096;p44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44"/>
          <p:cNvSpPr/>
          <p:nvPr/>
        </p:nvSpPr>
        <p:spPr>
          <a:xfrm>
            <a:off x="0" y="1671980"/>
            <a:ext cx="685800" cy="13716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8" name="Google Shape;1098;p44"/>
          <p:cNvSpPr/>
          <p:nvPr/>
        </p:nvSpPr>
        <p:spPr>
          <a:xfrm>
            <a:off x="8229600" y="1929155"/>
            <a:ext cx="914171" cy="1829029"/>
          </a:xfrm>
          <a:prstGeom prst="roundRect">
            <a:avLst>
              <a:gd name="adj" fmla="val 75019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9" name="Google Shape;1099;p44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44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1" name="Google Shape;1101;p4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392" y="21465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102" name="Google Shape;1102;p44"/>
          <p:cNvSpPr txBox="1"/>
          <p:nvPr/>
        </p:nvSpPr>
        <p:spPr>
          <a:xfrm>
            <a:off x="742721" y="178308"/>
            <a:ext cx="2836468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Part 2: Multi-Agent Foundation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44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44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44"/>
          <p:cNvSpPr/>
          <p:nvPr/>
        </p:nvSpPr>
        <p:spPr>
          <a:xfrm>
            <a:off x="4243730" y="1128827"/>
            <a:ext cx="656996" cy="571271"/>
          </a:xfrm>
          <a:prstGeom prst="roundRect">
            <a:avLst>
              <a:gd name="adj" fmla="val 120048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6" name="Google Shape;1106;p4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57574" y="1243355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7" name="Google Shape;1107;p44"/>
          <p:cNvSpPr txBox="1"/>
          <p:nvPr/>
        </p:nvSpPr>
        <p:spPr>
          <a:xfrm>
            <a:off x="2206219" y="1885950"/>
            <a:ext cx="50577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3400"/>
              <a:buFont typeface="Inter"/>
              <a:buNone/>
            </a:pPr>
            <a:r>
              <a:rPr lang="en" sz="3400" b="1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Multi-Agent Foundation</a:t>
            </a:r>
            <a:endParaRPr sz="3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44"/>
          <p:cNvSpPr/>
          <p:nvPr/>
        </p:nvSpPr>
        <p:spPr>
          <a:xfrm>
            <a:off x="4114800" y="2586152"/>
            <a:ext cx="9141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44"/>
          <p:cNvSpPr txBox="1"/>
          <p:nvPr/>
        </p:nvSpPr>
        <p:spPr>
          <a:xfrm>
            <a:off x="1786509" y="2964713"/>
            <a:ext cx="5701055" cy="486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Transitioning from linear single-LLM pipelines to coordinated teams of specialized agents working in collaboration.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44"/>
          <p:cNvSpPr/>
          <p:nvPr/>
        </p:nvSpPr>
        <p:spPr>
          <a:xfrm>
            <a:off x="2349551" y="3943350"/>
            <a:ext cx="1335938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1" name="Google Shape;1111;p44" descr="preencoded.png"/>
          <p:cNvPicPr preferRelativeResize="0"/>
          <p:nvPr/>
        </p:nvPicPr>
        <p:blipFill rotWithShape="1">
          <a:blip r:embed="rId5">
            <a:alphaModFix/>
          </a:blip>
          <a:srcRect l="-1648" r="-1647"/>
          <a:stretch/>
        </p:blipFill>
        <p:spPr>
          <a:xfrm>
            <a:off x="2528545" y="4050335"/>
            <a:ext cx="128930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112" name="Google Shape;1112;p44"/>
          <p:cNvSpPr/>
          <p:nvPr/>
        </p:nvSpPr>
        <p:spPr>
          <a:xfrm>
            <a:off x="3913175" y="3943350"/>
            <a:ext cx="1357199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3" name="Google Shape;1113;p44"/>
          <p:cNvSpPr txBox="1"/>
          <p:nvPr/>
        </p:nvSpPr>
        <p:spPr>
          <a:xfrm>
            <a:off x="2742514" y="4050335"/>
            <a:ext cx="850392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Specialization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4" name="Google Shape;1114;p4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91483" y="405033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115" name="Google Shape;1115;p44"/>
          <p:cNvSpPr/>
          <p:nvPr/>
        </p:nvSpPr>
        <p:spPr>
          <a:xfrm>
            <a:off x="5492573" y="3943350"/>
            <a:ext cx="1307135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6" name="Google Shape;1116;p44"/>
          <p:cNvSpPr txBox="1"/>
          <p:nvPr/>
        </p:nvSpPr>
        <p:spPr>
          <a:xfrm>
            <a:off x="4356202" y="4050335"/>
            <a:ext cx="821588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Collaboration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7" name="Google Shape;1117;p4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670881" y="405033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118" name="Google Shape;1118;p44"/>
          <p:cNvSpPr txBox="1"/>
          <p:nvPr/>
        </p:nvSpPr>
        <p:spPr>
          <a:xfrm>
            <a:off x="5864275" y="4050335"/>
            <a:ext cx="843534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Quality Loops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9" name="Google Shape;1119;p44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0" name="Google Shape;1120;p44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1" name="Google Shape;1121;p44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" name="Google Shape;1122;p44"/>
          <p:cNvSpPr txBox="1"/>
          <p:nvPr/>
        </p:nvSpPr>
        <p:spPr>
          <a:xfrm>
            <a:off x="8490890" y="4918558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21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3" name="Google Shape;1123;p4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24" name="Google Shape;1124;p44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5" name="Google Shape;1125;p4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26" name="Google Shape;1126;p44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p45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3" name="Google Shape;1133;p45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45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5" name="Google Shape;1135;p4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392" y="21465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136" name="Google Shape;1136;p45"/>
          <p:cNvSpPr txBox="1"/>
          <p:nvPr/>
        </p:nvSpPr>
        <p:spPr>
          <a:xfrm>
            <a:off x="742721" y="178308"/>
            <a:ext cx="2950997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What Are Multi-Agent Systems?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45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45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9" name="Google Shape;1139;p45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45"/>
          <p:cNvSpPr/>
          <p:nvPr/>
        </p:nvSpPr>
        <p:spPr>
          <a:xfrm>
            <a:off x="342900" y="857250"/>
            <a:ext cx="1986077" cy="914171"/>
          </a:xfrm>
          <a:prstGeom prst="roundRect">
            <a:avLst>
              <a:gd name="adj" fmla="val 7033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1" name="Google Shape;1141;p45"/>
          <p:cNvSpPr/>
          <p:nvPr/>
        </p:nvSpPr>
        <p:spPr>
          <a:xfrm>
            <a:off x="342900" y="857250"/>
            <a:ext cx="28804" cy="914171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2" name="Google Shape;1142;p45"/>
          <p:cNvSpPr/>
          <p:nvPr/>
        </p:nvSpPr>
        <p:spPr>
          <a:xfrm>
            <a:off x="485546" y="995095"/>
            <a:ext cx="228371" cy="228371"/>
          </a:xfrm>
          <a:prstGeom prst="roundRect">
            <a:avLst>
              <a:gd name="adj" fmla="val 300300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3" name="Google Shape;1143;p45" descr="preencoded.png"/>
          <p:cNvPicPr preferRelativeResize="0"/>
          <p:nvPr/>
        </p:nvPicPr>
        <p:blipFill rotWithShape="1">
          <a:blip r:embed="rId4">
            <a:alphaModFix/>
          </a:blip>
          <a:srcRect t="-180" b="-179"/>
          <a:stretch/>
        </p:blipFill>
        <p:spPr>
          <a:xfrm>
            <a:off x="528751" y="1052018"/>
            <a:ext cx="142646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144" name="Google Shape;1144;p45"/>
          <p:cNvSpPr txBox="1"/>
          <p:nvPr/>
        </p:nvSpPr>
        <p:spPr>
          <a:xfrm>
            <a:off x="800329" y="1037615"/>
            <a:ext cx="879196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Specialization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5" name="Google Shape;1145;p45"/>
          <p:cNvSpPr txBox="1"/>
          <p:nvPr/>
        </p:nvSpPr>
        <p:spPr>
          <a:xfrm>
            <a:off x="485546" y="1280389"/>
            <a:ext cx="177896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Each agent masters a specific domain (e.g., code generation, search) rather than being a generalist.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45"/>
          <p:cNvSpPr/>
          <p:nvPr/>
        </p:nvSpPr>
        <p:spPr>
          <a:xfrm>
            <a:off x="2500427" y="857250"/>
            <a:ext cx="1986077" cy="914171"/>
          </a:xfrm>
          <a:prstGeom prst="roundRect">
            <a:avLst>
              <a:gd name="adj" fmla="val 7033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45"/>
          <p:cNvSpPr/>
          <p:nvPr/>
        </p:nvSpPr>
        <p:spPr>
          <a:xfrm>
            <a:off x="2500427" y="857250"/>
            <a:ext cx="28804" cy="914171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8" name="Google Shape;1148;p45"/>
          <p:cNvSpPr/>
          <p:nvPr/>
        </p:nvSpPr>
        <p:spPr>
          <a:xfrm>
            <a:off x="2643074" y="995095"/>
            <a:ext cx="228371" cy="228371"/>
          </a:xfrm>
          <a:prstGeom prst="roundRect">
            <a:avLst>
              <a:gd name="adj" fmla="val 300300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9" name="Google Shape;1149;p45" descr="preencoded.png"/>
          <p:cNvPicPr preferRelativeResize="0"/>
          <p:nvPr/>
        </p:nvPicPr>
        <p:blipFill rotWithShape="1">
          <a:blip r:embed="rId5">
            <a:alphaModFix/>
          </a:blip>
          <a:srcRect t="-180" b="-179"/>
          <a:stretch/>
        </p:blipFill>
        <p:spPr>
          <a:xfrm>
            <a:off x="2686279" y="1052018"/>
            <a:ext cx="142646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150" name="Google Shape;1150;p45"/>
          <p:cNvSpPr txBox="1"/>
          <p:nvPr/>
        </p:nvSpPr>
        <p:spPr>
          <a:xfrm>
            <a:off x="2957855" y="1037615"/>
            <a:ext cx="843534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Collaboration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45"/>
          <p:cNvSpPr txBox="1"/>
          <p:nvPr/>
        </p:nvSpPr>
        <p:spPr>
          <a:xfrm>
            <a:off x="2643074" y="1280389"/>
            <a:ext cx="161505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Agents work together, sharing intermediate outputs to solve complex problems iteratively.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45"/>
          <p:cNvSpPr/>
          <p:nvPr/>
        </p:nvSpPr>
        <p:spPr>
          <a:xfrm>
            <a:off x="4657954" y="857250"/>
            <a:ext cx="1986077" cy="914171"/>
          </a:xfrm>
          <a:prstGeom prst="roundRect">
            <a:avLst>
              <a:gd name="adj" fmla="val 7033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45"/>
          <p:cNvSpPr/>
          <p:nvPr/>
        </p:nvSpPr>
        <p:spPr>
          <a:xfrm>
            <a:off x="4657954" y="857250"/>
            <a:ext cx="28804" cy="914171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45"/>
          <p:cNvSpPr/>
          <p:nvPr/>
        </p:nvSpPr>
        <p:spPr>
          <a:xfrm>
            <a:off x="4800600" y="1053388"/>
            <a:ext cx="228371" cy="228371"/>
          </a:xfrm>
          <a:prstGeom prst="roundRect">
            <a:avLst>
              <a:gd name="adj" fmla="val 300300"/>
            </a:avLst>
          </a:prstGeom>
          <a:solidFill>
            <a:srgbClr val="EDE9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5" name="Google Shape;1155;p45" descr="preencoded.png"/>
          <p:cNvPicPr preferRelativeResize="0"/>
          <p:nvPr/>
        </p:nvPicPr>
        <p:blipFill rotWithShape="1">
          <a:blip r:embed="rId6">
            <a:alphaModFix/>
          </a:blip>
          <a:srcRect l="-33" r="-32"/>
          <a:stretch/>
        </p:blipFill>
        <p:spPr>
          <a:xfrm>
            <a:off x="4850663" y="1110996"/>
            <a:ext cx="128930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156" name="Google Shape;1156;p45"/>
          <p:cNvSpPr txBox="1"/>
          <p:nvPr/>
        </p:nvSpPr>
        <p:spPr>
          <a:xfrm>
            <a:off x="5114696" y="1096595"/>
            <a:ext cx="814730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Coordination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7" name="Google Shape;1157;p45"/>
          <p:cNvSpPr txBox="1"/>
          <p:nvPr/>
        </p:nvSpPr>
        <p:spPr>
          <a:xfrm>
            <a:off x="4800600" y="1339367"/>
            <a:ext cx="1743304" cy="229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 supervisor or router agent orchestrates workflow, ensuring tasks flow logically.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8" name="Google Shape;1158;p45"/>
          <p:cNvSpPr/>
          <p:nvPr/>
        </p:nvSpPr>
        <p:spPr>
          <a:xfrm>
            <a:off x="6815480" y="857250"/>
            <a:ext cx="1986077" cy="914171"/>
          </a:xfrm>
          <a:prstGeom prst="roundRect">
            <a:avLst>
              <a:gd name="adj" fmla="val 7033"/>
            </a:avLst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9" name="Google Shape;1159;p45"/>
          <p:cNvSpPr/>
          <p:nvPr/>
        </p:nvSpPr>
        <p:spPr>
          <a:xfrm>
            <a:off x="6815480" y="857250"/>
            <a:ext cx="28804" cy="914171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60" name="Google Shape;1160;p45" descr="preencoded.png"/>
          <p:cNvPicPr preferRelativeResize="0"/>
          <p:nvPr/>
        </p:nvPicPr>
        <p:blipFill rotWithShape="1">
          <a:blip r:embed="rId7">
            <a:alphaModFix/>
          </a:blip>
          <a:srcRect l="-33" r="-32"/>
          <a:stretch/>
        </p:blipFill>
        <p:spPr>
          <a:xfrm>
            <a:off x="7008191" y="1110996"/>
            <a:ext cx="128930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161" name="Google Shape;1161;p45"/>
          <p:cNvSpPr txBox="1"/>
          <p:nvPr/>
        </p:nvSpPr>
        <p:spPr>
          <a:xfrm>
            <a:off x="7272224" y="1096595"/>
            <a:ext cx="700201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Modularity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45"/>
          <p:cNvSpPr txBox="1"/>
          <p:nvPr/>
        </p:nvSpPr>
        <p:spPr>
          <a:xfrm>
            <a:off x="6958127" y="1339367"/>
            <a:ext cx="1793367" cy="229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Easy to add, modify, or replace individual agents without breaking the entire system.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45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45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45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45"/>
          <p:cNvSpPr txBox="1"/>
          <p:nvPr/>
        </p:nvSpPr>
        <p:spPr>
          <a:xfrm>
            <a:off x="8473059" y="4918558"/>
            <a:ext cx="3929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22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45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68" name="Google Shape;1168;p4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69" name="Google Shape;1169;p45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0" name="Google Shape;1170;p4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71" name="Google Shape;1171;p45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2" name="Google Shape;1172;p45" descr="Agentic AI: Single vs Multi-Agent Systems | Towards Data Science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486698" y="1808572"/>
            <a:ext cx="5999609" cy="3070894"/>
          </a:xfrm>
          <a:prstGeom prst="rect">
            <a:avLst/>
          </a:prstGeom>
          <a:noFill/>
          <a:ln>
            <a:noFill/>
          </a:ln>
        </p:spPr>
      </p:pic>
      <p:sp>
        <p:nvSpPr>
          <p:cNvPr id="1173" name="Google Shape;1173;p45"/>
          <p:cNvSpPr txBox="1"/>
          <p:nvPr/>
        </p:nvSpPr>
        <p:spPr>
          <a:xfrm>
            <a:off x="742721" y="178308"/>
            <a:ext cx="2836468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Multi Agentic System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46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46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46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2" name="Google Shape;1182;p46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183" name="Google Shape;1183;p46"/>
          <p:cNvSpPr txBox="1"/>
          <p:nvPr/>
        </p:nvSpPr>
        <p:spPr>
          <a:xfrm>
            <a:off x="742721" y="178308"/>
            <a:ext cx="2379041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LangGraph Fundamentals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4" name="Google Shape;1184;p46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5" name="Google Shape;1185;p46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6" name="Google Shape;1186;p46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46"/>
          <p:cNvSpPr/>
          <p:nvPr/>
        </p:nvSpPr>
        <p:spPr>
          <a:xfrm>
            <a:off x="228371" y="857250"/>
            <a:ext cx="41148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8" name="Google Shape;1188;p46"/>
          <p:cNvSpPr/>
          <p:nvPr/>
        </p:nvSpPr>
        <p:spPr>
          <a:xfrm>
            <a:off x="378562" y="1007441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9" name="Google Shape;1189;p46" descr="preencoded.png"/>
          <p:cNvPicPr preferRelativeResize="0"/>
          <p:nvPr/>
        </p:nvPicPr>
        <p:blipFill rotWithShape="1">
          <a:blip r:embed="rId4">
            <a:alphaModFix/>
          </a:blip>
          <a:srcRect l="-1648" r="-1647"/>
          <a:stretch/>
        </p:blipFill>
        <p:spPr>
          <a:xfrm>
            <a:off x="485546" y="1107567"/>
            <a:ext cx="128930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190" name="Google Shape;1190;p46"/>
          <p:cNvSpPr txBox="1"/>
          <p:nvPr/>
        </p:nvSpPr>
        <p:spPr>
          <a:xfrm>
            <a:off x="835991" y="1028700"/>
            <a:ext cx="432740" cy="15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State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46"/>
          <p:cNvSpPr txBox="1"/>
          <p:nvPr/>
        </p:nvSpPr>
        <p:spPr>
          <a:xfrm>
            <a:off x="835990" y="1250213"/>
            <a:ext cx="3182798" cy="285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Shared data structure passed between agents. Maintains context, message history, and current artifacts across the entire workflow.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2" name="Google Shape;1192;p46"/>
          <p:cNvSpPr/>
          <p:nvPr/>
        </p:nvSpPr>
        <p:spPr>
          <a:xfrm>
            <a:off x="228371" y="1824914"/>
            <a:ext cx="41148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3" name="Google Shape;1193;p46"/>
          <p:cNvSpPr/>
          <p:nvPr/>
        </p:nvSpPr>
        <p:spPr>
          <a:xfrm>
            <a:off x="378562" y="1975104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4" name="Google Shape;1194;p4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0858" y="2075231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195" name="Google Shape;1195;p46"/>
          <p:cNvSpPr txBox="1"/>
          <p:nvPr/>
        </p:nvSpPr>
        <p:spPr>
          <a:xfrm>
            <a:off x="835991" y="1996364"/>
            <a:ext cx="432740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Node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6" name="Google Shape;1196;p46"/>
          <p:cNvSpPr txBox="1"/>
          <p:nvPr/>
        </p:nvSpPr>
        <p:spPr>
          <a:xfrm>
            <a:off x="835990" y="2217878"/>
            <a:ext cx="3297326" cy="285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Processing unit representing an agent or function. Takes the current state as input and returns an updated state.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7" name="Google Shape;1197;p46"/>
          <p:cNvSpPr/>
          <p:nvPr/>
        </p:nvSpPr>
        <p:spPr>
          <a:xfrm>
            <a:off x="228371" y="2793263"/>
            <a:ext cx="41148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8" name="Google Shape;1198;p46"/>
          <p:cNvSpPr/>
          <p:nvPr/>
        </p:nvSpPr>
        <p:spPr>
          <a:xfrm>
            <a:off x="378562" y="2943454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EDE9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9" name="Google Shape;1199;p46" descr="preencoded.png"/>
          <p:cNvPicPr preferRelativeResize="0"/>
          <p:nvPr/>
        </p:nvPicPr>
        <p:blipFill rotWithShape="1">
          <a:blip r:embed="rId6">
            <a:alphaModFix/>
          </a:blip>
          <a:srcRect l="-1648" r="-1647"/>
          <a:stretch/>
        </p:blipFill>
        <p:spPr>
          <a:xfrm>
            <a:off x="485546" y="3043580"/>
            <a:ext cx="128930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200" name="Google Shape;1200;p46"/>
          <p:cNvSpPr txBox="1"/>
          <p:nvPr/>
        </p:nvSpPr>
        <p:spPr>
          <a:xfrm>
            <a:off x="835991" y="2964713"/>
            <a:ext cx="418338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Edge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46"/>
          <p:cNvSpPr txBox="1"/>
          <p:nvPr/>
        </p:nvSpPr>
        <p:spPr>
          <a:xfrm>
            <a:off x="835990" y="3186227"/>
            <a:ext cx="3047009" cy="285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Connections defining workflow transitions. Can be static (fixed sequence) or conditional (routing logic).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46"/>
          <p:cNvSpPr/>
          <p:nvPr/>
        </p:nvSpPr>
        <p:spPr>
          <a:xfrm>
            <a:off x="228371" y="3760927"/>
            <a:ext cx="41148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3" name="Google Shape;1203;p46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8688" y="4011244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204" name="Google Shape;1204;p46"/>
          <p:cNvSpPr txBox="1"/>
          <p:nvPr/>
        </p:nvSpPr>
        <p:spPr>
          <a:xfrm>
            <a:off x="835991" y="3932377"/>
            <a:ext cx="518464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Router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46"/>
          <p:cNvSpPr txBox="1"/>
          <p:nvPr/>
        </p:nvSpPr>
        <p:spPr>
          <a:xfrm>
            <a:off x="835990" y="4153891"/>
            <a:ext cx="3347390" cy="285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Decision logic that determines the next node based on LLM output or state conditions (e.g., "If error, go to Review").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46"/>
          <p:cNvSpPr/>
          <p:nvPr/>
        </p:nvSpPr>
        <p:spPr>
          <a:xfrm>
            <a:off x="4979594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46"/>
          <p:cNvSpPr/>
          <p:nvPr/>
        </p:nvSpPr>
        <p:spPr>
          <a:xfrm>
            <a:off x="7436129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46"/>
          <p:cNvSpPr/>
          <p:nvPr/>
        </p:nvSpPr>
        <p:spPr>
          <a:xfrm>
            <a:off x="10433075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46"/>
          <p:cNvSpPr/>
          <p:nvPr/>
        </p:nvSpPr>
        <p:spPr>
          <a:xfrm>
            <a:off x="10789006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46"/>
          <p:cNvSpPr/>
          <p:nvPr/>
        </p:nvSpPr>
        <p:spPr>
          <a:xfrm>
            <a:off x="4572229" y="3729380"/>
            <a:ext cx="4343171" cy="842849"/>
          </a:xfrm>
          <a:prstGeom prst="roundRect">
            <a:avLst>
              <a:gd name="adj" fmla="val 8275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1" name="Google Shape;1211;p46" descr="preencoded.png"/>
          <p:cNvPicPr preferRelativeResize="0"/>
          <p:nvPr/>
        </p:nvPicPr>
        <p:blipFill rotWithShape="1">
          <a:blip r:embed="rId8">
            <a:alphaModFix/>
          </a:blip>
          <a:srcRect l="-33" r="-32"/>
          <a:stretch/>
        </p:blipFill>
        <p:spPr>
          <a:xfrm>
            <a:off x="4693616" y="3850767"/>
            <a:ext cx="128930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212" name="Google Shape;1212;p46"/>
          <p:cNvSpPr txBox="1"/>
          <p:nvPr/>
        </p:nvSpPr>
        <p:spPr>
          <a:xfrm>
            <a:off x="4879467" y="3850767"/>
            <a:ext cx="114322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GRAPH ARCHITECTURE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46"/>
          <p:cNvSpPr/>
          <p:nvPr/>
        </p:nvSpPr>
        <p:spPr>
          <a:xfrm>
            <a:off x="4807458" y="4022217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46"/>
          <p:cNvSpPr txBox="1"/>
          <p:nvPr/>
        </p:nvSpPr>
        <p:spPr>
          <a:xfrm>
            <a:off x="4839005" y="4107942"/>
            <a:ext cx="29352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Node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46"/>
          <p:cNvSpPr txBox="1"/>
          <p:nvPr/>
        </p:nvSpPr>
        <p:spPr>
          <a:xfrm>
            <a:off x="4830089" y="4336313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Agent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46"/>
          <p:cNvSpPr/>
          <p:nvPr/>
        </p:nvSpPr>
        <p:spPr>
          <a:xfrm>
            <a:off x="5150358" y="4229329"/>
            <a:ext cx="1392860" cy="14401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46"/>
          <p:cNvSpPr/>
          <p:nvPr/>
        </p:nvSpPr>
        <p:spPr>
          <a:xfrm>
            <a:off x="5661279" y="4171721"/>
            <a:ext cx="378562" cy="11452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46"/>
          <p:cNvSpPr txBox="1"/>
          <p:nvPr/>
        </p:nvSpPr>
        <p:spPr>
          <a:xfrm>
            <a:off x="5718200" y="4179266"/>
            <a:ext cx="329184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Arial"/>
              <a:buNone/>
            </a:pPr>
            <a:r>
              <a:rPr lang="en" sz="70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46"/>
          <p:cNvSpPr/>
          <p:nvPr/>
        </p:nvSpPr>
        <p:spPr>
          <a:xfrm>
            <a:off x="6486296" y="4186124"/>
            <a:ext cx="56921" cy="56921"/>
          </a:xfrm>
          <a:prstGeom prst="rect">
            <a:avLst/>
          </a:prstGeom>
          <a:noFill/>
          <a:ln w="508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46"/>
          <p:cNvSpPr txBox="1"/>
          <p:nvPr/>
        </p:nvSpPr>
        <p:spPr>
          <a:xfrm>
            <a:off x="6604940" y="4107942"/>
            <a:ext cx="34290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Router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46"/>
          <p:cNvSpPr txBox="1"/>
          <p:nvPr/>
        </p:nvSpPr>
        <p:spPr>
          <a:xfrm>
            <a:off x="6632372" y="4336313"/>
            <a:ext cx="29352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Logic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46"/>
          <p:cNvSpPr/>
          <p:nvPr/>
        </p:nvSpPr>
        <p:spPr>
          <a:xfrm>
            <a:off x="6943725" y="4229329"/>
            <a:ext cx="1392860" cy="14401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46"/>
          <p:cNvSpPr/>
          <p:nvPr/>
        </p:nvSpPr>
        <p:spPr>
          <a:xfrm>
            <a:off x="7480021" y="4171721"/>
            <a:ext cx="321640" cy="11452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46"/>
          <p:cNvSpPr txBox="1"/>
          <p:nvPr/>
        </p:nvSpPr>
        <p:spPr>
          <a:xfrm>
            <a:off x="7537628" y="4179266"/>
            <a:ext cx="27157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Arial"/>
              <a:buNone/>
            </a:pPr>
            <a:r>
              <a:rPr lang="en" sz="70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Edge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46"/>
          <p:cNvSpPr/>
          <p:nvPr/>
        </p:nvSpPr>
        <p:spPr>
          <a:xfrm>
            <a:off x="8279663" y="4186124"/>
            <a:ext cx="56921" cy="56921"/>
          </a:xfrm>
          <a:prstGeom prst="rect">
            <a:avLst/>
          </a:prstGeom>
          <a:noFill/>
          <a:ln w="508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6" name="Google Shape;1226;p46"/>
          <p:cNvSpPr/>
          <p:nvPr/>
        </p:nvSpPr>
        <p:spPr>
          <a:xfrm>
            <a:off x="8394192" y="4022217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7" name="Google Shape;1227;p46"/>
          <p:cNvSpPr txBox="1"/>
          <p:nvPr/>
        </p:nvSpPr>
        <p:spPr>
          <a:xfrm>
            <a:off x="8425053" y="4107942"/>
            <a:ext cx="29352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Node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46"/>
          <p:cNvSpPr txBox="1"/>
          <p:nvPr/>
        </p:nvSpPr>
        <p:spPr>
          <a:xfrm>
            <a:off x="8416823" y="4336313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Agent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46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0" name="Google Shape;1230;p46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p46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2" name="Google Shape;1232;p46"/>
          <p:cNvSpPr txBox="1"/>
          <p:nvPr/>
        </p:nvSpPr>
        <p:spPr>
          <a:xfrm>
            <a:off x="8472374" y="4918558"/>
            <a:ext cx="3929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23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46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4" name="Google Shape;1234;p46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235" name="Google Shape;1235;p46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6" name="Google Shape;1236;p46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237" name="Google Shape;1237;p46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8" name="Google Shape;1238;p46" descr="LangGraph: A Simple Guide to Building Smart AI Workflows | by Vinod Rane |  Medium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468089" y="1273130"/>
            <a:ext cx="4476606" cy="1596656"/>
          </a:xfrm>
          <a:prstGeom prst="rect">
            <a:avLst/>
          </a:prstGeom>
          <a:noFill/>
          <a:ln>
            <a:noFill/>
          </a:ln>
        </p:spPr>
      </p:pic>
      <p:sp>
        <p:nvSpPr>
          <p:cNvPr id="1239" name="Google Shape;1239;p46"/>
          <p:cNvSpPr txBox="1"/>
          <p:nvPr/>
        </p:nvSpPr>
        <p:spPr>
          <a:xfrm>
            <a:off x="742721" y="178308"/>
            <a:ext cx="28365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Langflow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p47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47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7" name="Google Shape;1247;p47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8" name="Google Shape;1248;p47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249" name="Google Shape;1249;p47"/>
          <p:cNvSpPr txBox="1"/>
          <p:nvPr/>
        </p:nvSpPr>
        <p:spPr>
          <a:xfrm>
            <a:off x="742721" y="178308"/>
            <a:ext cx="335767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Pipeline Stage 3: PCA Decision Logic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47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p47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2" name="Google Shape;1252;p47"/>
          <p:cNvSpPr/>
          <p:nvPr/>
        </p:nvSpPr>
        <p:spPr>
          <a:xfrm>
            <a:off x="0" y="628879"/>
            <a:ext cx="9143771" cy="432945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3" name="Google Shape;1253;p47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4" name="Google Shape;1254;p47"/>
          <p:cNvSpPr txBox="1"/>
          <p:nvPr/>
        </p:nvSpPr>
        <p:spPr>
          <a:xfrm>
            <a:off x="3651885" y="1357199"/>
            <a:ext cx="26129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5" name="Google Shape;1255;p47"/>
          <p:cNvSpPr txBox="1"/>
          <p:nvPr/>
        </p:nvSpPr>
        <p:spPr>
          <a:xfrm>
            <a:off x="6772961" y="1357199"/>
            <a:ext cx="13990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6" name="Google Shape;1256;p47"/>
          <p:cNvSpPr/>
          <p:nvPr/>
        </p:nvSpPr>
        <p:spPr>
          <a:xfrm>
            <a:off x="7068541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47"/>
          <p:cNvSpPr txBox="1"/>
          <p:nvPr/>
        </p:nvSpPr>
        <p:spPr>
          <a:xfrm>
            <a:off x="8809101" y="1357199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p47"/>
          <p:cNvSpPr/>
          <p:nvPr/>
        </p:nvSpPr>
        <p:spPr>
          <a:xfrm>
            <a:off x="9165032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47"/>
          <p:cNvSpPr/>
          <p:nvPr/>
        </p:nvSpPr>
        <p:spPr>
          <a:xfrm>
            <a:off x="0" y="4956277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0" name="Google Shape;1260;p47"/>
          <p:cNvSpPr/>
          <p:nvPr/>
        </p:nvSpPr>
        <p:spPr>
          <a:xfrm>
            <a:off x="0" y="4956277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1" name="Google Shape;1261;p47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Inspiration: MLE Star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2" name="Google Shape;1262;p4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263" name="Google Shape;1263;p4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4" name="Google Shape;1264;p4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5" name="Google Shape;1265;p4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59974" y="747560"/>
            <a:ext cx="5990824" cy="3952141"/>
          </a:xfrm>
          <a:prstGeom prst="rect">
            <a:avLst/>
          </a:prstGeom>
          <a:noFill/>
          <a:ln>
            <a:noFill/>
          </a:ln>
        </p:spPr>
      </p:pic>
      <p:sp>
        <p:nvSpPr>
          <p:cNvPr id="1266" name="Google Shape;1266;p47"/>
          <p:cNvSpPr txBox="1"/>
          <p:nvPr/>
        </p:nvSpPr>
        <p:spPr>
          <a:xfrm>
            <a:off x="2001416" y="4702628"/>
            <a:ext cx="515749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https://arxiv.org/abs/2506.15692</a:t>
            </a:r>
            <a:endParaRPr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48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48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p48"/>
          <p:cNvSpPr/>
          <p:nvPr/>
        </p:nvSpPr>
        <p:spPr>
          <a:xfrm>
            <a:off x="0" y="619354"/>
            <a:ext cx="9143700" cy="417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48"/>
          <p:cNvSpPr/>
          <p:nvPr/>
        </p:nvSpPr>
        <p:spPr>
          <a:xfrm>
            <a:off x="0" y="1671980"/>
            <a:ext cx="685800" cy="13716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" name="Google Shape;1276;p48"/>
          <p:cNvSpPr/>
          <p:nvPr/>
        </p:nvSpPr>
        <p:spPr>
          <a:xfrm>
            <a:off x="8229600" y="1929155"/>
            <a:ext cx="914171" cy="1829029"/>
          </a:xfrm>
          <a:prstGeom prst="roundRect">
            <a:avLst>
              <a:gd name="adj" fmla="val 75019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7" name="Google Shape;1277;p48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48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9" name="Google Shape;1279;p4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392" y="21465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280" name="Google Shape;1280;p48"/>
          <p:cNvSpPr txBox="1"/>
          <p:nvPr/>
        </p:nvSpPr>
        <p:spPr>
          <a:xfrm>
            <a:off x="742721" y="178308"/>
            <a:ext cx="2514829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Part 3: Multi-Agent System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48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48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48"/>
          <p:cNvSpPr/>
          <p:nvPr/>
        </p:nvSpPr>
        <p:spPr>
          <a:xfrm>
            <a:off x="4243730" y="1128827"/>
            <a:ext cx="656996" cy="571271"/>
          </a:xfrm>
          <a:prstGeom prst="roundRect">
            <a:avLst>
              <a:gd name="adj" fmla="val 120048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4" name="Google Shape;1284;p4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57574" y="1243355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5" name="Google Shape;1285;p48"/>
          <p:cNvSpPr txBox="1"/>
          <p:nvPr/>
        </p:nvSpPr>
        <p:spPr>
          <a:xfrm>
            <a:off x="2143125" y="1885950"/>
            <a:ext cx="51462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3400"/>
              <a:buFont typeface="Inter"/>
              <a:buNone/>
            </a:pPr>
            <a:r>
              <a:rPr lang="en" sz="3400" b="1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My Multi-Agent System</a:t>
            </a:r>
            <a:endParaRPr sz="3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48"/>
          <p:cNvSpPr/>
          <p:nvPr/>
        </p:nvSpPr>
        <p:spPr>
          <a:xfrm>
            <a:off x="4114800" y="2586152"/>
            <a:ext cx="914100" cy="570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48"/>
          <p:cNvSpPr txBox="1"/>
          <p:nvPr/>
        </p:nvSpPr>
        <p:spPr>
          <a:xfrm>
            <a:off x="1833143" y="2964713"/>
            <a:ext cx="5608472" cy="486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Full intelligent orchestration with 9 specialized agents and automated quality control loops.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8" name="Google Shape;1288;p48"/>
          <p:cNvSpPr/>
          <p:nvPr/>
        </p:nvSpPr>
        <p:spPr>
          <a:xfrm>
            <a:off x="1891436" y="3943350"/>
            <a:ext cx="1700099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9" name="Google Shape;1289;p4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69744" y="405033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290" name="Google Shape;1290;p48"/>
          <p:cNvSpPr/>
          <p:nvPr/>
        </p:nvSpPr>
        <p:spPr>
          <a:xfrm>
            <a:off x="3816477" y="3943350"/>
            <a:ext cx="1685696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48"/>
          <p:cNvSpPr txBox="1"/>
          <p:nvPr/>
        </p:nvSpPr>
        <p:spPr>
          <a:xfrm>
            <a:off x="2334464" y="4050335"/>
            <a:ext cx="1164488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Specialized Experts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92" name="Google Shape;1292;p4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995471" y="405033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293" name="Google Shape;1293;p48"/>
          <p:cNvSpPr/>
          <p:nvPr/>
        </p:nvSpPr>
        <p:spPr>
          <a:xfrm>
            <a:off x="5730544" y="3943350"/>
            <a:ext cx="1528649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4" name="Google Shape;1294;p48"/>
          <p:cNvSpPr txBox="1"/>
          <p:nvPr/>
        </p:nvSpPr>
        <p:spPr>
          <a:xfrm>
            <a:off x="4223843" y="4050335"/>
            <a:ext cx="1186434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Iterative Refinement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95" name="Google Shape;1295;p48" descr="preencoded.png"/>
          <p:cNvPicPr preferRelativeResize="0"/>
          <p:nvPr/>
        </p:nvPicPr>
        <p:blipFill rotWithShape="1">
          <a:blip r:embed="rId7">
            <a:alphaModFix/>
          </a:blip>
          <a:srcRect l="-1648" r="-1647"/>
          <a:stretch/>
        </p:blipFill>
        <p:spPr>
          <a:xfrm>
            <a:off x="5909539" y="4050335"/>
            <a:ext cx="128930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296" name="Google Shape;1296;p48"/>
          <p:cNvSpPr txBox="1"/>
          <p:nvPr/>
        </p:nvSpPr>
        <p:spPr>
          <a:xfrm>
            <a:off x="6123508" y="4050335"/>
            <a:ext cx="1043102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Robust Validation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48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48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48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48"/>
          <p:cNvSpPr txBox="1"/>
          <p:nvPr/>
        </p:nvSpPr>
        <p:spPr>
          <a:xfrm>
            <a:off x="8472374" y="4918558"/>
            <a:ext cx="3929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26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1" name="Google Shape;1301;p48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302" name="Google Shape;1302;p48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3" name="Google Shape;1303;p48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304" name="Google Shape;1304;p48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Google Shape;1310;p49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p49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49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3" name="Google Shape;1313;p49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314" name="Google Shape;1314;p49"/>
          <p:cNvSpPr txBox="1"/>
          <p:nvPr/>
        </p:nvSpPr>
        <p:spPr>
          <a:xfrm>
            <a:off x="742721" y="178308"/>
            <a:ext cx="335767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Pipeline Stage 3: PCA Decision Logic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49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p49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49"/>
          <p:cNvSpPr/>
          <p:nvPr/>
        </p:nvSpPr>
        <p:spPr>
          <a:xfrm>
            <a:off x="0" y="628879"/>
            <a:ext cx="9143771" cy="432945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49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p49"/>
          <p:cNvSpPr txBox="1"/>
          <p:nvPr/>
        </p:nvSpPr>
        <p:spPr>
          <a:xfrm>
            <a:off x="3651885" y="1357199"/>
            <a:ext cx="26129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49"/>
          <p:cNvSpPr txBox="1"/>
          <p:nvPr/>
        </p:nvSpPr>
        <p:spPr>
          <a:xfrm>
            <a:off x="6772961" y="1357199"/>
            <a:ext cx="13990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49"/>
          <p:cNvSpPr/>
          <p:nvPr/>
        </p:nvSpPr>
        <p:spPr>
          <a:xfrm>
            <a:off x="7068541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2" name="Google Shape;1322;p49"/>
          <p:cNvSpPr txBox="1"/>
          <p:nvPr/>
        </p:nvSpPr>
        <p:spPr>
          <a:xfrm>
            <a:off x="8809101" y="1357199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49"/>
          <p:cNvSpPr/>
          <p:nvPr/>
        </p:nvSpPr>
        <p:spPr>
          <a:xfrm>
            <a:off x="9165032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4" name="Google Shape;1324;p49"/>
          <p:cNvSpPr/>
          <p:nvPr/>
        </p:nvSpPr>
        <p:spPr>
          <a:xfrm>
            <a:off x="0" y="4956277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5" name="Google Shape;1325;p49"/>
          <p:cNvSpPr/>
          <p:nvPr/>
        </p:nvSpPr>
        <p:spPr>
          <a:xfrm>
            <a:off x="0" y="4956277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p49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Architecture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7" name="Google Shape;1327;p4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328" name="Google Shape;1328;p49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49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0" name="Google Shape;1330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65818" y="668773"/>
            <a:ext cx="5562768" cy="42895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Google Shape;1336;p50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7" name="Google Shape;1337;p50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50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9" name="Google Shape;1339;p50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340" name="Google Shape;1340;p50"/>
          <p:cNvSpPr txBox="1"/>
          <p:nvPr/>
        </p:nvSpPr>
        <p:spPr>
          <a:xfrm>
            <a:off x="742721" y="178308"/>
            <a:ext cx="335767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Pipeline Stage 3: PCA Decision Logic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1" name="Google Shape;1341;p50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2" name="Google Shape;1342;p50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3" name="Google Shape;1343;p50"/>
          <p:cNvSpPr/>
          <p:nvPr/>
        </p:nvSpPr>
        <p:spPr>
          <a:xfrm>
            <a:off x="0" y="628879"/>
            <a:ext cx="9143771" cy="432945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50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5" name="Google Shape;1345;p50"/>
          <p:cNvSpPr txBox="1"/>
          <p:nvPr/>
        </p:nvSpPr>
        <p:spPr>
          <a:xfrm>
            <a:off x="3651885" y="1357199"/>
            <a:ext cx="26129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6" name="Google Shape;1346;p50"/>
          <p:cNvSpPr txBox="1"/>
          <p:nvPr/>
        </p:nvSpPr>
        <p:spPr>
          <a:xfrm>
            <a:off x="6772961" y="1357199"/>
            <a:ext cx="13990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50"/>
          <p:cNvSpPr/>
          <p:nvPr/>
        </p:nvSpPr>
        <p:spPr>
          <a:xfrm>
            <a:off x="7068541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8" name="Google Shape;1348;p50"/>
          <p:cNvSpPr txBox="1"/>
          <p:nvPr/>
        </p:nvSpPr>
        <p:spPr>
          <a:xfrm>
            <a:off x="8809101" y="1357199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50"/>
          <p:cNvSpPr/>
          <p:nvPr/>
        </p:nvSpPr>
        <p:spPr>
          <a:xfrm>
            <a:off x="9165032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0" name="Google Shape;1350;p50"/>
          <p:cNvSpPr/>
          <p:nvPr/>
        </p:nvSpPr>
        <p:spPr>
          <a:xfrm>
            <a:off x="0" y="4956277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1" name="Google Shape;1351;p50"/>
          <p:cNvSpPr/>
          <p:nvPr/>
        </p:nvSpPr>
        <p:spPr>
          <a:xfrm>
            <a:off x="0" y="4956277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2" name="Google Shape;1352;p50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Agent Profiles: Specialists(1/2)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3" name="Google Shape;1353;p5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354" name="Google Shape;1354;p50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5" name="Google Shape;1355;p50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6" name="Google Shape;1356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0198" y="896306"/>
            <a:ext cx="8223604" cy="33508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p51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3" name="Google Shape;1363;p51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51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65" name="Google Shape;1365;p51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366" name="Google Shape;1366;p51"/>
          <p:cNvSpPr txBox="1"/>
          <p:nvPr/>
        </p:nvSpPr>
        <p:spPr>
          <a:xfrm>
            <a:off x="742721" y="178308"/>
            <a:ext cx="335767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Pipeline Stage 3: PCA Decision Logic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7" name="Google Shape;1367;p51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p51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9" name="Google Shape;1369;p51"/>
          <p:cNvSpPr/>
          <p:nvPr/>
        </p:nvSpPr>
        <p:spPr>
          <a:xfrm>
            <a:off x="0" y="628879"/>
            <a:ext cx="9143771" cy="432945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0" name="Google Shape;1370;p51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1" name="Google Shape;1371;p51"/>
          <p:cNvSpPr txBox="1"/>
          <p:nvPr/>
        </p:nvSpPr>
        <p:spPr>
          <a:xfrm>
            <a:off x="3651885" y="1357199"/>
            <a:ext cx="26129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2" name="Google Shape;1372;p51"/>
          <p:cNvSpPr txBox="1"/>
          <p:nvPr/>
        </p:nvSpPr>
        <p:spPr>
          <a:xfrm>
            <a:off x="6772961" y="1357199"/>
            <a:ext cx="13990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3" name="Google Shape;1373;p51"/>
          <p:cNvSpPr/>
          <p:nvPr/>
        </p:nvSpPr>
        <p:spPr>
          <a:xfrm>
            <a:off x="7068541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4" name="Google Shape;1374;p51"/>
          <p:cNvSpPr txBox="1"/>
          <p:nvPr/>
        </p:nvSpPr>
        <p:spPr>
          <a:xfrm>
            <a:off x="8809101" y="1357199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" name="Google Shape;1375;p51"/>
          <p:cNvSpPr/>
          <p:nvPr/>
        </p:nvSpPr>
        <p:spPr>
          <a:xfrm>
            <a:off x="9165032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p51"/>
          <p:cNvSpPr/>
          <p:nvPr/>
        </p:nvSpPr>
        <p:spPr>
          <a:xfrm>
            <a:off x="0" y="4956277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7" name="Google Shape;1377;p51"/>
          <p:cNvSpPr/>
          <p:nvPr/>
        </p:nvSpPr>
        <p:spPr>
          <a:xfrm>
            <a:off x="0" y="4956277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8" name="Google Shape;1378;p51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Agent Profiles: Specialists(2/2)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9" name="Google Shape;1379;p5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380" name="Google Shape;1380;p51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1" name="Google Shape;1381;p51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82" name="Google Shape;1382;p5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0198" y="706971"/>
            <a:ext cx="8223604" cy="3729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p52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9" name="Google Shape;1389;p52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p52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1" name="Google Shape;1391;p52"/>
          <p:cNvSpPr/>
          <p:nvPr/>
        </p:nvSpPr>
        <p:spPr>
          <a:xfrm>
            <a:off x="342900" y="971779"/>
            <a:ext cx="3529126" cy="2379041"/>
          </a:xfrm>
          <a:prstGeom prst="roundRect">
            <a:avLst>
              <a:gd name="adj" fmla="val 1039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2" name="Google Shape;1392;p52"/>
          <p:cNvSpPr/>
          <p:nvPr/>
        </p:nvSpPr>
        <p:spPr>
          <a:xfrm>
            <a:off x="349758" y="978637"/>
            <a:ext cx="3514725" cy="435483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3" name="Google Shape;1393;p52"/>
          <p:cNvSpPr/>
          <p:nvPr/>
        </p:nvSpPr>
        <p:spPr>
          <a:xfrm>
            <a:off x="349758" y="1407262"/>
            <a:ext cx="3514725" cy="685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4" name="Google Shape;1394;p52" descr="preencoded.png"/>
          <p:cNvPicPr preferRelativeResize="0"/>
          <p:nvPr/>
        </p:nvPicPr>
        <p:blipFill rotWithShape="1">
          <a:blip r:embed="rId3">
            <a:alphaModFix/>
          </a:blip>
          <a:srcRect t="-841" b="-840"/>
          <a:stretch/>
        </p:blipFill>
        <p:spPr>
          <a:xfrm>
            <a:off x="521208" y="1128827"/>
            <a:ext cx="142646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1395" name="Google Shape;1395;p52"/>
          <p:cNvSpPr txBox="1"/>
          <p:nvPr/>
        </p:nvSpPr>
        <p:spPr>
          <a:xfrm>
            <a:off x="721462" y="1093166"/>
            <a:ext cx="1575283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8A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System Prompt Excerpt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6" name="Google Shape;1396;p52"/>
          <p:cNvSpPr/>
          <p:nvPr/>
        </p:nvSpPr>
        <p:spPr>
          <a:xfrm>
            <a:off x="3091586" y="1107567"/>
            <a:ext cx="600075" cy="171450"/>
          </a:xfrm>
          <a:prstGeom prst="roundRect">
            <a:avLst>
              <a:gd name="adj" fmla="val 66667"/>
            </a:avLst>
          </a:prstGeom>
          <a:solidFill>
            <a:srgbClr val="BFDB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52"/>
          <p:cNvSpPr txBox="1"/>
          <p:nvPr/>
        </p:nvSpPr>
        <p:spPr>
          <a:xfrm>
            <a:off x="3149194" y="1135685"/>
            <a:ext cx="55069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GPT-4-mini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8" name="Google Shape;1398;p52"/>
          <p:cNvSpPr/>
          <p:nvPr/>
        </p:nvSpPr>
        <p:spPr>
          <a:xfrm>
            <a:off x="521208" y="1586255"/>
            <a:ext cx="3171825" cy="1586255"/>
          </a:xfrm>
          <a:prstGeom prst="roundRect">
            <a:avLst>
              <a:gd name="adj" fmla="val 1558"/>
            </a:avLst>
          </a:prstGeom>
          <a:solidFill>
            <a:srgbClr val="111827"/>
          </a:solidFill>
          <a:ln w="12700" cap="flat" cmpd="sng">
            <a:solidFill>
              <a:srgbClr val="374151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27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9" name="Google Shape;1399;p52"/>
          <p:cNvSpPr txBox="1"/>
          <p:nvPr/>
        </p:nvSpPr>
        <p:spPr>
          <a:xfrm>
            <a:off x="643280" y="1728902"/>
            <a:ext cx="2482596" cy="279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800"/>
              <a:buFont typeface="Arial"/>
              <a:buNone/>
            </a:pPr>
            <a:r>
              <a:rPr lang="en" sz="800">
                <a:solidFill>
                  <a:srgbClr val="D1D5DB"/>
                </a:solidFill>
                <a:latin typeface="Arial"/>
                <a:ea typeface="Arial"/>
                <a:cs typeface="Arial"/>
                <a:sym typeface="Arial"/>
              </a:rPr>
              <a:t>As an expert in data analysis, formulate hypotheses based on the provided data.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0" name="Google Shape;1400;p52"/>
          <p:cNvSpPr txBox="1"/>
          <p:nvPr/>
        </p:nvSpPr>
        <p:spPr>
          <a:xfrm>
            <a:off x="643280" y="2110892"/>
            <a:ext cx="982751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800"/>
              <a:buFont typeface="Arial"/>
              <a:buNone/>
            </a:pPr>
            <a:r>
              <a:rPr lang="en" sz="800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# Requirements: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1" name="Google Shape;1401;p52"/>
          <p:cNvSpPr txBox="1"/>
          <p:nvPr/>
        </p:nvSpPr>
        <p:spPr>
          <a:xfrm>
            <a:off x="700202" y="2330348"/>
            <a:ext cx="254020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800"/>
              <a:buFont typeface="Arial"/>
              <a:buNone/>
            </a:pPr>
            <a:r>
              <a:rPr lang="en" sz="800">
                <a:solidFill>
                  <a:srgbClr val="D1D5DB"/>
                </a:solidFill>
                <a:latin typeface="Arial"/>
                <a:ea typeface="Arial"/>
                <a:cs typeface="Arial"/>
                <a:sym typeface="Arial"/>
              </a:rPr>
              <a:t>1. Formulate precise, testable hypotheses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2" name="Google Shape;1402;p52"/>
          <p:cNvSpPr txBox="1"/>
          <p:nvPr/>
        </p:nvSpPr>
        <p:spPr>
          <a:xfrm>
            <a:off x="700202" y="2521687"/>
            <a:ext cx="2182901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800"/>
              <a:buFont typeface="Arial"/>
              <a:buNone/>
            </a:pPr>
            <a:r>
              <a:rPr lang="en" sz="800">
                <a:solidFill>
                  <a:srgbClr val="D1D5DB"/>
                </a:solidFill>
                <a:latin typeface="Arial"/>
                <a:ea typeface="Arial"/>
                <a:cs typeface="Arial"/>
                <a:sym typeface="Arial"/>
              </a:rPr>
              <a:t>2. Outline steps to test hypotheses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3" name="Google Shape;1403;p52"/>
          <p:cNvSpPr txBox="1"/>
          <p:nvPr/>
        </p:nvSpPr>
        <p:spPr>
          <a:xfrm>
            <a:off x="700201" y="2713025"/>
            <a:ext cx="2239823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800"/>
              <a:buFont typeface="Arial"/>
              <a:buNone/>
            </a:pPr>
            <a:r>
              <a:rPr lang="en" sz="800">
                <a:solidFill>
                  <a:srgbClr val="D1D5DB"/>
                </a:solidFill>
                <a:latin typeface="Arial"/>
                <a:ea typeface="Arial"/>
                <a:cs typeface="Arial"/>
                <a:sym typeface="Arial"/>
              </a:rPr>
              <a:t>3. Verify feasibility via literature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52"/>
          <p:cNvSpPr txBox="1"/>
          <p:nvPr/>
        </p:nvSpPr>
        <p:spPr>
          <a:xfrm>
            <a:off x="700202" y="2903677"/>
            <a:ext cx="199705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800"/>
              <a:buFont typeface="Arial"/>
              <a:buNone/>
            </a:pPr>
            <a:r>
              <a:rPr lang="en" sz="800">
                <a:solidFill>
                  <a:srgbClr val="D1D5DB"/>
                </a:solidFill>
                <a:latin typeface="Arial"/>
                <a:ea typeface="Arial"/>
                <a:cs typeface="Arial"/>
                <a:sym typeface="Arial"/>
              </a:rPr>
              <a:t>4. Provide supporting references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5" name="Google Shape;1405;p52"/>
          <p:cNvSpPr/>
          <p:nvPr/>
        </p:nvSpPr>
        <p:spPr>
          <a:xfrm>
            <a:off x="342900" y="3573704"/>
            <a:ext cx="3529126" cy="886054"/>
          </a:xfrm>
          <a:prstGeom prst="roundRect">
            <a:avLst>
              <a:gd name="adj" fmla="val 7490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6" name="Google Shape;1406;p52"/>
          <p:cNvSpPr/>
          <p:nvPr/>
        </p:nvSpPr>
        <p:spPr>
          <a:xfrm>
            <a:off x="349758" y="3580562"/>
            <a:ext cx="3514725" cy="435483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52"/>
          <p:cNvSpPr/>
          <p:nvPr/>
        </p:nvSpPr>
        <p:spPr>
          <a:xfrm>
            <a:off x="349758" y="4009187"/>
            <a:ext cx="3514725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8" name="Google Shape;1408;p5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1208" y="3730752"/>
            <a:ext cx="128930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1409" name="Google Shape;1409;p52"/>
          <p:cNvSpPr txBox="1"/>
          <p:nvPr/>
        </p:nvSpPr>
        <p:spPr>
          <a:xfrm>
            <a:off x="707059" y="3695090"/>
            <a:ext cx="1182320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Knowledge Tools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52"/>
          <p:cNvSpPr/>
          <p:nvPr/>
        </p:nvSpPr>
        <p:spPr>
          <a:xfrm>
            <a:off x="349758" y="4005071"/>
            <a:ext cx="3171825" cy="471830"/>
          </a:xfrm>
          <a:prstGeom prst="roundRect">
            <a:avLst>
              <a:gd name="adj" fmla="val 1761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52"/>
          <p:cNvSpPr txBox="1"/>
          <p:nvPr/>
        </p:nvSpPr>
        <p:spPr>
          <a:xfrm>
            <a:off x="521208" y="4157662"/>
            <a:ext cx="1775536" cy="199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Wikipedia API, Google, Arxiv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2" name="Google Shape;1412;p52"/>
          <p:cNvSpPr/>
          <p:nvPr/>
        </p:nvSpPr>
        <p:spPr>
          <a:xfrm>
            <a:off x="614477" y="4866437"/>
            <a:ext cx="285979" cy="285979"/>
          </a:xfrm>
          <a:prstGeom prst="roundRect">
            <a:avLst>
              <a:gd name="adj" fmla="val 239808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13" name="Google Shape;1413;p5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7970" y="4938446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414" name="Google Shape;1414;p52"/>
          <p:cNvSpPr txBox="1"/>
          <p:nvPr/>
        </p:nvSpPr>
        <p:spPr>
          <a:xfrm>
            <a:off x="1014299" y="4880839"/>
            <a:ext cx="807872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arXiv Search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5" name="Google Shape;1415;p52"/>
          <p:cNvSpPr txBox="1"/>
          <p:nvPr/>
        </p:nvSpPr>
        <p:spPr>
          <a:xfrm>
            <a:off x="1014299" y="5037887"/>
            <a:ext cx="110756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Academic papers &amp; SOTA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52"/>
          <p:cNvSpPr/>
          <p:nvPr/>
        </p:nvSpPr>
        <p:spPr>
          <a:xfrm>
            <a:off x="4153205" y="971779"/>
            <a:ext cx="4650409" cy="3793846"/>
          </a:xfrm>
          <a:prstGeom prst="roundRect">
            <a:avLst>
              <a:gd name="adj" fmla="val 484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7" name="Google Shape;1417;p52"/>
          <p:cNvSpPr/>
          <p:nvPr/>
        </p:nvSpPr>
        <p:spPr>
          <a:xfrm>
            <a:off x="4160063" y="978637"/>
            <a:ext cx="4636008" cy="435483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8" name="Google Shape;1418;p52"/>
          <p:cNvSpPr/>
          <p:nvPr/>
        </p:nvSpPr>
        <p:spPr>
          <a:xfrm>
            <a:off x="4160063" y="1407262"/>
            <a:ext cx="4636008" cy="685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19" name="Google Shape;1419;p5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31513" y="1121283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420" name="Google Shape;1420;p52"/>
          <p:cNvSpPr txBox="1"/>
          <p:nvPr/>
        </p:nvSpPr>
        <p:spPr>
          <a:xfrm>
            <a:off x="4595546" y="1093166"/>
            <a:ext cx="1678838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4E3B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rPr>
              <a:t>Agent Output Example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1" name="Google Shape;1421;p52"/>
          <p:cNvSpPr/>
          <p:nvPr/>
        </p:nvSpPr>
        <p:spPr>
          <a:xfrm>
            <a:off x="7484135" y="1107567"/>
            <a:ext cx="1143229" cy="171450"/>
          </a:xfrm>
          <a:prstGeom prst="roundRect">
            <a:avLst>
              <a:gd name="adj" fmla="val 400000"/>
            </a:avLst>
          </a:prstGeom>
          <a:solidFill>
            <a:srgbClr val="A7F3D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2" name="Google Shape;1422;p52"/>
          <p:cNvSpPr txBox="1"/>
          <p:nvPr/>
        </p:nvSpPr>
        <p:spPr>
          <a:xfrm>
            <a:off x="7569860" y="1135685"/>
            <a:ext cx="10362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Housing Price Analysis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3" name="Google Shape;1423;p52"/>
          <p:cNvSpPr/>
          <p:nvPr/>
        </p:nvSpPr>
        <p:spPr>
          <a:xfrm>
            <a:off x="4388435" y="1643177"/>
            <a:ext cx="28804" cy="81473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52"/>
          <p:cNvSpPr txBox="1"/>
          <p:nvPr/>
        </p:nvSpPr>
        <p:spPr>
          <a:xfrm>
            <a:off x="4588688" y="1664437"/>
            <a:ext cx="1625346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🔬 Research Hypothesis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5" name="Google Shape;1425;p52"/>
          <p:cNvSpPr txBox="1"/>
          <p:nvPr/>
        </p:nvSpPr>
        <p:spPr>
          <a:xfrm>
            <a:off x="4588688" y="1921612"/>
            <a:ext cx="3929634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"Housing prices can be predicted with &gt;85% accuracy using ensemble methods. Key predictive features include location (neighborhood), property size (GrLivArea), and age (YearBuilt)."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6" name="Google Shape;1426;p52" descr="preencoded.png"/>
          <p:cNvPicPr preferRelativeResize="0"/>
          <p:nvPr/>
        </p:nvPicPr>
        <p:blipFill rotWithShape="1">
          <a:blip r:embed="rId7">
            <a:alphaModFix/>
          </a:blip>
          <a:srcRect l="-1773" r="-1773"/>
          <a:stretch/>
        </p:blipFill>
        <p:spPr>
          <a:xfrm>
            <a:off x="4388435" y="2664333"/>
            <a:ext cx="100126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1427" name="Google Shape;1427;p52"/>
          <p:cNvSpPr txBox="1"/>
          <p:nvPr/>
        </p:nvSpPr>
        <p:spPr>
          <a:xfrm>
            <a:off x="4545482" y="2628671"/>
            <a:ext cx="1346911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Proposed Approach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52"/>
          <p:cNvSpPr/>
          <p:nvPr/>
        </p:nvSpPr>
        <p:spPr>
          <a:xfrm>
            <a:off x="4388435" y="2914650"/>
            <a:ext cx="4179266" cy="457429"/>
          </a:xfrm>
          <a:prstGeom prst="roundRect">
            <a:avLst>
              <a:gd name="adj" fmla="val 18741"/>
            </a:avLst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9" name="Google Shape;1429;p52"/>
          <p:cNvSpPr/>
          <p:nvPr/>
        </p:nvSpPr>
        <p:spPr>
          <a:xfrm>
            <a:off x="4388435" y="3457804"/>
            <a:ext cx="4179266" cy="342900"/>
          </a:xfrm>
          <a:prstGeom prst="roundRect">
            <a:avLst>
              <a:gd name="adj" fmla="val 33333"/>
            </a:avLst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0" name="Google Shape;1430;p52"/>
          <p:cNvSpPr/>
          <p:nvPr/>
        </p:nvSpPr>
        <p:spPr>
          <a:xfrm>
            <a:off x="4388435" y="3886429"/>
            <a:ext cx="4179266" cy="342900"/>
          </a:xfrm>
          <a:prstGeom prst="roundRect">
            <a:avLst>
              <a:gd name="adj" fmla="val 33333"/>
            </a:avLst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1" name="Google Shape;1431;p52"/>
          <p:cNvSpPr/>
          <p:nvPr/>
        </p:nvSpPr>
        <p:spPr>
          <a:xfrm>
            <a:off x="4388435" y="4315054"/>
            <a:ext cx="4179266" cy="342900"/>
          </a:xfrm>
          <a:prstGeom prst="roundRect">
            <a:avLst>
              <a:gd name="adj" fmla="val 33333"/>
            </a:avLst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p52"/>
          <p:cNvSpPr/>
          <p:nvPr/>
        </p:nvSpPr>
        <p:spPr>
          <a:xfrm>
            <a:off x="4474160" y="3000375"/>
            <a:ext cx="171450" cy="171450"/>
          </a:xfrm>
          <a:prstGeom prst="roundRect">
            <a:avLst>
              <a:gd name="adj" fmla="val 400000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52"/>
          <p:cNvSpPr/>
          <p:nvPr/>
        </p:nvSpPr>
        <p:spPr>
          <a:xfrm>
            <a:off x="4474160" y="3543529"/>
            <a:ext cx="171450" cy="171450"/>
          </a:xfrm>
          <a:prstGeom prst="roundRect">
            <a:avLst>
              <a:gd name="adj" fmla="val 400000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4" name="Google Shape;1434;p52"/>
          <p:cNvSpPr/>
          <p:nvPr/>
        </p:nvSpPr>
        <p:spPr>
          <a:xfrm>
            <a:off x="4474160" y="3972154"/>
            <a:ext cx="171450" cy="171450"/>
          </a:xfrm>
          <a:prstGeom prst="roundRect">
            <a:avLst>
              <a:gd name="adj" fmla="val 400000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p52"/>
          <p:cNvSpPr/>
          <p:nvPr/>
        </p:nvSpPr>
        <p:spPr>
          <a:xfrm>
            <a:off x="4474160" y="4400779"/>
            <a:ext cx="171450" cy="171450"/>
          </a:xfrm>
          <a:prstGeom prst="roundRect">
            <a:avLst>
              <a:gd name="adj" fmla="val 400000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p52"/>
          <p:cNvSpPr txBox="1"/>
          <p:nvPr/>
        </p:nvSpPr>
        <p:spPr>
          <a:xfrm>
            <a:off x="4541368" y="3029179"/>
            <a:ext cx="107671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7" name="Google Shape;1437;p52"/>
          <p:cNvSpPr txBox="1"/>
          <p:nvPr/>
        </p:nvSpPr>
        <p:spPr>
          <a:xfrm>
            <a:off x="4533138" y="3571646"/>
            <a:ext cx="12207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8" name="Google Shape;1438;p52"/>
          <p:cNvSpPr txBox="1"/>
          <p:nvPr/>
        </p:nvSpPr>
        <p:spPr>
          <a:xfrm>
            <a:off x="4532452" y="4000271"/>
            <a:ext cx="12207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9" name="Google Shape;1439;p52"/>
          <p:cNvSpPr txBox="1"/>
          <p:nvPr/>
        </p:nvSpPr>
        <p:spPr>
          <a:xfrm>
            <a:off x="4531081" y="4428896"/>
            <a:ext cx="12893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0" name="Google Shape;1440;p52"/>
          <p:cNvSpPr txBox="1"/>
          <p:nvPr/>
        </p:nvSpPr>
        <p:spPr>
          <a:xfrm>
            <a:off x="4731335" y="3007233"/>
            <a:ext cx="3597021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Feature Engineering: Transform location data and interaction terms (Size × Quality)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1" name="Google Shape;1441;p52"/>
          <p:cNvSpPr txBox="1"/>
          <p:nvPr/>
        </p:nvSpPr>
        <p:spPr>
          <a:xfrm>
            <a:off x="4731335" y="3550387"/>
            <a:ext cx="3496895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Preprocessing: Handle missing values in 'LotFrontage' and 'GarageYrBlt'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2" name="Google Shape;1442;p52"/>
          <p:cNvSpPr txBox="1"/>
          <p:nvPr/>
        </p:nvSpPr>
        <p:spPr>
          <a:xfrm>
            <a:off x="4731335" y="3979012"/>
            <a:ext cx="359016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Model Selection: Compare RandomForest, XGBoost, and GradientBoosting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3" name="Google Shape;1443;p52"/>
          <p:cNvSpPr txBox="1"/>
          <p:nvPr/>
        </p:nvSpPr>
        <p:spPr>
          <a:xfrm>
            <a:off x="4731335" y="4407637"/>
            <a:ext cx="270410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Validation: 5-fold Cross-Validation to prevent overfitting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44" name="Google Shape;1444;p52" descr="preencoded.png"/>
          <p:cNvPicPr preferRelativeResize="0"/>
          <p:nvPr/>
        </p:nvPicPr>
        <p:blipFill rotWithShape="1">
          <a:blip r:embed="rId8">
            <a:alphaModFix/>
          </a:blip>
          <a:srcRect t="-1100" b="-1100"/>
          <a:stretch/>
        </p:blipFill>
        <p:spPr>
          <a:xfrm>
            <a:off x="4509821" y="4972050"/>
            <a:ext cx="85725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445" name="Google Shape;1445;p52"/>
          <p:cNvSpPr txBox="1"/>
          <p:nvPr/>
        </p:nvSpPr>
        <p:spPr>
          <a:xfrm>
            <a:off x="4653153" y="4950791"/>
            <a:ext cx="1146658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Academic References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6" name="Google Shape;1446;p52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7" name="Google Shape;1447;p52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8" name="Google Shape;1448;p52"/>
          <p:cNvSpPr txBox="1"/>
          <p:nvPr/>
        </p:nvSpPr>
        <p:spPr>
          <a:xfrm>
            <a:off x="342900" y="4918558"/>
            <a:ext cx="138600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Multi-Agent System Architecture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9" name="Google Shape;1449;p52"/>
          <p:cNvSpPr txBox="1"/>
          <p:nvPr/>
        </p:nvSpPr>
        <p:spPr>
          <a:xfrm>
            <a:off x="8472374" y="4918558"/>
            <a:ext cx="3929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29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0" name="Google Shape;1450;p52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1" name="Google Shape;1451;p52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2" name="Google Shape;1452;p5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32054" y="21465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453" name="Google Shape;1453;p52"/>
          <p:cNvSpPr txBox="1"/>
          <p:nvPr/>
        </p:nvSpPr>
        <p:spPr>
          <a:xfrm>
            <a:off x="742721" y="178308"/>
            <a:ext cx="1700784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Hypothesis Agent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4" name="Google Shape;1454;p52"/>
          <p:cNvSpPr txBox="1"/>
          <p:nvPr/>
        </p:nvSpPr>
        <p:spPr>
          <a:xfrm>
            <a:off x="7343546" y="221513"/>
            <a:ext cx="153276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Research Question Generation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5" name="Google Shape;1455;p52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456" name="Google Shape;1456;p52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7" name="Google Shape;1457;p52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458" name="Google Shape;1458;p52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Google Shape;1464;p53"/>
          <p:cNvSpPr/>
          <p:nvPr/>
        </p:nvSpPr>
        <p:spPr>
          <a:xfrm>
            <a:off x="0" y="0"/>
            <a:ext cx="9143771" cy="812947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5" name="Google Shape;1465;p53"/>
          <p:cNvSpPr/>
          <p:nvPr/>
        </p:nvSpPr>
        <p:spPr>
          <a:xfrm>
            <a:off x="0" y="0"/>
            <a:ext cx="9143771" cy="81294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6" name="Google Shape;1466;p53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7" name="Google Shape;1467;p53" descr="preencoded.png"/>
          <p:cNvPicPr preferRelativeResize="0"/>
          <p:nvPr/>
        </p:nvPicPr>
        <p:blipFill rotWithShape="1">
          <a:blip r:embed="rId3">
            <a:alphaModFix/>
          </a:blip>
          <a:srcRect l="-1648" r="-1647"/>
          <a:stretch/>
        </p:blipFill>
        <p:spPr>
          <a:xfrm>
            <a:off x="421767" y="214655"/>
            <a:ext cx="128930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468" name="Google Shape;1468;p53"/>
          <p:cNvSpPr txBox="1"/>
          <p:nvPr/>
        </p:nvSpPr>
        <p:spPr>
          <a:xfrm>
            <a:off x="742721" y="178308"/>
            <a:ext cx="2929051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Process Agent - The Supervisor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9" name="Google Shape;1469;p53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0" name="Google Shape;1470;p53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1" name="Google Shape;1471;p53" descr="preencoded.png"/>
          <p:cNvPicPr preferRelativeResize="0"/>
          <p:nvPr/>
        </p:nvPicPr>
        <p:blipFill rotWithShape="1">
          <a:blip r:embed="rId4">
            <a:alphaModFix/>
          </a:blip>
          <a:srcRect t="-841" b="-840"/>
          <a:stretch/>
        </p:blipFill>
        <p:spPr>
          <a:xfrm>
            <a:off x="228371" y="887426"/>
            <a:ext cx="142646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1472" name="Google Shape;1472;p53"/>
          <p:cNvSpPr txBox="1"/>
          <p:nvPr/>
        </p:nvSpPr>
        <p:spPr>
          <a:xfrm>
            <a:off x="428625" y="878509"/>
            <a:ext cx="1975790" cy="15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Orchestration &amp; Routing Logic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3" name="Google Shape;1473;p53"/>
          <p:cNvSpPr/>
          <p:nvPr/>
        </p:nvSpPr>
        <p:spPr>
          <a:xfrm>
            <a:off x="4854779" y="864108"/>
            <a:ext cx="942975" cy="185851"/>
          </a:xfrm>
          <a:prstGeom prst="roundRect">
            <a:avLst>
              <a:gd name="adj" fmla="val 56770"/>
            </a:avLst>
          </a:prstGeom>
          <a:solidFill>
            <a:srgbClr val="F3F4F6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4" name="Google Shape;1474;p53"/>
          <p:cNvSpPr txBox="1"/>
          <p:nvPr/>
        </p:nvSpPr>
        <p:spPr>
          <a:xfrm>
            <a:off x="4918558" y="900455"/>
            <a:ext cx="87919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Workflow Flowchart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5" name="Google Shape;1475;p53"/>
          <p:cNvSpPr/>
          <p:nvPr/>
        </p:nvSpPr>
        <p:spPr>
          <a:xfrm>
            <a:off x="228371" y="1143229"/>
            <a:ext cx="5565267" cy="6414973"/>
          </a:xfrm>
          <a:prstGeom prst="roundRect">
            <a:avLst>
              <a:gd name="adj" fmla="val 190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25400" dir="27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6" name="Google Shape;1476;p53"/>
          <p:cNvSpPr/>
          <p:nvPr/>
        </p:nvSpPr>
        <p:spPr>
          <a:xfrm>
            <a:off x="6022009" y="715541"/>
            <a:ext cx="2900249" cy="2200046"/>
          </a:xfrm>
          <a:prstGeom prst="roundRect">
            <a:avLst>
              <a:gd name="adj" fmla="val 1214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7" name="Google Shape;1477;p53"/>
          <p:cNvSpPr/>
          <p:nvPr/>
        </p:nvSpPr>
        <p:spPr>
          <a:xfrm>
            <a:off x="6170143" y="1236497"/>
            <a:ext cx="2600554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8" name="Google Shape;1478;p5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72200" y="893849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479" name="Google Shape;1479;p53"/>
          <p:cNvSpPr txBox="1"/>
          <p:nvPr/>
        </p:nvSpPr>
        <p:spPr>
          <a:xfrm>
            <a:off x="6343650" y="880133"/>
            <a:ext cx="971779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Supervisor Role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0" name="Google Shape;1480;p53"/>
          <p:cNvSpPr txBox="1"/>
          <p:nvPr/>
        </p:nvSpPr>
        <p:spPr>
          <a:xfrm>
            <a:off x="6172200" y="1201088"/>
            <a:ext cx="2568321" cy="614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The Process Agent acts as the central brain of the multi-agent system. It doesn't execute tasks directly but intelligently delegates work based on the current research state.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1" name="Google Shape;1481;p53"/>
          <p:cNvSpPr/>
          <p:nvPr/>
        </p:nvSpPr>
        <p:spPr>
          <a:xfrm>
            <a:off x="6172200" y="1922549"/>
            <a:ext cx="2600554" cy="242774"/>
          </a:xfrm>
          <a:prstGeom prst="roundRect">
            <a:avLst>
              <a:gd name="adj" fmla="val 33234"/>
            </a:avLst>
          </a:prstGeom>
          <a:solidFill>
            <a:srgbClr val="F9FAFB"/>
          </a:solidFill>
          <a:ln w="12700" cap="flat" cmpd="sng">
            <a:solidFill>
              <a:srgbClr val="F3F4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82" name="Google Shape;1482;p53" descr="preencoded.png"/>
          <p:cNvPicPr preferRelativeResize="0"/>
          <p:nvPr/>
        </p:nvPicPr>
        <p:blipFill rotWithShape="1">
          <a:blip r:embed="rId6">
            <a:alphaModFix/>
          </a:blip>
          <a:srcRect l="-1911" r="-1910"/>
          <a:stretch/>
        </p:blipFill>
        <p:spPr>
          <a:xfrm>
            <a:off x="6235979" y="2001416"/>
            <a:ext cx="100126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3" name="Google Shape;1483;p53"/>
          <p:cNvSpPr txBox="1"/>
          <p:nvPr/>
        </p:nvSpPr>
        <p:spPr>
          <a:xfrm>
            <a:off x="6393028" y="1987015"/>
            <a:ext cx="125021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Determines next optimal step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4" name="Google Shape;1484;p53"/>
          <p:cNvSpPr/>
          <p:nvPr/>
        </p:nvSpPr>
        <p:spPr>
          <a:xfrm>
            <a:off x="6172200" y="2222930"/>
            <a:ext cx="2600554" cy="242774"/>
          </a:xfrm>
          <a:prstGeom prst="roundRect">
            <a:avLst>
              <a:gd name="adj" fmla="val 33234"/>
            </a:avLst>
          </a:prstGeom>
          <a:solidFill>
            <a:srgbClr val="F9FAFB"/>
          </a:solidFill>
          <a:ln w="12700" cap="flat" cmpd="sng">
            <a:solidFill>
              <a:srgbClr val="F3F4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85" name="Google Shape;1485;p53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24825" y="2293657"/>
            <a:ext cx="8572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6" name="Google Shape;1486;p53"/>
          <p:cNvSpPr txBox="1"/>
          <p:nvPr/>
        </p:nvSpPr>
        <p:spPr>
          <a:xfrm>
            <a:off x="6379312" y="2287395"/>
            <a:ext cx="130027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Enforces Quality Control loops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7" name="Google Shape;1487;p53"/>
          <p:cNvSpPr/>
          <p:nvPr/>
        </p:nvSpPr>
        <p:spPr>
          <a:xfrm>
            <a:off x="6172200" y="2522624"/>
            <a:ext cx="2600554" cy="242774"/>
          </a:xfrm>
          <a:prstGeom prst="roundRect">
            <a:avLst>
              <a:gd name="adj" fmla="val 33234"/>
            </a:avLst>
          </a:prstGeom>
          <a:solidFill>
            <a:srgbClr val="F9FAFB"/>
          </a:solidFill>
          <a:ln w="12700" cap="flat" cmpd="sng">
            <a:solidFill>
              <a:srgbClr val="F3F4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88" name="Google Shape;1488;p53" descr="preencoded.png"/>
          <p:cNvPicPr preferRelativeResize="0"/>
          <p:nvPr/>
        </p:nvPicPr>
        <p:blipFill rotWithShape="1">
          <a:blip r:embed="rId8">
            <a:alphaModFix/>
          </a:blip>
          <a:srcRect l="-1911" r="-1910"/>
          <a:stretch/>
        </p:blipFill>
        <p:spPr>
          <a:xfrm>
            <a:off x="6235979" y="2601491"/>
            <a:ext cx="100126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9" name="Google Shape;1489;p53"/>
          <p:cNvSpPr txBox="1"/>
          <p:nvPr/>
        </p:nvSpPr>
        <p:spPr>
          <a:xfrm>
            <a:off x="6393028" y="2587090"/>
            <a:ext cx="132222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Reads context from Note Taker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0" name="Google Shape;1490;p53"/>
          <p:cNvSpPr txBox="1"/>
          <p:nvPr/>
        </p:nvSpPr>
        <p:spPr>
          <a:xfrm>
            <a:off x="6348451" y="3378937"/>
            <a:ext cx="875767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Routing Schema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1" name="Google Shape;1491;p53"/>
          <p:cNvSpPr/>
          <p:nvPr/>
        </p:nvSpPr>
        <p:spPr>
          <a:xfrm>
            <a:off x="0" y="778383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2" name="Google Shape;1492;p53"/>
          <p:cNvSpPr/>
          <p:nvPr/>
        </p:nvSpPr>
        <p:spPr>
          <a:xfrm>
            <a:off x="0" y="778383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3" name="Google Shape;1493;p53"/>
          <p:cNvSpPr txBox="1"/>
          <p:nvPr/>
        </p:nvSpPr>
        <p:spPr>
          <a:xfrm>
            <a:off x="342900" y="790178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4" name="Google Shape;1494;p53"/>
          <p:cNvSpPr txBox="1"/>
          <p:nvPr/>
        </p:nvSpPr>
        <p:spPr>
          <a:xfrm>
            <a:off x="8471002" y="7901788"/>
            <a:ext cx="4005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30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5" name="Google Shape;1495;p53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6" name="Google Shape;1496;p53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497" name="Google Shape;1497;p53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8" name="Google Shape;1498;p53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499" name="Google Shape;1499;p53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0" name="Google Shape;1500;p53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1" name="Google Shape;1501;p53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32054" y="21465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502" name="Google Shape;1502;p53"/>
          <p:cNvSpPr txBox="1"/>
          <p:nvPr/>
        </p:nvSpPr>
        <p:spPr>
          <a:xfrm>
            <a:off x="742721" y="178308"/>
            <a:ext cx="226177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Process Agent: Supervisor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3" name="Google Shape;1503;p5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68585" y="1161227"/>
            <a:ext cx="3527683" cy="4008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4" name="Google Shape;1504;p5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477484" y="2829863"/>
            <a:ext cx="1960862" cy="2436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4"/>
          <p:cNvSpPr/>
          <p:nvPr/>
        </p:nvSpPr>
        <p:spPr>
          <a:xfrm>
            <a:off x="0" y="0"/>
            <a:ext cx="9143771" cy="567911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1" name="Google Shape;1511;p54"/>
          <p:cNvSpPr/>
          <p:nvPr/>
        </p:nvSpPr>
        <p:spPr>
          <a:xfrm>
            <a:off x="0" y="0"/>
            <a:ext cx="9143771" cy="567911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2" name="Google Shape;1512;p54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3" name="Google Shape;1513;p54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514" name="Google Shape;1514;p54"/>
          <p:cNvSpPr txBox="1"/>
          <p:nvPr/>
        </p:nvSpPr>
        <p:spPr>
          <a:xfrm>
            <a:off x="742721" y="178308"/>
            <a:ext cx="2836468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Code Agent: Python Developer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5" name="Google Shape;1515;p54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6" name="Google Shape;1516;p54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7" name="Google Shape;1517;p54"/>
          <p:cNvSpPr/>
          <p:nvPr/>
        </p:nvSpPr>
        <p:spPr>
          <a:xfrm>
            <a:off x="0" y="628879"/>
            <a:ext cx="9143771" cy="4708017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8" name="Google Shape;1518;p54"/>
          <p:cNvSpPr/>
          <p:nvPr/>
        </p:nvSpPr>
        <p:spPr>
          <a:xfrm>
            <a:off x="228371" y="857250"/>
            <a:ext cx="2671876" cy="2843327"/>
          </a:xfrm>
          <a:prstGeom prst="roundRect">
            <a:avLst>
              <a:gd name="adj" fmla="val 824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9" name="Google Shape;1519;p54" descr="preencoded.png"/>
          <p:cNvPicPr preferRelativeResize="0"/>
          <p:nvPr/>
        </p:nvPicPr>
        <p:blipFill rotWithShape="1">
          <a:blip r:embed="rId4">
            <a:alphaModFix/>
          </a:blip>
          <a:srcRect l="-1648" r="-1647"/>
          <a:stretch/>
        </p:blipFill>
        <p:spPr>
          <a:xfrm>
            <a:off x="407366" y="1064362"/>
            <a:ext cx="128930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520" name="Google Shape;1520;p54"/>
          <p:cNvSpPr txBox="1"/>
          <p:nvPr/>
        </p:nvSpPr>
        <p:spPr>
          <a:xfrm>
            <a:off x="593217" y="1035558"/>
            <a:ext cx="1586255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Core Responsibilities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1" name="Google Shape;1521;p5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7366" y="1378458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522" name="Google Shape;1522;p54"/>
          <p:cNvSpPr txBox="1"/>
          <p:nvPr/>
        </p:nvSpPr>
        <p:spPr>
          <a:xfrm>
            <a:off x="606933" y="1364742"/>
            <a:ext cx="1178891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Leakage Prevention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3" name="Google Shape;1523;p54"/>
          <p:cNvSpPr txBox="1"/>
          <p:nvPr/>
        </p:nvSpPr>
        <p:spPr>
          <a:xfrm>
            <a:off x="606933" y="1528648"/>
            <a:ext cx="2075917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Enforces strict train/test separation before any preprocessing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4" name="Google Shape;1524;p5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7366" y="1950416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525" name="Google Shape;1525;p54"/>
          <p:cNvSpPr txBox="1"/>
          <p:nvPr/>
        </p:nvSpPr>
        <p:spPr>
          <a:xfrm>
            <a:off x="606933" y="1936013"/>
            <a:ext cx="1300277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Clean Implementation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6" name="Google Shape;1526;p54"/>
          <p:cNvSpPr txBox="1"/>
          <p:nvPr/>
        </p:nvSpPr>
        <p:spPr>
          <a:xfrm>
            <a:off x="606933" y="2100605"/>
            <a:ext cx="1882521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Writes PEP 8 compliant, readable, and modular Python code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7" name="Google Shape;1527;p54" descr="preencoded.png"/>
          <p:cNvPicPr preferRelativeResize="0"/>
          <p:nvPr/>
        </p:nvPicPr>
        <p:blipFill rotWithShape="1">
          <a:blip r:embed="rId7">
            <a:alphaModFix/>
          </a:blip>
          <a:srcRect t="-180" b="-179"/>
          <a:stretch/>
        </p:blipFill>
        <p:spPr>
          <a:xfrm>
            <a:off x="407365" y="2521687"/>
            <a:ext cx="142646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528" name="Google Shape;1528;p54"/>
          <p:cNvSpPr txBox="1"/>
          <p:nvPr/>
        </p:nvSpPr>
        <p:spPr>
          <a:xfrm>
            <a:off x="635737" y="2507285"/>
            <a:ext cx="1172033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Executable Outputs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9" name="Google Shape;1529;p54"/>
          <p:cNvSpPr txBox="1"/>
          <p:nvPr/>
        </p:nvSpPr>
        <p:spPr>
          <a:xfrm>
            <a:off x="635737" y="2671877"/>
            <a:ext cx="2154098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Ensures code runs without errors in isolated environments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0" name="Google Shape;1530;p5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07366" y="3092958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531" name="Google Shape;1531;p54"/>
          <p:cNvSpPr txBox="1"/>
          <p:nvPr/>
        </p:nvSpPr>
        <p:spPr>
          <a:xfrm>
            <a:off x="606933" y="3079242"/>
            <a:ext cx="1078763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ML Best Practices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2" name="Google Shape;1532;p54"/>
          <p:cNvSpPr txBox="1"/>
          <p:nvPr/>
        </p:nvSpPr>
        <p:spPr>
          <a:xfrm>
            <a:off x="606933" y="3243149"/>
            <a:ext cx="1968246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Handles imbalance, missing values, and encoding correctly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3" name="Google Shape;1533;p54"/>
          <p:cNvSpPr/>
          <p:nvPr/>
        </p:nvSpPr>
        <p:spPr>
          <a:xfrm>
            <a:off x="228371" y="3872027"/>
            <a:ext cx="2671876" cy="1235812"/>
          </a:xfrm>
          <a:prstGeom prst="roundRect">
            <a:avLst>
              <a:gd name="adj" fmla="val 3849"/>
            </a:avLst>
          </a:prstGeom>
          <a:solidFill>
            <a:srgbClr val="ECFDF5"/>
          </a:solidFill>
          <a:ln w="12700" cap="flat" cmpd="sng">
            <a:solidFill>
              <a:srgbClr val="D1FA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4" name="Google Shape;1534;p54"/>
          <p:cNvSpPr txBox="1"/>
          <p:nvPr/>
        </p:nvSpPr>
        <p:spPr>
          <a:xfrm>
            <a:off x="407365" y="4064737"/>
            <a:ext cx="1335938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Anti-Leakage Protocol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5" name="Google Shape;1535;p54"/>
          <p:cNvSpPr txBox="1"/>
          <p:nvPr/>
        </p:nvSpPr>
        <p:spPr>
          <a:xfrm>
            <a:off x="407366" y="4293108"/>
            <a:ext cx="2346808" cy="614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800"/>
              <a:buFont typeface="Inter"/>
              <a:buNone/>
            </a:pPr>
            <a:r>
              <a:rPr lang="en" sz="800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The Code Agent is explicitly instructed to split data before fitting any transformers. Transformers are fit ONLY on training data, then applied to test data.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6" name="Google Shape;1536;p54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7" name="Google Shape;1537;p54"/>
          <p:cNvSpPr/>
          <p:nvPr/>
        </p:nvSpPr>
        <p:spPr>
          <a:xfrm>
            <a:off x="4847921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8" name="Google Shape;1538;p54"/>
          <p:cNvSpPr/>
          <p:nvPr/>
        </p:nvSpPr>
        <p:spPr>
          <a:xfrm>
            <a:off x="8145247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9" name="Google Shape;1539;p54"/>
          <p:cNvSpPr/>
          <p:nvPr/>
        </p:nvSpPr>
        <p:spPr>
          <a:xfrm>
            <a:off x="0" y="533621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0" name="Google Shape;1540;p54"/>
          <p:cNvSpPr/>
          <p:nvPr/>
        </p:nvSpPr>
        <p:spPr>
          <a:xfrm>
            <a:off x="0" y="533621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1" name="Google Shape;1541;p54"/>
          <p:cNvSpPr txBox="1"/>
          <p:nvPr/>
        </p:nvSpPr>
        <p:spPr>
          <a:xfrm>
            <a:off x="342900" y="5454167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2" name="Google Shape;1542;p54"/>
          <p:cNvSpPr txBox="1"/>
          <p:nvPr/>
        </p:nvSpPr>
        <p:spPr>
          <a:xfrm>
            <a:off x="8490204" y="5454167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31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3" name="Google Shape;1543;p54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4" name="Google Shape;1544;p5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5" name="Google Shape;1545;p5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546" name="Google Shape;1546;p54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7" name="Google Shape;1547;p54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32054" y="21465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548" name="Google Shape;1548;p54"/>
          <p:cNvSpPr txBox="1"/>
          <p:nvPr/>
        </p:nvSpPr>
        <p:spPr>
          <a:xfrm>
            <a:off x="742721" y="178308"/>
            <a:ext cx="226177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Coding Agent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9" name="Google Shape;1549;p54" descr="AI Coding Assistants Landscape - by Bilgin Ibryam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732124" y="799851"/>
            <a:ext cx="4496791" cy="4079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p55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6" name="Google Shape;1556;p55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7" name="Google Shape;1557;p55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EF444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8" name="Google Shape;1558;p55" descr="preencoded.png"/>
          <p:cNvPicPr preferRelativeResize="0"/>
          <p:nvPr/>
        </p:nvPicPr>
        <p:blipFill rotWithShape="1">
          <a:blip r:embed="rId3">
            <a:alphaModFix/>
          </a:blip>
          <a:srcRect l="-1648" r="-1647"/>
          <a:stretch/>
        </p:blipFill>
        <p:spPr>
          <a:xfrm>
            <a:off x="421767" y="214655"/>
            <a:ext cx="128930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559" name="Google Shape;1559;p55"/>
          <p:cNvSpPr txBox="1"/>
          <p:nvPr/>
        </p:nvSpPr>
        <p:spPr>
          <a:xfrm>
            <a:off x="742721" y="178308"/>
            <a:ext cx="2008022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Quality Review Agent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0" name="Google Shape;1560;p55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1" name="Google Shape;1561;p55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2" name="Google Shape;1562;p55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3" name="Google Shape;1563;p55"/>
          <p:cNvSpPr/>
          <p:nvPr/>
        </p:nvSpPr>
        <p:spPr>
          <a:xfrm>
            <a:off x="228371" y="857250"/>
            <a:ext cx="3621710" cy="2793264"/>
          </a:xfrm>
          <a:prstGeom prst="roundRect">
            <a:avLst>
              <a:gd name="adj" fmla="val 2612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64" name="Google Shape;1564;p55" descr="preencoded.png"/>
          <p:cNvPicPr preferRelativeResize="0"/>
          <p:nvPr/>
        </p:nvPicPr>
        <p:blipFill rotWithShape="1">
          <a:blip r:embed="rId4">
            <a:alphaModFix/>
          </a:blip>
          <a:srcRect l="-1064" r="-1064"/>
          <a:stretch/>
        </p:blipFill>
        <p:spPr>
          <a:xfrm>
            <a:off x="407366" y="1071905"/>
            <a:ext cx="164592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1565" name="Google Shape;1565;p55"/>
          <p:cNvSpPr txBox="1"/>
          <p:nvPr/>
        </p:nvSpPr>
        <p:spPr>
          <a:xfrm>
            <a:off x="628879" y="1035558"/>
            <a:ext cx="1696670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Output Validation System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6" name="Google Shape;1566;p55"/>
          <p:cNvSpPr/>
          <p:nvPr/>
        </p:nvSpPr>
        <p:spPr>
          <a:xfrm>
            <a:off x="2680793" y="1049960"/>
            <a:ext cx="993038" cy="17145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7" name="Google Shape;1567;p55"/>
          <p:cNvSpPr txBox="1"/>
          <p:nvPr/>
        </p:nvSpPr>
        <p:spPr>
          <a:xfrm>
            <a:off x="2737714" y="1085621"/>
            <a:ext cx="94297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agents/quality.py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8" name="Google Shape;1568;p55"/>
          <p:cNvSpPr txBox="1"/>
          <p:nvPr/>
        </p:nvSpPr>
        <p:spPr>
          <a:xfrm>
            <a:off x="407365" y="1357199"/>
            <a:ext cx="3018892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Structured validation schema ensuring rigorous quality control before outputs are accepted.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9" name="Google Shape;1569;p55"/>
          <p:cNvSpPr/>
          <p:nvPr/>
        </p:nvSpPr>
        <p:spPr>
          <a:xfrm>
            <a:off x="785927" y="1907210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0" name="Google Shape;1570;p55"/>
          <p:cNvSpPr/>
          <p:nvPr/>
        </p:nvSpPr>
        <p:spPr>
          <a:xfrm>
            <a:off x="3182798" y="1907210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1" name="Google Shape;1571;p55"/>
          <p:cNvSpPr/>
          <p:nvPr/>
        </p:nvSpPr>
        <p:spPr>
          <a:xfrm>
            <a:off x="3538728" y="1907210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2" name="Google Shape;1572;p55"/>
          <p:cNvSpPr txBox="1"/>
          <p:nvPr/>
        </p:nvSpPr>
        <p:spPr>
          <a:xfrm>
            <a:off x="4738878" y="1907210"/>
            <a:ext cx="79690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(BaseModel):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3" name="Google Shape;1573;p55"/>
          <p:cNvSpPr/>
          <p:nvPr/>
        </p:nvSpPr>
        <p:spPr>
          <a:xfrm>
            <a:off x="5694884" y="1907210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4" name="Google Shape;1574;p55"/>
          <p:cNvSpPr txBox="1"/>
          <p:nvPr/>
        </p:nvSpPr>
        <p:spPr>
          <a:xfrm>
            <a:off x="5458968" y="1907210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5" name="Google Shape;1575;p55"/>
          <p:cNvSpPr txBox="1"/>
          <p:nvPr/>
        </p:nvSpPr>
        <p:spPr>
          <a:xfrm>
            <a:off x="5814899" y="1907210"/>
            <a:ext cx="1940129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B949E"/>
              </a:buClr>
              <a:buSzPts val="800"/>
              <a:buFont typeface="Arial"/>
              <a:buNone/>
            </a:pPr>
            <a:r>
              <a:rPr lang="en" sz="800">
                <a:solidFill>
                  <a:srgbClr val="8B949E"/>
                </a:solidFill>
                <a:latin typeface="Arial"/>
                <a:ea typeface="Arial"/>
                <a:cs typeface="Arial"/>
                <a:sym typeface="Arial"/>
              </a:rPr>
              <a:t># Flag to trigger revision loop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6" name="Google Shape;1576;p55"/>
          <p:cNvSpPr/>
          <p:nvPr/>
        </p:nvSpPr>
        <p:spPr>
          <a:xfrm>
            <a:off x="7911388" y="1907210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7" name="Google Shape;1577;p55"/>
          <p:cNvSpPr txBox="1"/>
          <p:nvPr/>
        </p:nvSpPr>
        <p:spPr>
          <a:xfrm>
            <a:off x="7675474" y="1907210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8" name="Google Shape;1578;p55"/>
          <p:cNvSpPr txBox="1"/>
          <p:nvPr/>
        </p:nvSpPr>
        <p:spPr>
          <a:xfrm>
            <a:off x="8031404" y="1907210"/>
            <a:ext cx="982751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needs_revision: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9" name="Google Shape;1579;p55"/>
          <p:cNvSpPr/>
          <p:nvPr/>
        </p:nvSpPr>
        <p:spPr>
          <a:xfrm>
            <a:off x="215342" y="3707435"/>
            <a:ext cx="3621710" cy="957377"/>
          </a:xfrm>
          <a:prstGeom prst="roundRect">
            <a:avLst>
              <a:gd name="adj" fmla="val 6415"/>
            </a:avLst>
          </a:prstGeom>
          <a:solidFill>
            <a:srgbClr val="EFF6FF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0" name="Google Shape;1580;p5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5532" y="3878885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581" name="Google Shape;1581;p55"/>
          <p:cNvSpPr txBox="1"/>
          <p:nvPr/>
        </p:nvSpPr>
        <p:spPr>
          <a:xfrm>
            <a:off x="522580" y="3856940"/>
            <a:ext cx="897026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Validation Scope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2" name="Google Shape;1582;p55"/>
          <p:cNvSpPr txBox="1"/>
          <p:nvPr/>
        </p:nvSpPr>
        <p:spPr>
          <a:xfrm>
            <a:off x="365532" y="4057193"/>
            <a:ext cx="2115008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8A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Code Quality: PEP 8, Data Leakage, Error Handling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3" name="Google Shape;1583;p55"/>
          <p:cNvSpPr txBox="1"/>
          <p:nvPr/>
        </p:nvSpPr>
        <p:spPr>
          <a:xfrm>
            <a:off x="365532" y="4228643"/>
            <a:ext cx="231457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8A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Visuals: Labels, Legends, Aspect Ratio, Color Blindness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4" name="Google Shape;1584;p55"/>
          <p:cNvSpPr txBox="1"/>
          <p:nvPr/>
        </p:nvSpPr>
        <p:spPr>
          <a:xfrm>
            <a:off x="365532" y="4400093"/>
            <a:ext cx="190035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8A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Report: Citations, Logic Flow, Academic Tone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5" name="Google Shape;1585;p55"/>
          <p:cNvSpPr/>
          <p:nvPr/>
        </p:nvSpPr>
        <p:spPr>
          <a:xfrm>
            <a:off x="4076395" y="857250"/>
            <a:ext cx="4843805" cy="407366"/>
          </a:xfrm>
          <a:prstGeom prst="roundRect">
            <a:avLst>
              <a:gd name="adj" fmla="val 35442"/>
            </a:avLst>
          </a:prstGeom>
          <a:solidFill>
            <a:srgbClr val="1F293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6" name="Google Shape;1586;p55"/>
          <p:cNvSpPr/>
          <p:nvPr/>
        </p:nvSpPr>
        <p:spPr>
          <a:xfrm>
            <a:off x="4190924" y="971779"/>
            <a:ext cx="1043102" cy="178308"/>
          </a:xfrm>
          <a:prstGeom prst="roundRect">
            <a:avLst>
              <a:gd name="adj" fmla="val 384615"/>
            </a:avLst>
          </a:prstGeom>
          <a:solidFill>
            <a:srgbClr val="EF444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7" name="Google Shape;1587;p55"/>
          <p:cNvSpPr txBox="1"/>
          <p:nvPr/>
        </p:nvSpPr>
        <p:spPr>
          <a:xfrm>
            <a:off x="4276649" y="1007441"/>
            <a:ext cx="932003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REVISION REQUIRED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8" name="Google Shape;1588;p55"/>
          <p:cNvSpPr txBox="1"/>
          <p:nvPr/>
        </p:nvSpPr>
        <p:spPr>
          <a:xfrm>
            <a:off x="5314950" y="1002640"/>
            <a:ext cx="1282446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800"/>
              <a:buFont typeface="Arial"/>
              <a:buNone/>
            </a:pPr>
            <a:r>
              <a:rPr lang="en" sz="800">
                <a:solidFill>
                  <a:srgbClr val="D1D5DB"/>
                </a:solidFill>
                <a:latin typeface="Arial"/>
                <a:ea typeface="Arial"/>
                <a:cs typeface="Arial"/>
                <a:sym typeface="Arial"/>
              </a:rPr>
              <a:t>Session ID: #A892-QC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9" name="Google Shape;1589;p55"/>
          <p:cNvSpPr/>
          <p:nvPr/>
        </p:nvSpPr>
        <p:spPr>
          <a:xfrm>
            <a:off x="8429854" y="1017041"/>
            <a:ext cx="85725" cy="85725"/>
          </a:xfrm>
          <a:prstGeom prst="roundRect">
            <a:avLst>
              <a:gd name="adj" fmla="val 800000"/>
            </a:avLst>
          </a:prstGeom>
          <a:solidFill>
            <a:srgbClr val="EF444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0" name="Google Shape;1590;p55"/>
          <p:cNvSpPr/>
          <p:nvPr/>
        </p:nvSpPr>
        <p:spPr>
          <a:xfrm>
            <a:off x="8572500" y="1017041"/>
            <a:ext cx="85725" cy="85725"/>
          </a:xfrm>
          <a:prstGeom prst="roundRect">
            <a:avLst>
              <a:gd name="adj" fmla="val 800000"/>
            </a:avLst>
          </a:prstGeom>
          <a:solidFill>
            <a:srgbClr val="F59E0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1" name="Google Shape;1591;p55"/>
          <p:cNvSpPr/>
          <p:nvPr/>
        </p:nvSpPr>
        <p:spPr>
          <a:xfrm>
            <a:off x="8715146" y="1017041"/>
            <a:ext cx="85725" cy="85725"/>
          </a:xfrm>
          <a:prstGeom prst="roundRect">
            <a:avLst>
              <a:gd name="adj" fmla="val 800000"/>
            </a:avLst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p55"/>
          <p:cNvSpPr/>
          <p:nvPr/>
        </p:nvSpPr>
        <p:spPr>
          <a:xfrm>
            <a:off x="4076395" y="1263244"/>
            <a:ext cx="4843805" cy="3086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3" name="Google Shape;1593;p55"/>
          <p:cNvSpPr/>
          <p:nvPr/>
        </p:nvSpPr>
        <p:spPr>
          <a:xfrm>
            <a:off x="4076395" y="4342486"/>
            <a:ext cx="4843805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4" name="Google Shape;1594;p55"/>
          <p:cNvSpPr/>
          <p:nvPr/>
        </p:nvSpPr>
        <p:spPr>
          <a:xfrm>
            <a:off x="4247846" y="1434694"/>
            <a:ext cx="4500905" cy="1128827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5" name="Google Shape;1595;p55"/>
          <p:cNvSpPr/>
          <p:nvPr/>
        </p:nvSpPr>
        <p:spPr>
          <a:xfrm>
            <a:off x="4247846" y="1434694"/>
            <a:ext cx="28804" cy="112882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6" name="Google Shape;1596;p5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91177" y="1607516"/>
            <a:ext cx="128930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1597" name="Google Shape;1597;p55"/>
          <p:cNvSpPr txBox="1"/>
          <p:nvPr/>
        </p:nvSpPr>
        <p:spPr>
          <a:xfrm>
            <a:off x="4605147" y="1556081"/>
            <a:ext cx="1904467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Critical Issue: Data Leakage Detected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8" name="Google Shape;1598;p55"/>
          <p:cNvSpPr txBox="1"/>
          <p:nvPr/>
        </p:nvSpPr>
        <p:spPr>
          <a:xfrm>
            <a:off x="4605147" y="1719986"/>
            <a:ext cx="3886429" cy="2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The generated code fits the StandardScaler on the entire dataset before splitting into train/test sets. This violates the fundamental principle of keeping the test set unseen.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9" name="Google Shape;1599;p55"/>
          <p:cNvSpPr/>
          <p:nvPr/>
        </p:nvSpPr>
        <p:spPr>
          <a:xfrm>
            <a:off x="4391177" y="2005965"/>
            <a:ext cx="4243730" cy="443026"/>
          </a:xfrm>
          <a:prstGeom prst="roundRect">
            <a:avLst>
              <a:gd name="adj" fmla="val 9987"/>
            </a:avLst>
          </a:prstGeom>
          <a:solidFill>
            <a:srgbClr val="FFFFFF"/>
          </a:solidFill>
          <a:ln w="12700" cap="flat" cmpd="sng">
            <a:solidFill>
              <a:srgbClr val="FEE2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0" name="Google Shape;1600;p55"/>
          <p:cNvSpPr txBox="1"/>
          <p:nvPr/>
        </p:nvSpPr>
        <p:spPr>
          <a:xfrm>
            <a:off x="4483760" y="2106092"/>
            <a:ext cx="171450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Arial"/>
              <a:buNone/>
            </a:pPr>
            <a:r>
              <a:rPr lang="en" sz="70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1" name="Google Shape;1601;p55"/>
          <p:cNvSpPr txBox="1"/>
          <p:nvPr/>
        </p:nvSpPr>
        <p:spPr>
          <a:xfrm>
            <a:off x="4643552" y="2106092"/>
            <a:ext cx="2021738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700"/>
              <a:buFont typeface="Arial"/>
              <a:buNone/>
            </a:pPr>
            <a:r>
              <a:rPr lang="en" sz="700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scaler.fit_transform(X) # BEFORE split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2" name="Google Shape;1602;p55"/>
          <p:cNvSpPr txBox="1"/>
          <p:nvPr/>
        </p:nvSpPr>
        <p:spPr>
          <a:xfrm>
            <a:off x="4483760" y="2248739"/>
            <a:ext cx="171450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Arial"/>
              <a:buNone/>
            </a:pPr>
            <a:r>
              <a:rPr lang="en" sz="70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3" name="Google Shape;1603;p55"/>
          <p:cNvSpPr txBox="1"/>
          <p:nvPr/>
        </p:nvSpPr>
        <p:spPr>
          <a:xfrm>
            <a:off x="4643552" y="2248739"/>
            <a:ext cx="2536088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Arial"/>
              <a:buNone/>
            </a:pPr>
            <a:r>
              <a:rPr lang="en" sz="7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X_train, X_test = train_test_split(X) # TOO LATE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4" name="Google Shape;1604;p55"/>
          <p:cNvSpPr/>
          <p:nvPr/>
        </p:nvSpPr>
        <p:spPr>
          <a:xfrm>
            <a:off x="4247846" y="2734285"/>
            <a:ext cx="4500905" cy="1436066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5" name="Google Shape;1605;p55"/>
          <p:cNvSpPr/>
          <p:nvPr/>
        </p:nvSpPr>
        <p:spPr>
          <a:xfrm>
            <a:off x="4247846" y="2734285"/>
            <a:ext cx="28804" cy="143606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06" name="Google Shape;1606;p5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91177" y="2907792"/>
            <a:ext cx="128930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1607" name="Google Shape;1607;p55"/>
          <p:cNvSpPr txBox="1"/>
          <p:nvPr/>
        </p:nvSpPr>
        <p:spPr>
          <a:xfrm>
            <a:off x="4605147" y="2856357"/>
            <a:ext cx="111853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Required Corrections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8" name="Google Shape;1608;p55"/>
          <p:cNvSpPr txBox="1"/>
          <p:nvPr/>
        </p:nvSpPr>
        <p:spPr>
          <a:xfrm>
            <a:off x="4605147" y="2991460"/>
            <a:ext cx="244350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Please implement the following changes to fix the leakage: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9" name="Google Shape;1609;p55"/>
          <p:cNvSpPr txBox="1"/>
          <p:nvPr/>
        </p:nvSpPr>
        <p:spPr>
          <a:xfrm>
            <a:off x="4578401" y="3191714"/>
            <a:ext cx="31437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Move Splitting: Perform train_test_split before any scaling or transformation.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0" name="Google Shape;1610;p55"/>
          <p:cNvSpPr txBox="1"/>
          <p:nvPr/>
        </p:nvSpPr>
        <p:spPr>
          <a:xfrm>
            <a:off x="4578400" y="3391967"/>
            <a:ext cx="38576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Fit on Train Only: Use scaler.fit_transform(X_train) to learn parameters from training data only.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1" name="Google Shape;1611;p55"/>
          <p:cNvSpPr txBox="1"/>
          <p:nvPr/>
        </p:nvSpPr>
        <p:spPr>
          <a:xfrm>
            <a:off x="4578400" y="3591535"/>
            <a:ext cx="345780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Transform Test: Apply the learned scaler to test data using scaler.transform(X_test).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2" name="Google Shape;1612;p55"/>
          <p:cNvSpPr/>
          <p:nvPr/>
        </p:nvSpPr>
        <p:spPr>
          <a:xfrm>
            <a:off x="4391177" y="3820592"/>
            <a:ext cx="4243730" cy="6858"/>
          </a:xfrm>
          <a:prstGeom prst="rect">
            <a:avLst/>
          </a:prstGeom>
          <a:solidFill>
            <a:srgbClr val="A7F3D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3" name="Google Shape;1613;p5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28078" y="3956381"/>
            <a:ext cx="8572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4" name="Google Shape;1614;p55"/>
          <p:cNvSpPr txBox="1"/>
          <p:nvPr/>
        </p:nvSpPr>
        <p:spPr>
          <a:xfrm>
            <a:off x="7170724" y="3941978"/>
            <a:ext cx="152933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SENDING BACK TO CODE AGENT...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5" name="Google Shape;1615;p55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6" name="Google Shape;1616;p55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7" name="Google Shape;1617;p55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8" name="Google Shape;1618;p55"/>
          <p:cNvSpPr txBox="1"/>
          <p:nvPr/>
        </p:nvSpPr>
        <p:spPr>
          <a:xfrm>
            <a:off x="8472374" y="4918558"/>
            <a:ext cx="3929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32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9" name="Google Shape;1619;p55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20" name="Google Shape;1620;p55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621" name="Google Shape;1621;p55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22" name="Google Shape;1622;p55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623" name="Google Shape;1623;p55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4" name="Google Shape;1624;p55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25" name="Google Shape;1625;p55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32054" y="21465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626" name="Google Shape;1626;p55"/>
          <p:cNvSpPr txBox="1"/>
          <p:nvPr/>
        </p:nvSpPr>
        <p:spPr>
          <a:xfrm>
            <a:off x="742721" y="178308"/>
            <a:ext cx="226177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Quality Review Agent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27" name="Google Shape;1627;p55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92785" y="1621917"/>
            <a:ext cx="2303962" cy="19314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56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4" name="Google Shape;1634;p56"/>
          <p:cNvSpPr/>
          <p:nvPr/>
        </p:nvSpPr>
        <p:spPr>
          <a:xfrm>
            <a:off x="0" y="0"/>
            <a:ext cx="9143771" cy="53005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5" name="Google Shape;1635;p56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6" name="Google Shape;1636;p56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637" name="Google Shape;1637;p56"/>
          <p:cNvSpPr txBox="1"/>
          <p:nvPr/>
        </p:nvSpPr>
        <p:spPr>
          <a:xfrm>
            <a:off x="742721" y="178308"/>
            <a:ext cx="335767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Pipeline Stage 3: PCA Decision Logic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8" name="Google Shape;1638;p56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9" name="Google Shape;1639;p56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0" name="Google Shape;1640;p56"/>
          <p:cNvSpPr/>
          <p:nvPr/>
        </p:nvSpPr>
        <p:spPr>
          <a:xfrm>
            <a:off x="0" y="628879"/>
            <a:ext cx="9143771" cy="432945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1" name="Google Shape;1641;p56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2" name="Google Shape;1642;p56"/>
          <p:cNvSpPr txBox="1"/>
          <p:nvPr/>
        </p:nvSpPr>
        <p:spPr>
          <a:xfrm>
            <a:off x="3651885" y="1357199"/>
            <a:ext cx="26129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3" name="Google Shape;1643;p56"/>
          <p:cNvSpPr txBox="1"/>
          <p:nvPr/>
        </p:nvSpPr>
        <p:spPr>
          <a:xfrm>
            <a:off x="6772961" y="1357199"/>
            <a:ext cx="13990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4" name="Google Shape;1644;p56"/>
          <p:cNvSpPr/>
          <p:nvPr/>
        </p:nvSpPr>
        <p:spPr>
          <a:xfrm>
            <a:off x="7068541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5" name="Google Shape;1645;p56"/>
          <p:cNvSpPr txBox="1"/>
          <p:nvPr/>
        </p:nvSpPr>
        <p:spPr>
          <a:xfrm>
            <a:off x="8809101" y="1357199"/>
            <a:ext cx="19682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6" name="Google Shape;1646;p56"/>
          <p:cNvSpPr/>
          <p:nvPr/>
        </p:nvSpPr>
        <p:spPr>
          <a:xfrm>
            <a:off x="9165032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7" name="Google Shape;1647;p56"/>
          <p:cNvSpPr/>
          <p:nvPr/>
        </p:nvSpPr>
        <p:spPr>
          <a:xfrm>
            <a:off x="0" y="4956277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8" name="Google Shape;1648;p56"/>
          <p:cNvSpPr/>
          <p:nvPr/>
        </p:nvSpPr>
        <p:spPr>
          <a:xfrm>
            <a:off x="0" y="4956277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9" name="Google Shape;1649;p56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1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    Note Taker Agent – State Management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0" name="Google Shape;1650;p5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651" name="Google Shape;1651;p56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2" name="Google Shape;1652;p56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3" name="Google Shape;1653;p5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71040" y="753524"/>
            <a:ext cx="4372302" cy="379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4" name="Google Shape;1654;p5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484542" y="4572229"/>
            <a:ext cx="3979624" cy="42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0" name="Google Shape;1660;p57"/>
          <p:cNvSpPr/>
          <p:nvPr/>
        </p:nvSpPr>
        <p:spPr>
          <a:xfrm>
            <a:off x="0" y="0"/>
            <a:ext cx="9143771" cy="5415077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1" name="Google Shape;1661;p57"/>
          <p:cNvSpPr/>
          <p:nvPr/>
        </p:nvSpPr>
        <p:spPr>
          <a:xfrm>
            <a:off x="0" y="0"/>
            <a:ext cx="9143771" cy="5415077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2" name="Google Shape;1662;p57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3" name="Google Shape;1663;p57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664" name="Google Shape;1664;p57"/>
          <p:cNvSpPr txBox="1"/>
          <p:nvPr/>
        </p:nvSpPr>
        <p:spPr>
          <a:xfrm>
            <a:off x="742721" y="178308"/>
            <a:ext cx="3179368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Refiner Agent - Publication Quality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5" name="Google Shape;1665;p57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6" name="Google Shape;1666;p57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7" name="Google Shape;1667;p57"/>
          <p:cNvSpPr/>
          <p:nvPr/>
        </p:nvSpPr>
        <p:spPr>
          <a:xfrm>
            <a:off x="0" y="628879"/>
            <a:ext cx="9143771" cy="4443299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8" name="Google Shape;1668;p57"/>
          <p:cNvSpPr/>
          <p:nvPr/>
        </p:nvSpPr>
        <p:spPr>
          <a:xfrm>
            <a:off x="228371" y="857250"/>
            <a:ext cx="2671876" cy="2414702"/>
          </a:xfrm>
          <a:prstGeom prst="roundRect">
            <a:avLst>
              <a:gd name="adj" fmla="val 1008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9" name="Google Shape;1669;p57" descr="preencoded.png"/>
          <p:cNvPicPr preferRelativeResize="0"/>
          <p:nvPr/>
        </p:nvPicPr>
        <p:blipFill rotWithShape="1">
          <a:blip r:embed="rId4">
            <a:alphaModFix/>
          </a:blip>
          <a:srcRect l="-1282" r="-1282"/>
          <a:stretch/>
        </p:blipFill>
        <p:spPr>
          <a:xfrm>
            <a:off x="407366" y="1064362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670" name="Google Shape;1670;p57"/>
          <p:cNvSpPr txBox="1"/>
          <p:nvPr/>
        </p:nvSpPr>
        <p:spPr>
          <a:xfrm>
            <a:off x="628879" y="1035558"/>
            <a:ext cx="1436066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Synthesis Strategy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1" name="Google Shape;1671;p5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7366" y="1378458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72" name="Google Shape;1672;p57"/>
          <p:cNvSpPr txBox="1"/>
          <p:nvPr/>
        </p:nvSpPr>
        <p:spPr>
          <a:xfrm>
            <a:off x="606933" y="1364742"/>
            <a:ext cx="121455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Artifact Aggregation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3" name="Google Shape;1673;p57"/>
          <p:cNvSpPr txBox="1"/>
          <p:nvPr/>
        </p:nvSpPr>
        <p:spPr>
          <a:xfrm>
            <a:off x="606933" y="1528649"/>
            <a:ext cx="2011451" cy="407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Scans working directory to collect all intermediate outputs (markdown reports, PNG charts)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4" name="Google Shape;1674;p5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7366" y="2093062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75" name="Google Shape;1675;p57"/>
          <p:cNvSpPr txBox="1"/>
          <p:nvPr/>
        </p:nvSpPr>
        <p:spPr>
          <a:xfrm>
            <a:off x="606933" y="2078660"/>
            <a:ext cx="115077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Context Integration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6" name="Google Shape;1676;p57"/>
          <p:cNvSpPr txBox="1"/>
          <p:nvPr/>
        </p:nvSpPr>
        <p:spPr>
          <a:xfrm>
            <a:off x="606933" y="2243252"/>
            <a:ext cx="2068373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Combines code, visuals, and text sections into a unified document structure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7" name="Google Shape;1677;p5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7366" y="2664333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78" name="Google Shape;1678;p57"/>
          <p:cNvSpPr txBox="1"/>
          <p:nvPr/>
        </p:nvSpPr>
        <p:spPr>
          <a:xfrm>
            <a:off x="606933" y="2650617"/>
            <a:ext cx="1007441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Academic Polish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9" name="Google Shape;1679;p57"/>
          <p:cNvSpPr txBox="1"/>
          <p:nvPr/>
        </p:nvSpPr>
        <p:spPr>
          <a:xfrm>
            <a:off x="606933" y="2814524"/>
            <a:ext cx="1982648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Transforms fragmented agent notes into cohesive, publication-ready prose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0" name="Google Shape;1680;p57"/>
          <p:cNvSpPr/>
          <p:nvPr/>
        </p:nvSpPr>
        <p:spPr>
          <a:xfrm>
            <a:off x="228371" y="3443402"/>
            <a:ext cx="2671876" cy="1400404"/>
          </a:xfrm>
          <a:prstGeom prst="roundRect">
            <a:avLst>
              <a:gd name="adj" fmla="val 2998"/>
            </a:avLst>
          </a:prstGeom>
          <a:solidFill>
            <a:srgbClr val="EFF6FF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1" name="Google Shape;1681;p57"/>
          <p:cNvSpPr txBox="1"/>
          <p:nvPr/>
        </p:nvSpPr>
        <p:spPr>
          <a:xfrm>
            <a:off x="407366" y="3636112"/>
            <a:ext cx="1907896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From Fragmentation to Cohesion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2" name="Google Shape;1682;p57"/>
          <p:cNvSpPr txBox="1"/>
          <p:nvPr/>
        </p:nvSpPr>
        <p:spPr>
          <a:xfrm>
            <a:off x="407365" y="3864483"/>
            <a:ext cx="2333092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800"/>
              <a:buFont typeface="Inter"/>
              <a:buNone/>
            </a:pPr>
            <a:r>
              <a:rPr lang="en" sz="800">
                <a:solidFill>
                  <a:srgbClr val="1D4ED8"/>
                </a:solidFill>
                <a:latin typeface="Inter"/>
                <a:ea typeface="Inter"/>
                <a:cs typeface="Inter"/>
                <a:sym typeface="Inter"/>
              </a:rPr>
              <a:t>Individual agents produce disjointed outputs (hypothesis, analysis code, charts). The Refiner acts as the "Editor-in-Chief", using GPT-4-nano to smooth transitions and unify the narrative voice into a final research report.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3" name="Google Shape;1683;p57"/>
          <p:cNvSpPr/>
          <p:nvPr/>
        </p:nvSpPr>
        <p:spPr>
          <a:xfrm>
            <a:off x="3531870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4" name="Google Shape;1684;p57"/>
          <p:cNvSpPr/>
          <p:nvPr/>
        </p:nvSpPr>
        <p:spPr>
          <a:xfrm>
            <a:off x="5688026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5" name="Google Shape;1685;p57"/>
          <p:cNvSpPr/>
          <p:nvPr/>
        </p:nvSpPr>
        <p:spPr>
          <a:xfrm>
            <a:off x="9045017" y="1357199"/>
            <a:ext cx="6858" cy="11452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6" name="Google Shape;1686;p57"/>
          <p:cNvSpPr/>
          <p:nvPr/>
        </p:nvSpPr>
        <p:spPr>
          <a:xfrm>
            <a:off x="0" y="5070119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7" name="Google Shape;1687;p57"/>
          <p:cNvSpPr/>
          <p:nvPr/>
        </p:nvSpPr>
        <p:spPr>
          <a:xfrm>
            <a:off x="0" y="5070119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8" name="Google Shape;1688;p57"/>
          <p:cNvSpPr txBox="1"/>
          <p:nvPr/>
        </p:nvSpPr>
        <p:spPr>
          <a:xfrm>
            <a:off x="342900" y="5188077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9" name="Google Shape;1689;p57"/>
          <p:cNvSpPr txBox="1"/>
          <p:nvPr/>
        </p:nvSpPr>
        <p:spPr>
          <a:xfrm>
            <a:off x="8469630" y="5188077"/>
            <a:ext cx="4005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34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0" name="Google Shape;1690;p57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1" name="Google Shape;1691;p5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692" name="Google Shape;1692;p5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3" name="Google Shape;1693;p5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694" name="Google Shape;1694;p5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5" name="Google Shape;1695;p57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6" name="Google Shape;1696;p57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2054" y="21465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697" name="Google Shape;1697;p57"/>
          <p:cNvSpPr txBox="1"/>
          <p:nvPr/>
        </p:nvSpPr>
        <p:spPr>
          <a:xfrm>
            <a:off x="742721" y="178308"/>
            <a:ext cx="226177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Refiner Agent: Publication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8" name="Google Shape;1698;p5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340583" y="855878"/>
            <a:ext cx="3226535" cy="40846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58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5" name="Google Shape;1705;p58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6" name="Google Shape;1706;p58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59E0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7" name="Google Shape;1707;p58" descr="preencoded.png"/>
          <p:cNvPicPr preferRelativeResize="0"/>
          <p:nvPr/>
        </p:nvPicPr>
        <p:blipFill rotWithShape="1">
          <a:blip r:embed="rId3">
            <a:alphaModFix/>
          </a:blip>
          <a:srcRect l="-1648" r="-1647"/>
          <a:stretch/>
        </p:blipFill>
        <p:spPr>
          <a:xfrm>
            <a:off x="421767" y="214655"/>
            <a:ext cx="128930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708" name="Google Shape;1708;p58"/>
          <p:cNvSpPr txBox="1"/>
          <p:nvPr/>
        </p:nvSpPr>
        <p:spPr>
          <a:xfrm>
            <a:off x="742721" y="114529"/>
            <a:ext cx="2893391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Human-in-the-Loop Integration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9" name="Google Shape;1709;p58"/>
          <p:cNvSpPr txBox="1"/>
          <p:nvPr/>
        </p:nvSpPr>
        <p:spPr>
          <a:xfrm>
            <a:off x="742721" y="357302"/>
            <a:ext cx="1457325" cy="100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700"/>
              <a:buFont typeface="Arial"/>
              <a:buNone/>
            </a:pPr>
            <a:r>
              <a:rPr lang="en" sz="700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workflow.intervention_nodes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0" name="Google Shape;1710;p58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1" name="Google Shape;1711;p58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2" name="Google Shape;1712;p58"/>
          <p:cNvSpPr/>
          <p:nvPr/>
        </p:nvSpPr>
        <p:spPr>
          <a:xfrm>
            <a:off x="264033" y="1436066"/>
            <a:ext cx="8108213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3" name="Google Shape;1713;p58"/>
          <p:cNvSpPr txBox="1"/>
          <p:nvPr/>
        </p:nvSpPr>
        <p:spPr>
          <a:xfrm>
            <a:off x="1436066" y="159997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4" name="Google Shape;1714;p58"/>
          <p:cNvSpPr txBox="1"/>
          <p:nvPr/>
        </p:nvSpPr>
        <p:spPr>
          <a:xfrm>
            <a:off x="1744676" y="1599971"/>
            <a:ext cx="171450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5" name="Google Shape;1715;p58"/>
          <p:cNvSpPr txBox="1"/>
          <p:nvPr/>
        </p:nvSpPr>
        <p:spPr>
          <a:xfrm>
            <a:off x="2104720" y="159997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6" name="Google Shape;1716;p58"/>
          <p:cNvSpPr txBox="1"/>
          <p:nvPr/>
        </p:nvSpPr>
        <p:spPr>
          <a:xfrm>
            <a:off x="1127456" y="187429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7" name="Google Shape;1717;p58"/>
          <p:cNvSpPr txBox="1"/>
          <p:nvPr/>
        </p:nvSpPr>
        <p:spPr>
          <a:xfrm>
            <a:off x="2979801" y="214861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8" name="Google Shape;1718;p58"/>
          <p:cNvSpPr txBox="1"/>
          <p:nvPr/>
        </p:nvSpPr>
        <p:spPr>
          <a:xfrm>
            <a:off x="1045845" y="173713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9" name="Google Shape;1719;p58"/>
          <p:cNvSpPr txBox="1"/>
          <p:nvPr/>
        </p:nvSpPr>
        <p:spPr>
          <a:xfrm>
            <a:off x="840105" y="201145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0" name="Google Shape;1720;p58"/>
          <p:cNvSpPr txBox="1"/>
          <p:nvPr/>
        </p:nvSpPr>
        <p:spPr>
          <a:xfrm>
            <a:off x="1148715" y="201145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1" name="Google Shape;1721;p58"/>
          <p:cNvSpPr txBox="1"/>
          <p:nvPr/>
        </p:nvSpPr>
        <p:spPr>
          <a:xfrm>
            <a:off x="2126666" y="201145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2" name="Google Shape;1722;p58"/>
          <p:cNvSpPr/>
          <p:nvPr/>
        </p:nvSpPr>
        <p:spPr>
          <a:xfrm>
            <a:off x="228371" y="3714979"/>
            <a:ext cx="28804" cy="5143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3" name="Google Shape;1723;p58"/>
          <p:cNvSpPr txBox="1"/>
          <p:nvPr/>
        </p:nvSpPr>
        <p:spPr>
          <a:xfrm>
            <a:off x="9841916" y="159997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4" name="Google Shape;1724;p58"/>
          <p:cNvSpPr txBox="1"/>
          <p:nvPr/>
        </p:nvSpPr>
        <p:spPr>
          <a:xfrm>
            <a:off x="9841916" y="228577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5" name="Google Shape;1725;p58"/>
          <p:cNvSpPr/>
          <p:nvPr/>
        </p:nvSpPr>
        <p:spPr>
          <a:xfrm>
            <a:off x="8698688" y="1997735"/>
            <a:ext cx="21260" cy="142646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6" name="Google Shape;1726;p58"/>
          <p:cNvSpPr txBox="1"/>
          <p:nvPr/>
        </p:nvSpPr>
        <p:spPr>
          <a:xfrm>
            <a:off x="9708871" y="173713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7" name="Google Shape;1727;p58"/>
          <p:cNvSpPr txBox="1"/>
          <p:nvPr/>
        </p:nvSpPr>
        <p:spPr>
          <a:xfrm>
            <a:off x="10017481" y="173713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8" name="Google Shape;1728;p58"/>
          <p:cNvSpPr txBox="1"/>
          <p:nvPr/>
        </p:nvSpPr>
        <p:spPr>
          <a:xfrm>
            <a:off x="9503131" y="2011451"/>
            <a:ext cx="122072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9" name="Google Shape;1729;p58"/>
          <p:cNvSpPr txBox="1"/>
          <p:nvPr/>
        </p:nvSpPr>
        <p:spPr>
          <a:xfrm>
            <a:off x="9245956" y="2011451"/>
            <a:ext cx="329184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C07B"/>
              </a:buClr>
              <a:buSzPts val="700"/>
              <a:buFont typeface="Arial"/>
              <a:buNone/>
            </a:pPr>
            <a:r>
              <a:rPr lang="en" sz="700">
                <a:solidFill>
                  <a:srgbClr val="E5C07B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0" name="Google Shape;1730;p58"/>
          <p:cNvSpPr/>
          <p:nvPr/>
        </p:nvSpPr>
        <p:spPr>
          <a:xfrm>
            <a:off x="0" y="4457700"/>
            <a:ext cx="9143771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1" name="Google Shape;1731;p58"/>
          <p:cNvSpPr/>
          <p:nvPr/>
        </p:nvSpPr>
        <p:spPr>
          <a:xfrm>
            <a:off x="0" y="44577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2" name="Google Shape;1732;p58"/>
          <p:cNvSpPr/>
          <p:nvPr/>
        </p:nvSpPr>
        <p:spPr>
          <a:xfrm>
            <a:off x="342900" y="4661383"/>
            <a:ext cx="228371" cy="285979"/>
          </a:xfrm>
          <a:prstGeom prst="roundRect">
            <a:avLst>
              <a:gd name="adj" fmla="val 75075"/>
            </a:avLst>
          </a:prstGeom>
          <a:solidFill>
            <a:srgbClr val="FEF3C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3" name="Google Shape;1733;p5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9821" y="4747108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734" name="Google Shape;1734;p58"/>
          <p:cNvSpPr txBox="1"/>
          <p:nvPr/>
        </p:nvSpPr>
        <p:spPr>
          <a:xfrm>
            <a:off x="656996" y="4668241"/>
            <a:ext cx="689915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User Control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5" name="Google Shape;1735;p58"/>
          <p:cNvSpPr txBox="1"/>
          <p:nvPr/>
        </p:nvSpPr>
        <p:spPr>
          <a:xfrm>
            <a:off x="2999690" y="4668241"/>
            <a:ext cx="875767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Early Correction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6" name="Google Shape;1736;p58"/>
          <p:cNvSpPr txBox="1"/>
          <p:nvPr/>
        </p:nvSpPr>
        <p:spPr>
          <a:xfrm>
            <a:off x="656996" y="4804029"/>
            <a:ext cx="186469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User maintains agency over critical direction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7" name="Google Shape;1737;p58"/>
          <p:cNvSpPr/>
          <p:nvPr/>
        </p:nvSpPr>
        <p:spPr>
          <a:xfrm>
            <a:off x="2684907" y="4661383"/>
            <a:ext cx="228371" cy="285979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8" name="Google Shape;1738;p5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42515" y="4747108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739" name="Google Shape;1739;p58"/>
          <p:cNvSpPr txBox="1"/>
          <p:nvPr/>
        </p:nvSpPr>
        <p:spPr>
          <a:xfrm>
            <a:off x="2999690" y="4804029"/>
            <a:ext cx="206494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Fix misunderstandings before high-cost compute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0" name="Google Shape;1740;p58"/>
          <p:cNvSpPr/>
          <p:nvPr/>
        </p:nvSpPr>
        <p:spPr>
          <a:xfrm>
            <a:off x="5221682" y="4661383"/>
            <a:ext cx="228371" cy="285979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41" name="Google Shape;1741;p5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278603" y="4747108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1742" name="Google Shape;1742;p58"/>
          <p:cNvSpPr txBox="1"/>
          <p:nvPr/>
        </p:nvSpPr>
        <p:spPr>
          <a:xfrm>
            <a:off x="5535778" y="4668241"/>
            <a:ext cx="81815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Feedback Loop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3" name="Google Shape;1743;p58"/>
          <p:cNvSpPr txBox="1"/>
          <p:nvPr/>
        </p:nvSpPr>
        <p:spPr>
          <a:xfrm>
            <a:off x="5535778" y="4804029"/>
            <a:ext cx="182902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Output quality improves with user guidance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4" name="Google Shape;1744;p58"/>
          <p:cNvSpPr txBox="1"/>
          <p:nvPr/>
        </p:nvSpPr>
        <p:spPr>
          <a:xfrm>
            <a:off x="8389391" y="4753966"/>
            <a:ext cx="478688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Arial"/>
              <a:buNone/>
            </a:pPr>
            <a:r>
              <a:rPr lang="en" sz="700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Slide 36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5" name="Google Shape;1745;p58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46" name="Google Shape;1746;p58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747" name="Google Shape;1747;p58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48" name="Google Shape;1748;p58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749" name="Google Shape;1749;p58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0" name="Google Shape;1750;p58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51" name="Google Shape;1751;p58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32054" y="21465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752" name="Google Shape;1752;p58"/>
          <p:cNvSpPr txBox="1"/>
          <p:nvPr/>
        </p:nvSpPr>
        <p:spPr>
          <a:xfrm>
            <a:off x="742721" y="178308"/>
            <a:ext cx="2261770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Human in the loop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53" name="Google Shape;1753;p5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6996" y="669928"/>
            <a:ext cx="7602779" cy="3798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p59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0" name="Google Shape;1760;p59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1" name="Google Shape;1761;p59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2" name="Google Shape;1762;p59"/>
          <p:cNvSpPr/>
          <p:nvPr/>
        </p:nvSpPr>
        <p:spPr>
          <a:xfrm>
            <a:off x="0" y="1671980"/>
            <a:ext cx="685800" cy="13716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3" name="Google Shape;1763;p59"/>
          <p:cNvSpPr/>
          <p:nvPr/>
        </p:nvSpPr>
        <p:spPr>
          <a:xfrm>
            <a:off x="8229600" y="1929155"/>
            <a:ext cx="914171" cy="1829029"/>
          </a:xfrm>
          <a:prstGeom prst="roundRect">
            <a:avLst>
              <a:gd name="adj" fmla="val 75019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4" name="Google Shape;1764;p59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5" name="Google Shape;1765;p59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6" name="Google Shape;1766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767" name="Google Shape;1767;p59"/>
          <p:cNvSpPr txBox="1"/>
          <p:nvPr/>
        </p:nvSpPr>
        <p:spPr>
          <a:xfrm>
            <a:off x="742721" y="178308"/>
            <a:ext cx="2693822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Part 4: Results &amp; Comparison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8" name="Google Shape;1768;p59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9" name="Google Shape;1769;p59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0" name="Google Shape;1770;p59"/>
          <p:cNvSpPr/>
          <p:nvPr/>
        </p:nvSpPr>
        <p:spPr>
          <a:xfrm>
            <a:off x="4243730" y="1128827"/>
            <a:ext cx="656996" cy="571271"/>
          </a:xfrm>
          <a:prstGeom prst="roundRect">
            <a:avLst>
              <a:gd name="adj" fmla="val 120048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71" name="Google Shape;1771;p5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57574" y="1243355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2" name="Google Shape;1772;p59"/>
          <p:cNvSpPr txBox="1"/>
          <p:nvPr/>
        </p:nvSpPr>
        <p:spPr>
          <a:xfrm>
            <a:off x="2377669" y="1885950"/>
            <a:ext cx="47148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3400"/>
              <a:buFont typeface="Inter"/>
              <a:buNone/>
            </a:pPr>
            <a:r>
              <a:rPr lang="en" sz="3400" b="1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Results &amp; Comparison</a:t>
            </a:r>
            <a:endParaRPr sz="3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3" name="Google Shape;1773;p59"/>
          <p:cNvSpPr/>
          <p:nvPr/>
        </p:nvSpPr>
        <p:spPr>
          <a:xfrm>
            <a:off x="4114800" y="2586152"/>
            <a:ext cx="9141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4" name="Google Shape;1774;p59"/>
          <p:cNvSpPr txBox="1"/>
          <p:nvPr/>
        </p:nvSpPr>
        <p:spPr>
          <a:xfrm>
            <a:off x="1834515" y="2964713"/>
            <a:ext cx="5608472" cy="486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Evaluation of pipeline vs. multi-agent approaches across quantitative metrics and quality dimensions.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5" name="Google Shape;1775;p59"/>
          <p:cNvSpPr/>
          <p:nvPr/>
        </p:nvSpPr>
        <p:spPr>
          <a:xfrm>
            <a:off x="1803654" y="3943350"/>
            <a:ext cx="1743304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76" name="Google Shape;1776;p5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82648" y="405033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777" name="Google Shape;1777;p59"/>
          <p:cNvSpPr/>
          <p:nvPr/>
        </p:nvSpPr>
        <p:spPr>
          <a:xfrm>
            <a:off x="3769843" y="3943350"/>
            <a:ext cx="1643177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8" name="Google Shape;1778;p59"/>
          <p:cNvSpPr txBox="1"/>
          <p:nvPr/>
        </p:nvSpPr>
        <p:spPr>
          <a:xfrm>
            <a:off x="2211020" y="4050335"/>
            <a:ext cx="1243355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Performance Metrics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79" name="Google Shape;1779;p5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948151" y="405033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780" name="Google Shape;1780;p59"/>
          <p:cNvSpPr/>
          <p:nvPr/>
        </p:nvSpPr>
        <p:spPr>
          <a:xfrm>
            <a:off x="5635219" y="3943350"/>
            <a:ext cx="1707642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1" name="Google Shape;1781;p59"/>
          <p:cNvSpPr txBox="1"/>
          <p:nvPr/>
        </p:nvSpPr>
        <p:spPr>
          <a:xfrm>
            <a:off x="4140860" y="4050335"/>
            <a:ext cx="1178890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Quality Assessment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82" name="Google Shape;1782;p59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4212" y="405033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783" name="Google Shape;1783;p59"/>
          <p:cNvSpPr txBox="1"/>
          <p:nvPr/>
        </p:nvSpPr>
        <p:spPr>
          <a:xfrm>
            <a:off x="6042584" y="4050335"/>
            <a:ext cx="1207694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Case Study Analysis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4" name="Google Shape;1784;p59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5" name="Google Shape;1785;p59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6" name="Google Shape;1786;p59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7" name="Google Shape;1787;p59"/>
          <p:cNvSpPr txBox="1"/>
          <p:nvPr/>
        </p:nvSpPr>
        <p:spPr>
          <a:xfrm>
            <a:off x="8489519" y="4918558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41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88" name="Google Shape;1788;p59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789" name="Google Shape;1789;p59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90" name="Google Shape;1790;p59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791" name="Google Shape;1791;p59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7" name="Google Shape;1797;p60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8" name="Google Shape;1798;p60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9" name="Google Shape;1799;p60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2563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0" name="Google Shape;1800;p6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392" y="21465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801" name="Google Shape;1801;p60"/>
          <p:cNvSpPr txBox="1"/>
          <p:nvPr/>
        </p:nvSpPr>
        <p:spPr>
          <a:xfrm>
            <a:off x="742721" y="114529"/>
            <a:ext cx="2100605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Approach Comparison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2" name="Google Shape;1802;p60"/>
          <p:cNvSpPr txBox="1"/>
          <p:nvPr/>
        </p:nvSpPr>
        <p:spPr>
          <a:xfrm>
            <a:off x="742721" y="357302"/>
            <a:ext cx="1922297" cy="100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0A5FA"/>
                </a:solidFill>
                <a:latin typeface="Arial"/>
                <a:ea typeface="Arial"/>
                <a:cs typeface="Arial"/>
                <a:sym typeface="Arial"/>
              </a:rPr>
              <a:t>analysis.benchmark.pipeline_vs_agent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3" name="Google Shape;1803;p60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4" name="Google Shape;1804;p60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5" name="Google Shape;1805;p60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6" name="Google Shape;1806;p60"/>
          <p:cNvSpPr txBox="1"/>
          <p:nvPr/>
        </p:nvSpPr>
        <p:spPr>
          <a:xfrm>
            <a:off x="6076874" y="864108"/>
            <a:ext cx="1125397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Phase 1: LLM Pipeline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7" name="Google Shape;1807;p60"/>
          <p:cNvSpPr/>
          <p:nvPr/>
        </p:nvSpPr>
        <p:spPr>
          <a:xfrm>
            <a:off x="7236562" y="886054"/>
            <a:ext cx="85725" cy="85725"/>
          </a:xfrm>
          <a:prstGeom prst="roundRect">
            <a:avLst>
              <a:gd name="adj" fmla="val 800000"/>
            </a:avLst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8" name="Google Shape;1808;p60"/>
          <p:cNvSpPr txBox="1"/>
          <p:nvPr/>
        </p:nvSpPr>
        <p:spPr>
          <a:xfrm>
            <a:off x="7379208" y="864108"/>
            <a:ext cx="1497101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Phase 2: Multi-Agent System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9" name="Google Shape;1809;p60"/>
          <p:cNvSpPr/>
          <p:nvPr/>
        </p:nvSpPr>
        <p:spPr>
          <a:xfrm>
            <a:off x="228371" y="1114425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0" name="Google Shape;1810;p60" descr="preencoded.png"/>
          <p:cNvPicPr preferRelativeResize="0"/>
          <p:nvPr/>
        </p:nvPicPr>
        <p:blipFill rotWithShape="1">
          <a:blip r:embed="rId4">
            <a:alphaModFix/>
          </a:blip>
          <a:srcRect l="-18477" r="-18476"/>
          <a:stretch/>
        </p:blipFill>
        <p:spPr>
          <a:xfrm>
            <a:off x="349758" y="1208380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11" name="Google Shape;1811;p60"/>
          <p:cNvSpPr/>
          <p:nvPr/>
        </p:nvSpPr>
        <p:spPr>
          <a:xfrm>
            <a:off x="1954530" y="1114425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2" name="Google Shape;1812;p60"/>
          <p:cNvSpPr/>
          <p:nvPr/>
        </p:nvSpPr>
        <p:spPr>
          <a:xfrm>
            <a:off x="5406161" y="1114425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3" name="Google Shape;1813;p60"/>
          <p:cNvSpPr/>
          <p:nvPr/>
        </p:nvSpPr>
        <p:spPr>
          <a:xfrm>
            <a:off x="228371" y="1460069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4" name="Google Shape;1814;p60"/>
          <p:cNvSpPr/>
          <p:nvPr/>
        </p:nvSpPr>
        <p:spPr>
          <a:xfrm>
            <a:off x="1954530" y="1460069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5" name="Google Shape;1815;p60"/>
          <p:cNvSpPr/>
          <p:nvPr/>
        </p:nvSpPr>
        <p:spPr>
          <a:xfrm>
            <a:off x="5406161" y="1460069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6" name="Google Shape;1816;p60"/>
          <p:cNvSpPr/>
          <p:nvPr/>
        </p:nvSpPr>
        <p:spPr>
          <a:xfrm>
            <a:off x="228371" y="1805711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7" name="Google Shape;1817;p60"/>
          <p:cNvSpPr/>
          <p:nvPr/>
        </p:nvSpPr>
        <p:spPr>
          <a:xfrm>
            <a:off x="228371" y="2151355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8" name="Google Shape;1818;p60"/>
          <p:cNvSpPr/>
          <p:nvPr/>
        </p:nvSpPr>
        <p:spPr>
          <a:xfrm>
            <a:off x="1954530" y="2496998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9" name="Google Shape;1819;p60"/>
          <p:cNvSpPr/>
          <p:nvPr/>
        </p:nvSpPr>
        <p:spPr>
          <a:xfrm>
            <a:off x="5406161" y="2496998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0" name="Google Shape;1820;p60"/>
          <p:cNvSpPr/>
          <p:nvPr/>
        </p:nvSpPr>
        <p:spPr>
          <a:xfrm>
            <a:off x="228371" y="2842641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1" name="Google Shape;1821;p60"/>
          <p:cNvSpPr/>
          <p:nvPr/>
        </p:nvSpPr>
        <p:spPr>
          <a:xfrm>
            <a:off x="1954530" y="2842641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2" name="Google Shape;1822;p60"/>
          <p:cNvSpPr/>
          <p:nvPr/>
        </p:nvSpPr>
        <p:spPr>
          <a:xfrm>
            <a:off x="5406161" y="2842641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3" name="Google Shape;1823;p60"/>
          <p:cNvSpPr/>
          <p:nvPr/>
        </p:nvSpPr>
        <p:spPr>
          <a:xfrm>
            <a:off x="228371" y="3188284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4" name="Google Shape;1824;p60"/>
          <p:cNvSpPr/>
          <p:nvPr/>
        </p:nvSpPr>
        <p:spPr>
          <a:xfrm>
            <a:off x="1954530" y="3188284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5" name="Google Shape;1825;p60"/>
          <p:cNvSpPr/>
          <p:nvPr/>
        </p:nvSpPr>
        <p:spPr>
          <a:xfrm>
            <a:off x="5406161" y="3188284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6" name="Google Shape;1826;p60"/>
          <p:cNvSpPr/>
          <p:nvPr/>
        </p:nvSpPr>
        <p:spPr>
          <a:xfrm>
            <a:off x="228371" y="3533927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7" name="Google Shape;1827;p60"/>
          <p:cNvSpPr/>
          <p:nvPr/>
        </p:nvSpPr>
        <p:spPr>
          <a:xfrm>
            <a:off x="1954530" y="3880256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8" name="Google Shape;1828;p60"/>
          <p:cNvSpPr/>
          <p:nvPr/>
        </p:nvSpPr>
        <p:spPr>
          <a:xfrm>
            <a:off x="228371" y="4225900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9" name="Google Shape;1829;p60"/>
          <p:cNvSpPr/>
          <p:nvPr/>
        </p:nvSpPr>
        <p:spPr>
          <a:xfrm>
            <a:off x="1954530" y="4225900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0" name="Google Shape;1830;p60"/>
          <p:cNvSpPr txBox="1"/>
          <p:nvPr/>
        </p:nvSpPr>
        <p:spPr>
          <a:xfrm>
            <a:off x="493090" y="1204265"/>
            <a:ext cx="61927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Architecture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1" name="Google Shape;1831;p60"/>
          <p:cNvSpPr txBox="1"/>
          <p:nvPr/>
        </p:nvSpPr>
        <p:spPr>
          <a:xfrm>
            <a:off x="2069059" y="1204265"/>
            <a:ext cx="102595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Sequential, linear flow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2" name="Google Shape;1832;p60"/>
          <p:cNvSpPr txBox="1"/>
          <p:nvPr/>
        </p:nvSpPr>
        <p:spPr>
          <a:xfrm>
            <a:off x="5520690" y="1204265"/>
            <a:ext cx="10691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Graph-based, adaptive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33" name="Google Shape;1833;p60" descr="preencoded.png"/>
          <p:cNvPicPr preferRelativeResize="0"/>
          <p:nvPr/>
        </p:nvPicPr>
        <p:blipFill rotWithShape="1">
          <a:blip r:embed="rId5">
            <a:alphaModFix/>
          </a:blip>
          <a:srcRect l="-27037" r="-27036"/>
          <a:stretch/>
        </p:blipFill>
        <p:spPr>
          <a:xfrm>
            <a:off x="349758" y="1554022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34" name="Google Shape;1834;p60"/>
          <p:cNvSpPr txBox="1"/>
          <p:nvPr/>
        </p:nvSpPr>
        <p:spPr>
          <a:xfrm>
            <a:off x="493090" y="1549908"/>
            <a:ext cx="8044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Decision Making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5" name="Google Shape;1835;p60"/>
          <p:cNvSpPr txBox="1"/>
          <p:nvPr/>
        </p:nvSpPr>
        <p:spPr>
          <a:xfrm>
            <a:off x="2069059" y="1549908"/>
            <a:ext cx="116174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Single LLM call per stage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6" name="Google Shape;1836;p60"/>
          <p:cNvSpPr txBox="1"/>
          <p:nvPr/>
        </p:nvSpPr>
        <p:spPr>
          <a:xfrm>
            <a:off x="5520690" y="1549908"/>
            <a:ext cx="104035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Collaborative, iterative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37" name="Google Shape;1837;p60" descr="preencoded.png"/>
          <p:cNvPicPr preferRelativeResize="0"/>
          <p:nvPr/>
        </p:nvPicPr>
        <p:blipFill rotWithShape="1">
          <a:blip r:embed="rId6">
            <a:alphaModFix/>
          </a:blip>
          <a:srcRect l="-27037" r="-27036"/>
          <a:stretch/>
        </p:blipFill>
        <p:spPr>
          <a:xfrm>
            <a:off x="349758" y="1900352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38" name="Google Shape;1838;p60"/>
          <p:cNvSpPr/>
          <p:nvPr/>
        </p:nvSpPr>
        <p:spPr>
          <a:xfrm>
            <a:off x="1954530" y="1805711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9" name="Google Shape;1839;p60"/>
          <p:cNvSpPr/>
          <p:nvPr/>
        </p:nvSpPr>
        <p:spPr>
          <a:xfrm>
            <a:off x="5406161" y="1805711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0" name="Google Shape;1840;p60"/>
          <p:cNvSpPr/>
          <p:nvPr/>
        </p:nvSpPr>
        <p:spPr>
          <a:xfrm>
            <a:off x="1954530" y="2151355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1" name="Google Shape;1841;p60"/>
          <p:cNvSpPr/>
          <p:nvPr/>
        </p:nvSpPr>
        <p:spPr>
          <a:xfrm>
            <a:off x="5406161" y="2151355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2" name="Google Shape;1842;p60"/>
          <p:cNvSpPr txBox="1"/>
          <p:nvPr/>
        </p:nvSpPr>
        <p:spPr>
          <a:xfrm>
            <a:off x="493090" y="1895552"/>
            <a:ext cx="73312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Quality Control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3" name="Google Shape;1843;p60"/>
          <p:cNvSpPr txBox="1"/>
          <p:nvPr/>
        </p:nvSpPr>
        <p:spPr>
          <a:xfrm>
            <a:off x="2069059" y="1895552"/>
            <a:ext cx="111922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None (errors propagate)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4" name="Google Shape;1844;p60"/>
          <p:cNvSpPr txBox="1"/>
          <p:nvPr/>
        </p:nvSpPr>
        <p:spPr>
          <a:xfrm>
            <a:off x="5520690" y="1895552"/>
            <a:ext cx="94777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Built-in review loops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45" name="Google Shape;1845;p60" descr="preencoded.png"/>
          <p:cNvPicPr preferRelativeResize="0"/>
          <p:nvPr/>
        </p:nvPicPr>
        <p:blipFill rotWithShape="1">
          <a:blip r:embed="rId7">
            <a:alphaModFix/>
          </a:blip>
          <a:srcRect l="-27037" r="-27036"/>
          <a:stretch/>
        </p:blipFill>
        <p:spPr>
          <a:xfrm>
            <a:off x="349758" y="2245995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46" name="Google Shape;1846;p60"/>
          <p:cNvSpPr/>
          <p:nvPr/>
        </p:nvSpPr>
        <p:spPr>
          <a:xfrm>
            <a:off x="228371" y="2496998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7" name="Google Shape;1847;p60"/>
          <p:cNvSpPr txBox="1"/>
          <p:nvPr/>
        </p:nvSpPr>
        <p:spPr>
          <a:xfrm>
            <a:off x="493091" y="2241194"/>
            <a:ext cx="49720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Flexibility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8" name="Google Shape;1848;p60"/>
          <p:cNvSpPr txBox="1"/>
          <p:nvPr/>
        </p:nvSpPr>
        <p:spPr>
          <a:xfrm>
            <a:off x="2069059" y="2241194"/>
            <a:ext cx="99029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Fixed workflow steps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9" name="Google Shape;1849;p60"/>
          <p:cNvSpPr txBox="1"/>
          <p:nvPr/>
        </p:nvSpPr>
        <p:spPr>
          <a:xfrm>
            <a:off x="5520690" y="2241194"/>
            <a:ext cx="77632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Dynamic routing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50" name="Google Shape;1850;p60" descr="preencoded.png"/>
          <p:cNvPicPr preferRelativeResize="0"/>
          <p:nvPr/>
        </p:nvPicPr>
        <p:blipFill rotWithShape="1">
          <a:blip r:embed="rId8">
            <a:alphaModFix/>
          </a:blip>
          <a:srcRect l="-18477" r="-18476"/>
          <a:stretch/>
        </p:blipFill>
        <p:spPr>
          <a:xfrm>
            <a:off x="349758" y="2591639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51" name="Google Shape;1851;p60"/>
          <p:cNvSpPr txBox="1"/>
          <p:nvPr/>
        </p:nvSpPr>
        <p:spPr>
          <a:xfrm>
            <a:off x="493090" y="2586838"/>
            <a:ext cx="86205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Context Retention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2" name="Google Shape;1852;p60"/>
          <p:cNvSpPr txBox="1"/>
          <p:nvPr/>
        </p:nvSpPr>
        <p:spPr>
          <a:xfrm>
            <a:off x="2069059" y="2586838"/>
            <a:ext cx="118300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Minimal (between stages)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3" name="Google Shape;1853;p60"/>
          <p:cNvSpPr txBox="1"/>
          <p:nvPr/>
        </p:nvSpPr>
        <p:spPr>
          <a:xfrm>
            <a:off x="5520690" y="2586838"/>
            <a:ext cx="105476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Full (Note Taker agent)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54" name="Google Shape;1854;p60" descr="preencoded.png"/>
          <p:cNvPicPr preferRelativeResize="0"/>
          <p:nvPr/>
        </p:nvPicPr>
        <p:blipFill rotWithShape="1">
          <a:blip r:embed="rId9">
            <a:alphaModFix/>
          </a:blip>
          <a:srcRect l="-27037" r="-27036"/>
          <a:stretch/>
        </p:blipFill>
        <p:spPr>
          <a:xfrm>
            <a:off x="349758" y="2937281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55" name="Google Shape;1855;p60"/>
          <p:cNvSpPr txBox="1"/>
          <p:nvPr/>
        </p:nvSpPr>
        <p:spPr>
          <a:xfrm>
            <a:off x="493091" y="2933167"/>
            <a:ext cx="77632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Research Depth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6" name="Google Shape;1856;p60"/>
          <p:cNvSpPr txBox="1"/>
          <p:nvPr/>
        </p:nvSpPr>
        <p:spPr>
          <a:xfrm>
            <a:off x="2069059" y="2933167"/>
            <a:ext cx="95463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None (analysis only)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7" name="Google Shape;1857;p60"/>
          <p:cNvSpPr txBox="1"/>
          <p:nvPr/>
        </p:nvSpPr>
        <p:spPr>
          <a:xfrm>
            <a:off x="5520690" y="2933167"/>
            <a:ext cx="139080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Literature review + Hypothesis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58" name="Google Shape;1858;p60" descr="preencoded.png"/>
          <p:cNvPicPr preferRelativeResize="0"/>
          <p:nvPr/>
        </p:nvPicPr>
        <p:blipFill rotWithShape="1">
          <a:blip r:embed="rId10">
            <a:alphaModFix/>
          </a:blip>
          <a:srcRect l="-18477" r="-18476"/>
          <a:stretch/>
        </p:blipFill>
        <p:spPr>
          <a:xfrm>
            <a:off x="349758" y="3282925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59" name="Google Shape;1859;p60"/>
          <p:cNvSpPr/>
          <p:nvPr/>
        </p:nvSpPr>
        <p:spPr>
          <a:xfrm>
            <a:off x="1954530" y="3533927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0" name="Google Shape;1860;p60"/>
          <p:cNvSpPr/>
          <p:nvPr/>
        </p:nvSpPr>
        <p:spPr>
          <a:xfrm>
            <a:off x="5406161" y="3880256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1" name="Google Shape;1861;p60"/>
          <p:cNvSpPr txBox="1"/>
          <p:nvPr/>
        </p:nvSpPr>
        <p:spPr>
          <a:xfrm>
            <a:off x="493090" y="3278810"/>
            <a:ext cx="71186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Output Quality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2" name="Google Shape;1862;p60"/>
          <p:cNvSpPr txBox="1"/>
          <p:nvPr/>
        </p:nvSpPr>
        <p:spPr>
          <a:xfrm>
            <a:off x="2069059" y="3278810"/>
            <a:ext cx="79072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Good (Standard)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3" name="Google Shape;1863;p60"/>
          <p:cNvSpPr txBox="1"/>
          <p:nvPr/>
        </p:nvSpPr>
        <p:spPr>
          <a:xfrm>
            <a:off x="5520690" y="3278810"/>
            <a:ext cx="139766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Excellent (Refined/Publication)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64" name="Google Shape;1864;p60" descr="preencoded.png"/>
          <p:cNvPicPr preferRelativeResize="0"/>
          <p:nvPr/>
        </p:nvPicPr>
        <p:blipFill rotWithShape="1">
          <a:blip r:embed="rId11">
            <a:alphaModFix/>
          </a:blip>
          <a:srcRect l="-27037" r="-27036"/>
          <a:stretch/>
        </p:blipFill>
        <p:spPr>
          <a:xfrm>
            <a:off x="349758" y="3628568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65" name="Google Shape;1865;p60"/>
          <p:cNvSpPr/>
          <p:nvPr/>
        </p:nvSpPr>
        <p:spPr>
          <a:xfrm>
            <a:off x="5406161" y="3533927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6" name="Google Shape;1866;p60"/>
          <p:cNvSpPr/>
          <p:nvPr/>
        </p:nvSpPr>
        <p:spPr>
          <a:xfrm>
            <a:off x="228371" y="3880256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7" name="Google Shape;1867;p60"/>
          <p:cNvSpPr/>
          <p:nvPr/>
        </p:nvSpPr>
        <p:spPr>
          <a:xfrm>
            <a:off x="228371" y="4571543"/>
            <a:ext cx="1728902" cy="292837"/>
          </a:xfrm>
          <a:prstGeom prst="roundRect">
            <a:avLst>
              <a:gd name="adj" fmla="val 45696"/>
            </a:avLst>
          </a:prstGeom>
          <a:solidFill>
            <a:srgbClr val="F8FAFC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8" name="Google Shape;1868;p60"/>
          <p:cNvSpPr/>
          <p:nvPr/>
        </p:nvSpPr>
        <p:spPr>
          <a:xfrm>
            <a:off x="1954530" y="4571543"/>
            <a:ext cx="3457804" cy="292837"/>
          </a:xfrm>
          <a:prstGeom prst="rect">
            <a:avLst/>
          </a:prstGeom>
          <a:solidFill>
            <a:srgbClr val="FFF7ED"/>
          </a:solidFill>
          <a:ln w="12700" cap="flat" cmpd="sng">
            <a:solidFill>
              <a:srgbClr val="FED7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9" name="Google Shape;1869;p60"/>
          <p:cNvSpPr txBox="1"/>
          <p:nvPr/>
        </p:nvSpPr>
        <p:spPr>
          <a:xfrm>
            <a:off x="493090" y="3624453"/>
            <a:ext cx="73312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Error Recovery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0" name="Google Shape;1870;p60"/>
          <p:cNvSpPr txBox="1"/>
          <p:nvPr/>
        </p:nvSpPr>
        <p:spPr>
          <a:xfrm>
            <a:off x="2069059" y="3624453"/>
            <a:ext cx="131193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Manual intervention required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1" name="Google Shape;1871;p60"/>
          <p:cNvSpPr txBox="1"/>
          <p:nvPr/>
        </p:nvSpPr>
        <p:spPr>
          <a:xfrm>
            <a:off x="5520690" y="3624453"/>
            <a:ext cx="137640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Automatic retry with feedback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72" name="Google Shape;1872;p60" descr="preencoded.png"/>
          <p:cNvPicPr preferRelativeResize="0"/>
          <p:nvPr/>
        </p:nvPicPr>
        <p:blipFill rotWithShape="1">
          <a:blip r:embed="rId12">
            <a:alphaModFix/>
          </a:blip>
          <a:srcRect l="-27037" r="-27036"/>
          <a:stretch/>
        </p:blipFill>
        <p:spPr>
          <a:xfrm>
            <a:off x="349758" y="3974211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73" name="Google Shape;1873;p60"/>
          <p:cNvSpPr txBox="1"/>
          <p:nvPr/>
        </p:nvSpPr>
        <p:spPr>
          <a:xfrm>
            <a:off x="493091" y="3970097"/>
            <a:ext cx="66179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Explainability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4" name="Google Shape;1874;p60"/>
          <p:cNvSpPr txBox="1"/>
          <p:nvPr/>
        </p:nvSpPr>
        <p:spPr>
          <a:xfrm>
            <a:off x="2069059" y="3970097"/>
            <a:ext cx="94777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Per-stage reasoning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5" name="Google Shape;1875;p60"/>
          <p:cNvSpPr txBox="1"/>
          <p:nvPr/>
        </p:nvSpPr>
        <p:spPr>
          <a:xfrm>
            <a:off x="5520690" y="3970097"/>
            <a:ext cx="136885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Complete narrative &amp; citations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76" name="Google Shape;1876;p60" descr="preencoded.png"/>
          <p:cNvPicPr preferRelativeResize="0"/>
          <p:nvPr/>
        </p:nvPicPr>
        <p:blipFill rotWithShape="1">
          <a:blip r:embed="rId13">
            <a:alphaModFix/>
          </a:blip>
          <a:srcRect l="-38042" r="-38041"/>
          <a:stretch/>
        </p:blipFill>
        <p:spPr>
          <a:xfrm>
            <a:off x="349758" y="4319855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77" name="Google Shape;1877;p60"/>
          <p:cNvSpPr txBox="1"/>
          <p:nvPr/>
        </p:nvSpPr>
        <p:spPr>
          <a:xfrm>
            <a:off x="493090" y="4315739"/>
            <a:ext cx="73312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Cost / Analysis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8" name="Google Shape;1878;p60"/>
          <p:cNvSpPr txBox="1"/>
          <p:nvPr/>
        </p:nvSpPr>
        <p:spPr>
          <a:xfrm>
            <a:off x="2069059" y="4315739"/>
            <a:ext cx="3833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~$0.02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9" name="Google Shape;1879;p60"/>
          <p:cNvSpPr/>
          <p:nvPr/>
        </p:nvSpPr>
        <p:spPr>
          <a:xfrm>
            <a:off x="5406161" y="4225900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0" name="Google Shape;1880;p60"/>
          <p:cNvSpPr txBox="1"/>
          <p:nvPr/>
        </p:nvSpPr>
        <p:spPr>
          <a:xfrm>
            <a:off x="5520690" y="4315739"/>
            <a:ext cx="70500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~$0.10 - $0.50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1" name="Google Shape;1881;p60" descr="preencoded.png"/>
          <p:cNvPicPr preferRelativeResize="0"/>
          <p:nvPr/>
        </p:nvPicPr>
        <p:blipFill rotWithShape="1">
          <a:blip r:embed="rId14">
            <a:alphaModFix/>
          </a:blip>
          <a:srcRect l="-27037" r="-27036"/>
          <a:stretch/>
        </p:blipFill>
        <p:spPr>
          <a:xfrm>
            <a:off x="349758" y="4665497"/>
            <a:ext cx="14264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1882" name="Google Shape;1882;p60"/>
          <p:cNvSpPr txBox="1"/>
          <p:nvPr/>
        </p:nvSpPr>
        <p:spPr>
          <a:xfrm>
            <a:off x="493091" y="4661383"/>
            <a:ext cx="75438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Execution Time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3" name="Google Shape;1883;p60"/>
          <p:cNvSpPr txBox="1"/>
          <p:nvPr/>
        </p:nvSpPr>
        <p:spPr>
          <a:xfrm>
            <a:off x="2069059" y="4661383"/>
            <a:ext cx="68305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5 - 10 minutes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4" name="Google Shape;1884;p60"/>
          <p:cNvSpPr/>
          <p:nvPr/>
        </p:nvSpPr>
        <p:spPr>
          <a:xfrm>
            <a:off x="5406161" y="4571543"/>
            <a:ext cx="3457804" cy="292837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5" name="Google Shape;1885;p60"/>
          <p:cNvSpPr txBox="1"/>
          <p:nvPr/>
        </p:nvSpPr>
        <p:spPr>
          <a:xfrm>
            <a:off x="5520690" y="4661383"/>
            <a:ext cx="74066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15 - 30 minutes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6" name="Google Shape;1886;p60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7" name="Google Shape;1887;p60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8" name="Google Shape;1888;p60" descr="preencoded.png"/>
          <p:cNvPicPr preferRelativeResize="0"/>
          <p:nvPr/>
        </p:nvPicPr>
        <p:blipFill rotWithShape="1">
          <a:blip r:embed="rId15">
            <a:alphaModFix/>
          </a:blip>
          <a:srcRect l="-1911" r="-1910"/>
          <a:stretch/>
        </p:blipFill>
        <p:spPr>
          <a:xfrm>
            <a:off x="342900" y="4929530"/>
            <a:ext cx="10012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89" name="Google Shape;1889;p60"/>
          <p:cNvSpPr txBox="1"/>
          <p:nvPr/>
        </p:nvSpPr>
        <p:spPr>
          <a:xfrm>
            <a:off x="471830" y="4918558"/>
            <a:ext cx="143606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Multi-Agent Wins: 9/11 Categories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90" name="Google Shape;1890;p60" descr="preencoded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012138" y="4929530"/>
            <a:ext cx="8572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91" name="Google Shape;1891;p60"/>
          <p:cNvSpPr txBox="1"/>
          <p:nvPr/>
        </p:nvSpPr>
        <p:spPr>
          <a:xfrm>
            <a:off x="2125980" y="4918558"/>
            <a:ext cx="134348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Trade-off: Quality vs Cost/Time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2" name="Google Shape;1892;p60"/>
          <p:cNvSpPr txBox="1"/>
          <p:nvPr/>
        </p:nvSpPr>
        <p:spPr>
          <a:xfrm>
            <a:off x="8470316" y="4918558"/>
            <a:ext cx="4005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42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3" name="Google Shape;1893;p60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94" name="Google Shape;1894;p60" descr="preencoded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895" name="Google Shape;1895;p60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96" name="Google Shape;1896;p60" descr="preencoded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897" name="Google Shape;1897;p60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8" name="Google Shape;1898;p60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99" name="Google Shape;1899;p60" descr="preencoded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900" name="Google Shape;1900;p60"/>
          <p:cNvSpPr txBox="1"/>
          <p:nvPr/>
        </p:nvSpPr>
        <p:spPr>
          <a:xfrm>
            <a:off x="742721" y="178308"/>
            <a:ext cx="2693822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Approach Comparison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Google Shape;1906;p6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7" name="Google Shape;1907;p6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8" name="Google Shape;1908;p61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09" name="Google Shape;1909;p6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1910" name="Google Shape;1910;p61"/>
          <p:cNvSpPr txBox="1"/>
          <p:nvPr/>
        </p:nvSpPr>
        <p:spPr>
          <a:xfrm>
            <a:off x="742721" y="114529"/>
            <a:ext cx="3357676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Comparison: Pipeline vs Multi-Agent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1" name="Google Shape;1911;p61"/>
          <p:cNvSpPr txBox="1"/>
          <p:nvPr/>
        </p:nvSpPr>
        <p:spPr>
          <a:xfrm>
            <a:off x="742721" y="357302"/>
            <a:ext cx="2228850" cy="100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700"/>
              <a:buFont typeface="Arial"/>
              <a:buNone/>
            </a:pPr>
            <a:r>
              <a:rPr lang="en" sz="700">
                <a:solidFill>
                  <a:srgbClr val="60A5FA"/>
                </a:solidFill>
                <a:latin typeface="Arial"/>
                <a:ea typeface="Arial"/>
                <a:cs typeface="Arial"/>
                <a:sym typeface="Arial"/>
              </a:rPr>
              <a:t>analysis.quantitative_results.all_datasets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2" name="Google Shape;1912;p61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3" name="Google Shape;1913;p61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4" name="Google Shape;1914;p61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5" name="Google Shape;1915;p61"/>
          <p:cNvSpPr/>
          <p:nvPr/>
        </p:nvSpPr>
        <p:spPr>
          <a:xfrm>
            <a:off x="171450" y="800329"/>
            <a:ext cx="2857729" cy="1857146"/>
          </a:xfrm>
          <a:prstGeom prst="roundRect">
            <a:avLst>
              <a:gd name="adj" fmla="val 1704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254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6" name="Google Shape;1916;p61"/>
          <p:cNvSpPr/>
          <p:nvPr/>
        </p:nvSpPr>
        <p:spPr>
          <a:xfrm>
            <a:off x="171450" y="2772004"/>
            <a:ext cx="2857729" cy="1857146"/>
          </a:xfrm>
          <a:prstGeom prst="roundRect">
            <a:avLst>
              <a:gd name="adj" fmla="val 1704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254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7" name="Google Shape;1917;p61"/>
          <p:cNvSpPr/>
          <p:nvPr/>
        </p:nvSpPr>
        <p:spPr>
          <a:xfrm>
            <a:off x="178308" y="807187"/>
            <a:ext cx="2843326" cy="49309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8" name="Google Shape;1918;p61"/>
          <p:cNvSpPr/>
          <p:nvPr/>
        </p:nvSpPr>
        <p:spPr>
          <a:xfrm>
            <a:off x="178308" y="1293419"/>
            <a:ext cx="2843326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9" name="Google Shape;1919;p61"/>
          <p:cNvSpPr/>
          <p:nvPr/>
        </p:nvSpPr>
        <p:spPr>
          <a:xfrm>
            <a:off x="178308" y="2778862"/>
            <a:ext cx="2843326" cy="49309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0" name="Google Shape;1920;p61"/>
          <p:cNvSpPr/>
          <p:nvPr/>
        </p:nvSpPr>
        <p:spPr>
          <a:xfrm>
            <a:off x="178308" y="3265094"/>
            <a:ext cx="2843326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1" name="Google Shape;1921;p61"/>
          <p:cNvSpPr/>
          <p:nvPr/>
        </p:nvSpPr>
        <p:spPr>
          <a:xfrm>
            <a:off x="292837" y="936117"/>
            <a:ext cx="228371" cy="228371"/>
          </a:xfrm>
          <a:prstGeom prst="roundRect">
            <a:avLst>
              <a:gd name="adj" fmla="val 37538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2" name="Google Shape;1922;p61" descr="preencoded.png"/>
          <p:cNvPicPr preferRelativeResize="0"/>
          <p:nvPr/>
        </p:nvPicPr>
        <p:blipFill rotWithShape="1">
          <a:blip r:embed="rId4">
            <a:alphaModFix/>
          </a:blip>
          <a:srcRect l="-1506" r="-1506"/>
          <a:stretch/>
        </p:blipFill>
        <p:spPr>
          <a:xfrm>
            <a:off x="342900" y="999896"/>
            <a:ext cx="128930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923" name="Google Shape;1923;p61"/>
          <p:cNvSpPr txBox="1"/>
          <p:nvPr/>
        </p:nvSpPr>
        <p:spPr>
          <a:xfrm>
            <a:off x="578815" y="900455"/>
            <a:ext cx="69677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Lung Cancer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4" name="Google Shape;1924;p61"/>
          <p:cNvSpPr txBox="1"/>
          <p:nvPr/>
        </p:nvSpPr>
        <p:spPr>
          <a:xfrm>
            <a:off x="578815" y="1049960"/>
            <a:ext cx="1443609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Classification (Accuracy)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5" name="Google Shape;1925;p61"/>
          <p:cNvSpPr/>
          <p:nvPr/>
        </p:nvSpPr>
        <p:spPr>
          <a:xfrm>
            <a:off x="2189074" y="949833"/>
            <a:ext cx="721462" cy="200254"/>
          </a:xfrm>
          <a:prstGeom prst="roundRect">
            <a:avLst>
              <a:gd name="adj" fmla="val 342465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6" name="Google Shape;1926;p61"/>
          <p:cNvSpPr txBox="1"/>
          <p:nvPr/>
        </p:nvSpPr>
        <p:spPr>
          <a:xfrm>
            <a:off x="2246681" y="978637"/>
            <a:ext cx="693344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+3.8% avg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7" name="Google Shape;1927;p61"/>
          <p:cNvSpPr/>
          <p:nvPr/>
        </p:nvSpPr>
        <p:spPr>
          <a:xfrm>
            <a:off x="3143021" y="800329"/>
            <a:ext cx="2857729" cy="1857146"/>
          </a:xfrm>
          <a:prstGeom prst="roundRect">
            <a:avLst>
              <a:gd name="adj" fmla="val 1704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254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8" name="Google Shape;1928;p61"/>
          <p:cNvSpPr/>
          <p:nvPr/>
        </p:nvSpPr>
        <p:spPr>
          <a:xfrm>
            <a:off x="3150566" y="807187"/>
            <a:ext cx="2843327" cy="49309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9" name="Google Shape;1929;p61"/>
          <p:cNvSpPr/>
          <p:nvPr/>
        </p:nvSpPr>
        <p:spPr>
          <a:xfrm>
            <a:off x="3150566" y="1293419"/>
            <a:ext cx="2843327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0" name="Google Shape;1930;p61"/>
          <p:cNvSpPr txBox="1"/>
          <p:nvPr/>
        </p:nvSpPr>
        <p:spPr>
          <a:xfrm>
            <a:off x="3550387" y="900455"/>
            <a:ext cx="639851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Iris Flowers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1" name="Google Shape;1931;p61"/>
          <p:cNvSpPr txBox="1"/>
          <p:nvPr/>
        </p:nvSpPr>
        <p:spPr>
          <a:xfrm>
            <a:off x="578816" y="2872130"/>
            <a:ext cx="704317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Wine Quality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2" name="Google Shape;1932;p61"/>
          <p:cNvSpPr/>
          <p:nvPr/>
        </p:nvSpPr>
        <p:spPr>
          <a:xfrm>
            <a:off x="235915" y="1702156"/>
            <a:ext cx="2728799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3" name="Google Shape;1933;p61"/>
          <p:cNvSpPr/>
          <p:nvPr/>
        </p:nvSpPr>
        <p:spPr>
          <a:xfrm>
            <a:off x="235915" y="1967561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4" name="Google Shape;1934;p61"/>
          <p:cNvSpPr/>
          <p:nvPr/>
        </p:nvSpPr>
        <p:spPr>
          <a:xfrm>
            <a:off x="235915" y="2208962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5" name="Google Shape;1935;p61"/>
          <p:cNvSpPr/>
          <p:nvPr/>
        </p:nvSpPr>
        <p:spPr>
          <a:xfrm>
            <a:off x="6179058" y="2208962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6" name="Google Shape;1936;p61"/>
          <p:cNvSpPr/>
          <p:nvPr/>
        </p:nvSpPr>
        <p:spPr>
          <a:xfrm>
            <a:off x="235915" y="3673831"/>
            <a:ext cx="2728799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7" name="Google Shape;1937;p61"/>
          <p:cNvSpPr/>
          <p:nvPr/>
        </p:nvSpPr>
        <p:spPr>
          <a:xfrm>
            <a:off x="235915" y="3939236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8" name="Google Shape;1938;p61"/>
          <p:cNvSpPr/>
          <p:nvPr/>
        </p:nvSpPr>
        <p:spPr>
          <a:xfrm>
            <a:off x="235915" y="4180637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9" name="Google Shape;1939;p61"/>
          <p:cNvSpPr txBox="1"/>
          <p:nvPr/>
        </p:nvSpPr>
        <p:spPr>
          <a:xfrm>
            <a:off x="292837" y="1554709"/>
            <a:ext cx="303124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Model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0" name="Google Shape;1940;p61"/>
          <p:cNvSpPr txBox="1"/>
          <p:nvPr/>
        </p:nvSpPr>
        <p:spPr>
          <a:xfrm>
            <a:off x="1204951" y="1554709"/>
            <a:ext cx="374447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Pipeline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1" name="Google Shape;1941;p61"/>
          <p:cNvSpPr txBox="1"/>
          <p:nvPr/>
        </p:nvSpPr>
        <p:spPr>
          <a:xfrm>
            <a:off x="1813256" y="1554709"/>
            <a:ext cx="29626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Agent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2" name="Google Shape;1942;p61"/>
          <p:cNvSpPr txBox="1"/>
          <p:nvPr/>
        </p:nvSpPr>
        <p:spPr>
          <a:xfrm>
            <a:off x="292837" y="3526384"/>
            <a:ext cx="303124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Model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3" name="Google Shape;1943;p61"/>
          <p:cNvSpPr txBox="1"/>
          <p:nvPr/>
        </p:nvSpPr>
        <p:spPr>
          <a:xfrm>
            <a:off x="1204951" y="3526384"/>
            <a:ext cx="374447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Pipeline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4" name="Google Shape;1944;p61"/>
          <p:cNvSpPr txBox="1"/>
          <p:nvPr/>
        </p:nvSpPr>
        <p:spPr>
          <a:xfrm>
            <a:off x="1813256" y="3526384"/>
            <a:ext cx="29626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Agent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5" name="Google Shape;1945;p61"/>
          <p:cNvSpPr txBox="1"/>
          <p:nvPr/>
        </p:nvSpPr>
        <p:spPr>
          <a:xfrm>
            <a:off x="2603297" y="1554709"/>
            <a:ext cx="18859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Lift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6" name="Google Shape;1946;p61"/>
          <p:cNvSpPr txBox="1"/>
          <p:nvPr/>
        </p:nvSpPr>
        <p:spPr>
          <a:xfrm>
            <a:off x="2603297" y="3526384"/>
            <a:ext cx="18859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Lift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7" name="Google Shape;1947;p61"/>
          <p:cNvSpPr txBox="1"/>
          <p:nvPr/>
        </p:nvSpPr>
        <p:spPr>
          <a:xfrm>
            <a:off x="292837" y="1791995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LogReg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8" name="Google Shape;1948;p61"/>
          <p:cNvSpPr txBox="1"/>
          <p:nvPr/>
        </p:nvSpPr>
        <p:spPr>
          <a:xfrm>
            <a:off x="292837" y="2032712"/>
            <a:ext cx="6501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RandomForest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9" name="Google Shape;1949;p61"/>
          <p:cNvSpPr txBox="1"/>
          <p:nvPr/>
        </p:nvSpPr>
        <p:spPr>
          <a:xfrm>
            <a:off x="292837" y="2274113"/>
            <a:ext cx="42176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0" name="Google Shape;1950;p61"/>
          <p:cNvSpPr txBox="1"/>
          <p:nvPr/>
        </p:nvSpPr>
        <p:spPr>
          <a:xfrm>
            <a:off x="6236666" y="2032712"/>
            <a:ext cx="6501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RandomForest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1" name="Google Shape;1951;p61"/>
          <p:cNvSpPr txBox="1"/>
          <p:nvPr/>
        </p:nvSpPr>
        <p:spPr>
          <a:xfrm>
            <a:off x="6236666" y="2274113"/>
            <a:ext cx="42176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2" name="Google Shape;1952;p61"/>
          <p:cNvSpPr txBox="1"/>
          <p:nvPr/>
        </p:nvSpPr>
        <p:spPr>
          <a:xfrm>
            <a:off x="292837" y="3763670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LogReg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3" name="Google Shape;1953;p61"/>
          <p:cNvSpPr txBox="1"/>
          <p:nvPr/>
        </p:nvSpPr>
        <p:spPr>
          <a:xfrm>
            <a:off x="292837" y="4004387"/>
            <a:ext cx="6501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RandomForest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4" name="Google Shape;1954;p61"/>
          <p:cNvSpPr txBox="1"/>
          <p:nvPr/>
        </p:nvSpPr>
        <p:spPr>
          <a:xfrm>
            <a:off x="292837" y="4245788"/>
            <a:ext cx="42176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5" name="Google Shape;1955;p61"/>
          <p:cNvSpPr txBox="1"/>
          <p:nvPr/>
        </p:nvSpPr>
        <p:spPr>
          <a:xfrm>
            <a:off x="1204951" y="1791995"/>
            <a:ext cx="33604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88.5%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6" name="Google Shape;1956;p61"/>
          <p:cNvSpPr txBox="1"/>
          <p:nvPr/>
        </p:nvSpPr>
        <p:spPr>
          <a:xfrm>
            <a:off x="1204951" y="2032712"/>
            <a:ext cx="33604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90.2%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7" name="Google Shape;1957;p61"/>
          <p:cNvSpPr txBox="1"/>
          <p:nvPr/>
        </p:nvSpPr>
        <p:spPr>
          <a:xfrm>
            <a:off x="1204951" y="2274113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93.4%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8" name="Google Shape;1958;p61"/>
          <p:cNvSpPr txBox="1"/>
          <p:nvPr/>
        </p:nvSpPr>
        <p:spPr>
          <a:xfrm>
            <a:off x="7148780" y="2032712"/>
            <a:ext cx="33604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83.2%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9" name="Google Shape;1959;p61"/>
          <p:cNvSpPr txBox="1"/>
          <p:nvPr/>
        </p:nvSpPr>
        <p:spPr>
          <a:xfrm>
            <a:off x="7148780" y="2274113"/>
            <a:ext cx="32164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81.6%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0" name="Google Shape;1960;p61"/>
          <p:cNvSpPr txBox="1"/>
          <p:nvPr/>
        </p:nvSpPr>
        <p:spPr>
          <a:xfrm>
            <a:off x="1204951" y="3763670"/>
            <a:ext cx="33604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58.5%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1"/>
          <p:cNvSpPr txBox="1"/>
          <p:nvPr/>
        </p:nvSpPr>
        <p:spPr>
          <a:xfrm>
            <a:off x="1204951" y="4004387"/>
            <a:ext cx="32164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67.2%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1"/>
          <p:cNvSpPr txBox="1"/>
          <p:nvPr/>
        </p:nvSpPr>
        <p:spPr>
          <a:xfrm>
            <a:off x="1204951" y="4245788"/>
            <a:ext cx="33604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64.6%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1"/>
          <p:cNvSpPr txBox="1"/>
          <p:nvPr/>
        </p:nvSpPr>
        <p:spPr>
          <a:xfrm>
            <a:off x="1813256" y="1791995"/>
            <a:ext cx="32164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95.1%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4" name="Google Shape;1964;p61"/>
          <p:cNvSpPr txBox="1"/>
          <p:nvPr/>
        </p:nvSpPr>
        <p:spPr>
          <a:xfrm>
            <a:off x="1813256" y="2032712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96.7%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5" name="Google Shape;1965;p61"/>
          <p:cNvSpPr txBox="1"/>
          <p:nvPr/>
        </p:nvSpPr>
        <p:spPr>
          <a:xfrm>
            <a:off x="1813256" y="2274113"/>
            <a:ext cx="32918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97.2%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6" name="Google Shape;1966;p61"/>
          <p:cNvSpPr txBox="1"/>
          <p:nvPr/>
        </p:nvSpPr>
        <p:spPr>
          <a:xfrm>
            <a:off x="7756398" y="1791995"/>
            <a:ext cx="32918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81.6%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7" name="Google Shape;1967;p61"/>
          <p:cNvSpPr txBox="1"/>
          <p:nvPr/>
        </p:nvSpPr>
        <p:spPr>
          <a:xfrm>
            <a:off x="7756398" y="2032712"/>
            <a:ext cx="3504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86.0%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8" name="Google Shape;1968;p61"/>
          <p:cNvSpPr txBox="1"/>
          <p:nvPr/>
        </p:nvSpPr>
        <p:spPr>
          <a:xfrm>
            <a:off x="7756398" y="2274113"/>
            <a:ext cx="3504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84.9%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9" name="Google Shape;1969;p61"/>
          <p:cNvSpPr txBox="1"/>
          <p:nvPr/>
        </p:nvSpPr>
        <p:spPr>
          <a:xfrm>
            <a:off x="1813256" y="3763670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61.1%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0" name="Google Shape;1970;p61"/>
          <p:cNvSpPr txBox="1"/>
          <p:nvPr/>
        </p:nvSpPr>
        <p:spPr>
          <a:xfrm>
            <a:off x="1813256" y="4004387"/>
            <a:ext cx="32164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71.6%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1" name="Google Shape;1971;p61"/>
          <p:cNvSpPr/>
          <p:nvPr/>
        </p:nvSpPr>
        <p:spPr>
          <a:xfrm>
            <a:off x="2420874" y="1777594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2" name="Google Shape;1972;p61"/>
          <p:cNvSpPr/>
          <p:nvPr/>
        </p:nvSpPr>
        <p:spPr>
          <a:xfrm>
            <a:off x="2420874" y="2018996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3" name="Google Shape;1973;p61"/>
          <p:cNvSpPr/>
          <p:nvPr/>
        </p:nvSpPr>
        <p:spPr>
          <a:xfrm>
            <a:off x="2420874" y="2259711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4" name="Google Shape;1974;p61"/>
          <p:cNvSpPr/>
          <p:nvPr/>
        </p:nvSpPr>
        <p:spPr>
          <a:xfrm>
            <a:off x="8364703" y="1777594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5" name="Google Shape;1975;p61"/>
          <p:cNvSpPr/>
          <p:nvPr/>
        </p:nvSpPr>
        <p:spPr>
          <a:xfrm>
            <a:off x="8364703" y="2018996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6" name="Google Shape;1976;p61"/>
          <p:cNvSpPr/>
          <p:nvPr/>
        </p:nvSpPr>
        <p:spPr>
          <a:xfrm>
            <a:off x="8364703" y="2259711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7" name="Google Shape;1977;p61"/>
          <p:cNvSpPr txBox="1"/>
          <p:nvPr/>
        </p:nvSpPr>
        <p:spPr>
          <a:xfrm>
            <a:off x="2535403" y="1796111"/>
            <a:ext cx="31752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+6.6%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8" name="Google Shape;1978;p61"/>
          <p:cNvSpPr txBox="1"/>
          <p:nvPr/>
        </p:nvSpPr>
        <p:spPr>
          <a:xfrm>
            <a:off x="2536088" y="2037512"/>
            <a:ext cx="31752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+6.5%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9" name="Google Shape;1979;p61"/>
          <p:cNvSpPr txBox="1"/>
          <p:nvPr/>
        </p:nvSpPr>
        <p:spPr>
          <a:xfrm>
            <a:off x="2535403" y="2278228"/>
            <a:ext cx="31752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+3.8%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0" name="Google Shape;1980;p61"/>
          <p:cNvSpPr txBox="1"/>
          <p:nvPr/>
        </p:nvSpPr>
        <p:spPr>
          <a:xfrm>
            <a:off x="8479917" y="1796111"/>
            <a:ext cx="31752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+2.3%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1" name="Google Shape;1981;p61"/>
          <p:cNvSpPr txBox="1"/>
          <p:nvPr/>
        </p:nvSpPr>
        <p:spPr>
          <a:xfrm>
            <a:off x="8479917" y="2037512"/>
            <a:ext cx="31752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+2.8%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2" name="Google Shape;1982;p61"/>
          <p:cNvSpPr txBox="1"/>
          <p:nvPr/>
        </p:nvSpPr>
        <p:spPr>
          <a:xfrm>
            <a:off x="8479232" y="2278228"/>
            <a:ext cx="31752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+3.3%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3" name="Google Shape;1983;p61"/>
          <p:cNvSpPr/>
          <p:nvPr/>
        </p:nvSpPr>
        <p:spPr>
          <a:xfrm>
            <a:off x="3264408" y="936117"/>
            <a:ext cx="228371" cy="228371"/>
          </a:xfrm>
          <a:prstGeom prst="roundRect">
            <a:avLst>
              <a:gd name="adj" fmla="val 37538"/>
            </a:avLst>
          </a:prstGeom>
          <a:solidFill>
            <a:srgbClr val="EDE9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4" name="Google Shape;1984;p6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28874" y="999896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1985" name="Google Shape;1985;p61"/>
          <p:cNvSpPr txBox="1"/>
          <p:nvPr/>
        </p:nvSpPr>
        <p:spPr>
          <a:xfrm>
            <a:off x="3550387" y="1049960"/>
            <a:ext cx="1443609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Classification (Accuracy)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6" name="Google Shape;1986;p61"/>
          <p:cNvSpPr/>
          <p:nvPr/>
        </p:nvSpPr>
        <p:spPr>
          <a:xfrm>
            <a:off x="5354726" y="949833"/>
            <a:ext cx="528751" cy="200254"/>
          </a:xfrm>
          <a:prstGeom prst="roundRect">
            <a:avLst>
              <a:gd name="adj" fmla="val 342465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7" name="Google Shape;1987;p61"/>
          <p:cNvSpPr txBox="1"/>
          <p:nvPr/>
        </p:nvSpPr>
        <p:spPr>
          <a:xfrm>
            <a:off x="5411648" y="978637"/>
            <a:ext cx="500634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Perfect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8" name="Google Shape;1988;p61"/>
          <p:cNvSpPr/>
          <p:nvPr/>
        </p:nvSpPr>
        <p:spPr>
          <a:xfrm>
            <a:off x="6115279" y="800329"/>
            <a:ext cx="2857729" cy="1857146"/>
          </a:xfrm>
          <a:prstGeom prst="roundRect">
            <a:avLst>
              <a:gd name="adj" fmla="val 1704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254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9" name="Google Shape;1989;p61"/>
          <p:cNvSpPr/>
          <p:nvPr/>
        </p:nvSpPr>
        <p:spPr>
          <a:xfrm>
            <a:off x="6122137" y="807187"/>
            <a:ext cx="2843327" cy="49309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0" name="Google Shape;1990;p61"/>
          <p:cNvSpPr/>
          <p:nvPr/>
        </p:nvSpPr>
        <p:spPr>
          <a:xfrm>
            <a:off x="6122137" y="1293419"/>
            <a:ext cx="2843327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1" name="Google Shape;1991;p61"/>
          <p:cNvSpPr txBox="1"/>
          <p:nvPr/>
        </p:nvSpPr>
        <p:spPr>
          <a:xfrm>
            <a:off x="6521958" y="900455"/>
            <a:ext cx="41833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Titanic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2" name="Google Shape;1992;p61"/>
          <p:cNvSpPr/>
          <p:nvPr/>
        </p:nvSpPr>
        <p:spPr>
          <a:xfrm>
            <a:off x="3207487" y="1716557"/>
            <a:ext cx="2728799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3" name="Google Shape;1993;p61"/>
          <p:cNvSpPr/>
          <p:nvPr/>
        </p:nvSpPr>
        <p:spPr>
          <a:xfrm>
            <a:off x="3207487" y="1967561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4" name="Google Shape;1994;p61"/>
          <p:cNvSpPr/>
          <p:nvPr/>
        </p:nvSpPr>
        <p:spPr>
          <a:xfrm>
            <a:off x="3207487" y="2194560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5" name="Google Shape;1995;p61"/>
          <p:cNvSpPr/>
          <p:nvPr/>
        </p:nvSpPr>
        <p:spPr>
          <a:xfrm>
            <a:off x="6179058" y="1702156"/>
            <a:ext cx="2728799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6" name="Google Shape;1996;p61"/>
          <p:cNvSpPr/>
          <p:nvPr/>
        </p:nvSpPr>
        <p:spPr>
          <a:xfrm>
            <a:off x="6179058" y="1967561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7" name="Google Shape;1997;p61"/>
          <p:cNvSpPr txBox="1"/>
          <p:nvPr/>
        </p:nvSpPr>
        <p:spPr>
          <a:xfrm>
            <a:off x="3264408" y="1569110"/>
            <a:ext cx="303124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Model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8" name="Google Shape;1998;p61"/>
          <p:cNvSpPr txBox="1"/>
          <p:nvPr/>
        </p:nvSpPr>
        <p:spPr>
          <a:xfrm>
            <a:off x="4176522" y="1569110"/>
            <a:ext cx="37444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Pipeline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9" name="Google Shape;1999;p61"/>
          <p:cNvSpPr txBox="1"/>
          <p:nvPr/>
        </p:nvSpPr>
        <p:spPr>
          <a:xfrm>
            <a:off x="4784827" y="1569110"/>
            <a:ext cx="29626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Agent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0" name="Google Shape;2000;p61"/>
          <p:cNvSpPr txBox="1"/>
          <p:nvPr/>
        </p:nvSpPr>
        <p:spPr>
          <a:xfrm>
            <a:off x="6236666" y="1554709"/>
            <a:ext cx="303124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Model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1" name="Google Shape;2001;p61"/>
          <p:cNvSpPr txBox="1"/>
          <p:nvPr/>
        </p:nvSpPr>
        <p:spPr>
          <a:xfrm>
            <a:off x="7148780" y="1554709"/>
            <a:ext cx="37444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Pipeline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2" name="Google Shape;2002;p61"/>
          <p:cNvSpPr txBox="1"/>
          <p:nvPr/>
        </p:nvSpPr>
        <p:spPr>
          <a:xfrm>
            <a:off x="7756398" y="1554709"/>
            <a:ext cx="29626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Agent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3" name="Google Shape;2003;p61"/>
          <p:cNvSpPr txBox="1"/>
          <p:nvPr/>
        </p:nvSpPr>
        <p:spPr>
          <a:xfrm>
            <a:off x="5574869" y="1569110"/>
            <a:ext cx="18859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Lift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4" name="Google Shape;2004;p61"/>
          <p:cNvSpPr txBox="1"/>
          <p:nvPr/>
        </p:nvSpPr>
        <p:spPr>
          <a:xfrm>
            <a:off x="8546440" y="1554709"/>
            <a:ext cx="18859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Lift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5" name="Google Shape;2005;p61"/>
          <p:cNvSpPr txBox="1"/>
          <p:nvPr/>
        </p:nvSpPr>
        <p:spPr>
          <a:xfrm>
            <a:off x="3264408" y="1798853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LogReg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6" name="Google Shape;2006;p61"/>
          <p:cNvSpPr txBox="1"/>
          <p:nvPr/>
        </p:nvSpPr>
        <p:spPr>
          <a:xfrm>
            <a:off x="3264408" y="2025853"/>
            <a:ext cx="6501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RandomForest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7" name="Google Shape;2007;p61"/>
          <p:cNvSpPr txBox="1"/>
          <p:nvPr/>
        </p:nvSpPr>
        <p:spPr>
          <a:xfrm>
            <a:off x="3264408" y="2259711"/>
            <a:ext cx="42176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8" name="Google Shape;2008;p61"/>
          <p:cNvSpPr txBox="1"/>
          <p:nvPr/>
        </p:nvSpPr>
        <p:spPr>
          <a:xfrm>
            <a:off x="4176522" y="1798853"/>
            <a:ext cx="30038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9" name="Google Shape;2009;p61"/>
          <p:cNvSpPr txBox="1"/>
          <p:nvPr/>
        </p:nvSpPr>
        <p:spPr>
          <a:xfrm>
            <a:off x="4176522" y="2025853"/>
            <a:ext cx="30038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0" name="Google Shape;2010;p61"/>
          <p:cNvSpPr txBox="1"/>
          <p:nvPr/>
        </p:nvSpPr>
        <p:spPr>
          <a:xfrm>
            <a:off x="4176522" y="2259711"/>
            <a:ext cx="32918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96.7%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1"/>
          <p:cNvSpPr txBox="1"/>
          <p:nvPr/>
        </p:nvSpPr>
        <p:spPr>
          <a:xfrm>
            <a:off x="4784827" y="1798853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1"/>
          <p:cNvSpPr txBox="1"/>
          <p:nvPr/>
        </p:nvSpPr>
        <p:spPr>
          <a:xfrm>
            <a:off x="4784827" y="2025853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1"/>
          <p:cNvSpPr txBox="1"/>
          <p:nvPr/>
        </p:nvSpPr>
        <p:spPr>
          <a:xfrm>
            <a:off x="4784827" y="2259711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1"/>
          <p:cNvSpPr/>
          <p:nvPr/>
        </p:nvSpPr>
        <p:spPr>
          <a:xfrm>
            <a:off x="5393132" y="2245995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1"/>
          <p:cNvSpPr txBox="1"/>
          <p:nvPr/>
        </p:nvSpPr>
        <p:spPr>
          <a:xfrm>
            <a:off x="5507660" y="2264512"/>
            <a:ext cx="31752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+3.3%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1"/>
          <p:cNvSpPr txBox="1"/>
          <p:nvPr/>
        </p:nvSpPr>
        <p:spPr>
          <a:xfrm>
            <a:off x="5616017" y="1798853"/>
            <a:ext cx="10767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-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1"/>
          <p:cNvSpPr txBox="1"/>
          <p:nvPr/>
        </p:nvSpPr>
        <p:spPr>
          <a:xfrm>
            <a:off x="5616017" y="2025853"/>
            <a:ext cx="10767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-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1"/>
          <p:cNvSpPr/>
          <p:nvPr/>
        </p:nvSpPr>
        <p:spPr>
          <a:xfrm>
            <a:off x="6236666" y="936117"/>
            <a:ext cx="228371" cy="228371"/>
          </a:xfrm>
          <a:prstGeom prst="roundRect">
            <a:avLst>
              <a:gd name="adj" fmla="val 37538"/>
            </a:avLst>
          </a:prstGeom>
          <a:solidFill>
            <a:srgbClr val="E0E7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9" name="Google Shape;2019;p61" descr="preencoded.png"/>
          <p:cNvPicPr preferRelativeResize="0"/>
          <p:nvPr/>
        </p:nvPicPr>
        <p:blipFill rotWithShape="1">
          <a:blip r:embed="rId6">
            <a:alphaModFix/>
          </a:blip>
          <a:srcRect l="-837" r="-837"/>
          <a:stretch/>
        </p:blipFill>
        <p:spPr>
          <a:xfrm>
            <a:off x="6293587" y="999896"/>
            <a:ext cx="114529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020" name="Google Shape;2020;p61"/>
          <p:cNvSpPr txBox="1"/>
          <p:nvPr/>
        </p:nvSpPr>
        <p:spPr>
          <a:xfrm>
            <a:off x="6521958" y="1049960"/>
            <a:ext cx="1443609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Classification (Accuracy)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1"/>
          <p:cNvSpPr/>
          <p:nvPr/>
        </p:nvSpPr>
        <p:spPr>
          <a:xfrm>
            <a:off x="8134274" y="949833"/>
            <a:ext cx="721462" cy="200254"/>
          </a:xfrm>
          <a:prstGeom prst="roundRect">
            <a:avLst>
              <a:gd name="adj" fmla="val 342465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1"/>
          <p:cNvSpPr txBox="1"/>
          <p:nvPr/>
        </p:nvSpPr>
        <p:spPr>
          <a:xfrm>
            <a:off x="8191196" y="978637"/>
            <a:ext cx="693343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+2.8% avg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1"/>
          <p:cNvSpPr/>
          <p:nvPr/>
        </p:nvSpPr>
        <p:spPr>
          <a:xfrm>
            <a:off x="292837" y="2907792"/>
            <a:ext cx="228371" cy="228371"/>
          </a:xfrm>
          <a:prstGeom prst="roundRect">
            <a:avLst>
              <a:gd name="adj" fmla="val 37538"/>
            </a:avLst>
          </a:prstGeom>
          <a:solidFill>
            <a:srgbClr val="FEE2E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4" name="Google Shape;2024;p61" descr="preencoded.png"/>
          <p:cNvPicPr preferRelativeResize="0"/>
          <p:nvPr/>
        </p:nvPicPr>
        <p:blipFill rotWithShape="1">
          <a:blip r:embed="rId7">
            <a:alphaModFix/>
          </a:blip>
          <a:srcRect l="-1506" r="-1506"/>
          <a:stretch/>
        </p:blipFill>
        <p:spPr>
          <a:xfrm>
            <a:off x="375133" y="2971571"/>
            <a:ext cx="64465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025" name="Google Shape;2025;p61"/>
          <p:cNvSpPr txBox="1"/>
          <p:nvPr/>
        </p:nvSpPr>
        <p:spPr>
          <a:xfrm>
            <a:off x="578815" y="3021635"/>
            <a:ext cx="1443609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Classification (Accuracy)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1"/>
          <p:cNvSpPr/>
          <p:nvPr/>
        </p:nvSpPr>
        <p:spPr>
          <a:xfrm>
            <a:off x="2218563" y="2921508"/>
            <a:ext cx="692658" cy="200254"/>
          </a:xfrm>
          <a:prstGeom prst="roundRect">
            <a:avLst>
              <a:gd name="adj" fmla="val 342465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1"/>
          <p:cNvSpPr txBox="1"/>
          <p:nvPr/>
        </p:nvSpPr>
        <p:spPr>
          <a:xfrm>
            <a:off x="2276170" y="2950312"/>
            <a:ext cx="664541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+4.1% avg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1"/>
          <p:cNvSpPr/>
          <p:nvPr/>
        </p:nvSpPr>
        <p:spPr>
          <a:xfrm>
            <a:off x="3143021" y="2772004"/>
            <a:ext cx="2857729" cy="1857146"/>
          </a:xfrm>
          <a:prstGeom prst="roundRect">
            <a:avLst>
              <a:gd name="adj" fmla="val 1704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254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1"/>
          <p:cNvSpPr/>
          <p:nvPr/>
        </p:nvSpPr>
        <p:spPr>
          <a:xfrm>
            <a:off x="3150566" y="2778862"/>
            <a:ext cx="2843327" cy="49309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1"/>
          <p:cNvSpPr/>
          <p:nvPr/>
        </p:nvSpPr>
        <p:spPr>
          <a:xfrm>
            <a:off x="3150566" y="3265094"/>
            <a:ext cx="2843327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1"/>
          <p:cNvSpPr txBox="1"/>
          <p:nvPr/>
        </p:nvSpPr>
        <p:spPr>
          <a:xfrm>
            <a:off x="3550387" y="2872130"/>
            <a:ext cx="73243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Housing Data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1"/>
          <p:cNvSpPr/>
          <p:nvPr/>
        </p:nvSpPr>
        <p:spPr>
          <a:xfrm>
            <a:off x="3207487" y="3673831"/>
            <a:ext cx="2728799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1"/>
          <p:cNvSpPr/>
          <p:nvPr/>
        </p:nvSpPr>
        <p:spPr>
          <a:xfrm>
            <a:off x="3207487" y="3939236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1"/>
          <p:cNvSpPr/>
          <p:nvPr/>
        </p:nvSpPr>
        <p:spPr>
          <a:xfrm>
            <a:off x="3207487" y="4180637"/>
            <a:ext cx="272879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1"/>
          <p:cNvSpPr txBox="1"/>
          <p:nvPr/>
        </p:nvSpPr>
        <p:spPr>
          <a:xfrm>
            <a:off x="3264408" y="3526384"/>
            <a:ext cx="303124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Model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1"/>
          <p:cNvSpPr txBox="1"/>
          <p:nvPr/>
        </p:nvSpPr>
        <p:spPr>
          <a:xfrm>
            <a:off x="4176522" y="3526384"/>
            <a:ext cx="37444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Pipeline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1"/>
          <p:cNvSpPr txBox="1"/>
          <p:nvPr/>
        </p:nvSpPr>
        <p:spPr>
          <a:xfrm>
            <a:off x="4784827" y="3526384"/>
            <a:ext cx="29626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Agent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1"/>
          <p:cNvSpPr txBox="1"/>
          <p:nvPr/>
        </p:nvSpPr>
        <p:spPr>
          <a:xfrm>
            <a:off x="5574869" y="3526384"/>
            <a:ext cx="18859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Lift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9" name="Google Shape;2039;p61"/>
          <p:cNvSpPr txBox="1"/>
          <p:nvPr/>
        </p:nvSpPr>
        <p:spPr>
          <a:xfrm>
            <a:off x="3264408" y="4004387"/>
            <a:ext cx="6501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RandomForest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0" name="Google Shape;2040;p61"/>
          <p:cNvSpPr txBox="1"/>
          <p:nvPr/>
        </p:nvSpPr>
        <p:spPr>
          <a:xfrm>
            <a:off x="3264408" y="4245788"/>
            <a:ext cx="42176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1" name="Google Shape;2041;p61"/>
          <p:cNvSpPr txBox="1"/>
          <p:nvPr/>
        </p:nvSpPr>
        <p:spPr>
          <a:xfrm>
            <a:off x="4176522" y="4004387"/>
            <a:ext cx="25031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0.87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1"/>
          <p:cNvSpPr txBox="1"/>
          <p:nvPr/>
        </p:nvSpPr>
        <p:spPr>
          <a:xfrm>
            <a:off x="4176522" y="4245788"/>
            <a:ext cx="25031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0.89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1"/>
          <p:cNvSpPr txBox="1"/>
          <p:nvPr/>
        </p:nvSpPr>
        <p:spPr>
          <a:xfrm>
            <a:off x="1813256" y="4245788"/>
            <a:ext cx="3504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69.0%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1"/>
          <p:cNvSpPr/>
          <p:nvPr/>
        </p:nvSpPr>
        <p:spPr>
          <a:xfrm>
            <a:off x="2420874" y="3749269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5" name="Google Shape;2045;p61"/>
          <p:cNvSpPr/>
          <p:nvPr/>
        </p:nvSpPr>
        <p:spPr>
          <a:xfrm>
            <a:off x="2420874" y="3990671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1"/>
          <p:cNvSpPr/>
          <p:nvPr/>
        </p:nvSpPr>
        <p:spPr>
          <a:xfrm>
            <a:off x="2420874" y="4231386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7" name="Google Shape;2047;p61"/>
          <p:cNvSpPr txBox="1"/>
          <p:nvPr/>
        </p:nvSpPr>
        <p:spPr>
          <a:xfrm>
            <a:off x="2536088" y="3767786"/>
            <a:ext cx="317525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+2.6%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8" name="Google Shape;2048;p61"/>
          <p:cNvSpPr txBox="1"/>
          <p:nvPr/>
        </p:nvSpPr>
        <p:spPr>
          <a:xfrm>
            <a:off x="2532659" y="4009187"/>
            <a:ext cx="324383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+4.4%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9" name="Google Shape;2049;p61"/>
          <p:cNvSpPr txBox="1"/>
          <p:nvPr/>
        </p:nvSpPr>
        <p:spPr>
          <a:xfrm>
            <a:off x="2532659" y="4249903"/>
            <a:ext cx="324383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+4.4%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0" name="Google Shape;2050;p61" descr="preencoded.png"/>
          <p:cNvPicPr preferRelativeResize="0"/>
          <p:nvPr/>
        </p:nvPicPr>
        <p:blipFill rotWithShape="1">
          <a:blip r:embed="rId8">
            <a:alphaModFix/>
          </a:blip>
          <a:srcRect l="-837" r="-837"/>
          <a:stretch/>
        </p:blipFill>
        <p:spPr>
          <a:xfrm>
            <a:off x="3322016" y="2971571"/>
            <a:ext cx="114529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051" name="Google Shape;2051;p61"/>
          <p:cNvSpPr txBox="1"/>
          <p:nvPr/>
        </p:nvSpPr>
        <p:spPr>
          <a:xfrm>
            <a:off x="3550387" y="3021635"/>
            <a:ext cx="1279017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Regression (R² Score)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2" name="Google Shape;2052;p61"/>
          <p:cNvSpPr/>
          <p:nvPr/>
        </p:nvSpPr>
        <p:spPr>
          <a:xfrm>
            <a:off x="5196992" y="2921508"/>
            <a:ext cx="685800" cy="200254"/>
          </a:xfrm>
          <a:prstGeom prst="roundRect">
            <a:avLst>
              <a:gd name="adj" fmla="val 342465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3" name="Google Shape;2053;p61"/>
          <p:cNvSpPr txBox="1"/>
          <p:nvPr/>
        </p:nvSpPr>
        <p:spPr>
          <a:xfrm>
            <a:off x="5254600" y="2950312"/>
            <a:ext cx="65768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+0.08 avg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4" name="Google Shape;2054;p61"/>
          <p:cNvSpPr txBox="1"/>
          <p:nvPr/>
        </p:nvSpPr>
        <p:spPr>
          <a:xfrm>
            <a:off x="3264408" y="3763670"/>
            <a:ext cx="47868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LinearReg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5" name="Google Shape;2055;p61"/>
          <p:cNvSpPr txBox="1"/>
          <p:nvPr/>
        </p:nvSpPr>
        <p:spPr>
          <a:xfrm>
            <a:off x="4176522" y="3763670"/>
            <a:ext cx="25031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700"/>
              <a:buFont typeface="Inter"/>
              <a:buNone/>
            </a:pPr>
            <a:r>
              <a:rPr lang="en" sz="7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0.68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6" name="Google Shape;2056;p61"/>
          <p:cNvSpPr txBox="1"/>
          <p:nvPr/>
        </p:nvSpPr>
        <p:spPr>
          <a:xfrm>
            <a:off x="4784827" y="3763670"/>
            <a:ext cx="25717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0.78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7" name="Google Shape;2057;p61"/>
          <p:cNvSpPr txBox="1"/>
          <p:nvPr/>
        </p:nvSpPr>
        <p:spPr>
          <a:xfrm>
            <a:off x="4784827" y="4004387"/>
            <a:ext cx="24345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0.91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8" name="Google Shape;2058;p61"/>
          <p:cNvSpPr txBox="1"/>
          <p:nvPr/>
        </p:nvSpPr>
        <p:spPr>
          <a:xfrm>
            <a:off x="4784827" y="4245788"/>
            <a:ext cx="26471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0.93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9" name="Google Shape;2059;p61"/>
          <p:cNvSpPr/>
          <p:nvPr/>
        </p:nvSpPr>
        <p:spPr>
          <a:xfrm>
            <a:off x="5393132" y="3749269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0" name="Google Shape;2060;p61"/>
          <p:cNvSpPr/>
          <p:nvPr/>
        </p:nvSpPr>
        <p:spPr>
          <a:xfrm>
            <a:off x="5393132" y="3990671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1" name="Google Shape;2061;p61"/>
          <p:cNvSpPr/>
          <p:nvPr/>
        </p:nvSpPr>
        <p:spPr>
          <a:xfrm>
            <a:off x="5393132" y="4231386"/>
            <a:ext cx="493090" cy="142646"/>
          </a:xfrm>
          <a:prstGeom prst="roundRect">
            <a:avLst>
              <a:gd name="adj" fmla="val 96154"/>
            </a:avLst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2" name="Google Shape;2062;p61"/>
          <p:cNvSpPr txBox="1"/>
          <p:nvPr/>
        </p:nvSpPr>
        <p:spPr>
          <a:xfrm>
            <a:off x="5531663" y="3767786"/>
            <a:ext cx="274320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+0.10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3" name="Google Shape;2063;p61"/>
          <p:cNvSpPr txBox="1"/>
          <p:nvPr/>
        </p:nvSpPr>
        <p:spPr>
          <a:xfrm>
            <a:off x="5519318" y="4009187"/>
            <a:ext cx="29626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+0.04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4" name="Google Shape;2064;p61"/>
          <p:cNvSpPr txBox="1"/>
          <p:nvPr/>
        </p:nvSpPr>
        <p:spPr>
          <a:xfrm>
            <a:off x="5519318" y="4249903"/>
            <a:ext cx="296266" cy="10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+0.04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5" name="Google Shape;2065;p61"/>
          <p:cNvSpPr/>
          <p:nvPr/>
        </p:nvSpPr>
        <p:spPr>
          <a:xfrm>
            <a:off x="6898463" y="4507763"/>
            <a:ext cx="56921" cy="56921"/>
          </a:xfrm>
          <a:prstGeom prst="roundRect">
            <a:avLst>
              <a:gd name="adj" fmla="val 1204822"/>
            </a:avLst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6" name="Google Shape;2066;p61"/>
          <p:cNvSpPr txBox="1"/>
          <p:nvPr/>
        </p:nvSpPr>
        <p:spPr>
          <a:xfrm>
            <a:off x="6984188" y="4450842"/>
            <a:ext cx="5143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Pipeline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7" name="Google Shape;2067;p61"/>
          <p:cNvSpPr/>
          <p:nvPr/>
        </p:nvSpPr>
        <p:spPr>
          <a:xfrm>
            <a:off x="7468362" y="4507763"/>
            <a:ext cx="56921" cy="56921"/>
          </a:xfrm>
          <a:prstGeom prst="roundRect">
            <a:avLst>
              <a:gd name="adj" fmla="val 1204822"/>
            </a:avLst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8" name="Google Shape;2068;p61"/>
          <p:cNvSpPr txBox="1"/>
          <p:nvPr/>
        </p:nvSpPr>
        <p:spPr>
          <a:xfrm>
            <a:off x="7554087" y="4450842"/>
            <a:ext cx="72214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Inter"/>
              <a:buNone/>
            </a:pPr>
            <a:r>
              <a:rPr lang="en" sz="9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Multi-Agent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9" name="Google Shape;2069;p61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0" name="Google Shape;2070;p61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71" name="Google Shape;2071;p61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2900" y="4932959"/>
            <a:ext cx="8572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072" name="Google Shape;2072;p61"/>
          <p:cNvSpPr txBox="1"/>
          <p:nvPr/>
        </p:nvSpPr>
        <p:spPr>
          <a:xfrm>
            <a:off x="485546" y="4918558"/>
            <a:ext cx="413674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Multi-Agent System consistently outperforms Pipeline approach across all datasets and model types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3" name="Google Shape;2073;p61"/>
          <p:cNvSpPr txBox="1"/>
          <p:nvPr/>
        </p:nvSpPr>
        <p:spPr>
          <a:xfrm>
            <a:off x="8469630" y="4918558"/>
            <a:ext cx="4005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43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4" name="Google Shape;2074;p61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5" name="Google Shape;2075;p61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76" name="Google Shape;2076;p61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077" name="Google Shape;2077;p61"/>
          <p:cNvSpPr txBox="1"/>
          <p:nvPr/>
        </p:nvSpPr>
        <p:spPr>
          <a:xfrm>
            <a:off x="742721" y="178308"/>
            <a:ext cx="4729963" cy="178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Result Comparison (Not consistent as LLM based techniques)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78" name="Google Shape;2078;p6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232658" y="1709014"/>
            <a:ext cx="2557820" cy="7930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4" name="Google Shape;2084;p62"/>
          <p:cNvSpPr/>
          <p:nvPr/>
        </p:nvSpPr>
        <p:spPr>
          <a:xfrm>
            <a:off x="0" y="0"/>
            <a:ext cx="9143771" cy="587936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5" name="Google Shape;2085;p62"/>
          <p:cNvSpPr/>
          <p:nvPr/>
        </p:nvSpPr>
        <p:spPr>
          <a:xfrm>
            <a:off x="0" y="0"/>
            <a:ext cx="9143771" cy="5879363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6" name="Google Shape;2086;p62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7" name="Google Shape;2087;p6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392" y="214655"/>
            <a:ext cx="178308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088" name="Google Shape;2088;p62"/>
          <p:cNvSpPr txBox="1"/>
          <p:nvPr/>
        </p:nvSpPr>
        <p:spPr>
          <a:xfrm>
            <a:off x="742721" y="178308"/>
            <a:ext cx="3415284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Multi-Agent System: Detailed Results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9" name="Google Shape;2089;p62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0" name="Google Shape;2090;p62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1" name="Google Shape;2091;p62"/>
          <p:cNvSpPr/>
          <p:nvPr/>
        </p:nvSpPr>
        <p:spPr>
          <a:xfrm>
            <a:off x="0" y="628879"/>
            <a:ext cx="9143771" cy="49075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2" name="Google Shape;2092;p62"/>
          <p:cNvSpPr/>
          <p:nvPr/>
        </p:nvSpPr>
        <p:spPr>
          <a:xfrm>
            <a:off x="228371" y="857250"/>
            <a:ext cx="1335938" cy="101429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3" name="Google Shape;2093;p62"/>
          <p:cNvSpPr/>
          <p:nvPr/>
        </p:nvSpPr>
        <p:spPr>
          <a:xfrm>
            <a:off x="228371" y="857250"/>
            <a:ext cx="28804" cy="101429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4" name="Google Shape;2094;p62"/>
          <p:cNvSpPr/>
          <p:nvPr/>
        </p:nvSpPr>
        <p:spPr>
          <a:xfrm>
            <a:off x="342900" y="942975"/>
            <a:ext cx="200254" cy="257175"/>
          </a:xfrm>
          <a:prstGeom prst="roundRect">
            <a:avLst>
              <a:gd name="adj" fmla="val 97847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95" name="Google Shape;2095;p62" descr="preencoded.png"/>
          <p:cNvPicPr preferRelativeResize="0"/>
          <p:nvPr/>
        </p:nvPicPr>
        <p:blipFill rotWithShape="1">
          <a:blip r:embed="rId4">
            <a:alphaModFix/>
          </a:blip>
          <a:srcRect l="-837" r="-837"/>
          <a:stretch/>
        </p:blipFill>
        <p:spPr>
          <a:xfrm>
            <a:off x="386105" y="1026643"/>
            <a:ext cx="114529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096" name="Google Shape;2096;p62"/>
          <p:cNvSpPr/>
          <p:nvPr/>
        </p:nvSpPr>
        <p:spPr>
          <a:xfrm>
            <a:off x="771525" y="942975"/>
            <a:ext cx="707059" cy="200254"/>
          </a:xfrm>
          <a:prstGeom prst="roundRect">
            <a:avLst>
              <a:gd name="adj" fmla="val 342465"/>
            </a:avLst>
          </a:prstGeom>
          <a:solidFill>
            <a:srgbClr val="D1FA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7" name="Google Shape;2097;p62"/>
          <p:cNvSpPr txBox="1"/>
          <p:nvPr/>
        </p:nvSpPr>
        <p:spPr>
          <a:xfrm>
            <a:off x="814045" y="971779"/>
            <a:ext cx="707746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+8.2% Avg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8" name="Google Shape;2098;p62"/>
          <p:cNvSpPr txBox="1"/>
          <p:nvPr/>
        </p:nvSpPr>
        <p:spPr>
          <a:xfrm>
            <a:off x="342900" y="1228954"/>
            <a:ext cx="72900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Accuracy Boost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9" name="Google Shape;2099;p62"/>
          <p:cNvSpPr txBox="1"/>
          <p:nvPr/>
        </p:nvSpPr>
        <p:spPr>
          <a:xfrm>
            <a:off x="342900" y="1357199"/>
            <a:ext cx="835991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Better feature engineering &amp; selection.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0" name="Google Shape;2100;p62"/>
          <p:cNvSpPr/>
          <p:nvPr/>
        </p:nvSpPr>
        <p:spPr>
          <a:xfrm>
            <a:off x="1676096" y="857250"/>
            <a:ext cx="1335938" cy="101429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1" name="Google Shape;2101;p62"/>
          <p:cNvSpPr/>
          <p:nvPr/>
        </p:nvSpPr>
        <p:spPr>
          <a:xfrm>
            <a:off x="1676095" y="857250"/>
            <a:ext cx="28804" cy="1014299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2" name="Google Shape;2102;p62"/>
          <p:cNvSpPr/>
          <p:nvPr/>
        </p:nvSpPr>
        <p:spPr>
          <a:xfrm>
            <a:off x="1790624" y="942975"/>
            <a:ext cx="164592" cy="257175"/>
          </a:xfrm>
          <a:prstGeom prst="roundRect">
            <a:avLst>
              <a:gd name="adj" fmla="val 144928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03" name="Google Shape;2103;p62" descr="preencoded.png"/>
          <p:cNvPicPr preferRelativeResize="0"/>
          <p:nvPr/>
        </p:nvPicPr>
        <p:blipFill rotWithShape="1">
          <a:blip r:embed="rId5">
            <a:alphaModFix/>
          </a:blip>
          <a:srcRect l="-2512" r="-2512"/>
          <a:stretch/>
        </p:blipFill>
        <p:spPr>
          <a:xfrm>
            <a:off x="1833830" y="1026643"/>
            <a:ext cx="7886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104" name="Google Shape;2104;p62"/>
          <p:cNvSpPr/>
          <p:nvPr/>
        </p:nvSpPr>
        <p:spPr>
          <a:xfrm>
            <a:off x="2436647" y="942975"/>
            <a:ext cx="493090" cy="200254"/>
          </a:xfrm>
          <a:prstGeom prst="roundRect">
            <a:avLst>
              <a:gd name="adj" fmla="val 342465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5" name="Google Shape;2105;p62"/>
          <p:cNvSpPr txBox="1"/>
          <p:nvPr/>
        </p:nvSpPr>
        <p:spPr>
          <a:xfrm>
            <a:off x="2479852" y="971779"/>
            <a:ext cx="493090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Quality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6" name="Google Shape;2106;p62"/>
          <p:cNvSpPr txBox="1"/>
          <p:nvPr/>
        </p:nvSpPr>
        <p:spPr>
          <a:xfrm>
            <a:off x="1790624" y="1228954"/>
            <a:ext cx="97177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Report Completeness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7" name="Google Shape;2107;p62"/>
          <p:cNvSpPr txBox="1"/>
          <p:nvPr/>
        </p:nvSpPr>
        <p:spPr>
          <a:xfrm>
            <a:off x="1790624" y="1357199"/>
            <a:ext cx="1150772" cy="285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18-35 academic citations per report.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8" name="Google Shape;2108;p62"/>
          <p:cNvSpPr/>
          <p:nvPr/>
        </p:nvSpPr>
        <p:spPr>
          <a:xfrm>
            <a:off x="3124504" y="857250"/>
            <a:ext cx="1335938" cy="101429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9" name="Google Shape;2109;p62"/>
          <p:cNvSpPr/>
          <p:nvPr/>
        </p:nvSpPr>
        <p:spPr>
          <a:xfrm>
            <a:off x="3124505" y="857250"/>
            <a:ext cx="28804" cy="101429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0" name="Google Shape;2110;p62"/>
          <p:cNvSpPr/>
          <p:nvPr/>
        </p:nvSpPr>
        <p:spPr>
          <a:xfrm>
            <a:off x="3238348" y="942975"/>
            <a:ext cx="171450" cy="257175"/>
          </a:xfrm>
          <a:prstGeom prst="roundRect">
            <a:avLst>
              <a:gd name="adj" fmla="val 133333"/>
            </a:avLst>
          </a:prstGeom>
          <a:solidFill>
            <a:srgbClr val="EDE9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1" name="Google Shape;2111;p62" descr="preencoded.png"/>
          <p:cNvPicPr preferRelativeResize="0"/>
          <p:nvPr/>
        </p:nvPicPr>
        <p:blipFill rotWithShape="1">
          <a:blip r:embed="rId6">
            <a:alphaModFix/>
          </a:blip>
          <a:srcRect t="-1100" b="-1100"/>
          <a:stretch/>
        </p:blipFill>
        <p:spPr>
          <a:xfrm>
            <a:off x="3281553" y="1026643"/>
            <a:ext cx="85725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112" name="Google Shape;2112;p62"/>
          <p:cNvSpPr/>
          <p:nvPr/>
        </p:nvSpPr>
        <p:spPr>
          <a:xfrm>
            <a:off x="3762299" y="942975"/>
            <a:ext cx="614476" cy="200254"/>
          </a:xfrm>
          <a:prstGeom prst="roundRect">
            <a:avLst>
              <a:gd name="adj" fmla="val 342465"/>
            </a:avLst>
          </a:prstGeom>
          <a:solidFill>
            <a:srgbClr val="EDE9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3" name="Google Shape;2113;p62"/>
          <p:cNvSpPr txBox="1"/>
          <p:nvPr/>
        </p:nvSpPr>
        <p:spPr>
          <a:xfrm>
            <a:off x="3805505" y="971779"/>
            <a:ext cx="614476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5B21B6"/>
                </a:solidFill>
                <a:latin typeface="Inter"/>
                <a:ea typeface="Inter"/>
                <a:cs typeface="Inter"/>
                <a:sym typeface="Inter"/>
              </a:rPr>
              <a:t>Research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4" name="Google Shape;2114;p62"/>
          <p:cNvSpPr txBox="1"/>
          <p:nvPr/>
        </p:nvSpPr>
        <p:spPr>
          <a:xfrm>
            <a:off x="3238348" y="1228954"/>
            <a:ext cx="86479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Hypothesis Quality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5" name="Google Shape;2115;p62"/>
          <p:cNvSpPr txBox="1"/>
          <p:nvPr/>
        </p:nvSpPr>
        <p:spPr>
          <a:xfrm>
            <a:off x="3238348" y="1357199"/>
            <a:ext cx="893597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Context-aware scientific formulation.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6" name="Google Shape;2116;p62"/>
          <p:cNvSpPr/>
          <p:nvPr/>
        </p:nvSpPr>
        <p:spPr>
          <a:xfrm>
            <a:off x="4572229" y="857250"/>
            <a:ext cx="1335938" cy="1014299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7" name="Google Shape;2117;p62"/>
          <p:cNvSpPr/>
          <p:nvPr/>
        </p:nvSpPr>
        <p:spPr>
          <a:xfrm>
            <a:off x="4572229" y="857250"/>
            <a:ext cx="28804" cy="101429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8" name="Google Shape;2118;p62"/>
          <p:cNvSpPr/>
          <p:nvPr/>
        </p:nvSpPr>
        <p:spPr>
          <a:xfrm>
            <a:off x="4686071" y="942975"/>
            <a:ext cx="214655" cy="257175"/>
          </a:xfrm>
          <a:prstGeom prst="roundRect">
            <a:avLst>
              <a:gd name="adj" fmla="val 85197"/>
            </a:avLst>
          </a:prstGeom>
          <a:solidFill>
            <a:srgbClr val="FEE2E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9" name="Google Shape;2119;p62" descr="preencoded.png"/>
          <p:cNvPicPr preferRelativeResize="0"/>
          <p:nvPr/>
        </p:nvPicPr>
        <p:blipFill rotWithShape="1">
          <a:blip r:embed="rId7">
            <a:alphaModFix/>
          </a:blip>
          <a:srcRect l="-1506" r="-1506"/>
          <a:stretch/>
        </p:blipFill>
        <p:spPr>
          <a:xfrm>
            <a:off x="4729277" y="1026643"/>
            <a:ext cx="128930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120" name="Google Shape;2120;p62"/>
          <p:cNvSpPr/>
          <p:nvPr/>
        </p:nvSpPr>
        <p:spPr>
          <a:xfrm>
            <a:off x="5341010" y="942975"/>
            <a:ext cx="478688" cy="200254"/>
          </a:xfrm>
          <a:prstGeom prst="roundRect">
            <a:avLst>
              <a:gd name="adj" fmla="val 342465"/>
            </a:avLst>
          </a:prstGeom>
          <a:solidFill>
            <a:srgbClr val="FEE2E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1" name="Google Shape;2121;p62"/>
          <p:cNvSpPr txBox="1"/>
          <p:nvPr/>
        </p:nvSpPr>
        <p:spPr>
          <a:xfrm>
            <a:off x="5384216" y="971779"/>
            <a:ext cx="478688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Robust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2" name="Google Shape;2122;p62"/>
          <p:cNvSpPr txBox="1"/>
          <p:nvPr/>
        </p:nvSpPr>
        <p:spPr>
          <a:xfrm>
            <a:off x="4686071" y="1228954"/>
            <a:ext cx="60761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Code Quality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3" name="Google Shape;2123;p62"/>
          <p:cNvSpPr txBox="1"/>
          <p:nvPr/>
        </p:nvSpPr>
        <p:spPr>
          <a:xfrm>
            <a:off x="4686071" y="1357199"/>
            <a:ext cx="1157630" cy="285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Leakage prevention via expert review.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4" name="Google Shape;2124;p62"/>
          <p:cNvSpPr/>
          <p:nvPr/>
        </p:nvSpPr>
        <p:spPr>
          <a:xfrm>
            <a:off x="228371" y="2042999"/>
            <a:ext cx="5679110" cy="3264408"/>
          </a:xfrm>
          <a:prstGeom prst="roundRect">
            <a:avLst>
              <a:gd name="adj" fmla="val 552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25" name="Google Shape;2125;p6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1704" y="2207591"/>
            <a:ext cx="10012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126" name="Google Shape;2126;p62"/>
          <p:cNvSpPr txBox="1"/>
          <p:nvPr/>
        </p:nvSpPr>
        <p:spPr>
          <a:xfrm>
            <a:off x="528751" y="2186330"/>
            <a:ext cx="2239823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Enhanced Performance Metrics (5 Datasets)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7" name="Google Shape;2127;p62"/>
          <p:cNvSpPr/>
          <p:nvPr/>
        </p:nvSpPr>
        <p:spPr>
          <a:xfrm>
            <a:off x="371704" y="2414702"/>
            <a:ext cx="5393817" cy="2750058"/>
          </a:xfrm>
          <a:prstGeom prst="roundRect">
            <a:avLst>
              <a:gd name="adj" fmla="val 518"/>
            </a:avLst>
          </a:prstGeom>
          <a:noFill/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8" name="Google Shape;2128;p62"/>
          <p:cNvSpPr/>
          <p:nvPr/>
        </p:nvSpPr>
        <p:spPr>
          <a:xfrm>
            <a:off x="1450467" y="2654046"/>
            <a:ext cx="6858" cy="46428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9" name="Google Shape;2129;p62"/>
          <p:cNvSpPr txBox="1"/>
          <p:nvPr/>
        </p:nvSpPr>
        <p:spPr>
          <a:xfrm>
            <a:off x="435483" y="2714396"/>
            <a:ext cx="91485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Survey Lung Cancer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30" name="Google Shape;2130;p62" descr="preencoded.png"/>
          <p:cNvPicPr preferRelativeResize="0"/>
          <p:nvPr/>
        </p:nvPicPr>
        <p:blipFill rotWithShape="1">
          <a:blip r:embed="rId9">
            <a:alphaModFix/>
          </a:blip>
          <a:srcRect l="-133" r="-133"/>
          <a:stretch/>
        </p:blipFill>
        <p:spPr>
          <a:xfrm>
            <a:off x="435483" y="2872130"/>
            <a:ext cx="6446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131" name="Google Shape;2131;p62"/>
          <p:cNvSpPr txBox="1"/>
          <p:nvPr/>
        </p:nvSpPr>
        <p:spPr>
          <a:xfrm>
            <a:off x="528751" y="2857729"/>
            <a:ext cx="750266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Significant Boost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2" name="Google Shape;2132;p62"/>
          <p:cNvSpPr/>
          <p:nvPr/>
        </p:nvSpPr>
        <p:spPr>
          <a:xfrm>
            <a:off x="2525801" y="2654046"/>
            <a:ext cx="6858" cy="46428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3" name="Google Shape;2133;p62"/>
          <p:cNvSpPr txBox="1"/>
          <p:nvPr/>
        </p:nvSpPr>
        <p:spPr>
          <a:xfrm>
            <a:off x="1514933" y="2714396"/>
            <a:ext cx="45742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Accuracy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4" name="Google Shape;2134;p62"/>
          <p:cNvSpPr txBox="1"/>
          <p:nvPr/>
        </p:nvSpPr>
        <p:spPr>
          <a:xfrm>
            <a:off x="1514933" y="2828925"/>
            <a:ext cx="41490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F1 Score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5" name="Google Shape;2135;p62"/>
          <p:cNvSpPr txBox="1"/>
          <p:nvPr/>
        </p:nvSpPr>
        <p:spPr>
          <a:xfrm>
            <a:off x="1514933" y="2943454"/>
            <a:ext cx="25031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6" name="Google Shape;2136;p62"/>
          <p:cNvSpPr/>
          <p:nvPr/>
        </p:nvSpPr>
        <p:spPr>
          <a:xfrm>
            <a:off x="3601135" y="2654046"/>
            <a:ext cx="6858" cy="46428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7" name="Google Shape;2137;p62"/>
          <p:cNvSpPr txBox="1"/>
          <p:nvPr/>
        </p:nvSpPr>
        <p:spPr>
          <a:xfrm>
            <a:off x="2940710" y="2714396"/>
            <a:ext cx="32164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95.1%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8" name="Google Shape;2138;p62"/>
          <p:cNvSpPr txBox="1"/>
          <p:nvPr/>
        </p:nvSpPr>
        <p:spPr>
          <a:xfrm>
            <a:off x="2977057" y="2828925"/>
            <a:ext cx="25031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0.82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9" name="Google Shape;2139;p62"/>
          <p:cNvSpPr txBox="1"/>
          <p:nvPr/>
        </p:nvSpPr>
        <p:spPr>
          <a:xfrm>
            <a:off x="2979116" y="2943454"/>
            <a:ext cx="24345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0.97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0" name="Google Shape;2140;p62"/>
          <p:cNvSpPr/>
          <p:nvPr/>
        </p:nvSpPr>
        <p:spPr>
          <a:xfrm>
            <a:off x="4676471" y="2654046"/>
            <a:ext cx="6858" cy="464287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1" name="Google Shape;2141;p62"/>
          <p:cNvSpPr txBox="1"/>
          <p:nvPr/>
        </p:nvSpPr>
        <p:spPr>
          <a:xfrm>
            <a:off x="4006444" y="2714396"/>
            <a:ext cx="3429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96.7%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2" name="Google Shape;2142;p62"/>
          <p:cNvSpPr txBox="1"/>
          <p:nvPr/>
        </p:nvSpPr>
        <p:spPr>
          <a:xfrm>
            <a:off x="4053078" y="2828925"/>
            <a:ext cx="24345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0.85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3" name="Google Shape;2143;p62"/>
          <p:cNvSpPr txBox="1"/>
          <p:nvPr/>
        </p:nvSpPr>
        <p:spPr>
          <a:xfrm>
            <a:off x="4051021" y="2943454"/>
            <a:ext cx="25031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0.98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4" name="Google Shape;2144;p62"/>
          <p:cNvSpPr/>
          <p:nvPr/>
        </p:nvSpPr>
        <p:spPr>
          <a:xfrm>
            <a:off x="4679900" y="2654046"/>
            <a:ext cx="1078763" cy="464287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5" name="Google Shape;2145;p62"/>
          <p:cNvSpPr txBox="1"/>
          <p:nvPr/>
        </p:nvSpPr>
        <p:spPr>
          <a:xfrm>
            <a:off x="5087951" y="2714396"/>
            <a:ext cx="32918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97.2%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6" name="Google Shape;2146;p62"/>
          <p:cNvSpPr txBox="1"/>
          <p:nvPr/>
        </p:nvSpPr>
        <p:spPr>
          <a:xfrm>
            <a:off x="5137327" y="2828925"/>
            <a:ext cx="22905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0.91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7" name="Google Shape;2147;p62"/>
          <p:cNvSpPr txBox="1"/>
          <p:nvPr/>
        </p:nvSpPr>
        <p:spPr>
          <a:xfrm>
            <a:off x="5128412" y="2943454"/>
            <a:ext cx="25031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0.99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8" name="Google Shape;2148;p62"/>
          <p:cNvSpPr/>
          <p:nvPr/>
        </p:nvSpPr>
        <p:spPr>
          <a:xfrm>
            <a:off x="378562" y="3118333"/>
            <a:ext cx="537941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9" name="Google Shape;2149;p62"/>
          <p:cNvSpPr/>
          <p:nvPr/>
        </p:nvSpPr>
        <p:spPr>
          <a:xfrm>
            <a:off x="1450467" y="3118333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0" name="Google Shape;2150;p62"/>
          <p:cNvSpPr txBox="1"/>
          <p:nvPr/>
        </p:nvSpPr>
        <p:spPr>
          <a:xfrm>
            <a:off x="435483" y="3178683"/>
            <a:ext cx="55069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Iris Flowers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1" name="Google Shape;2151;p62"/>
          <p:cNvSpPr txBox="1"/>
          <p:nvPr/>
        </p:nvSpPr>
        <p:spPr>
          <a:xfrm>
            <a:off x="435483" y="3322016"/>
            <a:ext cx="62202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Perfect Score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2" name="Google Shape;2152;p62"/>
          <p:cNvSpPr/>
          <p:nvPr/>
        </p:nvSpPr>
        <p:spPr>
          <a:xfrm>
            <a:off x="2525801" y="3118333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3" name="Google Shape;2153;p62"/>
          <p:cNvSpPr txBox="1"/>
          <p:nvPr/>
        </p:nvSpPr>
        <p:spPr>
          <a:xfrm>
            <a:off x="1514933" y="3178683"/>
            <a:ext cx="45742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Accuracy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4" name="Google Shape;2154;p62"/>
          <p:cNvSpPr txBox="1"/>
          <p:nvPr/>
        </p:nvSpPr>
        <p:spPr>
          <a:xfrm>
            <a:off x="1514933" y="3293212"/>
            <a:ext cx="41490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F1 Score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5" name="Google Shape;2155;p62"/>
          <p:cNvSpPr/>
          <p:nvPr/>
        </p:nvSpPr>
        <p:spPr>
          <a:xfrm>
            <a:off x="2529230" y="3118333"/>
            <a:ext cx="1078763" cy="37856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6" name="Google Shape;2156;p62"/>
          <p:cNvSpPr/>
          <p:nvPr/>
        </p:nvSpPr>
        <p:spPr>
          <a:xfrm>
            <a:off x="3601135" y="3118333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7" name="Google Shape;2157;p62"/>
          <p:cNvSpPr txBox="1"/>
          <p:nvPr/>
        </p:nvSpPr>
        <p:spPr>
          <a:xfrm>
            <a:off x="2946883" y="3178683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8" name="Google Shape;2158;p62"/>
          <p:cNvSpPr txBox="1"/>
          <p:nvPr/>
        </p:nvSpPr>
        <p:spPr>
          <a:xfrm>
            <a:off x="3011348" y="3293212"/>
            <a:ext cx="17899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9" name="Google Shape;2159;p62"/>
          <p:cNvSpPr/>
          <p:nvPr/>
        </p:nvSpPr>
        <p:spPr>
          <a:xfrm>
            <a:off x="3604565" y="3118333"/>
            <a:ext cx="1078763" cy="37856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0" name="Google Shape;2160;p62"/>
          <p:cNvSpPr/>
          <p:nvPr/>
        </p:nvSpPr>
        <p:spPr>
          <a:xfrm>
            <a:off x="4676471" y="3118333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1" name="Google Shape;2161;p62"/>
          <p:cNvSpPr txBox="1"/>
          <p:nvPr/>
        </p:nvSpPr>
        <p:spPr>
          <a:xfrm>
            <a:off x="4022217" y="3178683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2" name="Google Shape;2162;p62"/>
          <p:cNvSpPr txBox="1"/>
          <p:nvPr/>
        </p:nvSpPr>
        <p:spPr>
          <a:xfrm>
            <a:off x="4086683" y="3293212"/>
            <a:ext cx="17899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3" name="Google Shape;2163;p62"/>
          <p:cNvSpPr/>
          <p:nvPr/>
        </p:nvSpPr>
        <p:spPr>
          <a:xfrm>
            <a:off x="4679900" y="3118333"/>
            <a:ext cx="1078763" cy="37856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4" name="Google Shape;2164;p62"/>
          <p:cNvSpPr txBox="1"/>
          <p:nvPr/>
        </p:nvSpPr>
        <p:spPr>
          <a:xfrm>
            <a:off x="5099608" y="3178683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5" name="Google Shape;2165;p62"/>
          <p:cNvSpPr txBox="1"/>
          <p:nvPr/>
        </p:nvSpPr>
        <p:spPr>
          <a:xfrm>
            <a:off x="5164074" y="3293212"/>
            <a:ext cx="17899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6" name="Google Shape;2166;p62"/>
          <p:cNvSpPr/>
          <p:nvPr/>
        </p:nvSpPr>
        <p:spPr>
          <a:xfrm>
            <a:off x="378562" y="3496895"/>
            <a:ext cx="537941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7" name="Google Shape;2167;p62"/>
          <p:cNvSpPr/>
          <p:nvPr/>
        </p:nvSpPr>
        <p:spPr>
          <a:xfrm>
            <a:off x="1450467" y="3496894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8" name="Google Shape;2168;p62"/>
          <p:cNvSpPr txBox="1"/>
          <p:nvPr/>
        </p:nvSpPr>
        <p:spPr>
          <a:xfrm>
            <a:off x="435483" y="3557930"/>
            <a:ext cx="35730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Titanic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9" name="Google Shape;2169;p62"/>
          <p:cNvSpPr txBox="1"/>
          <p:nvPr/>
        </p:nvSpPr>
        <p:spPr>
          <a:xfrm>
            <a:off x="435483" y="3700577"/>
            <a:ext cx="76466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Better Imputation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0" name="Google Shape;2170;p62"/>
          <p:cNvSpPr/>
          <p:nvPr/>
        </p:nvSpPr>
        <p:spPr>
          <a:xfrm>
            <a:off x="2525801" y="3496894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1" name="Google Shape;2171;p62"/>
          <p:cNvSpPr txBox="1"/>
          <p:nvPr/>
        </p:nvSpPr>
        <p:spPr>
          <a:xfrm>
            <a:off x="1514933" y="3557930"/>
            <a:ext cx="45742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Accuracy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2" name="Google Shape;2172;p62"/>
          <p:cNvSpPr txBox="1"/>
          <p:nvPr/>
        </p:nvSpPr>
        <p:spPr>
          <a:xfrm>
            <a:off x="1514933" y="3671774"/>
            <a:ext cx="55755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Comparison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3" name="Google Shape;2173;p62"/>
          <p:cNvSpPr/>
          <p:nvPr/>
        </p:nvSpPr>
        <p:spPr>
          <a:xfrm>
            <a:off x="3601135" y="3496894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4" name="Google Shape;2174;p62"/>
          <p:cNvSpPr txBox="1"/>
          <p:nvPr/>
        </p:nvSpPr>
        <p:spPr>
          <a:xfrm>
            <a:off x="2935910" y="3557930"/>
            <a:ext cx="32918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81.6%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5" name="Google Shape;2175;p62"/>
          <p:cNvSpPr txBox="1"/>
          <p:nvPr/>
        </p:nvSpPr>
        <p:spPr>
          <a:xfrm>
            <a:off x="2774061" y="3671774"/>
            <a:ext cx="6501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+2.3% vs Pipe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6" name="Google Shape;2176;p62"/>
          <p:cNvSpPr/>
          <p:nvPr/>
        </p:nvSpPr>
        <p:spPr>
          <a:xfrm>
            <a:off x="3604565" y="3496894"/>
            <a:ext cx="1078763" cy="37856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7" name="Google Shape;2177;p62"/>
          <p:cNvSpPr/>
          <p:nvPr/>
        </p:nvSpPr>
        <p:spPr>
          <a:xfrm>
            <a:off x="4676471" y="3496894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8" name="Google Shape;2178;p62"/>
          <p:cNvSpPr txBox="1"/>
          <p:nvPr/>
        </p:nvSpPr>
        <p:spPr>
          <a:xfrm>
            <a:off x="4002329" y="3557930"/>
            <a:ext cx="3504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86.0%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9" name="Google Shape;2179;p62"/>
          <p:cNvSpPr txBox="1"/>
          <p:nvPr/>
        </p:nvSpPr>
        <p:spPr>
          <a:xfrm>
            <a:off x="3849395" y="3671774"/>
            <a:ext cx="6501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+2.8% vs Pipe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0" name="Google Shape;2180;p62"/>
          <p:cNvSpPr txBox="1"/>
          <p:nvPr/>
        </p:nvSpPr>
        <p:spPr>
          <a:xfrm>
            <a:off x="5079035" y="3557930"/>
            <a:ext cx="3504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84.9%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1" name="Google Shape;2181;p62"/>
          <p:cNvSpPr txBox="1"/>
          <p:nvPr/>
        </p:nvSpPr>
        <p:spPr>
          <a:xfrm>
            <a:off x="4926788" y="3671774"/>
            <a:ext cx="65768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+3.3% vs Pipe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2" name="Google Shape;2182;p62"/>
          <p:cNvSpPr/>
          <p:nvPr/>
        </p:nvSpPr>
        <p:spPr>
          <a:xfrm>
            <a:off x="378562" y="3875456"/>
            <a:ext cx="537941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3" name="Google Shape;2183;p62"/>
          <p:cNvSpPr/>
          <p:nvPr/>
        </p:nvSpPr>
        <p:spPr>
          <a:xfrm>
            <a:off x="1450467" y="3875455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4" name="Google Shape;2184;p62"/>
          <p:cNvSpPr txBox="1"/>
          <p:nvPr/>
        </p:nvSpPr>
        <p:spPr>
          <a:xfrm>
            <a:off x="435483" y="3936492"/>
            <a:ext cx="40736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WineQT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5" name="Google Shape;2185;p62"/>
          <p:cNvSpPr txBox="1"/>
          <p:nvPr/>
        </p:nvSpPr>
        <p:spPr>
          <a:xfrm>
            <a:off x="435483" y="4079138"/>
            <a:ext cx="95737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Complex Feature Eng.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6" name="Google Shape;2186;p62"/>
          <p:cNvSpPr/>
          <p:nvPr/>
        </p:nvSpPr>
        <p:spPr>
          <a:xfrm>
            <a:off x="2525801" y="3875455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7" name="Google Shape;2187;p62"/>
          <p:cNvSpPr txBox="1"/>
          <p:nvPr/>
        </p:nvSpPr>
        <p:spPr>
          <a:xfrm>
            <a:off x="1514933" y="3936492"/>
            <a:ext cx="45742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Accuracy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8" name="Google Shape;2188;p62"/>
          <p:cNvSpPr txBox="1"/>
          <p:nvPr/>
        </p:nvSpPr>
        <p:spPr>
          <a:xfrm>
            <a:off x="1514933" y="4050335"/>
            <a:ext cx="55755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Comparison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9" name="Google Shape;2189;p62"/>
          <p:cNvSpPr/>
          <p:nvPr/>
        </p:nvSpPr>
        <p:spPr>
          <a:xfrm>
            <a:off x="3601135" y="3875455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0" name="Google Shape;2190;p62"/>
          <p:cNvSpPr txBox="1"/>
          <p:nvPr/>
        </p:nvSpPr>
        <p:spPr>
          <a:xfrm>
            <a:off x="2948255" y="3936492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61.1%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1" name="Google Shape;2191;p62"/>
          <p:cNvSpPr txBox="1"/>
          <p:nvPr/>
        </p:nvSpPr>
        <p:spPr>
          <a:xfrm>
            <a:off x="2774061" y="4050335"/>
            <a:ext cx="6501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+2.6% vs Pipe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2" name="Google Shape;2192;p62"/>
          <p:cNvSpPr/>
          <p:nvPr/>
        </p:nvSpPr>
        <p:spPr>
          <a:xfrm>
            <a:off x="3604565" y="3875455"/>
            <a:ext cx="1078763" cy="37856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3" name="Google Shape;2193;p62"/>
          <p:cNvSpPr/>
          <p:nvPr/>
        </p:nvSpPr>
        <p:spPr>
          <a:xfrm>
            <a:off x="4676471" y="3875455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4" name="Google Shape;2194;p62"/>
          <p:cNvSpPr txBox="1"/>
          <p:nvPr/>
        </p:nvSpPr>
        <p:spPr>
          <a:xfrm>
            <a:off x="4014674" y="3936492"/>
            <a:ext cx="32164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71.6%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5" name="Google Shape;2195;p62"/>
          <p:cNvSpPr txBox="1"/>
          <p:nvPr/>
        </p:nvSpPr>
        <p:spPr>
          <a:xfrm>
            <a:off x="3845966" y="4050335"/>
            <a:ext cx="66454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+4.4% vs Pipe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6" name="Google Shape;2196;p62"/>
          <p:cNvSpPr txBox="1"/>
          <p:nvPr/>
        </p:nvSpPr>
        <p:spPr>
          <a:xfrm>
            <a:off x="5079721" y="3936492"/>
            <a:ext cx="3504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69.0%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7" name="Google Shape;2197;p62"/>
          <p:cNvSpPr txBox="1"/>
          <p:nvPr/>
        </p:nvSpPr>
        <p:spPr>
          <a:xfrm>
            <a:off x="4922672" y="4050335"/>
            <a:ext cx="66454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+4.4% vs Pipe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8" name="Google Shape;2198;p62"/>
          <p:cNvSpPr/>
          <p:nvPr/>
        </p:nvSpPr>
        <p:spPr>
          <a:xfrm>
            <a:off x="378562" y="4254017"/>
            <a:ext cx="5379415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9" name="Google Shape;2199;p62"/>
          <p:cNvSpPr/>
          <p:nvPr/>
        </p:nvSpPr>
        <p:spPr>
          <a:xfrm>
            <a:off x="1450467" y="4254017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0" name="Google Shape;2200;p62"/>
          <p:cNvSpPr txBox="1"/>
          <p:nvPr/>
        </p:nvSpPr>
        <p:spPr>
          <a:xfrm>
            <a:off x="435483" y="4315054"/>
            <a:ext cx="62887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Housing Data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1" name="Google Shape;2201;p62"/>
          <p:cNvSpPr txBox="1"/>
          <p:nvPr/>
        </p:nvSpPr>
        <p:spPr>
          <a:xfrm>
            <a:off x="435483" y="4457700"/>
            <a:ext cx="72900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Regression Task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2" name="Google Shape;2202;p62"/>
          <p:cNvSpPr/>
          <p:nvPr/>
        </p:nvSpPr>
        <p:spPr>
          <a:xfrm>
            <a:off x="2525801" y="4254017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3" name="Google Shape;2203;p62"/>
          <p:cNvSpPr txBox="1"/>
          <p:nvPr/>
        </p:nvSpPr>
        <p:spPr>
          <a:xfrm>
            <a:off x="1514933" y="4315054"/>
            <a:ext cx="42176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R² Score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4" name="Google Shape;2204;p62"/>
          <p:cNvSpPr txBox="1"/>
          <p:nvPr/>
        </p:nvSpPr>
        <p:spPr>
          <a:xfrm>
            <a:off x="1514933" y="4428896"/>
            <a:ext cx="30723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RMSE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5" name="Google Shape;2205;p62"/>
          <p:cNvSpPr/>
          <p:nvPr/>
        </p:nvSpPr>
        <p:spPr>
          <a:xfrm>
            <a:off x="3601135" y="4254017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6" name="Google Shape;2206;p62"/>
          <p:cNvSpPr txBox="1"/>
          <p:nvPr/>
        </p:nvSpPr>
        <p:spPr>
          <a:xfrm>
            <a:off x="2973628" y="4315054"/>
            <a:ext cx="25717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0.78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7" name="Google Shape;2207;p62"/>
          <p:cNvSpPr txBox="1"/>
          <p:nvPr/>
        </p:nvSpPr>
        <p:spPr>
          <a:xfrm>
            <a:off x="3002432" y="4428896"/>
            <a:ext cx="20025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4.2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8" name="Google Shape;2208;p62"/>
          <p:cNvSpPr/>
          <p:nvPr/>
        </p:nvSpPr>
        <p:spPr>
          <a:xfrm>
            <a:off x="4676471" y="4254017"/>
            <a:ext cx="6858" cy="37856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9" name="Google Shape;2209;p62"/>
          <p:cNvSpPr txBox="1"/>
          <p:nvPr/>
        </p:nvSpPr>
        <p:spPr>
          <a:xfrm>
            <a:off x="4054450" y="4315054"/>
            <a:ext cx="24345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0.91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0" name="Google Shape;2210;p62"/>
          <p:cNvSpPr txBox="1"/>
          <p:nvPr/>
        </p:nvSpPr>
        <p:spPr>
          <a:xfrm>
            <a:off x="4078453" y="4428896"/>
            <a:ext cx="19339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2.8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1" name="Google Shape;2211;p62"/>
          <p:cNvSpPr/>
          <p:nvPr/>
        </p:nvSpPr>
        <p:spPr>
          <a:xfrm>
            <a:off x="4679900" y="4254017"/>
            <a:ext cx="1078763" cy="37856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2" name="Google Shape;2212;p62"/>
          <p:cNvSpPr txBox="1"/>
          <p:nvPr/>
        </p:nvSpPr>
        <p:spPr>
          <a:xfrm>
            <a:off x="5122926" y="4315054"/>
            <a:ext cx="26471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0.93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3" name="Google Shape;2213;p62"/>
          <p:cNvSpPr txBox="1"/>
          <p:nvPr/>
        </p:nvSpPr>
        <p:spPr>
          <a:xfrm>
            <a:off x="5156531" y="4428896"/>
            <a:ext cx="19339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2.5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4" name="Google Shape;2214;p62"/>
          <p:cNvSpPr/>
          <p:nvPr/>
        </p:nvSpPr>
        <p:spPr>
          <a:xfrm>
            <a:off x="6076873" y="857250"/>
            <a:ext cx="2843327" cy="2293316"/>
          </a:xfrm>
          <a:prstGeom prst="roundRect">
            <a:avLst>
              <a:gd name="adj" fmla="val 1118"/>
            </a:avLst>
          </a:prstGeom>
          <a:solidFill>
            <a:srgbClr val="FFFFFF"/>
          </a:solidFill>
          <a:ln>
            <a:noFill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5" name="Google Shape;2215;p62"/>
          <p:cNvSpPr/>
          <p:nvPr/>
        </p:nvSpPr>
        <p:spPr>
          <a:xfrm>
            <a:off x="6219521" y="1285875"/>
            <a:ext cx="2557349" cy="685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16" name="Google Shape;2216;p62" descr="preencoded.png"/>
          <p:cNvPicPr preferRelativeResize="0"/>
          <p:nvPr/>
        </p:nvPicPr>
        <p:blipFill rotWithShape="1">
          <a:blip r:embed="rId10">
            <a:alphaModFix/>
          </a:blip>
          <a:srcRect l="-837" r="-837"/>
          <a:stretch/>
        </p:blipFill>
        <p:spPr>
          <a:xfrm>
            <a:off x="6219521" y="1049960"/>
            <a:ext cx="114529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217" name="Google Shape;2217;p62"/>
          <p:cNvSpPr txBox="1"/>
          <p:nvPr/>
        </p:nvSpPr>
        <p:spPr>
          <a:xfrm>
            <a:off x="6390971" y="1028700"/>
            <a:ext cx="790042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Output Quality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8" name="Google Shape;2218;p62"/>
          <p:cNvSpPr/>
          <p:nvPr/>
        </p:nvSpPr>
        <p:spPr>
          <a:xfrm>
            <a:off x="7651471" y="999896"/>
            <a:ext cx="1121283" cy="200254"/>
          </a:xfrm>
          <a:prstGeom prst="roundRect">
            <a:avLst>
              <a:gd name="adj" fmla="val 342465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9" name="Google Shape;2219;p62"/>
          <p:cNvSpPr txBox="1"/>
          <p:nvPr/>
        </p:nvSpPr>
        <p:spPr>
          <a:xfrm>
            <a:off x="7709078" y="1028700"/>
            <a:ext cx="1093165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Publication Ready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0" name="Google Shape;2220;p62"/>
          <p:cNvSpPr txBox="1"/>
          <p:nvPr/>
        </p:nvSpPr>
        <p:spPr>
          <a:xfrm>
            <a:off x="6219520" y="1407262"/>
            <a:ext cx="87919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Citations per Report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1" name="Google Shape;2221;p62"/>
          <p:cNvSpPr txBox="1"/>
          <p:nvPr/>
        </p:nvSpPr>
        <p:spPr>
          <a:xfrm>
            <a:off x="8174736" y="1407262"/>
            <a:ext cx="66454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18-35 sources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2" name="Google Shape;2222;p62"/>
          <p:cNvSpPr/>
          <p:nvPr/>
        </p:nvSpPr>
        <p:spPr>
          <a:xfrm>
            <a:off x="6219521" y="1607516"/>
            <a:ext cx="2557349" cy="43205"/>
          </a:xfrm>
          <a:prstGeom prst="roundRect">
            <a:avLst>
              <a:gd name="adj" fmla="val 1587307"/>
            </a:avLst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3" name="Google Shape;2223;p62"/>
          <p:cNvSpPr/>
          <p:nvPr/>
        </p:nvSpPr>
        <p:spPr>
          <a:xfrm>
            <a:off x="6219520" y="1607516"/>
            <a:ext cx="2300174" cy="43205"/>
          </a:xfrm>
          <a:prstGeom prst="roundRect">
            <a:avLst>
              <a:gd name="adj" fmla="val 1587307"/>
            </a:avLst>
          </a:prstGeom>
          <a:solidFill>
            <a:srgbClr val="3B82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4" name="Google Shape;2224;p62"/>
          <p:cNvSpPr txBox="1"/>
          <p:nvPr/>
        </p:nvSpPr>
        <p:spPr>
          <a:xfrm>
            <a:off x="6219520" y="1764563"/>
            <a:ext cx="79347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Context Retention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5" name="Google Shape;2225;p62"/>
          <p:cNvSpPr txBox="1"/>
          <p:nvPr/>
        </p:nvSpPr>
        <p:spPr>
          <a:xfrm>
            <a:off x="8082153" y="1764563"/>
            <a:ext cx="75780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50+ interactions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6" name="Google Shape;2226;p62"/>
          <p:cNvSpPr/>
          <p:nvPr/>
        </p:nvSpPr>
        <p:spPr>
          <a:xfrm>
            <a:off x="6219521" y="1964817"/>
            <a:ext cx="2557349" cy="43205"/>
          </a:xfrm>
          <a:prstGeom prst="roundRect">
            <a:avLst>
              <a:gd name="adj" fmla="val 1587307"/>
            </a:avLst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7" name="Google Shape;2227;p62"/>
          <p:cNvSpPr/>
          <p:nvPr/>
        </p:nvSpPr>
        <p:spPr>
          <a:xfrm>
            <a:off x="6219521" y="1964817"/>
            <a:ext cx="2557349" cy="43205"/>
          </a:xfrm>
          <a:prstGeom prst="roundRect">
            <a:avLst>
              <a:gd name="adj" fmla="val 1587307"/>
            </a:avLst>
          </a:prstGeom>
          <a:solidFill>
            <a:srgbClr val="8B5C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8" name="Google Shape;2228;p62"/>
          <p:cNvSpPr txBox="1"/>
          <p:nvPr/>
        </p:nvSpPr>
        <p:spPr>
          <a:xfrm>
            <a:off x="6219521" y="2121866"/>
            <a:ext cx="6933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Code Reliability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9" name="Google Shape;2229;p62"/>
          <p:cNvSpPr txBox="1"/>
          <p:nvPr/>
        </p:nvSpPr>
        <p:spPr>
          <a:xfrm>
            <a:off x="8148676" y="2121866"/>
            <a:ext cx="6933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95% Pass Rate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0" name="Google Shape;2230;p62"/>
          <p:cNvSpPr/>
          <p:nvPr/>
        </p:nvSpPr>
        <p:spPr>
          <a:xfrm>
            <a:off x="6219521" y="2321433"/>
            <a:ext cx="2557349" cy="43205"/>
          </a:xfrm>
          <a:prstGeom prst="roundRect">
            <a:avLst>
              <a:gd name="adj" fmla="val 1587307"/>
            </a:avLst>
          </a:prstGeom>
          <a:solidFill>
            <a:srgbClr val="F3F4F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1" name="Google Shape;2231;p62"/>
          <p:cNvSpPr/>
          <p:nvPr/>
        </p:nvSpPr>
        <p:spPr>
          <a:xfrm>
            <a:off x="6219521" y="2321433"/>
            <a:ext cx="2429104" cy="43205"/>
          </a:xfrm>
          <a:prstGeom prst="roundRect">
            <a:avLst>
              <a:gd name="adj" fmla="val 1587307"/>
            </a:avLst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2" name="Google Shape;2232;p62"/>
          <p:cNvSpPr/>
          <p:nvPr/>
        </p:nvSpPr>
        <p:spPr>
          <a:xfrm>
            <a:off x="6219521" y="2536088"/>
            <a:ext cx="2557349" cy="471830"/>
          </a:xfrm>
          <a:prstGeom prst="roundRect">
            <a:avLst>
              <a:gd name="adj" fmla="val 17618"/>
            </a:avLst>
          </a:prstGeom>
          <a:solidFill>
            <a:srgbClr val="EFF6FF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3" name="Google Shape;2233;p62"/>
          <p:cNvSpPr txBox="1"/>
          <p:nvPr/>
        </p:nvSpPr>
        <p:spPr>
          <a:xfrm>
            <a:off x="6283985" y="2600554"/>
            <a:ext cx="251482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40AF"/>
              </a:buClr>
              <a:buSzPts val="900"/>
              <a:buFont typeface="Inter"/>
              <a:buNone/>
            </a:pPr>
            <a:r>
              <a:rPr lang="en" sz="90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Multi-agent collaboration produces depth comparable to expert analysis.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4" name="Google Shape;2234;p62"/>
          <p:cNvSpPr/>
          <p:nvPr/>
        </p:nvSpPr>
        <p:spPr>
          <a:xfrm>
            <a:off x="0" y="5536463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5" name="Google Shape;2235;p62"/>
          <p:cNvSpPr/>
          <p:nvPr/>
        </p:nvSpPr>
        <p:spPr>
          <a:xfrm>
            <a:off x="0" y="5536463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6" name="Google Shape;2236;p62"/>
          <p:cNvSpPr txBox="1"/>
          <p:nvPr/>
        </p:nvSpPr>
        <p:spPr>
          <a:xfrm>
            <a:off x="342900" y="5654421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7" name="Google Shape;2237;p62"/>
          <p:cNvSpPr txBox="1"/>
          <p:nvPr/>
        </p:nvSpPr>
        <p:spPr>
          <a:xfrm>
            <a:off x="8467573" y="5654421"/>
            <a:ext cx="4005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44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8" name="Google Shape;2238;p62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9" name="Google Shape;2239;p62"/>
          <p:cNvSpPr/>
          <p:nvPr/>
        </p:nvSpPr>
        <p:spPr>
          <a:xfrm>
            <a:off x="378562" y="2421560"/>
            <a:ext cx="5379415" cy="23591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0" name="Google Shape;2240;p62"/>
          <p:cNvSpPr/>
          <p:nvPr/>
        </p:nvSpPr>
        <p:spPr>
          <a:xfrm>
            <a:off x="378562" y="2650617"/>
            <a:ext cx="5379415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1" name="Google Shape;2241;p62"/>
          <p:cNvSpPr txBox="1"/>
          <p:nvPr/>
        </p:nvSpPr>
        <p:spPr>
          <a:xfrm>
            <a:off x="435483" y="2479167"/>
            <a:ext cx="3929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Dataset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2" name="Google Shape;2242;p62"/>
          <p:cNvSpPr txBox="1"/>
          <p:nvPr/>
        </p:nvSpPr>
        <p:spPr>
          <a:xfrm>
            <a:off x="1510817" y="2479167"/>
            <a:ext cx="33604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Metric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3" name="Google Shape;2243;p62"/>
          <p:cNvSpPr txBox="1"/>
          <p:nvPr/>
        </p:nvSpPr>
        <p:spPr>
          <a:xfrm>
            <a:off x="2796692" y="2479167"/>
            <a:ext cx="60761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Logistic Reg.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4" name="Google Shape;2244;p62"/>
          <p:cNvSpPr txBox="1"/>
          <p:nvPr/>
        </p:nvSpPr>
        <p:spPr>
          <a:xfrm>
            <a:off x="3828136" y="2479167"/>
            <a:ext cx="6933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5" name="Google Shape;2245;p62"/>
          <p:cNvSpPr txBox="1"/>
          <p:nvPr/>
        </p:nvSpPr>
        <p:spPr>
          <a:xfrm>
            <a:off x="5035829" y="2479167"/>
            <a:ext cx="43616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XGBoost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6" name="Google Shape;2246;p62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47" name="Google Shape;2247;p62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248" name="Google Shape;2248;p62"/>
          <p:cNvSpPr txBox="1"/>
          <p:nvPr/>
        </p:nvSpPr>
        <p:spPr>
          <a:xfrm>
            <a:off x="742721" y="178308"/>
            <a:ext cx="4729963" cy="178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Multi Agent Approach: Results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4" name="Google Shape;2254;p63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5" name="Google Shape;2255;p63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6" name="Google Shape;2256;p63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4F46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57" name="Google Shape;2257;p6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2054" y="214655"/>
            <a:ext cx="106985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258" name="Google Shape;2258;p63"/>
          <p:cNvSpPr txBox="1"/>
          <p:nvPr/>
        </p:nvSpPr>
        <p:spPr>
          <a:xfrm>
            <a:off x="742721" y="114529"/>
            <a:ext cx="3586734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Qualitative Assessment: Report Quality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9" name="Google Shape;2259;p63"/>
          <p:cNvSpPr txBox="1"/>
          <p:nvPr/>
        </p:nvSpPr>
        <p:spPr>
          <a:xfrm>
            <a:off x="742721" y="357302"/>
            <a:ext cx="1814627" cy="100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18CF8"/>
              </a:buClr>
              <a:buSzPts val="700"/>
              <a:buFont typeface="Arial"/>
              <a:buNone/>
            </a:pPr>
            <a:r>
              <a:rPr lang="en" sz="700">
                <a:solidFill>
                  <a:srgbClr val="818CF8"/>
                </a:solidFill>
                <a:latin typeface="Arial"/>
                <a:ea typeface="Arial"/>
                <a:cs typeface="Arial"/>
                <a:sym typeface="Arial"/>
              </a:rPr>
              <a:t>evaluation.output.report_structure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0" name="Google Shape;2260;p63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1" name="Google Shape;2261;p63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2" name="Google Shape;2262;p63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63" name="Google Shape;2263;p6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371" y="892912"/>
            <a:ext cx="128930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2264" name="Google Shape;2264;p63"/>
          <p:cNvSpPr txBox="1"/>
          <p:nvPr/>
        </p:nvSpPr>
        <p:spPr>
          <a:xfrm>
            <a:off x="414224" y="857250"/>
            <a:ext cx="2139696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Structure &amp; Content Comparison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5" name="Google Shape;2265;p63"/>
          <p:cNvSpPr/>
          <p:nvPr/>
        </p:nvSpPr>
        <p:spPr>
          <a:xfrm>
            <a:off x="235916" y="1178890"/>
            <a:ext cx="1114425" cy="3717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6" name="Google Shape;2266;p63"/>
          <p:cNvSpPr/>
          <p:nvPr/>
        </p:nvSpPr>
        <p:spPr>
          <a:xfrm>
            <a:off x="235916" y="1536192"/>
            <a:ext cx="1114425" cy="14401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7" name="Google Shape;2267;p63"/>
          <p:cNvSpPr txBox="1"/>
          <p:nvPr/>
        </p:nvSpPr>
        <p:spPr>
          <a:xfrm>
            <a:off x="407366" y="1300277"/>
            <a:ext cx="47868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SECTION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8" name="Google Shape;2268;p63"/>
          <p:cNvSpPr/>
          <p:nvPr/>
        </p:nvSpPr>
        <p:spPr>
          <a:xfrm>
            <a:off x="1347597" y="1178890"/>
            <a:ext cx="1950416" cy="371704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9" name="Google Shape;2269;p63"/>
          <p:cNvSpPr/>
          <p:nvPr/>
        </p:nvSpPr>
        <p:spPr>
          <a:xfrm>
            <a:off x="1347597" y="1536192"/>
            <a:ext cx="1950416" cy="14401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0" name="Google Shape;2270;p63" descr="preencoded.png"/>
          <p:cNvPicPr preferRelativeResize="0"/>
          <p:nvPr/>
        </p:nvPicPr>
        <p:blipFill rotWithShape="1">
          <a:blip r:embed="rId5">
            <a:alphaModFix/>
          </a:blip>
          <a:srcRect l="-3439" r="-3439"/>
          <a:stretch/>
        </p:blipFill>
        <p:spPr>
          <a:xfrm>
            <a:off x="1519047" y="1310564"/>
            <a:ext cx="114529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271" name="Google Shape;2271;p63"/>
          <p:cNvSpPr txBox="1"/>
          <p:nvPr/>
        </p:nvSpPr>
        <p:spPr>
          <a:xfrm>
            <a:off x="1690497" y="1300277"/>
            <a:ext cx="102184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rPr>
              <a:t>PIPELINE APPROACH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2" name="Google Shape;2272;p63"/>
          <p:cNvSpPr/>
          <p:nvPr/>
        </p:nvSpPr>
        <p:spPr>
          <a:xfrm>
            <a:off x="3293897" y="1178890"/>
            <a:ext cx="2507285" cy="371704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3" name="Google Shape;2273;p63"/>
          <p:cNvSpPr/>
          <p:nvPr/>
        </p:nvSpPr>
        <p:spPr>
          <a:xfrm>
            <a:off x="3293897" y="1536192"/>
            <a:ext cx="2507285" cy="14401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4" name="Google Shape;2274;p63" descr="preencoded.png"/>
          <p:cNvPicPr preferRelativeResize="0"/>
          <p:nvPr/>
        </p:nvPicPr>
        <p:blipFill rotWithShape="1">
          <a:blip r:embed="rId6">
            <a:alphaModFix/>
          </a:blip>
          <a:srcRect l="-3439" r="-3439"/>
          <a:stretch/>
        </p:blipFill>
        <p:spPr>
          <a:xfrm>
            <a:off x="3465347" y="1310564"/>
            <a:ext cx="114529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275" name="Google Shape;2275;p63"/>
          <p:cNvSpPr txBox="1"/>
          <p:nvPr/>
        </p:nvSpPr>
        <p:spPr>
          <a:xfrm>
            <a:off x="3636797" y="1300277"/>
            <a:ext cx="112882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MULTI-AGENT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6" name="Google Shape;2276;p63"/>
          <p:cNvSpPr/>
          <p:nvPr/>
        </p:nvSpPr>
        <p:spPr>
          <a:xfrm>
            <a:off x="235916" y="2036141"/>
            <a:ext cx="111442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7" name="Google Shape;2277;p63"/>
          <p:cNvSpPr txBox="1"/>
          <p:nvPr/>
        </p:nvSpPr>
        <p:spPr>
          <a:xfrm>
            <a:off x="407365" y="1733017"/>
            <a:ext cx="630251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Introduction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8" name="Google Shape;2278;p63"/>
          <p:cNvSpPr/>
          <p:nvPr/>
        </p:nvSpPr>
        <p:spPr>
          <a:xfrm>
            <a:off x="1347597" y="1549908"/>
            <a:ext cx="1950416" cy="493090"/>
          </a:xfrm>
          <a:prstGeom prst="rect">
            <a:avLst/>
          </a:prstGeom>
          <a:noFill/>
          <a:ln w="12700" cap="flat" cmpd="sng">
            <a:solidFill>
              <a:srgbClr val="F1F5F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9" name="Google Shape;2279;p63"/>
          <p:cNvSpPr txBox="1"/>
          <p:nvPr/>
        </p:nvSpPr>
        <p:spPr>
          <a:xfrm>
            <a:off x="1519047" y="1733017"/>
            <a:ext cx="1437437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Basic problem statement only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0" name="Google Shape;2280;p63"/>
          <p:cNvSpPr/>
          <p:nvPr/>
        </p:nvSpPr>
        <p:spPr>
          <a:xfrm>
            <a:off x="3293897" y="2036141"/>
            <a:ext cx="250728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1" name="Google Shape;2281;p63"/>
          <p:cNvSpPr txBox="1"/>
          <p:nvPr/>
        </p:nvSpPr>
        <p:spPr>
          <a:xfrm>
            <a:off x="3465347" y="1661693"/>
            <a:ext cx="780440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Contextualized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2" name="Google Shape;2282;p63"/>
          <p:cNvSpPr txBox="1"/>
          <p:nvPr/>
        </p:nvSpPr>
        <p:spPr>
          <a:xfrm>
            <a:off x="3465347" y="1821485"/>
            <a:ext cx="112196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Includes lit review context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3" name="Google Shape;2283;p63"/>
          <p:cNvSpPr/>
          <p:nvPr/>
        </p:nvSpPr>
        <p:spPr>
          <a:xfrm>
            <a:off x="235916" y="2526488"/>
            <a:ext cx="111442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4" name="Google Shape;2284;p63"/>
          <p:cNvSpPr txBox="1"/>
          <p:nvPr/>
        </p:nvSpPr>
        <p:spPr>
          <a:xfrm>
            <a:off x="407366" y="2223364"/>
            <a:ext cx="594589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Hypothesis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5" name="Google Shape;2285;p63"/>
          <p:cNvSpPr/>
          <p:nvPr/>
        </p:nvSpPr>
        <p:spPr>
          <a:xfrm>
            <a:off x="1347597" y="2040255"/>
            <a:ext cx="1950416" cy="493090"/>
          </a:xfrm>
          <a:prstGeom prst="rect">
            <a:avLst/>
          </a:prstGeom>
          <a:noFill/>
          <a:ln w="12700" cap="flat" cmpd="sng">
            <a:solidFill>
              <a:srgbClr val="F1F5F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6" name="Google Shape;2286;p63"/>
          <p:cNvSpPr txBox="1"/>
          <p:nvPr/>
        </p:nvSpPr>
        <p:spPr>
          <a:xfrm>
            <a:off x="1519047" y="2223364"/>
            <a:ext cx="32301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None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7" name="Google Shape;2287;p63"/>
          <p:cNvSpPr/>
          <p:nvPr/>
        </p:nvSpPr>
        <p:spPr>
          <a:xfrm>
            <a:off x="3293897" y="2526488"/>
            <a:ext cx="250728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8" name="Google Shape;2288;p63"/>
          <p:cNvSpPr txBox="1"/>
          <p:nvPr/>
        </p:nvSpPr>
        <p:spPr>
          <a:xfrm>
            <a:off x="3465347" y="2151355"/>
            <a:ext cx="880568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Well-Researched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9" name="Google Shape;2289;p63"/>
          <p:cNvSpPr txBox="1"/>
          <p:nvPr/>
        </p:nvSpPr>
        <p:spPr>
          <a:xfrm>
            <a:off x="3465347" y="2311831"/>
            <a:ext cx="83599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Testable &amp; specific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0" name="Google Shape;2290;p63"/>
          <p:cNvSpPr/>
          <p:nvPr/>
        </p:nvSpPr>
        <p:spPr>
          <a:xfrm>
            <a:off x="235916" y="3016148"/>
            <a:ext cx="111442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1" name="Google Shape;2291;p63"/>
          <p:cNvSpPr txBox="1"/>
          <p:nvPr/>
        </p:nvSpPr>
        <p:spPr>
          <a:xfrm>
            <a:off x="407366" y="2713025"/>
            <a:ext cx="680314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Methodology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2" name="Google Shape;2292;p63"/>
          <p:cNvSpPr/>
          <p:nvPr/>
        </p:nvSpPr>
        <p:spPr>
          <a:xfrm>
            <a:off x="1347597" y="2529917"/>
            <a:ext cx="1950416" cy="493090"/>
          </a:xfrm>
          <a:prstGeom prst="rect">
            <a:avLst/>
          </a:prstGeom>
          <a:noFill/>
          <a:ln w="12700" cap="flat" cmpd="sng">
            <a:solidFill>
              <a:srgbClr val="F1F5F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3" name="Google Shape;2293;p63"/>
          <p:cNvSpPr txBox="1"/>
          <p:nvPr/>
        </p:nvSpPr>
        <p:spPr>
          <a:xfrm>
            <a:off x="1519047" y="2713025"/>
            <a:ext cx="859307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List of tools used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4" name="Google Shape;2294;p63"/>
          <p:cNvSpPr/>
          <p:nvPr/>
        </p:nvSpPr>
        <p:spPr>
          <a:xfrm>
            <a:off x="3293897" y="3016148"/>
            <a:ext cx="250728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5" name="Google Shape;2295;p63"/>
          <p:cNvSpPr txBox="1"/>
          <p:nvPr/>
        </p:nvSpPr>
        <p:spPr>
          <a:xfrm>
            <a:off x="3465347" y="2641702"/>
            <a:ext cx="894969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Justified Choices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6" name="Google Shape;2296;p63"/>
          <p:cNvSpPr txBox="1"/>
          <p:nvPr/>
        </p:nvSpPr>
        <p:spPr>
          <a:xfrm>
            <a:off x="3465347" y="2801493"/>
            <a:ext cx="117889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Explains "Why this model?"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7" name="Google Shape;2297;p63"/>
          <p:cNvSpPr/>
          <p:nvPr/>
        </p:nvSpPr>
        <p:spPr>
          <a:xfrm>
            <a:off x="235916" y="3506495"/>
            <a:ext cx="111442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8" name="Google Shape;2298;p63"/>
          <p:cNvSpPr txBox="1"/>
          <p:nvPr/>
        </p:nvSpPr>
        <p:spPr>
          <a:xfrm>
            <a:off x="407366" y="3203372"/>
            <a:ext cx="408737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Results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9" name="Google Shape;2299;p63"/>
          <p:cNvSpPr/>
          <p:nvPr/>
        </p:nvSpPr>
        <p:spPr>
          <a:xfrm>
            <a:off x="1347597" y="3020264"/>
            <a:ext cx="1950416" cy="493090"/>
          </a:xfrm>
          <a:prstGeom prst="rect">
            <a:avLst/>
          </a:prstGeom>
          <a:noFill/>
          <a:ln w="12700" cap="flat" cmpd="sng">
            <a:solidFill>
              <a:srgbClr val="F1F5F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0" name="Google Shape;2300;p63"/>
          <p:cNvSpPr txBox="1"/>
          <p:nvPr/>
        </p:nvSpPr>
        <p:spPr>
          <a:xfrm>
            <a:off x="1519047" y="3203372"/>
            <a:ext cx="94503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Raw metrics tables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1" name="Google Shape;2301;p63"/>
          <p:cNvSpPr/>
          <p:nvPr/>
        </p:nvSpPr>
        <p:spPr>
          <a:xfrm>
            <a:off x="3293897" y="3506495"/>
            <a:ext cx="250728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2" name="Google Shape;2302;p63"/>
          <p:cNvSpPr txBox="1"/>
          <p:nvPr/>
        </p:nvSpPr>
        <p:spPr>
          <a:xfrm>
            <a:off x="3465347" y="3131363"/>
            <a:ext cx="1187806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Metrics + Interpretation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3" name="Google Shape;2303;p63"/>
          <p:cNvSpPr txBox="1"/>
          <p:nvPr/>
        </p:nvSpPr>
        <p:spPr>
          <a:xfrm>
            <a:off x="3465347" y="3291840"/>
            <a:ext cx="86479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Analysis of findings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4" name="Google Shape;2304;p63"/>
          <p:cNvSpPr/>
          <p:nvPr/>
        </p:nvSpPr>
        <p:spPr>
          <a:xfrm>
            <a:off x="235916" y="3996157"/>
            <a:ext cx="111442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5" name="Google Shape;2305;p63"/>
          <p:cNvSpPr txBox="1"/>
          <p:nvPr/>
        </p:nvSpPr>
        <p:spPr>
          <a:xfrm>
            <a:off x="407365" y="3693033"/>
            <a:ext cx="401879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Visuals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6" name="Google Shape;2306;p63"/>
          <p:cNvSpPr/>
          <p:nvPr/>
        </p:nvSpPr>
        <p:spPr>
          <a:xfrm>
            <a:off x="1347597" y="3509924"/>
            <a:ext cx="1950416" cy="493090"/>
          </a:xfrm>
          <a:prstGeom prst="rect">
            <a:avLst/>
          </a:prstGeom>
          <a:noFill/>
          <a:ln w="12700" cap="flat" cmpd="sng">
            <a:solidFill>
              <a:srgbClr val="F1F5F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7" name="Google Shape;2307;p63"/>
          <p:cNvSpPr txBox="1"/>
          <p:nvPr/>
        </p:nvSpPr>
        <p:spPr>
          <a:xfrm>
            <a:off x="1519047" y="3693033"/>
            <a:ext cx="1052017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Auto-generated plots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8" name="Google Shape;2308;p63"/>
          <p:cNvSpPr/>
          <p:nvPr/>
        </p:nvSpPr>
        <p:spPr>
          <a:xfrm>
            <a:off x="3293897" y="3996157"/>
            <a:ext cx="250728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9" name="Google Shape;2309;p63"/>
          <p:cNvSpPr txBox="1"/>
          <p:nvPr/>
        </p:nvSpPr>
        <p:spPr>
          <a:xfrm>
            <a:off x="3465347" y="3621710"/>
            <a:ext cx="111648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Designed &amp; Captioned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0" name="Google Shape;2310;p63"/>
          <p:cNvSpPr txBox="1"/>
          <p:nvPr/>
        </p:nvSpPr>
        <p:spPr>
          <a:xfrm>
            <a:off x="3465347" y="3781502"/>
            <a:ext cx="950518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Context-aware charts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1" name="Google Shape;2311;p63"/>
          <p:cNvSpPr/>
          <p:nvPr/>
        </p:nvSpPr>
        <p:spPr>
          <a:xfrm>
            <a:off x="235916" y="4486504"/>
            <a:ext cx="111442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2" name="Google Shape;2312;p63"/>
          <p:cNvSpPr txBox="1"/>
          <p:nvPr/>
        </p:nvSpPr>
        <p:spPr>
          <a:xfrm>
            <a:off x="407366" y="4183380"/>
            <a:ext cx="573329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Discussion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3" name="Google Shape;2313;p63"/>
          <p:cNvSpPr/>
          <p:nvPr/>
        </p:nvSpPr>
        <p:spPr>
          <a:xfrm>
            <a:off x="1347597" y="4000271"/>
            <a:ext cx="1950416" cy="493090"/>
          </a:xfrm>
          <a:prstGeom prst="rect">
            <a:avLst/>
          </a:prstGeom>
          <a:noFill/>
          <a:ln w="12700" cap="flat" cmpd="sng">
            <a:solidFill>
              <a:srgbClr val="F1F5F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4" name="Google Shape;2314;p63"/>
          <p:cNvSpPr txBox="1"/>
          <p:nvPr/>
        </p:nvSpPr>
        <p:spPr>
          <a:xfrm>
            <a:off x="1519047" y="4183380"/>
            <a:ext cx="32301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None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5" name="Google Shape;2315;p63"/>
          <p:cNvSpPr/>
          <p:nvPr/>
        </p:nvSpPr>
        <p:spPr>
          <a:xfrm>
            <a:off x="3293897" y="4486504"/>
            <a:ext cx="2507285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6" name="Google Shape;2316;p63"/>
          <p:cNvSpPr txBox="1"/>
          <p:nvPr/>
        </p:nvSpPr>
        <p:spPr>
          <a:xfrm>
            <a:off x="3465347" y="4111371"/>
            <a:ext cx="659053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Synthesized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7" name="Google Shape;2317;p63"/>
          <p:cNvSpPr txBox="1"/>
          <p:nvPr/>
        </p:nvSpPr>
        <p:spPr>
          <a:xfrm>
            <a:off x="3465347" y="4271849"/>
            <a:ext cx="115077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Relates back to hypothesis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8" name="Google Shape;2318;p63"/>
          <p:cNvSpPr txBox="1"/>
          <p:nvPr/>
        </p:nvSpPr>
        <p:spPr>
          <a:xfrm>
            <a:off x="407366" y="4673042"/>
            <a:ext cx="594589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References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9" name="Google Shape;2319;p63"/>
          <p:cNvSpPr/>
          <p:nvPr/>
        </p:nvSpPr>
        <p:spPr>
          <a:xfrm>
            <a:off x="3291155" y="4490618"/>
            <a:ext cx="6858" cy="48554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0" name="Google Shape;2320;p63"/>
          <p:cNvSpPr txBox="1"/>
          <p:nvPr/>
        </p:nvSpPr>
        <p:spPr>
          <a:xfrm>
            <a:off x="1519047" y="4673042"/>
            <a:ext cx="32301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800"/>
              <a:buFont typeface="Inter"/>
              <a:buNone/>
            </a:pPr>
            <a:r>
              <a:rPr lang="en" sz="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None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1" name="Google Shape;2321;p63"/>
          <p:cNvSpPr txBox="1"/>
          <p:nvPr/>
        </p:nvSpPr>
        <p:spPr>
          <a:xfrm>
            <a:off x="3465347" y="4601718"/>
            <a:ext cx="81610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Comprehensive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2" name="Google Shape;2322;p63"/>
          <p:cNvSpPr txBox="1"/>
          <p:nvPr/>
        </p:nvSpPr>
        <p:spPr>
          <a:xfrm>
            <a:off x="3465347" y="4761509"/>
            <a:ext cx="10650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15-30 academic sources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3" name="Google Shape;2323;p63"/>
          <p:cNvSpPr/>
          <p:nvPr/>
        </p:nvSpPr>
        <p:spPr>
          <a:xfrm>
            <a:off x="6089219" y="857250"/>
            <a:ext cx="2828925" cy="3714979"/>
          </a:xfrm>
          <a:prstGeom prst="roundRect">
            <a:avLst>
              <a:gd name="adj" fmla="val 735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24" name="Google Shape;2324;p63" descr="preencoded.png"/>
          <p:cNvPicPr preferRelativeResize="0"/>
          <p:nvPr/>
        </p:nvPicPr>
        <p:blipFill rotWithShape="1">
          <a:blip r:embed="rId7">
            <a:alphaModFix/>
          </a:blip>
          <a:srcRect l="-1773" r="-1773"/>
          <a:stretch/>
        </p:blipFill>
        <p:spPr>
          <a:xfrm>
            <a:off x="6268212" y="1071905"/>
            <a:ext cx="100126" cy="128930"/>
          </a:xfrm>
          <a:prstGeom prst="rect">
            <a:avLst/>
          </a:prstGeom>
          <a:noFill/>
          <a:ln>
            <a:noFill/>
          </a:ln>
        </p:spPr>
      </p:pic>
      <p:sp>
        <p:nvSpPr>
          <p:cNvPr id="2325" name="Google Shape;2325;p63"/>
          <p:cNvSpPr txBox="1"/>
          <p:nvPr/>
        </p:nvSpPr>
        <p:spPr>
          <a:xfrm>
            <a:off x="6425261" y="1035558"/>
            <a:ext cx="1018413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Output Quality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6" name="Google Shape;2326;p63"/>
          <p:cNvSpPr txBox="1"/>
          <p:nvPr/>
        </p:nvSpPr>
        <p:spPr>
          <a:xfrm>
            <a:off x="6268212" y="1357199"/>
            <a:ext cx="81815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Pipeline Report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27" name="Google Shape;2327;p63" descr="preencoded.png"/>
          <p:cNvPicPr preferRelativeResize="0"/>
          <p:nvPr/>
        </p:nvPicPr>
        <p:blipFill rotWithShape="1">
          <a:blip r:embed="rId8">
            <a:alphaModFix/>
          </a:blip>
          <a:srcRect t="-2012" b="-2012"/>
          <a:stretch/>
        </p:blipFill>
        <p:spPr>
          <a:xfrm>
            <a:off x="8179537" y="1371600"/>
            <a:ext cx="100126" cy="92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8" name="Google Shape;2328;p63" descr="preencoded.png"/>
          <p:cNvPicPr preferRelativeResize="0"/>
          <p:nvPr/>
        </p:nvPicPr>
        <p:blipFill rotWithShape="1">
          <a:blip r:embed="rId8">
            <a:alphaModFix/>
          </a:blip>
          <a:srcRect t="-2012" b="-2012"/>
          <a:stretch/>
        </p:blipFill>
        <p:spPr>
          <a:xfrm>
            <a:off x="8279663" y="1371600"/>
            <a:ext cx="100126" cy="92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9" name="Google Shape;2329;p63" descr="preencoded.png"/>
          <p:cNvPicPr preferRelativeResize="0"/>
          <p:nvPr/>
        </p:nvPicPr>
        <p:blipFill rotWithShape="1">
          <a:blip r:embed="rId8">
            <a:alphaModFix/>
          </a:blip>
          <a:srcRect t="-2012" b="-2012"/>
          <a:stretch/>
        </p:blipFill>
        <p:spPr>
          <a:xfrm>
            <a:off x="8379791" y="1371600"/>
            <a:ext cx="100126" cy="92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0" name="Google Shape;2330;p63" descr="preencoded.png"/>
          <p:cNvPicPr preferRelativeResize="0"/>
          <p:nvPr/>
        </p:nvPicPr>
        <p:blipFill rotWithShape="1">
          <a:blip r:embed="rId9">
            <a:alphaModFix/>
          </a:blip>
          <a:srcRect t="-2012" b="-2012"/>
          <a:stretch/>
        </p:blipFill>
        <p:spPr>
          <a:xfrm>
            <a:off x="8479917" y="1371600"/>
            <a:ext cx="100126" cy="92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1" name="Google Shape;2331;p63" descr="preencoded.png"/>
          <p:cNvPicPr preferRelativeResize="0"/>
          <p:nvPr/>
        </p:nvPicPr>
        <p:blipFill rotWithShape="1">
          <a:blip r:embed="rId9">
            <a:alphaModFix/>
          </a:blip>
          <a:srcRect t="-2012" b="-2012"/>
          <a:stretch/>
        </p:blipFill>
        <p:spPr>
          <a:xfrm>
            <a:off x="8579358" y="1371600"/>
            <a:ext cx="10012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2332" name="Google Shape;2332;p63"/>
          <p:cNvSpPr/>
          <p:nvPr/>
        </p:nvSpPr>
        <p:spPr>
          <a:xfrm>
            <a:off x="6268212" y="1549908"/>
            <a:ext cx="2471624" cy="1121283"/>
          </a:xfrm>
          <a:prstGeom prst="roundRect">
            <a:avLst>
              <a:gd name="adj" fmla="val 3117"/>
            </a:avLst>
          </a:prstGeom>
          <a:solidFill>
            <a:srgbClr val="FFFFFF">
              <a:alpha val="74901"/>
            </a:srgbClr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3" name="Google Shape;2333;p63"/>
          <p:cNvSpPr/>
          <p:nvPr/>
        </p:nvSpPr>
        <p:spPr>
          <a:xfrm>
            <a:off x="6268212" y="1549908"/>
            <a:ext cx="2454478" cy="28804"/>
          </a:xfrm>
          <a:prstGeom prst="rect">
            <a:avLst/>
          </a:prstGeom>
          <a:solidFill>
            <a:srgbClr val="10B981">
              <a:alpha val="74901"/>
            </a:srgb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4" name="Google Shape;2334;p63"/>
          <p:cNvSpPr txBox="1"/>
          <p:nvPr/>
        </p:nvSpPr>
        <p:spPr>
          <a:xfrm>
            <a:off x="6389599" y="1678838"/>
            <a:ext cx="614477" cy="85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600"/>
              <a:buFont typeface="Merriweather"/>
              <a:buNone/>
            </a:pPr>
            <a:r>
              <a:rPr lang="en" sz="600" b="1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Analysis Results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5" name="Google Shape;2335;p63"/>
          <p:cNvSpPr txBox="1"/>
          <p:nvPr/>
        </p:nvSpPr>
        <p:spPr>
          <a:xfrm>
            <a:off x="6389599" y="1817370"/>
            <a:ext cx="2121865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600"/>
              <a:buFont typeface="Merriweather"/>
              <a:buNone/>
            </a:pPr>
            <a:r>
              <a:rPr lang="en" sz="600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The model achieved an accuracy of 96%. The confusion matrix shows...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6" name="Google Shape;2336;p63"/>
          <p:cNvSpPr/>
          <p:nvPr/>
        </p:nvSpPr>
        <p:spPr>
          <a:xfrm>
            <a:off x="6389599" y="2086204"/>
            <a:ext cx="2228850" cy="457429"/>
          </a:xfrm>
          <a:prstGeom prst="roundRect">
            <a:avLst>
              <a:gd name="adj" fmla="val 9370"/>
            </a:avLst>
          </a:prstGeom>
          <a:solidFill>
            <a:srgbClr val="E5E7EB">
              <a:alpha val="74901"/>
            </a:srgbClr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7" name="Google Shape;2337;p63"/>
          <p:cNvSpPr txBox="1"/>
          <p:nvPr/>
        </p:nvSpPr>
        <p:spPr>
          <a:xfrm>
            <a:off x="7141235" y="2260397"/>
            <a:ext cx="785926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Merriweather"/>
              <a:buNone/>
            </a:pPr>
            <a:r>
              <a:rPr lang="en" sz="600">
                <a:solidFill>
                  <a:srgbClr val="6B7280"/>
                </a:solidFill>
                <a:latin typeface="Merriweather"/>
                <a:ea typeface="Merriweather"/>
                <a:cs typeface="Merriweather"/>
                <a:sym typeface="Merriweather"/>
              </a:rPr>
              <a:t>[Auto-Generated Plot]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8" name="Google Shape;2338;p63"/>
          <p:cNvSpPr txBox="1"/>
          <p:nvPr/>
        </p:nvSpPr>
        <p:spPr>
          <a:xfrm>
            <a:off x="6268212" y="2844013"/>
            <a:ext cx="1018413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rPr>
              <a:t>Multi-Agent Report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9" name="Google Shape;2339;p63" descr="preencoded.png"/>
          <p:cNvPicPr preferRelativeResize="0"/>
          <p:nvPr/>
        </p:nvPicPr>
        <p:blipFill rotWithShape="1">
          <a:blip r:embed="rId8">
            <a:alphaModFix/>
          </a:blip>
          <a:srcRect t="-2012" b="-2012"/>
          <a:stretch/>
        </p:blipFill>
        <p:spPr>
          <a:xfrm>
            <a:off x="8179537" y="2857729"/>
            <a:ext cx="100126" cy="92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0" name="Google Shape;2340;p63" descr="preencoded.png"/>
          <p:cNvPicPr preferRelativeResize="0"/>
          <p:nvPr/>
        </p:nvPicPr>
        <p:blipFill rotWithShape="1">
          <a:blip r:embed="rId8">
            <a:alphaModFix/>
          </a:blip>
          <a:srcRect t="-2012" b="-2012"/>
          <a:stretch/>
        </p:blipFill>
        <p:spPr>
          <a:xfrm>
            <a:off x="8279663" y="2857729"/>
            <a:ext cx="100126" cy="92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1" name="Google Shape;2341;p63" descr="preencoded.png"/>
          <p:cNvPicPr preferRelativeResize="0"/>
          <p:nvPr/>
        </p:nvPicPr>
        <p:blipFill rotWithShape="1">
          <a:blip r:embed="rId8">
            <a:alphaModFix/>
          </a:blip>
          <a:srcRect t="-2012" b="-2012"/>
          <a:stretch/>
        </p:blipFill>
        <p:spPr>
          <a:xfrm>
            <a:off x="8379791" y="2857729"/>
            <a:ext cx="100126" cy="92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2" name="Google Shape;2342;p63" descr="preencoded.png"/>
          <p:cNvPicPr preferRelativeResize="0"/>
          <p:nvPr/>
        </p:nvPicPr>
        <p:blipFill rotWithShape="1">
          <a:blip r:embed="rId8">
            <a:alphaModFix/>
          </a:blip>
          <a:srcRect t="-2012" b="-2012"/>
          <a:stretch/>
        </p:blipFill>
        <p:spPr>
          <a:xfrm>
            <a:off x="8479917" y="2857729"/>
            <a:ext cx="100126" cy="925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3" name="Google Shape;2343;p63" descr="preencoded.png"/>
          <p:cNvPicPr preferRelativeResize="0"/>
          <p:nvPr/>
        </p:nvPicPr>
        <p:blipFill rotWithShape="1">
          <a:blip r:embed="rId8">
            <a:alphaModFix/>
          </a:blip>
          <a:srcRect t="-2012" b="-2012"/>
          <a:stretch/>
        </p:blipFill>
        <p:spPr>
          <a:xfrm>
            <a:off x="8579358" y="2857729"/>
            <a:ext cx="100126" cy="92583"/>
          </a:xfrm>
          <a:prstGeom prst="rect">
            <a:avLst/>
          </a:prstGeom>
          <a:noFill/>
          <a:ln>
            <a:noFill/>
          </a:ln>
        </p:spPr>
      </p:pic>
      <p:sp>
        <p:nvSpPr>
          <p:cNvPr id="2344" name="Google Shape;2344;p63"/>
          <p:cNvSpPr/>
          <p:nvPr/>
        </p:nvSpPr>
        <p:spPr>
          <a:xfrm>
            <a:off x="6206490" y="3001060"/>
            <a:ext cx="2593010" cy="1492987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100" dir="5400000" algn="bl" rotWithShape="0">
              <a:srgbClr val="000000">
                <a:alpha val="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5" name="Google Shape;2345;p63"/>
          <p:cNvSpPr/>
          <p:nvPr/>
        </p:nvSpPr>
        <p:spPr>
          <a:xfrm>
            <a:off x="6206490" y="3001061"/>
            <a:ext cx="2454479" cy="288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6" name="Google Shape;2346;p63"/>
          <p:cNvSpPr txBox="1"/>
          <p:nvPr/>
        </p:nvSpPr>
        <p:spPr>
          <a:xfrm>
            <a:off x="6334049" y="3128620"/>
            <a:ext cx="2171929" cy="235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2E81"/>
              </a:buClr>
              <a:buSzPts val="700"/>
              <a:buFont typeface="Merriweather"/>
              <a:buNone/>
            </a:pPr>
            <a:r>
              <a:rPr lang="en" sz="700" b="1">
                <a:solidFill>
                  <a:srgbClr val="312E81"/>
                </a:solidFill>
                <a:latin typeface="Merriweather"/>
                <a:ea typeface="Merriweather"/>
                <a:cs typeface="Merriweather"/>
                <a:sym typeface="Merriweather"/>
              </a:rPr>
              <a:t>Predicting Housing Prices: A Machine Learning Approach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7" name="Google Shape;2347;p63"/>
          <p:cNvSpPr txBox="1"/>
          <p:nvPr/>
        </p:nvSpPr>
        <p:spPr>
          <a:xfrm>
            <a:off x="6334048" y="3406369"/>
            <a:ext cx="2328977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600"/>
              <a:buFont typeface="Merriweather"/>
              <a:buNone/>
            </a:pPr>
            <a:r>
              <a:rPr lang="en" sz="600">
                <a:solidFill>
                  <a:srgbClr val="4B5563"/>
                </a:solidFill>
                <a:latin typeface="Merriweather"/>
                <a:ea typeface="Merriweather"/>
                <a:cs typeface="Merriweather"/>
                <a:sym typeface="Merriweather"/>
              </a:rPr>
              <a:t>Abstract: Recent studies (Smith et al. 2023) demonstrate ensemble methods...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8" name="Google Shape;2348;p63"/>
          <p:cNvSpPr txBox="1"/>
          <p:nvPr/>
        </p:nvSpPr>
        <p:spPr>
          <a:xfrm>
            <a:off x="6334049" y="3696462"/>
            <a:ext cx="586359" cy="93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600"/>
              <a:buFont typeface="Merriweather"/>
              <a:buNone/>
            </a:pPr>
            <a:r>
              <a:rPr lang="en" sz="600" b="1">
                <a:solidFill>
                  <a:srgbClr val="3730A3"/>
                </a:solidFill>
                <a:latin typeface="Merriweather"/>
                <a:ea typeface="Merriweather"/>
                <a:cs typeface="Merriweather"/>
                <a:sym typeface="Merriweather"/>
              </a:rPr>
              <a:t>1. Introduction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9" name="Google Shape;2349;p63"/>
          <p:cNvSpPr txBox="1"/>
          <p:nvPr/>
        </p:nvSpPr>
        <p:spPr>
          <a:xfrm>
            <a:off x="6334049" y="3841852"/>
            <a:ext cx="2064943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600"/>
              <a:buFont typeface="Merriweather"/>
              <a:buNone/>
            </a:pPr>
            <a:r>
              <a:rPr lang="en" sz="600">
                <a:solidFill>
                  <a:srgbClr val="334155"/>
                </a:solidFill>
                <a:latin typeface="Merriweather"/>
                <a:ea typeface="Merriweather"/>
                <a:cs typeface="Merriweather"/>
                <a:sym typeface="Merriweather"/>
              </a:rPr>
              <a:t>The real estate market's complexity necessitates advanced predictive models...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0" name="Google Shape;2350;p63"/>
          <p:cNvSpPr/>
          <p:nvPr/>
        </p:nvSpPr>
        <p:spPr>
          <a:xfrm>
            <a:off x="6334049" y="4125087"/>
            <a:ext cx="242774" cy="242774"/>
          </a:xfrm>
          <a:prstGeom prst="roundRect">
            <a:avLst>
              <a:gd name="adj" fmla="val 33234"/>
            </a:avLst>
          </a:prstGeom>
          <a:solidFill>
            <a:srgbClr val="E0E7FF"/>
          </a:solidFill>
          <a:ln w="12700" cap="flat" cmpd="sng">
            <a:solidFill>
              <a:srgbClr val="C7D2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51" name="Google Shape;2351;p63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05372" y="419572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52" name="Google Shape;2352;p63"/>
          <p:cNvSpPr txBox="1"/>
          <p:nvPr/>
        </p:nvSpPr>
        <p:spPr>
          <a:xfrm>
            <a:off x="6633743" y="4194352"/>
            <a:ext cx="1379143" cy="93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600"/>
              <a:buFont typeface="Merriweather"/>
              <a:buNone/>
            </a:pPr>
            <a:r>
              <a:rPr lang="en" sz="600" i="1">
                <a:solidFill>
                  <a:srgbClr val="6B7280"/>
                </a:solidFill>
                <a:latin typeface="Merriweather"/>
                <a:ea typeface="Merriweather"/>
                <a:cs typeface="Merriweather"/>
                <a:sym typeface="Merriweather"/>
              </a:rPr>
              <a:t>Fig 1. Feature Importance Distribution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3" name="Google Shape;2353;p63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4" name="Google Shape;2354;p63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55" name="Google Shape;2355;p63" descr="preencoded.png"/>
          <p:cNvPicPr preferRelativeResize="0"/>
          <p:nvPr/>
        </p:nvPicPr>
        <p:blipFill rotWithShape="1">
          <a:blip r:embed="rId11">
            <a:alphaModFix/>
          </a:blip>
          <a:srcRect l="-2571" r="-2570"/>
          <a:stretch/>
        </p:blipFill>
        <p:spPr>
          <a:xfrm>
            <a:off x="342900" y="4929530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356" name="Google Shape;2356;p63"/>
          <p:cNvSpPr txBox="1"/>
          <p:nvPr/>
        </p:nvSpPr>
        <p:spPr>
          <a:xfrm>
            <a:off x="449885" y="4918558"/>
            <a:ext cx="97177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7/7 Sections Improved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57" name="Google Shape;2357;p63" descr="preencoded.png"/>
          <p:cNvPicPr preferRelativeResize="0"/>
          <p:nvPr/>
        </p:nvPicPr>
        <p:blipFill rotWithShape="1">
          <a:blip r:embed="rId12">
            <a:alphaModFix/>
          </a:blip>
          <a:srcRect t="-80" b="-80"/>
          <a:stretch/>
        </p:blipFill>
        <p:spPr>
          <a:xfrm>
            <a:off x="1527962" y="4929530"/>
            <a:ext cx="10698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358" name="Google Shape;2358;p63"/>
          <p:cNvSpPr txBox="1"/>
          <p:nvPr/>
        </p:nvSpPr>
        <p:spPr>
          <a:xfrm>
            <a:off x="1663751" y="4918558"/>
            <a:ext cx="104310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Academic Standard Met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9" name="Google Shape;2359;p63"/>
          <p:cNvSpPr txBox="1"/>
          <p:nvPr/>
        </p:nvSpPr>
        <p:spPr>
          <a:xfrm>
            <a:off x="8467573" y="4918558"/>
            <a:ext cx="4005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44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0" name="Google Shape;2360;p63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1" name="Google Shape;2361;p63"/>
          <p:cNvSpPr/>
          <p:nvPr/>
        </p:nvSpPr>
        <p:spPr>
          <a:xfrm>
            <a:off x="7491680" y="2779547"/>
            <a:ext cx="1307135" cy="228371"/>
          </a:xfrm>
          <a:prstGeom prst="roundRect">
            <a:avLst>
              <a:gd name="adj" fmla="val 300300"/>
            </a:avLst>
          </a:prstGeom>
          <a:solidFill>
            <a:srgbClr val="10B981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2" name="Google Shape;2362;p63"/>
          <p:cNvSpPr txBox="1"/>
          <p:nvPr/>
        </p:nvSpPr>
        <p:spPr>
          <a:xfrm>
            <a:off x="7548601" y="2822067"/>
            <a:ext cx="1279017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PUBLICATION READY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63" name="Google Shape;2363;p63" descr="preencoded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64" name="Google Shape;2364;p63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65" name="Google Shape;2365;p63" descr="preencoded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66" name="Google Shape;2366;p63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7" name="Google Shape;2367;p63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68" name="Google Shape;2368;p63" descr="preencoded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369" name="Google Shape;2369;p63"/>
          <p:cNvSpPr txBox="1"/>
          <p:nvPr/>
        </p:nvSpPr>
        <p:spPr>
          <a:xfrm>
            <a:off x="742721" y="178308"/>
            <a:ext cx="4729963" cy="178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Report QUality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" name="Google Shape;2375;p64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6" name="Google Shape;2376;p64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7" name="Google Shape;2377;p64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DC262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78" name="Google Shape;2378;p6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379" name="Google Shape;2379;p64"/>
          <p:cNvSpPr txBox="1"/>
          <p:nvPr/>
        </p:nvSpPr>
        <p:spPr>
          <a:xfrm>
            <a:off x="742721" y="114529"/>
            <a:ext cx="2150668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Challenges &amp; Solutions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0" name="Google Shape;2380;p64"/>
          <p:cNvSpPr txBox="1"/>
          <p:nvPr/>
        </p:nvSpPr>
        <p:spPr>
          <a:xfrm>
            <a:off x="742721" y="357302"/>
            <a:ext cx="1507388" cy="100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700"/>
              <a:buFont typeface="Arial"/>
              <a:buNone/>
            </a:pPr>
            <a:r>
              <a:rPr lang="en" sz="700">
                <a:solidFill>
                  <a:srgbClr val="F87171"/>
                </a:solidFill>
                <a:latin typeface="Arial"/>
                <a:ea typeface="Arial"/>
                <a:cs typeface="Arial"/>
                <a:sym typeface="Arial"/>
              </a:rPr>
              <a:t>project.retrospective.issues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1" name="Google Shape;2381;p64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2" name="Google Shape;2382;p64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3" name="Google Shape;2383;p64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4" name="Google Shape;2384;p64"/>
          <p:cNvSpPr/>
          <p:nvPr/>
        </p:nvSpPr>
        <p:spPr>
          <a:xfrm>
            <a:off x="228371" y="942975"/>
            <a:ext cx="3457804" cy="457429"/>
          </a:xfrm>
          <a:prstGeom prst="roundRect">
            <a:avLst>
              <a:gd name="adj" fmla="val 18741"/>
            </a:avLst>
          </a:prstGeom>
          <a:solidFill>
            <a:srgbClr val="FFF1F2"/>
          </a:solidFill>
          <a:ln w="12700" cap="flat" cmpd="sng">
            <a:solidFill>
              <a:srgbClr val="FECDD3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5" name="Google Shape;2385;p64"/>
          <p:cNvSpPr/>
          <p:nvPr/>
        </p:nvSpPr>
        <p:spPr>
          <a:xfrm>
            <a:off x="349758" y="1057504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FE4E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86" name="Google Shape;2386;p64" descr="preencoded.png"/>
          <p:cNvPicPr preferRelativeResize="0"/>
          <p:nvPr/>
        </p:nvPicPr>
        <p:blipFill rotWithShape="1">
          <a:blip r:embed="rId4">
            <a:alphaModFix/>
          </a:blip>
          <a:srcRect l="-2512" r="-2512"/>
          <a:stretch/>
        </p:blipFill>
        <p:spPr>
          <a:xfrm>
            <a:off x="425196" y="1121283"/>
            <a:ext cx="7886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87" name="Google Shape;2387;p64"/>
          <p:cNvSpPr txBox="1"/>
          <p:nvPr/>
        </p:nvSpPr>
        <p:spPr>
          <a:xfrm>
            <a:off x="664541" y="1043102"/>
            <a:ext cx="95394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LLM Hallucination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8" name="Google Shape;2388;p64"/>
          <p:cNvSpPr txBox="1"/>
          <p:nvPr/>
        </p:nvSpPr>
        <p:spPr>
          <a:xfrm>
            <a:off x="664541" y="1193292"/>
            <a:ext cx="14292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Inventing non-existent references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9" name="Google Shape;2389;p64"/>
          <p:cNvSpPr/>
          <p:nvPr/>
        </p:nvSpPr>
        <p:spPr>
          <a:xfrm>
            <a:off x="349758" y="1599971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FE4E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0" name="Google Shape;2390;p64"/>
          <p:cNvSpPr/>
          <p:nvPr/>
        </p:nvSpPr>
        <p:spPr>
          <a:xfrm>
            <a:off x="4974794" y="942975"/>
            <a:ext cx="3886429" cy="457429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1" name="Google Shape;2391;p64"/>
          <p:cNvSpPr/>
          <p:nvPr/>
        </p:nvSpPr>
        <p:spPr>
          <a:xfrm>
            <a:off x="5089322" y="1057504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DCFCE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2" name="Google Shape;2392;p64" descr="preencoded.png"/>
          <p:cNvPicPr preferRelativeResize="0"/>
          <p:nvPr/>
        </p:nvPicPr>
        <p:blipFill rotWithShape="1">
          <a:blip r:embed="rId5">
            <a:alphaModFix/>
          </a:blip>
          <a:srcRect l="-2838" r="-2838"/>
          <a:stretch/>
        </p:blipFill>
        <p:spPr>
          <a:xfrm>
            <a:off x="5157216" y="1121283"/>
            <a:ext cx="92583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3" name="Google Shape;2393;p64"/>
          <p:cNvSpPr txBox="1"/>
          <p:nvPr/>
        </p:nvSpPr>
        <p:spPr>
          <a:xfrm>
            <a:off x="5403419" y="1043102"/>
            <a:ext cx="1739875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Cross-Validation &amp; Quality Review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4" name="Google Shape;2394;p64"/>
          <p:cNvSpPr txBox="1"/>
          <p:nvPr/>
        </p:nvSpPr>
        <p:spPr>
          <a:xfrm>
            <a:off x="5403419" y="1193292"/>
            <a:ext cx="21074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Validation via multiple sources &amp; specialized agent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5" name="Google Shape;2395;p64"/>
          <p:cNvSpPr/>
          <p:nvPr/>
        </p:nvSpPr>
        <p:spPr>
          <a:xfrm>
            <a:off x="228371" y="1486129"/>
            <a:ext cx="3457804" cy="457429"/>
          </a:xfrm>
          <a:prstGeom prst="roundRect">
            <a:avLst>
              <a:gd name="adj" fmla="val 18741"/>
            </a:avLst>
          </a:prstGeom>
          <a:solidFill>
            <a:srgbClr val="FFF1F2"/>
          </a:solidFill>
          <a:ln w="12700" cap="flat" cmpd="sng">
            <a:solidFill>
              <a:srgbClr val="FECDD3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6" name="Google Shape;2396;p64" descr="preencoded.png"/>
          <p:cNvPicPr preferRelativeResize="0"/>
          <p:nvPr/>
        </p:nvPicPr>
        <p:blipFill rotWithShape="1">
          <a:blip r:embed="rId6">
            <a:alphaModFix/>
          </a:blip>
          <a:srcRect l="-1506" r="-1506"/>
          <a:stretch/>
        </p:blipFill>
        <p:spPr>
          <a:xfrm>
            <a:off x="399821" y="1664437"/>
            <a:ext cx="128930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7" name="Google Shape;2397;p64"/>
          <p:cNvSpPr txBox="1"/>
          <p:nvPr/>
        </p:nvSpPr>
        <p:spPr>
          <a:xfrm>
            <a:off x="664541" y="1586255"/>
            <a:ext cx="116105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JSON Parsing Failures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8" name="Google Shape;2398;p64"/>
          <p:cNvSpPr txBox="1"/>
          <p:nvPr/>
        </p:nvSpPr>
        <p:spPr>
          <a:xfrm>
            <a:off x="664541" y="1735760"/>
            <a:ext cx="137914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Invalid format crashing pipelines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9" name="Google Shape;2399;p64"/>
          <p:cNvSpPr/>
          <p:nvPr/>
        </p:nvSpPr>
        <p:spPr>
          <a:xfrm>
            <a:off x="4974794" y="1486129"/>
            <a:ext cx="3886429" cy="457429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0" name="Google Shape;2400;p64"/>
          <p:cNvSpPr/>
          <p:nvPr/>
        </p:nvSpPr>
        <p:spPr>
          <a:xfrm>
            <a:off x="5089322" y="1599971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DCFCE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01" name="Google Shape;2401;p6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153787" y="1664437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02" name="Google Shape;2402;p64"/>
          <p:cNvSpPr/>
          <p:nvPr/>
        </p:nvSpPr>
        <p:spPr>
          <a:xfrm>
            <a:off x="228371" y="2028596"/>
            <a:ext cx="3457804" cy="457429"/>
          </a:xfrm>
          <a:prstGeom prst="roundRect">
            <a:avLst>
              <a:gd name="adj" fmla="val 18741"/>
            </a:avLst>
          </a:prstGeom>
          <a:solidFill>
            <a:srgbClr val="FFF1F2"/>
          </a:solidFill>
          <a:ln w="12700" cap="flat" cmpd="sng">
            <a:solidFill>
              <a:srgbClr val="FECDD3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3" name="Google Shape;2403;p64"/>
          <p:cNvSpPr txBox="1"/>
          <p:nvPr/>
        </p:nvSpPr>
        <p:spPr>
          <a:xfrm>
            <a:off x="5403419" y="1586255"/>
            <a:ext cx="1196721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Robust Parsing &amp; Retry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4" name="Google Shape;2404;p64"/>
          <p:cNvSpPr txBox="1"/>
          <p:nvPr/>
        </p:nvSpPr>
        <p:spPr>
          <a:xfrm>
            <a:off x="5403419" y="1735760"/>
            <a:ext cx="17508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Regex extraction + auto-retry mechanism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5" name="Google Shape;2405;p64"/>
          <p:cNvSpPr/>
          <p:nvPr/>
        </p:nvSpPr>
        <p:spPr>
          <a:xfrm>
            <a:off x="349758" y="2143125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FE4E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06" name="Google Shape;2406;p64" descr="preencoded.png"/>
          <p:cNvPicPr preferRelativeResize="0"/>
          <p:nvPr/>
        </p:nvPicPr>
        <p:blipFill rotWithShape="1">
          <a:blip r:embed="rId8">
            <a:alphaModFix/>
          </a:blip>
          <a:srcRect l="-2512" r="-2512"/>
          <a:stretch/>
        </p:blipFill>
        <p:spPr>
          <a:xfrm>
            <a:off x="425196" y="2207591"/>
            <a:ext cx="7886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07" name="Google Shape;2407;p64"/>
          <p:cNvSpPr txBox="1"/>
          <p:nvPr/>
        </p:nvSpPr>
        <p:spPr>
          <a:xfrm>
            <a:off x="664541" y="2128724"/>
            <a:ext cx="1196721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Token Limits Exceeded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8" name="Google Shape;2408;p64"/>
          <p:cNvSpPr txBox="1"/>
          <p:nvPr/>
        </p:nvSpPr>
        <p:spPr>
          <a:xfrm>
            <a:off x="664541" y="2278913"/>
            <a:ext cx="147927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Long context windows overflowing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9" name="Google Shape;2409;p64"/>
          <p:cNvSpPr/>
          <p:nvPr/>
        </p:nvSpPr>
        <p:spPr>
          <a:xfrm>
            <a:off x="349758" y="2686279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FE4E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0" name="Google Shape;2410;p64"/>
          <p:cNvSpPr txBox="1"/>
          <p:nvPr/>
        </p:nvSpPr>
        <p:spPr>
          <a:xfrm>
            <a:off x="664541" y="2671877"/>
            <a:ext cx="134005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Inconsistent Code Quality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1" name="Google Shape;2411;p64"/>
          <p:cNvSpPr/>
          <p:nvPr/>
        </p:nvSpPr>
        <p:spPr>
          <a:xfrm>
            <a:off x="4974794" y="2028596"/>
            <a:ext cx="3886429" cy="457429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2" name="Google Shape;2412;p64"/>
          <p:cNvSpPr/>
          <p:nvPr/>
        </p:nvSpPr>
        <p:spPr>
          <a:xfrm>
            <a:off x="5089322" y="2143125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DCFCE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13" name="Google Shape;2413;p6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153787" y="2207591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14" name="Google Shape;2414;p64"/>
          <p:cNvSpPr txBox="1"/>
          <p:nvPr/>
        </p:nvSpPr>
        <p:spPr>
          <a:xfrm>
            <a:off x="5403419" y="2128724"/>
            <a:ext cx="1775537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History Trimming &amp; Summarization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5" name="Google Shape;2415;p64"/>
          <p:cNvSpPr txBox="1"/>
          <p:nvPr/>
        </p:nvSpPr>
        <p:spPr>
          <a:xfrm>
            <a:off x="5403419" y="2278913"/>
            <a:ext cx="216507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Selective context retention + Note Taker summaries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6" name="Google Shape;2416;p64"/>
          <p:cNvSpPr/>
          <p:nvPr/>
        </p:nvSpPr>
        <p:spPr>
          <a:xfrm>
            <a:off x="228371" y="2571750"/>
            <a:ext cx="3457804" cy="457429"/>
          </a:xfrm>
          <a:prstGeom prst="roundRect">
            <a:avLst>
              <a:gd name="adj" fmla="val 18741"/>
            </a:avLst>
          </a:prstGeom>
          <a:solidFill>
            <a:srgbClr val="FFF1F2"/>
          </a:solidFill>
          <a:ln w="12700" cap="flat" cmpd="sng">
            <a:solidFill>
              <a:srgbClr val="FECDD3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17" name="Google Shape;2417;p64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14223" y="2750058"/>
            <a:ext cx="10012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18" name="Google Shape;2418;p64"/>
          <p:cNvSpPr txBox="1"/>
          <p:nvPr/>
        </p:nvSpPr>
        <p:spPr>
          <a:xfrm>
            <a:off x="664541" y="2822067"/>
            <a:ext cx="135034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Subtle bugs and style violations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9" name="Google Shape;2419;p64"/>
          <p:cNvSpPr/>
          <p:nvPr/>
        </p:nvSpPr>
        <p:spPr>
          <a:xfrm>
            <a:off x="4974794" y="2571750"/>
            <a:ext cx="3886429" cy="457429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0" name="Google Shape;2420;p64"/>
          <p:cNvSpPr/>
          <p:nvPr/>
        </p:nvSpPr>
        <p:spPr>
          <a:xfrm>
            <a:off x="5089322" y="2686279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DCFCE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21" name="Google Shape;2421;p64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153787" y="2750058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22" name="Google Shape;2422;p64"/>
          <p:cNvSpPr txBox="1"/>
          <p:nvPr/>
        </p:nvSpPr>
        <p:spPr>
          <a:xfrm>
            <a:off x="5403419" y="2671877"/>
            <a:ext cx="1368171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Review Loops &amp; Standards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3" name="Google Shape;2423;p64"/>
          <p:cNvSpPr txBox="1"/>
          <p:nvPr/>
        </p:nvSpPr>
        <p:spPr>
          <a:xfrm>
            <a:off x="5403419" y="2822067"/>
            <a:ext cx="190789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Standardized prompts + iterative code review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4" name="Google Shape;2424;p64"/>
          <p:cNvSpPr/>
          <p:nvPr/>
        </p:nvSpPr>
        <p:spPr>
          <a:xfrm>
            <a:off x="228371" y="3114904"/>
            <a:ext cx="3457804" cy="457429"/>
          </a:xfrm>
          <a:prstGeom prst="roundRect">
            <a:avLst>
              <a:gd name="adj" fmla="val 18741"/>
            </a:avLst>
          </a:prstGeom>
          <a:solidFill>
            <a:srgbClr val="FFF1F2"/>
          </a:solidFill>
          <a:ln w="12700" cap="flat" cmpd="sng">
            <a:solidFill>
              <a:srgbClr val="FECDD3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5" name="Google Shape;2425;p64"/>
          <p:cNvSpPr/>
          <p:nvPr/>
        </p:nvSpPr>
        <p:spPr>
          <a:xfrm>
            <a:off x="349758" y="3228746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FE4E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26" name="Google Shape;2426;p64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414223" y="3293212"/>
            <a:ext cx="10012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27" name="Google Shape;2427;p64"/>
          <p:cNvSpPr/>
          <p:nvPr/>
        </p:nvSpPr>
        <p:spPr>
          <a:xfrm>
            <a:off x="349758" y="3771900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FE4E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8" name="Google Shape;2428;p64"/>
          <p:cNvSpPr txBox="1"/>
          <p:nvPr/>
        </p:nvSpPr>
        <p:spPr>
          <a:xfrm>
            <a:off x="664541" y="3215030"/>
            <a:ext cx="97520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Cost Management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9" name="Google Shape;2429;p64"/>
          <p:cNvSpPr txBox="1"/>
          <p:nvPr/>
        </p:nvSpPr>
        <p:spPr>
          <a:xfrm>
            <a:off x="664541" y="3364535"/>
            <a:ext cx="14079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Expensive GPT-4 calls adding up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0" name="Google Shape;2430;p64"/>
          <p:cNvSpPr txBox="1"/>
          <p:nvPr/>
        </p:nvSpPr>
        <p:spPr>
          <a:xfrm>
            <a:off x="664541" y="3757499"/>
            <a:ext cx="82570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Slow Execution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1" name="Google Shape;2431;p64"/>
          <p:cNvSpPr/>
          <p:nvPr/>
        </p:nvSpPr>
        <p:spPr>
          <a:xfrm>
            <a:off x="4974794" y="3114904"/>
            <a:ext cx="3886429" cy="457429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2" name="Google Shape;2432;p64"/>
          <p:cNvSpPr/>
          <p:nvPr/>
        </p:nvSpPr>
        <p:spPr>
          <a:xfrm>
            <a:off x="5089322" y="3228746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DCFCE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33" name="Google Shape;2433;p64" descr="preencoded.png"/>
          <p:cNvPicPr preferRelativeResize="0"/>
          <p:nvPr/>
        </p:nvPicPr>
        <p:blipFill rotWithShape="1">
          <a:blip r:embed="rId13">
            <a:alphaModFix/>
          </a:blip>
          <a:srcRect l="-1506" r="-1506"/>
          <a:stretch/>
        </p:blipFill>
        <p:spPr>
          <a:xfrm>
            <a:off x="5139386" y="3293212"/>
            <a:ext cx="128930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34" name="Google Shape;2434;p64"/>
          <p:cNvSpPr/>
          <p:nvPr/>
        </p:nvSpPr>
        <p:spPr>
          <a:xfrm>
            <a:off x="228371" y="3657371"/>
            <a:ext cx="3457804" cy="457429"/>
          </a:xfrm>
          <a:prstGeom prst="roundRect">
            <a:avLst>
              <a:gd name="adj" fmla="val 18741"/>
            </a:avLst>
          </a:prstGeom>
          <a:solidFill>
            <a:srgbClr val="FFF1F2"/>
          </a:solidFill>
          <a:ln w="12700" cap="flat" cmpd="sng">
            <a:solidFill>
              <a:srgbClr val="FECDD3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5" name="Google Shape;2435;p64"/>
          <p:cNvSpPr txBox="1"/>
          <p:nvPr/>
        </p:nvSpPr>
        <p:spPr>
          <a:xfrm>
            <a:off x="5403419" y="3215030"/>
            <a:ext cx="133250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Strategic Model Selection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6" name="Google Shape;2436;p64"/>
          <p:cNvSpPr txBox="1"/>
          <p:nvPr/>
        </p:nvSpPr>
        <p:spPr>
          <a:xfrm>
            <a:off x="5403419" y="3364535"/>
            <a:ext cx="187909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Tiered models (GPT-4-mini vs GPT-4-Turbo)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37" name="Google Shape;2437;p64" descr="preencoded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14223" y="3836366"/>
            <a:ext cx="10012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38" name="Google Shape;2438;p64"/>
          <p:cNvSpPr txBox="1"/>
          <p:nvPr/>
        </p:nvSpPr>
        <p:spPr>
          <a:xfrm>
            <a:off x="664541" y="3907688"/>
            <a:ext cx="146486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Sequential processing bottlenecks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9" name="Google Shape;2439;p64"/>
          <p:cNvSpPr/>
          <p:nvPr/>
        </p:nvSpPr>
        <p:spPr>
          <a:xfrm>
            <a:off x="228371" y="4200525"/>
            <a:ext cx="3457804" cy="457429"/>
          </a:xfrm>
          <a:prstGeom prst="roundRect">
            <a:avLst>
              <a:gd name="adj" fmla="val 18741"/>
            </a:avLst>
          </a:prstGeom>
          <a:solidFill>
            <a:srgbClr val="FFF1F2"/>
          </a:solidFill>
          <a:ln w="12700" cap="flat" cmpd="sng">
            <a:solidFill>
              <a:srgbClr val="FECDD3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0" name="Google Shape;2440;p64"/>
          <p:cNvSpPr/>
          <p:nvPr/>
        </p:nvSpPr>
        <p:spPr>
          <a:xfrm>
            <a:off x="349758" y="4315054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FE4E6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1" name="Google Shape;2441;p64"/>
          <p:cNvSpPr/>
          <p:nvPr/>
        </p:nvSpPr>
        <p:spPr>
          <a:xfrm>
            <a:off x="4974794" y="3657371"/>
            <a:ext cx="3886429" cy="457429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2" name="Google Shape;2442;p64"/>
          <p:cNvSpPr/>
          <p:nvPr/>
        </p:nvSpPr>
        <p:spPr>
          <a:xfrm>
            <a:off x="5089322" y="3771900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DCFCE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3" name="Google Shape;2443;p64" descr="preencoded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5153787" y="3836366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44" name="Google Shape;2444;p64"/>
          <p:cNvSpPr txBox="1"/>
          <p:nvPr/>
        </p:nvSpPr>
        <p:spPr>
          <a:xfrm>
            <a:off x="5403419" y="3757499"/>
            <a:ext cx="1132942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Parallelism &amp; Caching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5" name="Google Shape;2445;p64"/>
          <p:cNvSpPr txBox="1"/>
          <p:nvPr/>
        </p:nvSpPr>
        <p:spPr>
          <a:xfrm>
            <a:off x="5403419" y="3907688"/>
            <a:ext cx="162191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Future parallel agents + result caching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6" name="Google Shape;2446;p64" descr="preencoded.png"/>
          <p:cNvPicPr preferRelativeResize="0"/>
          <p:nvPr/>
        </p:nvPicPr>
        <p:blipFill rotWithShape="1">
          <a:blip r:embed="rId16">
            <a:alphaModFix/>
          </a:blip>
          <a:srcRect l="-2512" r="-2512"/>
          <a:stretch/>
        </p:blipFill>
        <p:spPr>
          <a:xfrm>
            <a:off x="425196" y="4378833"/>
            <a:ext cx="78867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47" name="Google Shape;2447;p64"/>
          <p:cNvSpPr txBox="1"/>
          <p:nvPr/>
        </p:nvSpPr>
        <p:spPr>
          <a:xfrm>
            <a:off x="664541" y="4300652"/>
            <a:ext cx="9038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Tool Call Failures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8" name="Google Shape;2448;p64"/>
          <p:cNvSpPr txBox="1"/>
          <p:nvPr/>
        </p:nvSpPr>
        <p:spPr>
          <a:xfrm>
            <a:off x="664541" y="4450842"/>
            <a:ext cx="950519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API timeouts or errors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9" name="Google Shape;2449;p64"/>
          <p:cNvSpPr/>
          <p:nvPr/>
        </p:nvSpPr>
        <p:spPr>
          <a:xfrm>
            <a:off x="4974794" y="4200525"/>
            <a:ext cx="3886429" cy="457429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0" name="Google Shape;2450;p64"/>
          <p:cNvSpPr/>
          <p:nvPr/>
        </p:nvSpPr>
        <p:spPr>
          <a:xfrm>
            <a:off x="5089322" y="4315054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DCFCE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51" name="Google Shape;2451;p64" descr="preencoded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5153787" y="4378833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52" name="Google Shape;2452;p64"/>
          <p:cNvSpPr txBox="1"/>
          <p:nvPr/>
        </p:nvSpPr>
        <p:spPr>
          <a:xfrm>
            <a:off x="5403419" y="4300652"/>
            <a:ext cx="1304392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Error Handling Strategies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3" name="Google Shape;2453;p64"/>
          <p:cNvSpPr txBox="1"/>
          <p:nvPr/>
        </p:nvSpPr>
        <p:spPr>
          <a:xfrm>
            <a:off x="5403419" y="4450842"/>
            <a:ext cx="185783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Comprehensive try-catch blocks &amp; fallbacks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4" name="Google Shape;2454;p64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5" name="Google Shape;2455;p64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56" name="Google Shape;2456;p64" descr="preencoded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342900" y="4929530"/>
            <a:ext cx="8572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457" name="Google Shape;2457;p64"/>
          <p:cNvSpPr txBox="1"/>
          <p:nvPr/>
        </p:nvSpPr>
        <p:spPr>
          <a:xfrm>
            <a:off x="457429" y="4918558"/>
            <a:ext cx="130782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7 Major Challenges Addressed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58" name="Google Shape;2458;p64" descr="preencoded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868805" y="4929530"/>
            <a:ext cx="8572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459" name="Google Shape;2459;p64"/>
          <p:cNvSpPr txBox="1"/>
          <p:nvPr/>
        </p:nvSpPr>
        <p:spPr>
          <a:xfrm>
            <a:off x="1983334" y="4918558"/>
            <a:ext cx="113637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Robust Production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0" name="Google Shape;2460;p64"/>
          <p:cNvSpPr txBox="1"/>
          <p:nvPr/>
        </p:nvSpPr>
        <p:spPr>
          <a:xfrm>
            <a:off x="8469630" y="4918558"/>
            <a:ext cx="4005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48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1" name="Google Shape;2461;p64"/>
          <p:cNvSpPr/>
          <p:nvPr/>
        </p:nvSpPr>
        <p:spPr>
          <a:xfrm>
            <a:off x="3680689" y="942975"/>
            <a:ext cx="1300277" cy="45742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2" name="Google Shape;2462;p64" descr="preencoded.png"/>
          <p:cNvPicPr preferRelativeResize="0"/>
          <p:nvPr/>
        </p:nvPicPr>
        <p:blipFill rotWithShape="1">
          <a:blip r:embed="rId20">
            <a:alphaModFix/>
          </a:blip>
          <a:srcRect l="-3753" r="-3752"/>
          <a:stretch/>
        </p:blipFill>
        <p:spPr>
          <a:xfrm>
            <a:off x="4213555" y="1036930"/>
            <a:ext cx="228371" cy="242774"/>
          </a:xfrm>
          <a:prstGeom prst="rect">
            <a:avLst/>
          </a:prstGeom>
          <a:noFill/>
          <a:ln>
            <a:noFill/>
          </a:ln>
        </p:spPr>
      </p:pic>
      <p:sp>
        <p:nvSpPr>
          <p:cNvPr id="2463" name="Google Shape;2463;p64"/>
          <p:cNvSpPr/>
          <p:nvPr/>
        </p:nvSpPr>
        <p:spPr>
          <a:xfrm>
            <a:off x="3680689" y="1486129"/>
            <a:ext cx="1300277" cy="45742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4" name="Google Shape;2464;p64" descr="preencoded.png"/>
          <p:cNvPicPr preferRelativeResize="0"/>
          <p:nvPr/>
        </p:nvPicPr>
        <p:blipFill rotWithShape="1">
          <a:blip r:embed="rId20">
            <a:alphaModFix/>
          </a:blip>
          <a:srcRect l="-3753" r="-3752"/>
          <a:stretch/>
        </p:blipFill>
        <p:spPr>
          <a:xfrm>
            <a:off x="4213555" y="1579397"/>
            <a:ext cx="228371" cy="242774"/>
          </a:xfrm>
          <a:prstGeom prst="rect">
            <a:avLst/>
          </a:prstGeom>
          <a:noFill/>
          <a:ln>
            <a:noFill/>
          </a:ln>
        </p:spPr>
      </p:pic>
      <p:sp>
        <p:nvSpPr>
          <p:cNvPr id="2465" name="Google Shape;2465;p64"/>
          <p:cNvSpPr/>
          <p:nvPr/>
        </p:nvSpPr>
        <p:spPr>
          <a:xfrm>
            <a:off x="3680689" y="2028596"/>
            <a:ext cx="1300277" cy="45742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6" name="Google Shape;2466;p64" descr="preencoded.png"/>
          <p:cNvPicPr preferRelativeResize="0"/>
          <p:nvPr/>
        </p:nvPicPr>
        <p:blipFill rotWithShape="1">
          <a:blip r:embed="rId20">
            <a:alphaModFix/>
          </a:blip>
          <a:srcRect l="-3753" r="-3752"/>
          <a:stretch/>
        </p:blipFill>
        <p:spPr>
          <a:xfrm>
            <a:off x="4213555" y="2122551"/>
            <a:ext cx="228371" cy="242774"/>
          </a:xfrm>
          <a:prstGeom prst="rect">
            <a:avLst/>
          </a:prstGeom>
          <a:noFill/>
          <a:ln>
            <a:noFill/>
          </a:ln>
        </p:spPr>
      </p:pic>
      <p:sp>
        <p:nvSpPr>
          <p:cNvPr id="2467" name="Google Shape;2467;p64"/>
          <p:cNvSpPr/>
          <p:nvPr/>
        </p:nvSpPr>
        <p:spPr>
          <a:xfrm>
            <a:off x="3680689" y="2571750"/>
            <a:ext cx="1300277" cy="45742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8" name="Google Shape;2468;p64" descr="preencoded.png"/>
          <p:cNvPicPr preferRelativeResize="0"/>
          <p:nvPr/>
        </p:nvPicPr>
        <p:blipFill rotWithShape="1">
          <a:blip r:embed="rId20">
            <a:alphaModFix/>
          </a:blip>
          <a:srcRect l="-3753" r="-3752"/>
          <a:stretch/>
        </p:blipFill>
        <p:spPr>
          <a:xfrm>
            <a:off x="4213555" y="2665705"/>
            <a:ext cx="228371" cy="242774"/>
          </a:xfrm>
          <a:prstGeom prst="rect">
            <a:avLst/>
          </a:prstGeom>
          <a:noFill/>
          <a:ln>
            <a:noFill/>
          </a:ln>
        </p:spPr>
      </p:pic>
      <p:sp>
        <p:nvSpPr>
          <p:cNvPr id="2469" name="Google Shape;2469;p64"/>
          <p:cNvSpPr/>
          <p:nvPr/>
        </p:nvSpPr>
        <p:spPr>
          <a:xfrm>
            <a:off x="3680689" y="3114904"/>
            <a:ext cx="1300277" cy="45742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70" name="Google Shape;2470;p64" descr="preencoded.png"/>
          <p:cNvPicPr preferRelativeResize="0"/>
          <p:nvPr/>
        </p:nvPicPr>
        <p:blipFill rotWithShape="1">
          <a:blip r:embed="rId20">
            <a:alphaModFix/>
          </a:blip>
          <a:srcRect l="-3753" r="-3752"/>
          <a:stretch/>
        </p:blipFill>
        <p:spPr>
          <a:xfrm>
            <a:off x="4213555" y="3208172"/>
            <a:ext cx="228371" cy="242774"/>
          </a:xfrm>
          <a:prstGeom prst="rect">
            <a:avLst/>
          </a:prstGeom>
          <a:noFill/>
          <a:ln>
            <a:noFill/>
          </a:ln>
        </p:spPr>
      </p:pic>
      <p:sp>
        <p:nvSpPr>
          <p:cNvPr id="2471" name="Google Shape;2471;p64"/>
          <p:cNvSpPr/>
          <p:nvPr/>
        </p:nvSpPr>
        <p:spPr>
          <a:xfrm>
            <a:off x="3680689" y="3657371"/>
            <a:ext cx="1300277" cy="45742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72" name="Google Shape;2472;p64" descr="preencoded.png"/>
          <p:cNvPicPr preferRelativeResize="0"/>
          <p:nvPr/>
        </p:nvPicPr>
        <p:blipFill rotWithShape="1">
          <a:blip r:embed="rId20">
            <a:alphaModFix/>
          </a:blip>
          <a:srcRect l="-3753" r="-3752"/>
          <a:stretch/>
        </p:blipFill>
        <p:spPr>
          <a:xfrm>
            <a:off x="4213555" y="3751326"/>
            <a:ext cx="228371" cy="242774"/>
          </a:xfrm>
          <a:prstGeom prst="rect">
            <a:avLst/>
          </a:prstGeom>
          <a:noFill/>
          <a:ln>
            <a:noFill/>
          </a:ln>
        </p:spPr>
      </p:pic>
      <p:sp>
        <p:nvSpPr>
          <p:cNvPr id="2473" name="Google Shape;2473;p64"/>
          <p:cNvSpPr/>
          <p:nvPr/>
        </p:nvSpPr>
        <p:spPr>
          <a:xfrm>
            <a:off x="3680689" y="4200525"/>
            <a:ext cx="1300277" cy="45742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74" name="Google Shape;2474;p64" descr="preencoded.png"/>
          <p:cNvPicPr preferRelativeResize="0"/>
          <p:nvPr/>
        </p:nvPicPr>
        <p:blipFill rotWithShape="1">
          <a:blip r:embed="rId20">
            <a:alphaModFix/>
          </a:blip>
          <a:srcRect l="-3753" r="-3752"/>
          <a:stretch/>
        </p:blipFill>
        <p:spPr>
          <a:xfrm>
            <a:off x="4213555" y="4294480"/>
            <a:ext cx="228371" cy="242774"/>
          </a:xfrm>
          <a:prstGeom prst="rect">
            <a:avLst/>
          </a:prstGeom>
          <a:noFill/>
          <a:ln>
            <a:noFill/>
          </a:ln>
        </p:spPr>
      </p:pic>
      <p:sp>
        <p:nvSpPr>
          <p:cNvPr id="2475" name="Google Shape;2475;p64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76" name="Google Shape;2476;p64" descr="preencoded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77" name="Google Shape;2477;p64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78" name="Google Shape;2478;p64" descr="preencoded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479" name="Google Shape;2479;p64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0" name="Google Shape;2480;p64"/>
          <p:cNvSpPr txBox="1"/>
          <p:nvPr/>
        </p:nvSpPr>
        <p:spPr>
          <a:xfrm>
            <a:off x="658368" y="3764013"/>
            <a:ext cx="1282446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1239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9F1239"/>
                </a:solidFill>
                <a:latin typeface="Inter"/>
                <a:ea typeface="Inter"/>
                <a:cs typeface="Inter"/>
                <a:sym typeface="Inter"/>
              </a:rPr>
              <a:t>Challenges and solutions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1" name="Google Shape;2481;p64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82" name="Google Shape;2482;p64" descr="preencoded.png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483" name="Google Shape;2483;p64"/>
          <p:cNvSpPr txBox="1"/>
          <p:nvPr/>
        </p:nvSpPr>
        <p:spPr>
          <a:xfrm>
            <a:off x="742721" y="178308"/>
            <a:ext cx="4729963" cy="178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Challenges and solutions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9" name="Google Shape;2489;p65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0" name="Google Shape;2490;p65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1" name="Google Shape;2491;p65"/>
          <p:cNvSpPr/>
          <p:nvPr/>
        </p:nvSpPr>
        <p:spPr>
          <a:xfrm>
            <a:off x="0" y="1671980"/>
            <a:ext cx="685800" cy="13716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2" name="Google Shape;2492;p65"/>
          <p:cNvSpPr/>
          <p:nvPr/>
        </p:nvSpPr>
        <p:spPr>
          <a:xfrm>
            <a:off x="8229600" y="1929155"/>
            <a:ext cx="914171" cy="1829029"/>
          </a:xfrm>
          <a:prstGeom prst="roundRect">
            <a:avLst>
              <a:gd name="adj" fmla="val 75019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3" name="Google Shape;2493;p65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4" name="Google Shape;2494;p65"/>
          <p:cNvSpPr/>
          <p:nvPr/>
        </p:nvSpPr>
        <p:spPr>
          <a:xfrm>
            <a:off x="342900" y="142646"/>
            <a:ext cx="285979" cy="285979"/>
          </a:xfrm>
          <a:prstGeom prst="roundRect">
            <a:avLst>
              <a:gd name="adj" fmla="val 1199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5" name="Google Shape;2495;p65" descr="preencoded.png"/>
          <p:cNvPicPr preferRelativeResize="0"/>
          <p:nvPr/>
        </p:nvPicPr>
        <p:blipFill rotWithShape="1">
          <a:blip r:embed="rId3">
            <a:alphaModFix/>
          </a:blip>
          <a:srcRect l="-1282" r="-1282"/>
          <a:stretch/>
        </p:blipFill>
        <p:spPr>
          <a:xfrm>
            <a:off x="403937" y="21465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496" name="Google Shape;2496;p65"/>
          <p:cNvSpPr txBox="1"/>
          <p:nvPr/>
        </p:nvSpPr>
        <p:spPr>
          <a:xfrm>
            <a:off x="742721" y="178308"/>
            <a:ext cx="3129305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Part 5: Conclusions &amp; Future Work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7" name="Google Shape;2497;p65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8" name="Google Shape;2498;p65"/>
          <p:cNvSpPr/>
          <p:nvPr/>
        </p:nvSpPr>
        <p:spPr>
          <a:xfrm>
            <a:off x="0" y="571271"/>
            <a:ext cx="91437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9" name="Google Shape;2499;p65"/>
          <p:cNvSpPr/>
          <p:nvPr/>
        </p:nvSpPr>
        <p:spPr>
          <a:xfrm>
            <a:off x="4307510" y="1128827"/>
            <a:ext cx="528751" cy="571271"/>
          </a:xfrm>
          <a:prstGeom prst="roundRect">
            <a:avLst>
              <a:gd name="adj" fmla="val 12970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00" name="Google Shape;2500;p65" descr="preencoded.png"/>
          <p:cNvPicPr preferRelativeResize="0"/>
          <p:nvPr/>
        </p:nvPicPr>
        <p:blipFill rotWithShape="1">
          <a:blip r:embed="rId4">
            <a:alphaModFix/>
          </a:blip>
          <a:srcRect l="-56" r="-57"/>
          <a:stretch/>
        </p:blipFill>
        <p:spPr>
          <a:xfrm>
            <a:off x="4422038" y="1243355"/>
            <a:ext cx="30038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1" name="Google Shape;2501;p65"/>
          <p:cNvSpPr txBox="1"/>
          <p:nvPr/>
        </p:nvSpPr>
        <p:spPr>
          <a:xfrm>
            <a:off x="1874291" y="1885950"/>
            <a:ext cx="572231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3400"/>
              <a:buFont typeface="Inter"/>
              <a:buNone/>
            </a:pPr>
            <a:r>
              <a:rPr lang="en" sz="3400" b="1">
                <a:solidFill>
                  <a:srgbClr val="111827"/>
                </a:solidFill>
                <a:latin typeface="Inter"/>
                <a:ea typeface="Inter"/>
                <a:cs typeface="Inter"/>
                <a:sym typeface="Inter"/>
              </a:rPr>
              <a:t>Conclusions &amp; Future Work</a:t>
            </a:r>
            <a:endParaRPr sz="3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2" name="Google Shape;2502;p65"/>
          <p:cNvSpPr/>
          <p:nvPr/>
        </p:nvSpPr>
        <p:spPr>
          <a:xfrm>
            <a:off x="4114800" y="2586152"/>
            <a:ext cx="914171" cy="56921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3" name="Google Shape;2503;p65"/>
          <p:cNvSpPr txBox="1"/>
          <p:nvPr/>
        </p:nvSpPr>
        <p:spPr>
          <a:xfrm>
            <a:off x="1829714" y="2964713"/>
            <a:ext cx="5615330" cy="486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Inter"/>
              <a:buNone/>
            </a:pPr>
            <a:r>
              <a:rPr lang="en" sz="14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Summary of contributions, validation results, and strategic next steps for the research.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4" name="Google Shape;2504;p65"/>
          <p:cNvSpPr/>
          <p:nvPr/>
        </p:nvSpPr>
        <p:spPr>
          <a:xfrm>
            <a:off x="2224049" y="3943350"/>
            <a:ext cx="1314679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05" name="Google Shape;2505;p65" descr="preencoded.png"/>
          <p:cNvPicPr preferRelativeResize="0"/>
          <p:nvPr/>
        </p:nvPicPr>
        <p:blipFill rotWithShape="1">
          <a:blip r:embed="rId5">
            <a:alphaModFix/>
          </a:blip>
          <a:srcRect l="-1282" r="-1282"/>
          <a:stretch/>
        </p:blipFill>
        <p:spPr>
          <a:xfrm>
            <a:off x="2402357" y="405033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506" name="Google Shape;2506;p65"/>
          <p:cNvSpPr/>
          <p:nvPr/>
        </p:nvSpPr>
        <p:spPr>
          <a:xfrm>
            <a:off x="3760241" y="3943350"/>
            <a:ext cx="1507388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7" name="Google Shape;2507;p65"/>
          <p:cNvSpPr txBox="1"/>
          <p:nvPr/>
        </p:nvSpPr>
        <p:spPr>
          <a:xfrm>
            <a:off x="2652674" y="4050335"/>
            <a:ext cx="793471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Key Findings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08" name="Google Shape;2508;p65" descr="preencoded.png"/>
          <p:cNvPicPr preferRelativeResize="0"/>
          <p:nvPr/>
        </p:nvPicPr>
        <p:blipFill rotWithShape="1">
          <a:blip r:embed="rId6">
            <a:alphaModFix/>
          </a:blip>
          <a:srcRect l="-1282" r="-1282"/>
          <a:stretch/>
        </p:blipFill>
        <p:spPr>
          <a:xfrm>
            <a:off x="3939236" y="4050335"/>
            <a:ext cx="164592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509" name="Google Shape;2509;p65"/>
          <p:cNvSpPr/>
          <p:nvPr/>
        </p:nvSpPr>
        <p:spPr>
          <a:xfrm>
            <a:off x="5496002" y="3943350"/>
            <a:ext cx="1428521" cy="357301"/>
          </a:xfrm>
          <a:prstGeom prst="roundRect">
            <a:avLst>
              <a:gd name="adj" fmla="val 30710"/>
            </a:avLst>
          </a:prstGeom>
          <a:solidFill>
            <a:srgbClr val="F9FAFB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0" name="Google Shape;2510;p65"/>
          <p:cNvSpPr txBox="1"/>
          <p:nvPr/>
        </p:nvSpPr>
        <p:spPr>
          <a:xfrm>
            <a:off x="4188866" y="4050335"/>
            <a:ext cx="986180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Roadmap Ahead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1" name="Google Shape;2511;p6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674310" y="405033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512" name="Google Shape;2512;p65"/>
          <p:cNvSpPr txBox="1"/>
          <p:nvPr/>
        </p:nvSpPr>
        <p:spPr>
          <a:xfrm>
            <a:off x="5902681" y="4050335"/>
            <a:ext cx="929259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Inter"/>
              <a:buNone/>
            </a:pPr>
            <a:r>
              <a:rPr lang="en" sz="9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rPr>
              <a:t>Broader Impact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3" name="Google Shape;2513;p65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4" name="Google Shape;2514;p65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5" name="Google Shape;2515;p65"/>
          <p:cNvSpPr txBox="1"/>
          <p:nvPr/>
        </p:nvSpPr>
        <p:spPr>
          <a:xfrm>
            <a:off x="342900" y="4918558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6" name="Google Shape;2516;p65"/>
          <p:cNvSpPr txBox="1"/>
          <p:nvPr/>
        </p:nvSpPr>
        <p:spPr>
          <a:xfrm>
            <a:off x="8469630" y="4918558"/>
            <a:ext cx="40050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49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7" name="Google Shape;2517;p6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518" name="Google Shape;2518;p65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9" name="Google Shape;2519;p6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520" name="Google Shape;2520;p65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6" name="Google Shape;2526;p66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7" name="Google Shape;2527;p66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28" name="Google Shape;2528;p6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223" y="214655"/>
            <a:ext cx="142646" cy="142646"/>
          </a:xfrm>
          <a:prstGeom prst="rect">
            <a:avLst/>
          </a:prstGeom>
          <a:noFill/>
          <a:ln>
            <a:noFill/>
          </a:ln>
        </p:spPr>
      </p:pic>
      <p:sp>
        <p:nvSpPr>
          <p:cNvPr id="2529" name="Google Shape;2529;p66"/>
          <p:cNvSpPr txBox="1"/>
          <p:nvPr/>
        </p:nvSpPr>
        <p:spPr>
          <a:xfrm>
            <a:off x="742721" y="114529"/>
            <a:ext cx="2386584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Limitations &amp; Future Work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0" name="Google Shape;2530;p66"/>
          <p:cNvSpPr txBox="1"/>
          <p:nvPr/>
        </p:nvSpPr>
        <p:spPr>
          <a:xfrm>
            <a:off x="742721" y="357302"/>
            <a:ext cx="993038" cy="100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project.roadmap.v2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1" name="Google Shape;2531;p66"/>
          <p:cNvSpPr txBox="1"/>
          <p:nvPr/>
        </p:nvSpPr>
        <p:spPr>
          <a:xfrm>
            <a:off x="7289369" y="221513"/>
            <a:ext cx="1589684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CMU 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2" name="Google Shape;2532;p66"/>
          <p:cNvSpPr/>
          <p:nvPr/>
        </p:nvSpPr>
        <p:spPr>
          <a:xfrm>
            <a:off x="0" y="628879"/>
            <a:ext cx="9143771" cy="4171721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3" name="Google Shape;2533;p66"/>
          <p:cNvSpPr txBox="1"/>
          <p:nvPr/>
        </p:nvSpPr>
        <p:spPr>
          <a:xfrm>
            <a:off x="285979" y="936117"/>
            <a:ext cx="1754276" cy="15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CURRENT CONSTRAINTS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4" name="Google Shape;2534;p66"/>
          <p:cNvSpPr/>
          <p:nvPr/>
        </p:nvSpPr>
        <p:spPr>
          <a:xfrm>
            <a:off x="2028596" y="1010870"/>
            <a:ext cx="1021842" cy="685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5" name="Google Shape;2535;p66"/>
          <p:cNvSpPr/>
          <p:nvPr/>
        </p:nvSpPr>
        <p:spPr>
          <a:xfrm>
            <a:off x="285979" y="1285875"/>
            <a:ext cx="2764460" cy="1071905"/>
          </a:xfrm>
          <a:prstGeom prst="roundRect">
            <a:avLst>
              <a:gd name="adj" fmla="val 3412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254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6" name="Google Shape;2536;p66"/>
          <p:cNvSpPr/>
          <p:nvPr/>
        </p:nvSpPr>
        <p:spPr>
          <a:xfrm>
            <a:off x="457429" y="1407262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37" name="Google Shape;2537;p6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4350" y="1464183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2538" name="Google Shape;2538;p66"/>
          <p:cNvSpPr txBox="1"/>
          <p:nvPr/>
        </p:nvSpPr>
        <p:spPr>
          <a:xfrm>
            <a:off x="771525" y="1450467"/>
            <a:ext cx="1393546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Performance Overhead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9" name="Google Shape;2539;p66"/>
          <p:cNvSpPr txBox="1"/>
          <p:nvPr/>
        </p:nvSpPr>
        <p:spPr>
          <a:xfrm>
            <a:off x="457429" y="1700099"/>
            <a:ext cx="2161642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Multi-agent system significantly slower than pipeline approach.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0" name="Google Shape;2540;p66"/>
          <p:cNvSpPr/>
          <p:nvPr/>
        </p:nvSpPr>
        <p:spPr>
          <a:xfrm>
            <a:off x="457429" y="2036141"/>
            <a:ext cx="1193292" cy="200254"/>
          </a:xfrm>
          <a:prstGeom prst="roundRect">
            <a:avLst>
              <a:gd name="adj" fmla="val 48924"/>
            </a:avLst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1" name="Google Shape;2541;p6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99949" y="2089633"/>
            <a:ext cx="8572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542" name="Google Shape;2542;p66"/>
          <p:cNvSpPr txBox="1"/>
          <p:nvPr/>
        </p:nvSpPr>
        <p:spPr>
          <a:xfrm>
            <a:off x="614476" y="2078660"/>
            <a:ext cx="51435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15-30 mins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3" name="Google Shape;2543;p66"/>
          <p:cNvSpPr/>
          <p:nvPr/>
        </p:nvSpPr>
        <p:spPr>
          <a:xfrm>
            <a:off x="1706270" y="2036141"/>
            <a:ext cx="1193292" cy="200254"/>
          </a:xfrm>
          <a:prstGeom prst="roundRect">
            <a:avLst>
              <a:gd name="adj" fmla="val 48924"/>
            </a:avLst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4" name="Google Shape;2544;p66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48790" y="2089633"/>
            <a:ext cx="85725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545" name="Google Shape;2545;p66"/>
          <p:cNvSpPr txBox="1"/>
          <p:nvPr/>
        </p:nvSpPr>
        <p:spPr>
          <a:xfrm>
            <a:off x="1863319" y="2078660"/>
            <a:ext cx="46497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High Cost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6" name="Google Shape;2546;p66"/>
          <p:cNvSpPr/>
          <p:nvPr/>
        </p:nvSpPr>
        <p:spPr>
          <a:xfrm>
            <a:off x="285979" y="2471624"/>
            <a:ext cx="2764460" cy="1057504"/>
          </a:xfrm>
          <a:prstGeom prst="roundRect">
            <a:avLst>
              <a:gd name="adj" fmla="val 3505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254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7" name="Google Shape;2547;p66"/>
          <p:cNvSpPr/>
          <p:nvPr/>
        </p:nvSpPr>
        <p:spPr>
          <a:xfrm>
            <a:off x="457429" y="2593010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8" name="Google Shape;2548;p66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14350" y="2650617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2549" name="Google Shape;2549;p66"/>
          <p:cNvSpPr txBox="1"/>
          <p:nvPr/>
        </p:nvSpPr>
        <p:spPr>
          <a:xfrm>
            <a:off x="771525" y="2636216"/>
            <a:ext cx="729005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Data Scope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0" name="Google Shape;2550;p66"/>
          <p:cNvSpPr txBox="1"/>
          <p:nvPr/>
        </p:nvSpPr>
        <p:spPr>
          <a:xfrm>
            <a:off x="457429" y="2885846"/>
            <a:ext cx="2275484" cy="264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Currently optimized for structured tabular data (CSV) only.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1" name="Google Shape;2551;p66"/>
          <p:cNvSpPr/>
          <p:nvPr/>
        </p:nvSpPr>
        <p:spPr>
          <a:xfrm>
            <a:off x="457429" y="3221888"/>
            <a:ext cx="600075" cy="185851"/>
          </a:xfrm>
          <a:prstGeom prst="roundRect">
            <a:avLst>
              <a:gd name="adj" fmla="val 56770"/>
            </a:avLst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2" name="Google Shape;2552;p66"/>
          <p:cNvSpPr txBox="1"/>
          <p:nvPr/>
        </p:nvSpPr>
        <p:spPr>
          <a:xfrm>
            <a:off x="514350" y="3250692"/>
            <a:ext cx="55069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Time Series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3" name="Google Shape;2553;p66"/>
          <p:cNvSpPr/>
          <p:nvPr/>
        </p:nvSpPr>
        <p:spPr>
          <a:xfrm>
            <a:off x="1108253" y="3221888"/>
            <a:ext cx="285979" cy="185851"/>
          </a:xfrm>
          <a:prstGeom prst="roundRect">
            <a:avLst>
              <a:gd name="adj" fmla="val 56770"/>
            </a:avLst>
          </a:prstGeom>
          <a:solidFill>
            <a:srgbClr val="F9FAF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4" name="Google Shape;2554;p66"/>
          <p:cNvSpPr txBox="1"/>
          <p:nvPr/>
        </p:nvSpPr>
        <p:spPr>
          <a:xfrm>
            <a:off x="1165175" y="3250692"/>
            <a:ext cx="235916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NLP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5" name="Google Shape;2555;p66"/>
          <p:cNvSpPr/>
          <p:nvPr/>
        </p:nvSpPr>
        <p:spPr>
          <a:xfrm>
            <a:off x="1447724" y="3221888"/>
            <a:ext cx="621335" cy="185851"/>
          </a:xfrm>
          <a:prstGeom prst="roundRect">
            <a:avLst>
              <a:gd name="adj" fmla="val 56770"/>
            </a:avLst>
          </a:prstGeom>
          <a:solidFill>
            <a:srgbClr val="FEF2F2"/>
          </a:solidFill>
          <a:ln w="12700" cap="flat" cmpd="sng">
            <a:solidFill>
              <a:srgbClr val="FEE2E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6" name="Google Shape;2556;p66"/>
          <p:cNvSpPr txBox="1"/>
          <p:nvPr/>
        </p:nvSpPr>
        <p:spPr>
          <a:xfrm>
            <a:off x="1511503" y="3257550"/>
            <a:ext cx="55755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700"/>
              <a:buFont typeface="Inter"/>
              <a:buNone/>
            </a:pPr>
            <a:r>
              <a:rPr lang="en" sz="70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&lt;100k Rows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7" name="Google Shape;2557;p66"/>
          <p:cNvSpPr/>
          <p:nvPr/>
        </p:nvSpPr>
        <p:spPr>
          <a:xfrm>
            <a:off x="285979" y="3643655"/>
            <a:ext cx="2764460" cy="1128827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254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8" name="Google Shape;2558;p66"/>
          <p:cNvSpPr/>
          <p:nvPr/>
        </p:nvSpPr>
        <p:spPr>
          <a:xfrm>
            <a:off x="457429" y="3765042"/>
            <a:ext cx="228371" cy="228371"/>
          </a:xfrm>
          <a:prstGeom prst="roundRect">
            <a:avLst>
              <a:gd name="adj" fmla="val 56306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59" name="Google Shape;2559;p66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14350" y="3821963"/>
            <a:ext cx="114529" cy="114529"/>
          </a:xfrm>
          <a:prstGeom prst="rect">
            <a:avLst/>
          </a:prstGeom>
          <a:noFill/>
          <a:ln>
            <a:noFill/>
          </a:ln>
        </p:spPr>
      </p:pic>
      <p:sp>
        <p:nvSpPr>
          <p:cNvPr id="2560" name="Google Shape;2560;p66"/>
          <p:cNvSpPr txBox="1"/>
          <p:nvPr/>
        </p:nvSpPr>
        <p:spPr>
          <a:xfrm>
            <a:off x="771525" y="3807562"/>
            <a:ext cx="900455" cy="14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Inter"/>
              <a:buNone/>
            </a:pPr>
            <a:r>
              <a:rPr lang="en" sz="9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Customization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1" name="Google Shape;2561;p66"/>
          <p:cNvSpPr txBox="1"/>
          <p:nvPr/>
        </p:nvSpPr>
        <p:spPr>
          <a:xfrm>
            <a:off x="457429" y="4057879"/>
            <a:ext cx="1904467" cy="26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Fixed agent workflow graph limits user intervention.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2" name="Google Shape;2562;p66"/>
          <p:cNvSpPr txBox="1"/>
          <p:nvPr/>
        </p:nvSpPr>
        <p:spPr>
          <a:xfrm>
            <a:off x="578816" y="4393235"/>
            <a:ext cx="172204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Limited algorithm hyperparameter tuning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3" name="Google Shape;2563;p66"/>
          <p:cNvSpPr txBox="1"/>
          <p:nvPr/>
        </p:nvSpPr>
        <p:spPr>
          <a:xfrm>
            <a:off x="578815" y="4536567"/>
            <a:ext cx="158625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Cannot swap agent roles dynamically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4" name="Google Shape;2564;p66"/>
          <p:cNvSpPr txBox="1"/>
          <p:nvPr/>
        </p:nvSpPr>
        <p:spPr>
          <a:xfrm>
            <a:off x="3333674" y="936117"/>
            <a:ext cx="1811197" cy="15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FUTURE ENHANCEMENTS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5" name="Google Shape;2565;p66"/>
          <p:cNvSpPr/>
          <p:nvPr/>
        </p:nvSpPr>
        <p:spPr>
          <a:xfrm>
            <a:off x="5127727" y="1010870"/>
            <a:ext cx="3736238" cy="685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6" name="Google Shape;2566;p66"/>
          <p:cNvSpPr/>
          <p:nvPr/>
        </p:nvSpPr>
        <p:spPr>
          <a:xfrm>
            <a:off x="3333673" y="1285875"/>
            <a:ext cx="5529605" cy="3228746"/>
          </a:xfrm>
          <a:prstGeom prst="roundRect">
            <a:avLst>
              <a:gd name="adj" fmla="val 564"/>
            </a:avLst>
          </a:prstGeom>
          <a:solidFill>
            <a:srgbClr val="FFFFFF"/>
          </a:solidFill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7" name="Google Shape;2567;p66"/>
          <p:cNvSpPr/>
          <p:nvPr/>
        </p:nvSpPr>
        <p:spPr>
          <a:xfrm>
            <a:off x="3348076" y="1300277"/>
            <a:ext cx="1100024" cy="435483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8" name="Google Shape;2568;p66"/>
          <p:cNvSpPr/>
          <p:nvPr/>
        </p:nvSpPr>
        <p:spPr>
          <a:xfrm>
            <a:off x="3348076" y="1728902"/>
            <a:ext cx="1100024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9" name="Google Shape;2569;p66"/>
          <p:cNvSpPr txBox="1"/>
          <p:nvPr/>
        </p:nvSpPr>
        <p:spPr>
          <a:xfrm>
            <a:off x="3462605" y="1392859"/>
            <a:ext cx="793471" cy="2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ENHANCEMENT AREA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0" name="Google Shape;2570;p66"/>
          <p:cNvSpPr/>
          <p:nvPr/>
        </p:nvSpPr>
        <p:spPr>
          <a:xfrm>
            <a:off x="4447413" y="1300277"/>
            <a:ext cx="2479167" cy="435483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1" name="Google Shape;2571;p66"/>
          <p:cNvSpPr/>
          <p:nvPr/>
        </p:nvSpPr>
        <p:spPr>
          <a:xfrm>
            <a:off x="4447413" y="1728902"/>
            <a:ext cx="2479167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2" name="Google Shape;2572;p66"/>
          <p:cNvSpPr txBox="1"/>
          <p:nvPr/>
        </p:nvSpPr>
        <p:spPr>
          <a:xfrm>
            <a:off x="4561256" y="1457325"/>
            <a:ext cx="122895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PLANNED IMPROVEMENT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3" name="Google Shape;2573;p66"/>
          <p:cNvSpPr/>
          <p:nvPr/>
        </p:nvSpPr>
        <p:spPr>
          <a:xfrm>
            <a:off x="6920408" y="1300277"/>
            <a:ext cx="1100024" cy="435483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4" name="Google Shape;2574;p66"/>
          <p:cNvSpPr/>
          <p:nvPr/>
        </p:nvSpPr>
        <p:spPr>
          <a:xfrm>
            <a:off x="6920408" y="1728902"/>
            <a:ext cx="1100024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5" name="Google Shape;2575;p66"/>
          <p:cNvSpPr txBox="1"/>
          <p:nvPr/>
        </p:nvSpPr>
        <p:spPr>
          <a:xfrm>
            <a:off x="7034251" y="1457325"/>
            <a:ext cx="4286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IMPACT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6" name="Google Shape;2576;p66"/>
          <p:cNvSpPr/>
          <p:nvPr/>
        </p:nvSpPr>
        <p:spPr>
          <a:xfrm>
            <a:off x="8019746" y="1300277"/>
            <a:ext cx="828446" cy="435483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7" name="Google Shape;2577;p66"/>
          <p:cNvSpPr/>
          <p:nvPr/>
        </p:nvSpPr>
        <p:spPr>
          <a:xfrm>
            <a:off x="8019746" y="1728902"/>
            <a:ext cx="828446" cy="685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8" name="Google Shape;2578;p66"/>
          <p:cNvSpPr txBox="1"/>
          <p:nvPr/>
        </p:nvSpPr>
        <p:spPr>
          <a:xfrm>
            <a:off x="8133588" y="1457325"/>
            <a:ext cx="4286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STATUS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9" name="Google Shape;2579;p66"/>
          <p:cNvSpPr/>
          <p:nvPr/>
        </p:nvSpPr>
        <p:spPr>
          <a:xfrm>
            <a:off x="3348076" y="1735760"/>
            <a:ext cx="1100024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0" name="Google Shape;2580;p66"/>
          <p:cNvSpPr/>
          <p:nvPr/>
        </p:nvSpPr>
        <p:spPr>
          <a:xfrm>
            <a:off x="3348076" y="2286457"/>
            <a:ext cx="1100024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1" name="Google Shape;2581;p66"/>
          <p:cNvSpPr/>
          <p:nvPr/>
        </p:nvSpPr>
        <p:spPr>
          <a:xfrm>
            <a:off x="3462605" y="1914068"/>
            <a:ext cx="564413" cy="192710"/>
          </a:xfrm>
          <a:prstGeom prst="roundRect">
            <a:avLst>
              <a:gd name="adj" fmla="val 355872"/>
            </a:avLst>
          </a:prstGeom>
          <a:solidFill>
            <a:srgbClr val="EFF6FF"/>
          </a:solidFill>
          <a:ln w="12700" cap="flat" cmpd="sng">
            <a:solidFill>
              <a:srgbClr val="DBEA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82" name="Google Shape;2582;p66" descr="preencoded.png"/>
          <p:cNvPicPr preferRelativeResize="0"/>
          <p:nvPr/>
        </p:nvPicPr>
        <p:blipFill rotWithShape="1">
          <a:blip r:embed="rId9">
            <a:alphaModFix/>
          </a:blip>
          <a:srcRect l="-1676" r="-1676"/>
          <a:stretch/>
        </p:blipFill>
        <p:spPr>
          <a:xfrm>
            <a:off x="3555188" y="1970303"/>
            <a:ext cx="71324" cy="78867"/>
          </a:xfrm>
          <a:prstGeom prst="rect">
            <a:avLst/>
          </a:prstGeom>
          <a:noFill/>
          <a:ln>
            <a:noFill/>
          </a:ln>
        </p:spPr>
      </p:pic>
      <p:sp>
        <p:nvSpPr>
          <p:cNvPr id="2583" name="Google Shape;2583;p66"/>
          <p:cNvSpPr txBox="1"/>
          <p:nvPr/>
        </p:nvSpPr>
        <p:spPr>
          <a:xfrm>
            <a:off x="3684118" y="1949729"/>
            <a:ext cx="310667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Speed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4" name="Google Shape;2584;p66"/>
          <p:cNvSpPr/>
          <p:nvPr/>
        </p:nvSpPr>
        <p:spPr>
          <a:xfrm>
            <a:off x="4447413" y="1735760"/>
            <a:ext cx="2479167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5" name="Google Shape;2585;p66"/>
          <p:cNvSpPr/>
          <p:nvPr/>
        </p:nvSpPr>
        <p:spPr>
          <a:xfrm>
            <a:off x="4447413" y="2286457"/>
            <a:ext cx="2479167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6" name="Google Shape;2586;p66"/>
          <p:cNvSpPr txBox="1"/>
          <p:nvPr/>
        </p:nvSpPr>
        <p:spPr>
          <a:xfrm>
            <a:off x="4561256" y="1886636"/>
            <a:ext cx="1215923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Parallel Agent Execution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7" name="Google Shape;2587;p66"/>
          <p:cNvSpPr txBox="1"/>
          <p:nvPr/>
        </p:nvSpPr>
        <p:spPr>
          <a:xfrm>
            <a:off x="4561256" y="2032712"/>
            <a:ext cx="20574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Run Coding, Search, and Viz agents concurrently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8" name="Google Shape;2588;p66"/>
          <p:cNvSpPr/>
          <p:nvPr/>
        </p:nvSpPr>
        <p:spPr>
          <a:xfrm>
            <a:off x="6920408" y="1735760"/>
            <a:ext cx="1100024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9" name="Google Shape;2589;p66"/>
          <p:cNvSpPr/>
          <p:nvPr/>
        </p:nvSpPr>
        <p:spPr>
          <a:xfrm>
            <a:off x="6920408" y="2286457"/>
            <a:ext cx="1100024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0" name="Google Shape;2590;p66"/>
          <p:cNvSpPr txBox="1"/>
          <p:nvPr/>
        </p:nvSpPr>
        <p:spPr>
          <a:xfrm>
            <a:off x="7034251" y="1895552"/>
            <a:ext cx="587731" cy="229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3x Latency Reduction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1" name="Google Shape;2591;p66"/>
          <p:cNvSpPr/>
          <p:nvPr/>
        </p:nvSpPr>
        <p:spPr>
          <a:xfrm>
            <a:off x="8019746" y="1735760"/>
            <a:ext cx="828446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2" name="Google Shape;2592;p66"/>
          <p:cNvSpPr/>
          <p:nvPr/>
        </p:nvSpPr>
        <p:spPr>
          <a:xfrm>
            <a:off x="8019746" y="2286457"/>
            <a:ext cx="828446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3" name="Google Shape;2593;p66"/>
          <p:cNvSpPr txBox="1"/>
          <p:nvPr/>
        </p:nvSpPr>
        <p:spPr>
          <a:xfrm>
            <a:off x="8133588" y="1951101"/>
            <a:ext cx="366218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Inter"/>
              <a:buNone/>
            </a:pPr>
            <a:r>
              <a:rPr lang="en" sz="8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In Dev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4" name="Google Shape;2594;p66"/>
          <p:cNvSpPr/>
          <p:nvPr/>
        </p:nvSpPr>
        <p:spPr>
          <a:xfrm>
            <a:off x="3348076" y="2290572"/>
            <a:ext cx="1100024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5" name="Google Shape;2595;p66"/>
          <p:cNvSpPr/>
          <p:nvPr/>
        </p:nvSpPr>
        <p:spPr>
          <a:xfrm>
            <a:off x="3348076" y="2841269"/>
            <a:ext cx="1100024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6" name="Google Shape;2596;p66"/>
          <p:cNvSpPr/>
          <p:nvPr/>
        </p:nvSpPr>
        <p:spPr>
          <a:xfrm>
            <a:off x="3462605" y="2468195"/>
            <a:ext cx="571271" cy="192710"/>
          </a:xfrm>
          <a:prstGeom prst="roundRect">
            <a:avLst>
              <a:gd name="adj" fmla="val 355872"/>
            </a:avLst>
          </a:prstGeom>
          <a:solidFill>
            <a:srgbClr val="F0FDF4"/>
          </a:solidFill>
          <a:ln w="12700" cap="flat" cmpd="sng">
            <a:solidFill>
              <a:srgbClr val="DCFC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7" name="Google Shape;2597;p66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555188" y="2524430"/>
            <a:ext cx="78867" cy="78867"/>
          </a:xfrm>
          <a:prstGeom prst="rect">
            <a:avLst/>
          </a:prstGeom>
          <a:noFill/>
          <a:ln>
            <a:noFill/>
          </a:ln>
        </p:spPr>
      </p:pic>
      <p:sp>
        <p:nvSpPr>
          <p:cNvPr id="2598" name="Google Shape;2598;p66"/>
          <p:cNvSpPr txBox="1"/>
          <p:nvPr/>
        </p:nvSpPr>
        <p:spPr>
          <a:xfrm>
            <a:off x="3690976" y="2503856"/>
            <a:ext cx="310667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Scope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9" name="Google Shape;2599;p66"/>
          <p:cNvSpPr/>
          <p:nvPr/>
        </p:nvSpPr>
        <p:spPr>
          <a:xfrm>
            <a:off x="4447413" y="2290572"/>
            <a:ext cx="2479167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0" name="Google Shape;2600;p66"/>
          <p:cNvSpPr/>
          <p:nvPr/>
        </p:nvSpPr>
        <p:spPr>
          <a:xfrm>
            <a:off x="4447413" y="2841269"/>
            <a:ext cx="2479167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1" name="Google Shape;2601;p66"/>
          <p:cNvSpPr txBox="1"/>
          <p:nvPr/>
        </p:nvSpPr>
        <p:spPr>
          <a:xfrm>
            <a:off x="4561255" y="2441448"/>
            <a:ext cx="1187806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Expanded Data Support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2" name="Google Shape;2602;p66"/>
          <p:cNvSpPr txBox="1"/>
          <p:nvPr/>
        </p:nvSpPr>
        <p:spPr>
          <a:xfrm>
            <a:off x="4561256" y="2586838"/>
            <a:ext cx="218633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Pipelines for Time Series, NLP, and Computer Vision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3" name="Google Shape;2603;p66"/>
          <p:cNvSpPr/>
          <p:nvPr/>
        </p:nvSpPr>
        <p:spPr>
          <a:xfrm>
            <a:off x="6920408" y="2290572"/>
            <a:ext cx="1100024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4" name="Google Shape;2604;p66"/>
          <p:cNvSpPr/>
          <p:nvPr/>
        </p:nvSpPr>
        <p:spPr>
          <a:xfrm>
            <a:off x="6920408" y="2841269"/>
            <a:ext cx="1100024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5" name="Google Shape;2605;p66"/>
          <p:cNvSpPr txBox="1"/>
          <p:nvPr/>
        </p:nvSpPr>
        <p:spPr>
          <a:xfrm>
            <a:off x="7034251" y="2449678"/>
            <a:ext cx="652196" cy="229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Universal Applicability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6" name="Google Shape;2606;p66"/>
          <p:cNvSpPr/>
          <p:nvPr/>
        </p:nvSpPr>
        <p:spPr>
          <a:xfrm>
            <a:off x="8019746" y="2290572"/>
            <a:ext cx="828446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7" name="Google Shape;2607;p66"/>
          <p:cNvSpPr/>
          <p:nvPr/>
        </p:nvSpPr>
        <p:spPr>
          <a:xfrm>
            <a:off x="8019746" y="2841269"/>
            <a:ext cx="828446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8" name="Google Shape;2608;p66"/>
          <p:cNvSpPr txBox="1"/>
          <p:nvPr/>
        </p:nvSpPr>
        <p:spPr>
          <a:xfrm>
            <a:off x="8133588" y="2505227"/>
            <a:ext cx="444398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Inter"/>
              <a:buNone/>
            </a:pPr>
            <a:r>
              <a:rPr lang="en" sz="8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Planned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9" name="Google Shape;2609;p66"/>
          <p:cNvSpPr/>
          <p:nvPr/>
        </p:nvSpPr>
        <p:spPr>
          <a:xfrm>
            <a:off x="3348076" y="2844698"/>
            <a:ext cx="1100024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0" name="Google Shape;2610;p66"/>
          <p:cNvSpPr/>
          <p:nvPr/>
        </p:nvSpPr>
        <p:spPr>
          <a:xfrm>
            <a:off x="3348076" y="3395396"/>
            <a:ext cx="1100024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1" name="Google Shape;2611;p66"/>
          <p:cNvSpPr/>
          <p:nvPr/>
        </p:nvSpPr>
        <p:spPr>
          <a:xfrm>
            <a:off x="3462605" y="3023006"/>
            <a:ext cx="771525" cy="192710"/>
          </a:xfrm>
          <a:prstGeom prst="roundRect">
            <a:avLst>
              <a:gd name="adj" fmla="val 355872"/>
            </a:avLst>
          </a:prstGeom>
          <a:solidFill>
            <a:srgbClr val="FAF5FF"/>
          </a:solidFill>
          <a:ln w="12700" cap="flat" cmpd="sng">
            <a:solidFill>
              <a:srgbClr val="F3E8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12" name="Google Shape;2612;p66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555188" y="3079242"/>
            <a:ext cx="78867" cy="78867"/>
          </a:xfrm>
          <a:prstGeom prst="rect">
            <a:avLst/>
          </a:prstGeom>
          <a:noFill/>
          <a:ln>
            <a:noFill/>
          </a:ln>
        </p:spPr>
      </p:pic>
      <p:sp>
        <p:nvSpPr>
          <p:cNvPr id="2613" name="Google Shape;2613;p66"/>
          <p:cNvSpPr txBox="1"/>
          <p:nvPr/>
        </p:nvSpPr>
        <p:spPr>
          <a:xfrm>
            <a:off x="3690976" y="3058668"/>
            <a:ext cx="510236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333EA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9333EA"/>
                </a:solidFill>
                <a:latin typeface="Inter"/>
                <a:ea typeface="Inter"/>
                <a:cs typeface="Inter"/>
                <a:sym typeface="Inter"/>
              </a:rPr>
              <a:t>Intelligence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4" name="Google Shape;2614;p66"/>
          <p:cNvSpPr/>
          <p:nvPr/>
        </p:nvSpPr>
        <p:spPr>
          <a:xfrm>
            <a:off x="4447413" y="2844698"/>
            <a:ext cx="2479167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5" name="Google Shape;2615;p66"/>
          <p:cNvSpPr/>
          <p:nvPr/>
        </p:nvSpPr>
        <p:spPr>
          <a:xfrm>
            <a:off x="4447413" y="3395396"/>
            <a:ext cx="2479167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6" name="Google Shape;2616;p66"/>
          <p:cNvSpPr txBox="1"/>
          <p:nvPr/>
        </p:nvSpPr>
        <p:spPr>
          <a:xfrm>
            <a:off x="4561256" y="2995574"/>
            <a:ext cx="1251585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Meta-Learning Optimizer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7" name="Google Shape;2617;p66"/>
          <p:cNvSpPr txBox="1"/>
          <p:nvPr/>
        </p:nvSpPr>
        <p:spPr>
          <a:xfrm>
            <a:off x="4561255" y="3141650"/>
            <a:ext cx="172890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Agents learn from past analysis mistakes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8" name="Google Shape;2618;p66"/>
          <p:cNvSpPr/>
          <p:nvPr/>
        </p:nvSpPr>
        <p:spPr>
          <a:xfrm>
            <a:off x="6920408" y="2844698"/>
            <a:ext cx="1100024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9" name="Google Shape;2619;p66"/>
          <p:cNvSpPr/>
          <p:nvPr/>
        </p:nvSpPr>
        <p:spPr>
          <a:xfrm>
            <a:off x="6920408" y="3395396"/>
            <a:ext cx="1100024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0" name="Google Shape;2620;p66"/>
          <p:cNvSpPr txBox="1"/>
          <p:nvPr/>
        </p:nvSpPr>
        <p:spPr>
          <a:xfrm>
            <a:off x="7034251" y="3004489"/>
            <a:ext cx="766039" cy="229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Self-Improving Core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1" name="Google Shape;2621;p66"/>
          <p:cNvSpPr/>
          <p:nvPr/>
        </p:nvSpPr>
        <p:spPr>
          <a:xfrm>
            <a:off x="8019746" y="2844698"/>
            <a:ext cx="828446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2" name="Google Shape;2622;p66"/>
          <p:cNvSpPr/>
          <p:nvPr/>
        </p:nvSpPr>
        <p:spPr>
          <a:xfrm>
            <a:off x="8019746" y="3395396"/>
            <a:ext cx="828446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3" name="Google Shape;2623;p66"/>
          <p:cNvSpPr txBox="1"/>
          <p:nvPr/>
        </p:nvSpPr>
        <p:spPr>
          <a:xfrm>
            <a:off x="8133588" y="3060040"/>
            <a:ext cx="444398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Inter"/>
              <a:buNone/>
            </a:pPr>
            <a:r>
              <a:rPr lang="en" sz="8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Planned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4" name="Google Shape;2624;p66"/>
          <p:cNvSpPr/>
          <p:nvPr/>
        </p:nvSpPr>
        <p:spPr>
          <a:xfrm>
            <a:off x="3348076" y="3399511"/>
            <a:ext cx="1100024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5" name="Google Shape;2625;p66"/>
          <p:cNvSpPr/>
          <p:nvPr/>
        </p:nvSpPr>
        <p:spPr>
          <a:xfrm>
            <a:off x="3348076" y="3950208"/>
            <a:ext cx="1100024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6" name="Google Shape;2626;p66"/>
          <p:cNvSpPr/>
          <p:nvPr/>
        </p:nvSpPr>
        <p:spPr>
          <a:xfrm>
            <a:off x="3462605" y="3577132"/>
            <a:ext cx="864108" cy="192710"/>
          </a:xfrm>
          <a:prstGeom prst="roundRect">
            <a:avLst>
              <a:gd name="adj" fmla="val 355872"/>
            </a:avLst>
          </a:prstGeom>
          <a:solidFill>
            <a:srgbClr val="EEF2FF"/>
          </a:solidFill>
          <a:ln w="12700" cap="flat" cmpd="sng">
            <a:solidFill>
              <a:srgbClr val="E0E7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27" name="Google Shape;2627;p66" descr="preencoded.png"/>
          <p:cNvPicPr preferRelativeResize="0"/>
          <p:nvPr/>
        </p:nvPicPr>
        <p:blipFill rotWithShape="1">
          <a:blip r:embed="rId12">
            <a:alphaModFix/>
          </a:blip>
          <a:srcRect l="-782" r="-783"/>
          <a:stretch/>
        </p:blipFill>
        <p:spPr>
          <a:xfrm>
            <a:off x="3555188" y="3634055"/>
            <a:ext cx="100126" cy="78867"/>
          </a:xfrm>
          <a:prstGeom prst="rect">
            <a:avLst/>
          </a:prstGeom>
          <a:noFill/>
          <a:ln>
            <a:noFill/>
          </a:ln>
        </p:spPr>
      </p:pic>
      <p:sp>
        <p:nvSpPr>
          <p:cNvPr id="2628" name="Google Shape;2628;p66"/>
          <p:cNvSpPr txBox="1"/>
          <p:nvPr/>
        </p:nvSpPr>
        <p:spPr>
          <a:xfrm>
            <a:off x="3712235" y="3613481"/>
            <a:ext cx="58155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Collaboration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9" name="Google Shape;2629;p66"/>
          <p:cNvSpPr/>
          <p:nvPr/>
        </p:nvSpPr>
        <p:spPr>
          <a:xfrm>
            <a:off x="4447413" y="3399511"/>
            <a:ext cx="2479167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0" name="Google Shape;2630;p66"/>
          <p:cNvSpPr/>
          <p:nvPr/>
        </p:nvSpPr>
        <p:spPr>
          <a:xfrm>
            <a:off x="4447413" y="3950208"/>
            <a:ext cx="2479167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1" name="Google Shape;2631;p66"/>
          <p:cNvSpPr txBox="1"/>
          <p:nvPr/>
        </p:nvSpPr>
        <p:spPr>
          <a:xfrm>
            <a:off x="4561256" y="3550387"/>
            <a:ext cx="916228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Multi-User Teams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2" name="Google Shape;2632;p66"/>
          <p:cNvSpPr txBox="1"/>
          <p:nvPr/>
        </p:nvSpPr>
        <p:spPr>
          <a:xfrm>
            <a:off x="4561256" y="3695777"/>
            <a:ext cx="200802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Shared state for human researchers + AI agents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3" name="Google Shape;2633;p66"/>
          <p:cNvSpPr/>
          <p:nvPr/>
        </p:nvSpPr>
        <p:spPr>
          <a:xfrm>
            <a:off x="6920408" y="3399511"/>
            <a:ext cx="1100024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4" name="Google Shape;2634;p66"/>
          <p:cNvSpPr/>
          <p:nvPr/>
        </p:nvSpPr>
        <p:spPr>
          <a:xfrm>
            <a:off x="6920408" y="3950208"/>
            <a:ext cx="1100024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5" name="Google Shape;2635;p66"/>
          <p:cNvSpPr txBox="1"/>
          <p:nvPr/>
        </p:nvSpPr>
        <p:spPr>
          <a:xfrm>
            <a:off x="7034251" y="3616223"/>
            <a:ext cx="77358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Lab Integration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6" name="Google Shape;2636;p66"/>
          <p:cNvSpPr/>
          <p:nvPr/>
        </p:nvSpPr>
        <p:spPr>
          <a:xfrm>
            <a:off x="8019746" y="3399511"/>
            <a:ext cx="828446" cy="5575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7" name="Google Shape;2637;p66"/>
          <p:cNvSpPr/>
          <p:nvPr/>
        </p:nvSpPr>
        <p:spPr>
          <a:xfrm>
            <a:off x="8019746" y="3950208"/>
            <a:ext cx="828446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8" name="Google Shape;2638;p66"/>
          <p:cNvSpPr txBox="1"/>
          <p:nvPr/>
        </p:nvSpPr>
        <p:spPr>
          <a:xfrm>
            <a:off x="8133588" y="3614852"/>
            <a:ext cx="473202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Inter"/>
              <a:buNone/>
            </a:pPr>
            <a:r>
              <a:rPr lang="en" sz="8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Q3 2025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9" name="Google Shape;2639;p66"/>
          <p:cNvSpPr/>
          <p:nvPr/>
        </p:nvSpPr>
        <p:spPr>
          <a:xfrm>
            <a:off x="3348076" y="3954323"/>
            <a:ext cx="1100024" cy="5500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0" name="Google Shape;2640;p66"/>
          <p:cNvSpPr/>
          <p:nvPr/>
        </p:nvSpPr>
        <p:spPr>
          <a:xfrm>
            <a:off x="3462605" y="4131260"/>
            <a:ext cx="792785" cy="192710"/>
          </a:xfrm>
          <a:prstGeom prst="roundRect">
            <a:avLst>
              <a:gd name="adj" fmla="val 355872"/>
            </a:avLst>
          </a:prstGeom>
          <a:solidFill>
            <a:srgbClr val="FFF7ED"/>
          </a:solidFill>
          <a:ln w="12700" cap="flat" cmpd="sng">
            <a:solidFill>
              <a:srgbClr val="FFED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41" name="Google Shape;2641;p66" descr="preencoded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3555188" y="4188181"/>
            <a:ext cx="78867" cy="78867"/>
          </a:xfrm>
          <a:prstGeom prst="rect">
            <a:avLst/>
          </a:prstGeom>
          <a:noFill/>
          <a:ln>
            <a:noFill/>
          </a:ln>
        </p:spPr>
      </p:pic>
      <p:sp>
        <p:nvSpPr>
          <p:cNvPr id="2642" name="Google Shape;2642;p66"/>
          <p:cNvSpPr txBox="1"/>
          <p:nvPr/>
        </p:nvSpPr>
        <p:spPr>
          <a:xfrm>
            <a:off x="3690976" y="4166921"/>
            <a:ext cx="531495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600"/>
              <a:buFont typeface="Inter"/>
              <a:buNone/>
            </a:pPr>
            <a:r>
              <a:rPr lang="en" sz="600" b="1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Deployment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3" name="Google Shape;2643;p66"/>
          <p:cNvSpPr/>
          <p:nvPr/>
        </p:nvSpPr>
        <p:spPr>
          <a:xfrm>
            <a:off x="4447413" y="3954323"/>
            <a:ext cx="2479167" cy="5500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4" name="Google Shape;2644;p66"/>
          <p:cNvSpPr txBox="1"/>
          <p:nvPr/>
        </p:nvSpPr>
        <p:spPr>
          <a:xfrm>
            <a:off x="4561256" y="4104513"/>
            <a:ext cx="1180261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Inter"/>
              <a:buNone/>
            </a:pPr>
            <a:r>
              <a:rPr lang="en" sz="8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Cloud API &amp; IDE Plugins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5" name="Google Shape;2645;p66"/>
          <p:cNvSpPr txBox="1"/>
          <p:nvPr/>
        </p:nvSpPr>
        <p:spPr>
          <a:xfrm>
            <a:off x="4561256" y="4249903"/>
            <a:ext cx="17145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Jupyter Notebook &amp; VS Code extensions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6" name="Google Shape;2646;p66"/>
          <p:cNvSpPr/>
          <p:nvPr/>
        </p:nvSpPr>
        <p:spPr>
          <a:xfrm>
            <a:off x="6920408" y="3954323"/>
            <a:ext cx="1100024" cy="5500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7" name="Google Shape;2647;p66"/>
          <p:cNvSpPr txBox="1"/>
          <p:nvPr/>
        </p:nvSpPr>
        <p:spPr>
          <a:xfrm>
            <a:off x="7034251" y="4112743"/>
            <a:ext cx="552069" cy="229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Inter"/>
              <a:buNone/>
            </a:pPr>
            <a:r>
              <a:rPr lang="en" sz="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Developer Adoption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8" name="Google Shape;2648;p66"/>
          <p:cNvSpPr/>
          <p:nvPr/>
        </p:nvSpPr>
        <p:spPr>
          <a:xfrm>
            <a:off x="8019746" y="3954323"/>
            <a:ext cx="828446" cy="5500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9" name="Google Shape;2649;p66"/>
          <p:cNvSpPr txBox="1"/>
          <p:nvPr/>
        </p:nvSpPr>
        <p:spPr>
          <a:xfrm>
            <a:off x="8133588" y="4168979"/>
            <a:ext cx="480746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Inter"/>
              <a:buNone/>
            </a:pPr>
            <a:r>
              <a:rPr lang="en" sz="8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Q4 2025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0" name="Google Shape;2650;p66"/>
          <p:cNvSpPr/>
          <p:nvPr/>
        </p:nvSpPr>
        <p:spPr>
          <a:xfrm>
            <a:off x="0" y="4800600"/>
            <a:ext cx="9143771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1" name="Google Shape;2651;p66"/>
          <p:cNvSpPr/>
          <p:nvPr/>
        </p:nvSpPr>
        <p:spPr>
          <a:xfrm>
            <a:off x="0" y="4800600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52" name="Google Shape;2652;p66" descr="preencoded.png"/>
          <p:cNvPicPr preferRelativeResize="0"/>
          <p:nvPr/>
        </p:nvPicPr>
        <p:blipFill rotWithShape="1">
          <a:blip r:embed="rId14">
            <a:alphaModFix/>
          </a:blip>
          <a:srcRect l="-2571" r="-2570"/>
          <a:stretch/>
        </p:blipFill>
        <p:spPr>
          <a:xfrm>
            <a:off x="342900" y="4929530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653" name="Google Shape;2653;p66"/>
          <p:cNvSpPr txBox="1"/>
          <p:nvPr/>
        </p:nvSpPr>
        <p:spPr>
          <a:xfrm>
            <a:off x="449885" y="4918558"/>
            <a:ext cx="93611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Roadmap Version 2.0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54" name="Google Shape;2654;p66" descr="preencoded.png"/>
          <p:cNvPicPr preferRelativeResize="0"/>
          <p:nvPr/>
        </p:nvPicPr>
        <p:blipFill rotWithShape="1">
          <a:blip r:embed="rId15">
            <a:alphaModFix/>
          </a:blip>
          <a:srcRect l="-2571" r="-2570"/>
          <a:stretch/>
        </p:blipFill>
        <p:spPr>
          <a:xfrm>
            <a:off x="1486129" y="4929530"/>
            <a:ext cx="78867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2655" name="Google Shape;2655;p66"/>
          <p:cNvSpPr txBox="1"/>
          <p:nvPr/>
        </p:nvSpPr>
        <p:spPr>
          <a:xfrm>
            <a:off x="1593113" y="4918558"/>
            <a:ext cx="103624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Next Release: Jan 2026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6" name="Google Shape;2656;p66"/>
          <p:cNvSpPr txBox="1"/>
          <p:nvPr/>
        </p:nvSpPr>
        <p:spPr>
          <a:xfrm>
            <a:off x="8492261" y="4918558"/>
            <a:ext cx="37924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Slide 51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7" name="Google Shape;2657;p66"/>
          <p:cNvSpPr/>
          <p:nvPr/>
        </p:nvSpPr>
        <p:spPr>
          <a:xfrm>
            <a:off x="0" y="0"/>
            <a:ext cx="9143771" cy="571271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58" name="Google Shape;2658;p66" descr="preencoded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59" name="Google Shape;2659;p66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60" name="Google Shape;2660;p66" descr="preencoded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61" name="Google Shape;2661;p66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2" name="Google Shape;2662;p66"/>
          <p:cNvSpPr txBox="1"/>
          <p:nvPr/>
        </p:nvSpPr>
        <p:spPr>
          <a:xfrm>
            <a:off x="269862" y="178650"/>
            <a:ext cx="3129305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Improvements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" name="Google Shape;2668;p67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9" name="Google Shape;2669;p67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2700" dist="12700" dir="16200000" algn="bl" rotWithShape="0">
              <a:srgbClr val="000000">
                <a:alpha val="74901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0" name="Google Shape;2670;p67"/>
          <p:cNvSpPr/>
          <p:nvPr/>
        </p:nvSpPr>
        <p:spPr>
          <a:xfrm>
            <a:off x="0" y="0"/>
            <a:ext cx="9143771" cy="4857521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1" name="Google Shape;2671;p67" descr="preencoded.png"/>
          <p:cNvPicPr preferRelativeResize="0"/>
          <p:nvPr/>
        </p:nvPicPr>
        <p:blipFill rotWithShape="1">
          <a:blip r:embed="rId3">
            <a:alphaModFix/>
          </a:blip>
          <a:srcRect l="-9" r="-8"/>
          <a:stretch/>
        </p:blipFill>
        <p:spPr>
          <a:xfrm>
            <a:off x="6858000" y="3143021"/>
            <a:ext cx="2857729" cy="2285771"/>
          </a:xfrm>
          <a:prstGeom prst="rect">
            <a:avLst/>
          </a:prstGeom>
          <a:noFill/>
          <a:ln>
            <a:noFill/>
          </a:ln>
        </p:spPr>
      </p:pic>
      <p:sp>
        <p:nvSpPr>
          <p:cNvPr id="2672" name="Google Shape;2672;p67"/>
          <p:cNvSpPr/>
          <p:nvPr/>
        </p:nvSpPr>
        <p:spPr>
          <a:xfrm>
            <a:off x="4187495" y="25375"/>
            <a:ext cx="4343171" cy="2607412"/>
          </a:xfrm>
          <a:prstGeom prst="roundRect">
            <a:avLst>
              <a:gd name="adj" fmla="val 865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1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3" name="Google Shape;2673;p67"/>
          <p:cNvSpPr/>
          <p:nvPr/>
        </p:nvSpPr>
        <p:spPr>
          <a:xfrm>
            <a:off x="4464558" y="518465"/>
            <a:ext cx="3872027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4" name="Google Shape;2674;p67"/>
          <p:cNvSpPr/>
          <p:nvPr/>
        </p:nvSpPr>
        <p:spPr>
          <a:xfrm>
            <a:off x="4464558" y="104242"/>
            <a:ext cx="285979" cy="285979"/>
          </a:xfrm>
          <a:prstGeom prst="roundRect">
            <a:avLst>
              <a:gd name="adj" fmla="val 4796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5" name="Google Shape;2675;p67" descr="preencoded.png"/>
          <p:cNvPicPr preferRelativeResize="0"/>
          <p:nvPr/>
        </p:nvPicPr>
        <p:blipFill rotWithShape="1">
          <a:blip r:embed="rId4">
            <a:alphaModFix/>
          </a:blip>
          <a:srcRect l="-1403" r="-1402"/>
          <a:stretch/>
        </p:blipFill>
        <p:spPr>
          <a:xfrm>
            <a:off x="4529024" y="179680"/>
            <a:ext cx="157049" cy="135788"/>
          </a:xfrm>
          <a:prstGeom prst="rect">
            <a:avLst/>
          </a:prstGeom>
          <a:noFill/>
          <a:ln>
            <a:noFill/>
          </a:ln>
        </p:spPr>
      </p:pic>
      <p:sp>
        <p:nvSpPr>
          <p:cNvPr id="2676" name="Google Shape;2676;p67"/>
          <p:cNvSpPr/>
          <p:nvPr/>
        </p:nvSpPr>
        <p:spPr>
          <a:xfrm>
            <a:off x="4229329" y="2690393"/>
            <a:ext cx="4343171" cy="2314575"/>
          </a:xfrm>
          <a:prstGeom prst="roundRect">
            <a:avLst>
              <a:gd name="adj" fmla="val 109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100" dir="5400000" algn="bl" rotWithShape="0">
              <a:srgbClr val="000000">
                <a:alpha val="4705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7" name="Google Shape;2677;p67"/>
          <p:cNvSpPr/>
          <p:nvPr/>
        </p:nvSpPr>
        <p:spPr>
          <a:xfrm>
            <a:off x="4464558" y="3354934"/>
            <a:ext cx="3872027" cy="685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8" name="Google Shape;2678;p67"/>
          <p:cNvSpPr txBox="1"/>
          <p:nvPr/>
        </p:nvSpPr>
        <p:spPr>
          <a:xfrm>
            <a:off x="4865066" y="111785"/>
            <a:ext cx="1361313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Contact Information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9" name="Google Shape;2679;p67"/>
          <p:cNvSpPr txBox="1"/>
          <p:nvPr/>
        </p:nvSpPr>
        <p:spPr>
          <a:xfrm>
            <a:off x="4865066" y="290093"/>
            <a:ext cx="1371600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Get in touch or explore the code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0" name="Google Shape;2680;p67"/>
          <p:cNvSpPr/>
          <p:nvPr/>
        </p:nvSpPr>
        <p:spPr>
          <a:xfrm>
            <a:off x="4550283" y="818845"/>
            <a:ext cx="228371" cy="228371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1" name="Google Shape;2681;p6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14749" y="883310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82" name="Google Shape;2682;p67"/>
          <p:cNvSpPr txBox="1"/>
          <p:nvPr/>
        </p:nvSpPr>
        <p:spPr>
          <a:xfrm>
            <a:off x="4893183" y="783184"/>
            <a:ext cx="357301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EMAIL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3" name="Google Shape;2683;p67"/>
          <p:cNvSpPr txBox="1"/>
          <p:nvPr/>
        </p:nvSpPr>
        <p:spPr>
          <a:xfrm>
            <a:off x="4865066" y="2947568"/>
            <a:ext cx="1275588" cy="15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Inter"/>
              <a:buNone/>
            </a:pPr>
            <a:r>
              <a:rPr lang="en" sz="1000"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rPr>
              <a:t>Acknowledgments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4" name="Google Shape;2684;p67"/>
          <p:cNvSpPr txBox="1"/>
          <p:nvPr/>
        </p:nvSpPr>
        <p:spPr>
          <a:xfrm>
            <a:off x="4865066" y="3125876"/>
            <a:ext cx="1386002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Inter"/>
              <a:buNone/>
            </a:pPr>
            <a:r>
              <a:rPr lang="en" sz="7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Special thanks to our supporters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5" name="Google Shape;2685;p67"/>
          <p:cNvSpPr txBox="1"/>
          <p:nvPr/>
        </p:nvSpPr>
        <p:spPr>
          <a:xfrm>
            <a:off x="4893183" y="925830"/>
            <a:ext cx="1586255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anuragkj@andrew.cmu.edu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6" name="Google Shape;2686;p67"/>
          <p:cNvSpPr/>
          <p:nvPr/>
        </p:nvSpPr>
        <p:spPr>
          <a:xfrm>
            <a:off x="4550283" y="1347597"/>
            <a:ext cx="228371" cy="228371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7" name="Google Shape;2687;p67" descr="preencoded.png"/>
          <p:cNvPicPr preferRelativeResize="0"/>
          <p:nvPr/>
        </p:nvPicPr>
        <p:blipFill rotWithShape="1">
          <a:blip r:embed="rId6">
            <a:alphaModFix/>
          </a:blip>
          <a:srcRect l="-1613" r="-1612"/>
          <a:stretch/>
        </p:blipFill>
        <p:spPr>
          <a:xfrm>
            <a:off x="4614749" y="1411376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88" name="Google Shape;2688;p67"/>
          <p:cNvSpPr txBox="1"/>
          <p:nvPr/>
        </p:nvSpPr>
        <p:spPr>
          <a:xfrm>
            <a:off x="4893183" y="1311935"/>
            <a:ext cx="421767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GITHUB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9" name="Google Shape;2689;p67"/>
          <p:cNvSpPr txBox="1"/>
          <p:nvPr/>
        </p:nvSpPr>
        <p:spPr>
          <a:xfrm>
            <a:off x="4893183" y="1454581"/>
            <a:ext cx="2057400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github.com/anuragkj/DS_Final_Project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0" name="Google Shape;2690;p67"/>
          <p:cNvSpPr/>
          <p:nvPr/>
        </p:nvSpPr>
        <p:spPr>
          <a:xfrm>
            <a:off x="4550283" y="1876349"/>
            <a:ext cx="228371" cy="228371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91" name="Google Shape;2691;p67" descr="preencoded.png"/>
          <p:cNvPicPr preferRelativeResize="0"/>
          <p:nvPr/>
        </p:nvPicPr>
        <p:blipFill rotWithShape="1">
          <a:blip r:embed="rId7">
            <a:alphaModFix/>
          </a:blip>
          <a:srcRect l="-2838" r="-2838"/>
          <a:stretch/>
        </p:blipFill>
        <p:spPr>
          <a:xfrm>
            <a:off x="4618177" y="1940129"/>
            <a:ext cx="92583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92" name="Google Shape;2692;p67"/>
          <p:cNvSpPr txBox="1"/>
          <p:nvPr/>
        </p:nvSpPr>
        <p:spPr>
          <a:xfrm>
            <a:off x="4893183" y="1840001"/>
            <a:ext cx="886054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 b="1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DOCUMENTATION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3" name="Google Shape;2693;p67"/>
          <p:cNvSpPr txBox="1"/>
          <p:nvPr/>
        </p:nvSpPr>
        <p:spPr>
          <a:xfrm>
            <a:off x="4893183" y="1983334"/>
            <a:ext cx="1822171" cy="14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Inter"/>
              <a:buNone/>
            </a:pPr>
            <a:r>
              <a:rPr lang="en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anuragkj.github.io/project-docs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4" name="Google Shape;2694;p67"/>
          <p:cNvSpPr/>
          <p:nvPr/>
        </p:nvSpPr>
        <p:spPr>
          <a:xfrm>
            <a:off x="4464558" y="2940710"/>
            <a:ext cx="285979" cy="285979"/>
          </a:xfrm>
          <a:prstGeom prst="roundRect">
            <a:avLst>
              <a:gd name="adj" fmla="val 47962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95" name="Google Shape;2695;p67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39996" y="3015463"/>
            <a:ext cx="135788" cy="135788"/>
          </a:xfrm>
          <a:prstGeom prst="rect">
            <a:avLst/>
          </a:prstGeom>
          <a:noFill/>
          <a:ln>
            <a:noFill/>
          </a:ln>
        </p:spPr>
      </p:pic>
      <p:sp>
        <p:nvSpPr>
          <p:cNvPr id="2696" name="Google Shape;2696;p67"/>
          <p:cNvSpPr txBox="1"/>
          <p:nvPr/>
        </p:nvSpPr>
        <p:spPr>
          <a:xfrm>
            <a:off x="4636008" y="3540785"/>
            <a:ext cx="3667658" cy="300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Inter"/>
              <a:buNone/>
            </a:pPr>
            <a:r>
              <a:rPr lang="en" sz="8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Professor Leo for guidance and feedback throughout the research process.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7" name="Google Shape;2697;p67"/>
          <p:cNvSpPr txBox="1"/>
          <p:nvPr/>
        </p:nvSpPr>
        <p:spPr>
          <a:xfrm>
            <a:off x="4636008" y="3952265"/>
            <a:ext cx="3725266" cy="300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Inter"/>
              <a:buNone/>
            </a:pPr>
            <a:r>
              <a:rPr lang="en" sz="8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CMU Data Science Program for providing computational resources and academic support.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8" name="Google Shape;2698;p67"/>
          <p:cNvSpPr txBox="1"/>
          <p:nvPr/>
        </p:nvSpPr>
        <p:spPr>
          <a:xfrm>
            <a:off x="4636008" y="4363060"/>
            <a:ext cx="3446145" cy="300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Inter"/>
              <a:buNone/>
            </a:pPr>
            <a:r>
              <a:rPr lang="en" sz="8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Open Source Community especially the teams behind LangChain, LangGraph, and OpenAI for their transformative tools.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9" name="Google Shape;2699;p67"/>
          <p:cNvSpPr txBox="1"/>
          <p:nvPr/>
        </p:nvSpPr>
        <p:spPr>
          <a:xfrm>
            <a:off x="342900" y="4947362"/>
            <a:ext cx="1800225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Automated Data Science Workflow System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0" name="Google Shape;2700;p67"/>
          <p:cNvSpPr txBox="1"/>
          <p:nvPr/>
        </p:nvSpPr>
        <p:spPr>
          <a:xfrm>
            <a:off x="8476488" y="4947362"/>
            <a:ext cx="392963" cy="1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Slide 55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1" name="Google Shape;2701;p67"/>
          <p:cNvSpPr/>
          <p:nvPr/>
        </p:nvSpPr>
        <p:spPr>
          <a:xfrm>
            <a:off x="0" y="0"/>
            <a:ext cx="3657371" cy="4857521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2" name="Google Shape;2702;p67"/>
          <p:cNvSpPr txBox="1"/>
          <p:nvPr/>
        </p:nvSpPr>
        <p:spPr>
          <a:xfrm>
            <a:off x="457429" y="414224"/>
            <a:ext cx="2071802" cy="650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100"/>
              <a:buFont typeface="Merriweather"/>
              <a:buNone/>
            </a:pPr>
            <a:r>
              <a:rPr lang="en" sz="4100" b="1" dirty="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Thank</a:t>
            </a:r>
            <a:endParaRPr sz="41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3" name="Google Shape;2703;p67"/>
          <p:cNvSpPr txBox="1"/>
          <p:nvPr/>
        </p:nvSpPr>
        <p:spPr>
          <a:xfrm>
            <a:off x="457429" y="980009"/>
            <a:ext cx="1322222" cy="650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100"/>
              <a:buFont typeface="Merriweather"/>
              <a:buNone/>
            </a:pPr>
            <a:r>
              <a:rPr lang="en" sz="4100" b="1" dirty="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You</a:t>
            </a:r>
            <a:endParaRPr sz="41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4" name="Google Shape;2704;p67"/>
          <p:cNvSpPr/>
          <p:nvPr/>
        </p:nvSpPr>
        <p:spPr>
          <a:xfrm>
            <a:off x="457429" y="1760449"/>
            <a:ext cx="28804" cy="700201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5" name="Google Shape;2705;p67"/>
          <p:cNvSpPr txBox="1"/>
          <p:nvPr/>
        </p:nvSpPr>
        <p:spPr>
          <a:xfrm>
            <a:off x="656996" y="1774850"/>
            <a:ext cx="140794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None/>
            </a:pPr>
            <a:r>
              <a:rPr lang="en" sz="11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Anurag Kumar Jha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6" name="Google Shape;2706;p67"/>
          <p:cNvSpPr txBox="1"/>
          <p:nvPr/>
        </p:nvSpPr>
        <p:spPr>
          <a:xfrm>
            <a:off x="656996" y="1995678"/>
            <a:ext cx="1289990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Data Science Final Project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7" name="Google Shape;2707;p67"/>
          <p:cNvSpPr/>
          <p:nvPr/>
        </p:nvSpPr>
        <p:spPr>
          <a:xfrm>
            <a:off x="656996" y="2245995"/>
            <a:ext cx="1693240" cy="214655"/>
          </a:xfrm>
          <a:prstGeom prst="roundRect">
            <a:avLst>
              <a:gd name="adj" fmla="val 42599"/>
            </a:avLst>
          </a:prstGeom>
          <a:noFill/>
          <a:ln w="12700" cap="flat" cmpd="sng">
            <a:solidFill>
              <a:srgbClr val="E5E7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8" name="Google Shape;2708;p67"/>
          <p:cNvSpPr txBox="1"/>
          <p:nvPr/>
        </p:nvSpPr>
        <p:spPr>
          <a:xfrm>
            <a:off x="721462" y="2296058"/>
            <a:ext cx="1639747" cy="114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Carnegie Mellon University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9" name="Google Shape;2709;p67"/>
          <p:cNvSpPr/>
          <p:nvPr/>
        </p:nvSpPr>
        <p:spPr>
          <a:xfrm>
            <a:off x="457429" y="2932481"/>
            <a:ext cx="685800" cy="68580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139700" dist="101600" dir="5400000" algn="bl" rotWithShape="0">
              <a:srgbClr val="EF4444">
                <a:alpha val="29803"/>
              </a:srgbClr>
            </a:outerShdw>
          </a:effectLst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0" name="Google Shape;2710;p67"/>
          <p:cNvSpPr/>
          <p:nvPr/>
        </p:nvSpPr>
        <p:spPr>
          <a:xfrm>
            <a:off x="457429" y="2932481"/>
            <a:ext cx="685800" cy="685800"/>
          </a:xfrm>
          <a:prstGeom prst="ellipse">
            <a:avLst/>
          </a:prstGeom>
          <a:noFill/>
          <a:ln w="254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11" name="Google Shape;2711;p67" descr="preencoded.png"/>
          <p:cNvPicPr preferRelativeResize="0"/>
          <p:nvPr/>
        </p:nvPicPr>
        <p:blipFill rotWithShape="1">
          <a:blip r:embed="rId9">
            <a:alphaModFix/>
          </a:blip>
          <a:srcRect t="-120" b="-119"/>
          <a:stretch/>
        </p:blipFill>
        <p:spPr>
          <a:xfrm>
            <a:off x="710489" y="3132734"/>
            <a:ext cx="178308" cy="285979"/>
          </a:xfrm>
          <a:prstGeom prst="rect">
            <a:avLst/>
          </a:prstGeom>
          <a:noFill/>
          <a:ln>
            <a:noFill/>
          </a:ln>
        </p:spPr>
      </p:pic>
      <p:sp>
        <p:nvSpPr>
          <p:cNvPr id="2712" name="Google Shape;2712;p67"/>
          <p:cNvSpPr txBox="1"/>
          <p:nvPr/>
        </p:nvSpPr>
        <p:spPr>
          <a:xfrm>
            <a:off x="457429" y="3796589"/>
            <a:ext cx="1086307" cy="20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lang="en" sz="1400" b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Questions?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3" name="Google Shape;2713;p67"/>
          <p:cNvSpPr txBox="1"/>
          <p:nvPr/>
        </p:nvSpPr>
        <p:spPr>
          <a:xfrm>
            <a:off x="457429" y="4090112"/>
            <a:ext cx="2189759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Happy to discuss methodology, architecture,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4" name="Google Shape;2714;p67"/>
          <p:cNvSpPr txBox="1"/>
          <p:nvPr/>
        </p:nvSpPr>
        <p:spPr>
          <a:xfrm>
            <a:off x="457429" y="4252646"/>
            <a:ext cx="1296848" cy="122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"/>
              <a:buNone/>
            </a:pPr>
            <a:r>
              <a:rPr lang="en" sz="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or implementation details.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5" name="Google Shape;2715;p67"/>
          <p:cNvSpPr/>
          <p:nvPr/>
        </p:nvSpPr>
        <p:spPr>
          <a:xfrm>
            <a:off x="0" y="4857521"/>
            <a:ext cx="9143771" cy="2859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6" name="Google Shape;2716;p67"/>
          <p:cNvSpPr/>
          <p:nvPr/>
        </p:nvSpPr>
        <p:spPr>
          <a:xfrm>
            <a:off x="0" y="4857521"/>
            <a:ext cx="9143771" cy="685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17" name="Google Shape;2717;p67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p6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19" name="Google Shape;2719;p67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934706" y="4829404"/>
            <a:ext cx="100126" cy="10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720" name="Google Shape;2720;p67"/>
          <p:cNvSpPr txBox="1"/>
          <p:nvPr/>
        </p:nvSpPr>
        <p:spPr>
          <a:xfrm>
            <a:off x="8077352" y="4815002"/>
            <a:ext cx="907313" cy="1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nter"/>
              <a:buNone/>
            </a:pPr>
            <a:r>
              <a:rPr lang="en" sz="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Made with Genspark</a:t>
            </a:r>
            <a:endParaRPr sz="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4176</Words>
  <Application>Microsoft Office PowerPoint</Application>
  <PresentationFormat>On-screen Show (16:9)</PresentationFormat>
  <Paragraphs>1088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Arial</vt:lpstr>
      <vt:lpstr>Inter</vt:lpstr>
      <vt:lpstr>Merriweather</vt:lpstr>
      <vt:lpstr>Courier New</vt:lpstr>
      <vt:lpstr>Play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Anurag Jha</cp:lastModifiedBy>
  <cp:revision>2</cp:revision>
  <dcterms:modified xsi:type="dcterms:W3CDTF">2025-11-25T00:02:32Z</dcterms:modified>
</cp:coreProperties>
</file>