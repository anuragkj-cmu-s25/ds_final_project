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311" r:id="rId12"/>
    <p:sldId id="312" r:id="rId13"/>
    <p:sldId id="269" r:id="rId14"/>
    <p:sldId id="313" r:id="rId15"/>
    <p:sldId id="319" r:id="rId16"/>
    <p:sldId id="272" r:id="rId17"/>
    <p:sldId id="274" r:id="rId18"/>
    <p:sldId id="276" r:id="rId19"/>
    <p:sldId id="277" r:id="rId20"/>
    <p:sldId id="278" r:id="rId21"/>
    <p:sldId id="279" r:id="rId22"/>
    <p:sldId id="314" r:id="rId23"/>
    <p:sldId id="282" r:id="rId24"/>
    <p:sldId id="315" r:id="rId25"/>
    <p:sldId id="320" r:id="rId26"/>
    <p:sldId id="321" r:id="rId27"/>
    <p:sldId id="285" r:id="rId28"/>
    <p:sldId id="286" r:id="rId29"/>
    <p:sldId id="287" r:id="rId30"/>
    <p:sldId id="288" r:id="rId31"/>
    <p:sldId id="316" r:id="rId32"/>
    <p:sldId id="290" r:id="rId33"/>
    <p:sldId id="292" r:id="rId34"/>
    <p:sldId id="296" r:id="rId35"/>
    <p:sldId id="297" r:id="rId36"/>
    <p:sldId id="317" r:id="rId37"/>
    <p:sldId id="318" r:id="rId38"/>
    <p:sldId id="299" r:id="rId39"/>
    <p:sldId id="303" r:id="rId40"/>
    <p:sldId id="304" r:id="rId41"/>
    <p:sldId id="306" r:id="rId42"/>
    <p:sldId id="31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FF5883-B688-4458-9144-733F942E111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E7648-E71C-4662-B449-8C845B6D4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53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C6E4-9C79-59D7-5C94-1B10EEA4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5825F-4061-F5DB-BE34-4B89BD1B8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499470-CDCE-E1BD-95C5-6E69FA224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32028-833B-2B1D-5D04-68E6C5225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9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C35D-85B7-059B-596B-6393950D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E2530-F51D-2694-3DFD-873C9C0D6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203E5-80D9-0A56-975E-E433FF55D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12DC5-9547-1E22-E2EA-6320C0FFE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18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32C2-3831-01A2-E5BC-A213750F5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4EA49-A9B0-DD1B-5EFA-7EEC04FF1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4BD00-AAFB-B794-2949-A46E1AB8E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D2FB7-C6A6-D43A-BB90-146FA5CF7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38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685FD-FBCF-3308-1D46-89B7E91A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02FE2-0879-1C64-A321-84E3BD1CB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0557C-A43E-8E4F-8CE7-24C2C58B8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D8103-21E3-2720-8A07-6B54C57783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5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045D-26DE-17C3-CFA3-E54E4E8ED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7831A-7FA6-3823-BCD4-F60D7E9ED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57BAE-6367-1B08-2AF3-FA996125A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2313E-80FB-5905-DFB6-7187C20D9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605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5C711-E34D-7FEB-EAA9-98AD0E9F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1FFE6-6CB1-70EC-53DC-C4E90FC87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A4424-E52D-BFCD-3818-FCE1E7437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162C1-7158-71AB-BC6F-DBCA1F7BB4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821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FA0C0-07BE-399A-738C-D7E57079A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82B2C-84C2-9F2C-947D-EF9C87923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CBE53-2F7B-943D-C884-66332FE56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7BE73-D16D-BABB-6C88-6C65C296B9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461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134EA-39FA-D65E-4257-6B10C3054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72403-0065-2C14-5069-9BD7FA8B9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AF136-EAA7-B4C8-AF40-2896EC33C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1E2FD-ED83-26DB-84F3-26EBF3943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746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E83C0-8C4E-EE2C-5C23-CFD6B0052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4503A-96C3-61D3-9F93-ACF8B383A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8D492-4702-EB2A-B1C3-0F387DBA5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F6020-08D2-D063-3B06-E2A190CC8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230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17E0-734F-BCB2-F929-5545E2614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9BD30F-13CC-3C87-F472-DDAE1BC1A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FE0A-045E-87E8-4644-BD8E56C38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89CD0-7A20-4FEE-B7D0-586373584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04F65-C479-74B0-1B39-1E37C6C9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7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7C349-2B20-FFF8-A58A-B0B485A9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BE2E3-3206-C642-D728-CB824DEC7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6FDBC-9A22-4135-94A3-5F84CD5BC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547A9-2633-48DB-23D7-1FE017E59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0418B-6EC8-4803-A8B3-A2168E88F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9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1D939-E7DB-E773-3E11-C9A5AB285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0BA38-5E5E-A5B8-A090-7558914E4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88DE7-4F45-2B63-A0FB-6E4AD1B98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D1D9-4B34-392A-A518-9F4D8177A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1F982-71DB-AACE-C5D9-2BC79723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37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24A9-E987-285C-8408-438C374C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69AED-E451-E22E-2DCB-A3AAEC27D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1D8F9-8BF5-C14F-5007-9D2D5319D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66ADE-0AE0-C2AD-1EFC-8B181B593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B4D16-74A3-FEF8-CBF9-90051E988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1559D-3BFA-8B24-60F2-BC491DFE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6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18B6F-F47E-1AAB-EA8F-7FDB4B90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D7E01-41DB-1B9C-6491-F8B4AB042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2F4A9-B142-337B-C99C-C1EDB286D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15DB7-2032-1C19-E9F4-9CD62FA5D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3ED09-6396-49EA-3985-F7AC1A60D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03767E-7E25-6D5D-B728-DD548071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03B454-CF75-79DD-15E2-8556ED0DF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3C08F4-ACAB-149F-D819-BF814969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8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B34A-7AC1-71D3-519A-ED3C755F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4C7544-9662-83F8-0AC3-D1DE815E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7F36B-1126-1C36-4820-4ED7E499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AF7BF-05B1-59D8-6290-DD3F311C2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9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AF15F-9CBB-CC53-105C-3076E24FB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76027-0291-D4F2-B608-0EC146D16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B2C70-7B23-878E-4F67-54753FE5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B7A1-5E84-858F-61ED-239FF0E6B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F45BA-BBE6-C35E-6992-DA226FB2C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9B40C-9F3A-9CA1-3245-B95A26F4D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58CBE-BF48-AAC6-6A40-75C9199C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8706C-848A-8E32-128B-7A83FB7E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AC7B8-8208-4AE4-F02B-A01D1BD1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69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79A2-1A88-8DC2-CA8D-0C92B78AB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22635-A36E-A750-3AFD-1B4FECC90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32A23-3ABE-EA0B-14C8-B0766CC7E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A22D7-F75A-18ED-3917-8201B3A6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CEA8E-9820-854F-EB96-C59D9607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155CF-1D0A-E285-517F-7F14C27A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6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D5B6-091B-66B8-E7BF-EC158B932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C6419-3622-0D66-8588-0C2B35F6D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B4F11-A1B5-DA02-C38E-DAAFF30E8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F869D-7B16-7115-3EDE-6CB3CD82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4DB0F-E8B8-2701-13CD-554534D1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AC930D-C69A-73B3-97D1-1AA86C812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B34B3-1418-167B-EB4B-7B5A7F0E8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81B83-037D-F1B0-A14A-8E9A644D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D7237-F326-56DB-00B2-2240470B3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F2B77-B39F-BFB4-F362-31715496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39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59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621C8-1214-4998-86C7-6B02ED99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400C8-5AAE-8A0C-92B7-564834440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DC607-A1E0-8051-D428-18C5F52E8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62ACF-4075-4ABB-8EC8-68146839467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05FF6-295B-1B42-0325-03F11BC47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8D565-A9BC-8CA1-CECD-44BED2AE6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72F135-9E02-4297-86C5-F7BA3005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8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12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30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4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8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44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1.png"/><Relationship Id="rId4" Type="http://schemas.openxmlformats.org/officeDocument/2006/relationships/image" Target="../media/image96.png"/><Relationship Id="rId9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2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5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8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7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8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9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png"/><Relationship Id="rId5" Type="http://schemas.openxmlformats.org/officeDocument/2006/relationships/image" Target="../media/image111.png"/><Relationship Id="rId10" Type="http://schemas.openxmlformats.org/officeDocument/2006/relationships/image" Target="../media/image5.png"/><Relationship Id="rId4" Type="http://schemas.openxmlformats.org/officeDocument/2006/relationships/image" Target="../media/image110.png"/><Relationship Id="rId9" Type="http://schemas.openxmlformats.org/officeDocument/2006/relationships/image" Target="../media/image11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12" Type="http://schemas.openxmlformats.org/officeDocument/2006/relationships/image" Target="../media/image1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8.png"/><Relationship Id="rId11" Type="http://schemas.openxmlformats.org/officeDocument/2006/relationships/image" Target="../media/image121.png"/><Relationship Id="rId5" Type="http://schemas.openxmlformats.org/officeDocument/2006/relationships/image" Target="../media/image117.png"/><Relationship Id="rId10" Type="http://schemas.openxmlformats.org/officeDocument/2006/relationships/image" Target="../media/image114.png"/><Relationship Id="rId4" Type="http://schemas.openxmlformats.org/officeDocument/2006/relationships/image" Target="../media/image116.png"/><Relationship Id="rId9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6.png"/><Relationship Id="rId11" Type="http://schemas.openxmlformats.org/officeDocument/2006/relationships/image" Target="../media/image129.jpeg"/><Relationship Id="rId5" Type="http://schemas.openxmlformats.org/officeDocument/2006/relationships/image" Target="../media/image125.png"/><Relationship Id="rId10" Type="http://schemas.openxmlformats.org/officeDocument/2006/relationships/image" Target="../media/image114.png"/><Relationship Id="rId4" Type="http://schemas.openxmlformats.org/officeDocument/2006/relationships/image" Target="../media/image124.png"/><Relationship Id="rId9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3.png"/><Relationship Id="rId11" Type="http://schemas.openxmlformats.org/officeDocument/2006/relationships/image" Target="../media/image136.png"/><Relationship Id="rId5" Type="http://schemas.openxmlformats.org/officeDocument/2006/relationships/image" Target="../media/image132.png"/><Relationship Id="rId10" Type="http://schemas.openxmlformats.org/officeDocument/2006/relationships/image" Target="../media/image114.png"/><Relationship Id="rId4" Type="http://schemas.openxmlformats.org/officeDocument/2006/relationships/image" Target="../media/image131.png"/><Relationship Id="rId9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9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14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10" Type="http://schemas.openxmlformats.org/officeDocument/2006/relationships/image" Target="../media/image147.png"/><Relationship Id="rId4" Type="http://schemas.openxmlformats.org/officeDocument/2006/relationships/image" Target="../media/image143.png"/><Relationship Id="rId9" Type="http://schemas.openxmlformats.org/officeDocument/2006/relationships/image" Target="../media/image11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png"/><Relationship Id="rId18" Type="http://schemas.openxmlformats.org/officeDocument/2006/relationships/image" Target="../media/image14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17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6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5" Type="http://schemas.openxmlformats.org/officeDocument/2006/relationships/image" Target="../media/image165.png"/><Relationship Id="rId10" Type="http://schemas.openxmlformats.org/officeDocument/2006/relationships/image" Target="../media/image160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Relationship Id="rId14" Type="http://schemas.openxmlformats.org/officeDocument/2006/relationships/image" Target="../media/image16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66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9.png"/><Relationship Id="rId11" Type="http://schemas.openxmlformats.org/officeDocument/2006/relationships/image" Target="../media/image173.png"/><Relationship Id="rId5" Type="http://schemas.openxmlformats.org/officeDocument/2006/relationships/image" Target="../media/image168.png"/><Relationship Id="rId10" Type="http://schemas.openxmlformats.org/officeDocument/2006/relationships/image" Target="../media/image148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90.png"/><Relationship Id="rId7" Type="http://schemas.openxmlformats.org/officeDocument/2006/relationships/image" Target="../media/image17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6.png"/><Relationship Id="rId11" Type="http://schemas.openxmlformats.org/officeDocument/2006/relationships/image" Target="../media/image148.png"/><Relationship Id="rId5" Type="http://schemas.openxmlformats.org/officeDocument/2006/relationships/image" Target="../media/image175.png"/><Relationship Id="rId10" Type="http://schemas.openxmlformats.org/officeDocument/2006/relationships/image" Target="../media/image179.png"/><Relationship Id="rId4" Type="http://schemas.openxmlformats.org/officeDocument/2006/relationships/image" Target="../media/image174.png"/><Relationship Id="rId9" Type="http://schemas.openxmlformats.org/officeDocument/2006/relationships/image" Target="../media/image17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5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4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00.png"/><Relationship Id="rId18" Type="http://schemas.openxmlformats.org/officeDocument/2006/relationships/image" Target="../media/image205.png"/><Relationship Id="rId3" Type="http://schemas.openxmlformats.org/officeDocument/2006/relationships/image" Target="../media/image190.png"/><Relationship Id="rId21" Type="http://schemas.openxmlformats.org/officeDocument/2006/relationships/image" Target="../media/image5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17" Type="http://schemas.openxmlformats.org/officeDocument/2006/relationships/image" Target="../media/image204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203.png"/><Relationship Id="rId20" Type="http://schemas.openxmlformats.org/officeDocument/2006/relationships/image" Target="../media/image20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5" Type="http://schemas.openxmlformats.org/officeDocument/2006/relationships/image" Target="../media/image202.png"/><Relationship Id="rId10" Type="http://schemas.openxmlformats.org/officeDocument/2006/relationships/image" Target="../media/image197.png"/><Relationship Id="rId19" Type="http://schemas.openxmlformats.org/officeDocument/2006/relationships/image" Target="../media/image172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Relationship Id="rId14" Type="http://schemas.openxmlformats.org/officeDocument/2006/relationships/image" Target="../media/image201.png"/><Relationship Id="rId22" Type="http://schemas.openxmlformats.org/officeDocument/2006/relationships/image" Target="../media/image14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1.png"/><Relationship Id="rId7" Type="http://schemas.openxmlformats.org/officeDocument/2006/relationships/image" Target="../media/image2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9.png"/><Relationship Id="rId5" Type="http://schemas.openxmlformats.org/officeDocument/2006/relationships/image" Target="../media/image208.png"/><Relationship Id="rId4" Type="http://schemas.openxmlformats.org/officeDocument/2006/relationships/image" Target="../media/image20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13" Type="http://schemas.openxmlformats.org/officeDocument/2006/relationships/image" Target="../media/image221.png"/><Relationship Id="rId3" Type="http://schemas.openxmlformats.org/officeDocument/2006/relationships/image" Target="../media/image211.png"/><Relationship Id="rId7" Type="http://schemas.openxmlformats.org/officeDocument/2006/relationships/image" Target="../media/image215.png"/><Relationship Id="rId12" Type="http://schemas.openxmlformats.org/officeDocument/2006/relationships/image" Target="../media/image220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4.png"/><Relationship Id="rId11" Type="http://schemas.openxmlformats.org/officeDocument/2006/relationships/image" Target="../media/image219.png"/><Relationship Id="rId5" Type="http://schemas.openxmlformats.org/officeDocument/2006/relationships/image" Target="../media/image213.png"/><Relationship Id="rId15" Type="http://schemas.openxmlformats.org/officeDocument/2006/relationships/image" Target="../media/image223.png"/><Relationship Id="rId10" Type="http://schemas.openxmlformats.org/officeDocument/2006/relationships/image" Target="../media/image218.png"/><Relationship Id="rId4" Type="http://schemas.openxmlformats.org/officeDocument/2006/relationships/image" Target="../media/image212.png"/><Relationship Id="rId9" Type="http://schemas.openxmlformats.org/officeDocument/2006/relationships/image" Target="../media/image217.png"/><Relationship Id="rId14" Type="http://schemas.openxmlformats.org/officeDocument/2006/relationships/image" Target="../media/image22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3" Type="http://schemas.openxmlformats.org/officeDocument/2006/relationships/image" Target="../media/image224.png"/><Relationship Id="rId7" Type="http://schemas.openxmlformats.org/officeDocument/2006/relationships/image" Target="../media/image2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7.png"/><Relationship Id="rId5" Type="http://schemas.openxmlformats.org/officeDocument/2006/relationships/image" Target="../media/image226.png"/><Relationship Id="rId10" Type="http://schemas.openxmlformats.org/officeDocument/2006/relationships/image" Target="../media/image5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42502" y="0"/>
            <a:ext cx="4067251" cy="68580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42502" y="0"/>
            <a:ext cx="9144" cy="68580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295" y="629107"/>
            <a:ext cx="457200" cy="45720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4595" y="743407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629107"/>
            <a:ext cx="43726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CARNEGIE MELLON UNIVERSITY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923544"/>
            <a:ext cx="2643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OF COMPUTER SCIENCE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90295" y="1175918"/>
            <a:ext cx="9011412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827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Automated Data Science Workflow System</a:t>
            </a:r>
            <a:endParaRPr lang="en-US" sz="4500" dirty="0"/>
          </a:p>
        </p:txBody>
      </p:sp>
      <p:sp>
        <p:nvSpPr>
          <p:cNvPr id="12" name="Shape 9"/>
          <p:cNvSpPr/>
          <p:nvPr/>
        </p:nvSpPr>
        <p:spPr>
          <a:xfrm>
            <a:off x="990295" y="2795321"/>
            <a:ext cx="12188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90295" y="3195828"/>
            <a:ext cx="916320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Sequential LLM Pipelines to Intelligent Multi-Agent Orchestration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990295" y="4729277"/>
            <a:ext cx="5105095" cy="1371600"/>
          </a:xfrm>
          <a:prstGeom prst="rect">
            <a:avLst/>
          </a:prstGeom>
          <a:solidFill>
            <a:srgbClr val="F9FAFB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90295" y="4729277"/>
            <a:ext cx="38405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257300" y="4967021"/>
            <a:ext cx="948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257300" y="5234026"/>
            <a:ext cx="22485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Anurag Kumar Jha</a:t>
            </a:r>
            <a:endParaRPr lang="en-US" sz="18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57300" y="5662879"/>
            <a:ext cx="152705" cy="1527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24305" y="5633618"/>
            <a:ext cx="23390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anuragkj@andrew.cmu.edu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553505" y="4729277"/>
            <a:ext cx="4876495" cy="1371600"/>
          </a:xfrm>
          <a:prstGeom prst="rect">
            <a:avLst/>
          </a:prstGeom>
          <a:solidFill>
            <a:srgbClr val="F9FAFB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553505" y="4729277"/>
            <a:ext cx="38405" cy="137160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6819595" y="4967021"/>
            <a:ext cx="8055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819595" y="5234026"/>
            <a:ext cx="30769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Science Final Project</a:t>
            </a:r>
            <a:endParaRPr lang="en-US" sz="18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6819595" y="5662879"/>
            <a:ext cx="133502" cy="152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67398" y="5633618"/>
            <a:ext cx="17483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November 24, 2025</a:t>
            </a:r>
            <a:endParaRPr lang="en-US" sz="13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 l="-13" r="-13"/>
          <a:stretch/>
        </p:blipFill>
        <p:spPr>
          <a:xfrm>
            <a:off x="10515600" y="5333695"/>
            <a:ext cx="1371600" cy="1218895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38505"/>
            <a:ext cx="7067398" cy="1609344"/>
          </a:xfrm>
          <a:prstGeom prst="rect">
            <a:avLst/>
          </a:prstGeom>
          <a:solidFill>
            <a:srgbClr val="F9FAFB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38505"/>
            <a:ext cx="75895" cy="1609344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4137" r="-4137"/>
          <a:stretch/>
        </p:blipFill>
        <p:spPr>
          <a:xfrm>
            <a:off x="838505" y="1190549"/>
            <a:ext cx="209398" cy="171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23798" y="1143000"/>
            <a:ext cx="8339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8505" y="1561795"/>
            <a:ext cx="651327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"Create an intelligent agent that automates end-to-end data science pipeline from data preprocessing to model training and reporting."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210458"/>
            <a:ext cx="1676095" cy="1920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2838298"/>
            <a:ext cx="18480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Objectives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3457346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3590849"/>
            <a:ext cx="237744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67105" y="3486607"/>
            <a:ext cx="21003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Manual Tasks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067105" y="3781044"/>
            <a:ext cx="4077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repetitive steps in data analysis and cleaning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4219956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0702" y="4352544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67105" y="4248302"/>
            <a:ext cx="2186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Common Pitfalls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067105" y="4543654"/>
            <a:ext cx="4258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against data leakage and poor model selection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981651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66928" y="5115154"/>
            <a:ext cx="237744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67105" y="5009998"/>
            <a:ext cx="1215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067105" y="5305349"/>
            <a:ext cx="4134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advanced data science accessible to non-experts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5743346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4477" y="5876849"/>
            <a:ext cx="142646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67105" y="5772607"/>
            <a:ext cx="20436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Reporting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1067105" y="6067044"/>
            <a:ext cx="4401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reproducible, publication-quality research reports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7975397" y="838505"/>
            <a:ext cx="3762756" cy="5438851"/>
          </a:xfrm>
          <a:prstGeom prst="roundRect">
            <a:avLst>
              <a:gd name="adj" fmla="val 7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7985455" y="847649"/>
            <a:ext cx="3743554" cy="7333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7985455" y="1571854"/>
            <a:ext cx="374355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8214055" y="1114654"/>
            <a:ext cx="219456" cy="1901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546897" y="1076249"/>
            <a:ext cx="21625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Two-Phase Approach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9836201" y="2495398"/>
            <a:ext cx="38405" cy="28575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0" y="6734556"/>
            <a:ext cx="12191695" cy="161849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0" y="6734556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 txBox="1"/>
          <p:nvPr/>
        </p:nvSpPr>
        <p:spPr>
          <a:xfrm>
            <a:off x="457200" y="6743700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1367821" y="6743700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0" y="0"/>
            <a:ext cx="12191695" cy="38130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457200" y="0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52298" y="95098"/>
            <a:ext cx="190195" cy="19019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90295" y="47549"/>
            <a:ext cx="2181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41" name="Text 32"/>
          <p:cNvSpPr txBox="1"/>
          <p:nvPr/>
        </p:nvSpPr>
        <p:spPr>
          <a:xfrm>
            <a:off x="9719158" y="105156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8289950" y="2266798"/>
            <a:ext cx="3133649" cy="1181405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8289950" y="2266798"/>
            <a:ext cx="38405" cy="1181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5"/>
          <p:cNvSpPr/>
          <p:nvPr/>
        </p:nvSpPr>
        <p:spPr>
          <a:xfrm>
            <a:off x="8214055" y="27432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 w="508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36"/>
          <p:cNvSpPr txBox="1"/>
          <p:nvPr/>
        </p:nvSpPr>
        <p:spPr>
          <a:xfrm>
            <a:off x="8303666" y="2781605"/>
            <a:ext cx="143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8556955" y="2523744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LLM-Based Pipeline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8556955" y="2848356"/>
            <a:ext cx="26910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 intelligent decision making for standard workflows</a:t>
            </a:r>
            <a:endParaRPr lang="en-US" sz="100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784080" y="3800246"/>
            <a:ext cx="142646" cy="190195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8289950" y="4401007"/>
            <a:ext cx="3133649" cy="1181405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0"/>
          <p:cNvSpPr/>
          <p:nvPr/>
        </p:nvSpPr>
        <p:spPr>
          <a:xfrm>
            <a:off x="8289950" y="4401007"/>
            <a:ext cx="38405" cy="118140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1"/>
          <p:cNvSpPr/>
          <p:nvPr/>
        </p:nvSpPr>
        <p:spPr>
          <a:xfrm>
            <a:off x="8214055" y="487649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41230"/>
          </a:solidFill>
          <a:ln w="508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42"/>
          <p:cNvSpPr txBox="1"/>
          <p:nvPr/>
        </p:nvSpPr>
        <p:spPr>
          <a:xfrm>
            <a:off x="8291779" y="4914900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8556955" y="4657954"/>
            <a:ext cx="18050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System</a:t>
            </a:r>
            <a:endParaRPr lang="en-US" sz="1300" dirty="0"/>
          </a:p>
        </p:txBody>
      </p:sp>
      <p:sp>
        <p:nvSpPr>
          <p:cNvPr id="54" name="Text 44"/>
          <p:cNvSpPr txBox="1"/>
          <p:nvPr/>
        </p:nvSpPr>
        <p:spPr>
          <a:xfrm>
            <a:off x="8556955" y="4981651"/>
            <a:ext cx="24432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Collaborative specialized agents with quality control loops</a:t>
            </a:r>
            <a:endParaRPr lang="en-US" sz="1000" dirty="0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5819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581998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838505"/>
            <a:ext cx="12191695" cy="8287207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305" y="1218895"/>
            <a:ext cx="7420356" cy="5391302"/>
          </a:xfrm>
          <a:prstGeom prst="roundRect">
            <a:avLst>
              <a:gd name="adj" fmla="val 3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533449"/>
            <a:ext cx="23244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Pain Points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7707" y="2190902"/>
            <a:ext cx="457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43254" y="2210105"/>
            <a:ext cx="22338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Repetitive Preprocessing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43254" y="2467051"/>
            <a:ext cx="5010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cleaning, encoding, and scaling steps performed repeatedly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7707" y="3066898"/>
            <a:ext cx="457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🐛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43254" y="3086100"/>
            <a:ext cx="1443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Errors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43254" y="3343046"/>
            <a:ext cx="4448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Subtle pitfalls like data leakage and improper train/test splits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" y="3943807"/>
            <a:ext cx="457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⏱️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43254" y="3962095"/>
            <a:ext cx="22146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Time-Consuming Tuning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43254" y="4219956"/>
            <a:ext cx="4791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model selection and hyperparameter optimization is slow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" y="4819802"/>
            <a:ext cx="457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43254" y="4839005"/>
            <a:ext cx="1881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Visualization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43254" y="5095951"/>
            <a:ext cx="46204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generation and chart creation requires significant effort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7707" y="5695798"/>
            <a:ext cx="457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43254" y="5715000"/>
            <a:ext cx="21963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Expertise Required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43254" y="5971946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domain knowledge at every step, creating a barrier to entry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97012" y="1218895"/>
            <a:ext cx="3715207" cy="5391302"/>
          </a:xfrm>
          <a:prstGeom prst="roundRect">
            <a:avLst>
              <a:gd name="adj" fmla="val 757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-23" r="-23"/>
          <a:stretch/>
        </p:blipFill>
        <p:spPr>
          <a:xfrm>
            <a:off x="10668305" y="838505"/>
            <a:ext cx="1524305" cy="1218895"/>
          </a:xfrm>
          <a:prstGeom prst="rect">
            <a:avLst/>
          </a:prstGeom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8477402" y="5315407"/>
            <a:ext cx="1143000" cy="914400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0" y="9124798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 txBox="1"/>
          <p:nvPr/>
        </p:nvSpPr>
        <p:spPr>
          <a:xfrm>
            <a:off x="380695" y="6652258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11354105" y="6695693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990295" y="237744"/>
            <a:ext cx="2410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1" name="Text 45"/>
          <p:cNvSpPr txBox="1"/>
          <p:nvPr/>
        </p:nvSpPr>
        <p:spPr>
          <a:xfrm>
            <a:off x="9293047" y="295351"/>
            <a:ext cx="25484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 Science Workflow Challenge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9496958" y="2743200"/>
            <a:ext cx="914400" cy="914400"/>
          </a:xfrm>
          <a:prstGeom prst="roundRect">
            <a:avLst>
              <a:gd name="adj" fmla="val 100000"/>
            </a:avLst>
          </a:prstGeom>
          <a:solidFill>
            <a:srgbClr val="C41230"/>
          </a:solidFill>
          <a:ln w="50800">
            <a:solidFill>
              <a:srgbClr val="1F2937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82251" y="3029407"/>
            <a:ext cx="342900" cy="342900"/>
          </a:xfrm>
          <a:prstGeom prst="rect">
            <a:avLst/>
          </a:prstGeom>
        </p:spPr>
      </p:pic>
      <p:sp>
        <p:nvSpPr>
          <p:cNvPr id="54" name="Text 47"/>
          <p:cNvSpPr txBox="1"/>
          <p:nvPr/>
        </p:nvSpPr>
        <p:spPr>
          <a:xfrm>
            <a:off x="9309506" y="3895344"/>
            <a:ext cx="1467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Fails</a:t>
            </a:r>
            <a:endParaRPr lang="en-US" sz="1800" dirty="0"/>
          </a:p>
        </p:txBody>
      </p:sp>
      <p:sp>
        <p:nvSpPr>
          <p:cNvPr id="55" name="Text 48"/>
          <p:cNvSpPr txBox="1"/>
          <p:nvPr/>
        </p:nvSpPr>
        <p:spPr>
          <a:xfrm>
            <a:off x="8438998" y="4371746"/>
            <a:ext cx="3143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"Traditional workflows are brittle, prone to human error, and create bottlenecks that slow down innovation."</a:t>
            </a:r>
            <a:endParaRPr lang="en-US" sz="1200" dirty="0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81305"/>
            <a:ext cx="12191695" cy="652424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19810"/>
            <a:ext cx="7067398" cy="1920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3850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523951" y="923544"/>
            <a:ext cx="171907" cy="1335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5995" y="847649"/>
            <a:ext cx="1810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Benefits?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1466698"/>
            <a:ext cx="7067398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466698"/>
            <a:ext cx="38405" cy="9052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" y="1657807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780898" y="1772107"/>
            <a:ext cx="19019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18895" y="1686154"/>
            <a:ext cx="21387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&amp; Researchers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218895" y="1981505"/>
            <a:ext cx="59582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rapid prototyping and experimentation without getting bogged down in routine code.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559406"/>
            <a:ext cx="7067398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2559406"/>
            <a:ext cx="38405" cy="90525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85800" y="275051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2864815"/>
            <a:ext cx="15270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18895" y="2778862"/>
            <a:ext cx="16815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Analysts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218895" y="3074213"/>
            <a:ext cx="50346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self-service analytics capabilities requiring minimal coding expertise.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653028"/>
            <a:ext cx="7067398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57200" y="3653028"/>
            <a:ext cx="38405" cy="90525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819302" y="3957523"/>
            <a:ext cx="114300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18895" y="3871570"/>
            <a:ext cx="18050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Organizations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218895" y="4166921"/>
            <a:ext cx="59582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Democratizes access to machine learning solutions without expensive dedicated data teams.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4745736"/>
            <a:ext cx="7067398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57200" y="4745736"/>
            <a:ext cx="38405" cy="90525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685800" y="493593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809244" y="5050231"/>
            <a:ext cx="133502" cy="1527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18895" y="4965192"/>
            <a:ext cx="13962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Scientists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1218895" y="5260543"/>
            <a:ext cx="5444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Automates routine tasks, allowing focus on complex problem-solving and innovation.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975397" y="838505"/>
            <a:ext cx="3762756" cy="5609844"/>
          </a:xfrm>
          <a:prstGeom prst="roundRect">
            <a:avLst>
              <a:gd name="adj" fmla="val 7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7985455" y="847649"/>
            <a:ext cx="3743554" cy="733349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7985455" y="1571854"/>
            <a:ext cx="3743554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14055" y="1114654"/>
            <a:ext cx="190195" cy="19019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518550" y="1076249"/>
            <a:ext cx="1591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Context</a:t>
            </a:r>
            <a:endParaRPr lang="en-US" sz="1500" dirty="0"/>
          </a:p>
        </p:txBody>
      </p:sp>
      <p:sp>
        <p:nvSpPr>
          <p:cNvPr id="37" name="Shape 29"/>
          <p:cNvSpPr/>
          <p:nvPr/>
        </p:nvSpPr>
        <p:spPr>
          <a:xfrm>
            <a:off x="7985455" y="1580998"/>
            <a:ext cx="3743554" cy="47813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8289950" y="1886407"/>
            <a:ext cx="3133649" cy="1619402"/>
          </a:xfrm>
          <a:prstGeom prst="roundRect">
            <a:avLst>
              <a:gd name="adj" fmla="val 398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 txBox="1"/>
          <p:nvPr/>
        </p:nvSpPr>
        <p:spPr>
          <a:xfrm>
            <a:off x="9091879" y="2066544"/>
            <a:ext cx="187726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$14.5B</a:t>
            </a:r>
            <a:endParaRPr lang="en-US" sz="3600" dirty="0"/>
          </a:p>
        </p:txBody>
      </p:sp>
      <p:sp>
        <p:nvSpPr>
          <p:cNvPr id="40" name="Text 32"/>
          <p:cNvSpPr txBox="1"/>
          <p:nvPr/>
        </p:nvSpPr>
        <p:spPr>
          <a:xfrm>
            <a:off x="8962949" y="2676449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AutoML Market by 2030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9626803" y="3000146"/>
            <a:ext cx="457200" cy="38405"/>
          </a:xfrm>
          <a:prstGeom prst="roundRect">
            <a:avLst>
              <a:gd name="adj" fmla="val 238094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 txBox="1"/>
          <p:nvPr/>
        </p:nvSpPr>
        <p:spPr>
          <a:xfrm>
            <a:off x="9218981" y="3114446"/>
            <a:ext cx="1362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GROWTH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8289950" y="3810305"/>
            <a:ext cx="3133649" cy="972007"/>
          </a:xfrm>
          <a:prstGeom prst="roundRect">
            <a:avLst>
              <a:gd name="adj" fmla="val 737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8451799" y="40096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8546897" y="4123944"/>
            <a:ext cx="190195" cy="152705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8984894" y="3991356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 Data Scientists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8984894" y="4248302"/>
            <a:ext cx="222473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Rapidly growing demand for tools empowering non-experts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8289950" y="5086807"/>
            <a:ext cx="3133649" cy="972007"/>
          </a:xfrm>
          <a:prstGeom prst="roundRect">
            <a:avLst>
              <a:gd name="adj" fmla="val 737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8451799" y="528614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566099" y="5400446"/>
            <a:ext cx="152705" cy="15270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8984894" y="5266944"/>
            <a:ext cx="1410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Quality</a:t>
            </a:r>
            <a:endParaRPr lang="en-US" sz="1200" dirty="0"/>
          </a:p>
        </p:txBody>
      </p:sp>
      <p:sp>
        <p:nvSpPr>
          <p:cNvPr id="52" name="Text 42"/>
          <p:cNvSpPr txBox="1"/>
          <p:nvPr/>
        </p:nvSpPr>
        <p:spPr>
          <a:xfrm>
            <a:off x="8984894" y="5524805"/>
            <a:ext cx="19860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need for reproducible, explainable AI processes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7985455" y="6362395"/>
            <a:ext cx="3743554" cy="7589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4"/>
          <p:cNvSpPr/>
          <p:nvPr/>
        </p:nvSpPr>
        <p:spPr>
          <a:xfrm>
            <a:off x="7985455" y="6362395"/>
            <a:ext cx="1248156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45"/>
          <p:cNvSpPr/>
          <p:nvPr/>
        </p:nvSpPr>
        <p:spPr>
          <a:xfrm>
            <a:off x="9231782" y="6362395"/>
            <a:ext cx="1248156" cy="7589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6"/>
          <p:cNvSpPr/>
          <p:nvPr/>
        </p:nvSpPr>
        <p:spPr>
          <a:xfrm>
            <a:off x="10478110" y="6362395"/>
            <a:ext cx="1248156" cy="758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47"/>
          <p:cNvSpPr/>
          <p:nvPr/>
        </p:nvSpPr>
        <p:spPr>
          <a:xfrm>
            <a:off x="0" y="6905549"/>
            <a:ext cx="12191695" cy="1618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8"/>
          <p:cNvSpPr/>
          <p:nvPr/>
        </p:nvSpPr>
        <p:spPr>
          <a:xfrm>
            <a:off x="0" y="690554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49"/>
          <p:cNvSpPr txBox="1"/>
          <p:nvPr/>
        </p:nvSpPr>
        <p:spPr>
          <a:xfrm>
            <a:off x="457200" y="691560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60" name="Text 50"/>
          <p:cNvSpPr txBox="1"/>
          <p:nvPr/>
        </p:nvSpPr>
        <p:spPr>
          <a:xfrm>
            <a:off x="11363249" y="6915607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</a:t>
            </a:r>
            <a:endParaRPr lang="en-US" sz="900" dirty="0"/>
          </a:p>
        </p:txBody>
      </p:sp>
      <p:sp>
        <p:nvSpPr>
          <p:cNvPr id="61" name="Shape 51"/>
          <p:cNvSpPr/>
          <p:nvPr/>
        </p:nvSpPr>
        <p:spPr>
          <a:xfrm>
            <a:off x="0" y="0"/>
            <a:ext cx="12191695" cy="38130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2"/>
          <p:cNvSpPr/>
          <p:nvPr/>
        </p:nvSpPr>
        <p:spPr>
          <a:xfrm>
            <a:off x="457200" y="0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2298" y="95098"/>
            <a:ext cx="190195" cy="190195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990295" y="47549"/>
            <a:ext cx="3267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Problem Matters</a:t>
            </a:r>
            <a:endParaRPr lang="en-US" sz="1800" dirty="0"/>
          </a:p>
        </p:txBody>
      </p:sp>
      <p:sp>
        <p:nvSpPr>
          <p:cNvPr id="65" name="Text 54"/>
          <p:cNvSpPr txBox="1"/>
          <p:nvPr/>
        </p:nvSpPr>
        <p:spPr>
          <a:xfrm>
            <a:off x="10085832" y="105156"/>
            <a:ext cx="1757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Relevance &amp; Beneficiaries</a:t>
            </a:r>
            <a:endParaRPr lang="en-US" sz="1000" dirty="0"/>
          </a:p>
        </p:txBody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69" name="Text 5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70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1570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715707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3267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 Work &amp; Motivation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64200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81305" y="1218895"/>
            <a:ext cx="304495" cy="381305"/>
          </a:xfrm>
          <a:prstGeom prst="roundRect">
            <a:avLst>
              <a:gd name="adj" fmla="val 7507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333195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0100" y="1295705"/>
            <a:ext cx="2591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AutoML Solutions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81305" y="1752905"/>
            <a:ext cx="11430000" cy="2991002"/>
          </a:xfrm>
          <a:prstGeom prst="roundRect">
            <a:avLst>
              <a:gd name="adj" fmla="val 1168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90449" y="1762049"/>
            <a:ext cx="11410798" cy="504749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90449" y="2257654"/>
            <a:ext cx="2286000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43154" y="1923898"/>
            <a:ext cx="7004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672791" y="2257654"/>
            <a:ext cx="2857500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825496" y="1923898"/>
            <a:ext cx="9006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525719" y="2257654"/>
            <a:ext cx="4572000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5677510" y="192389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0089490" y="2257654"/>
            <a:ext cx="1714500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10352837" y="1923898"/>
            <a:ext cx="12911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90449" y="2957170"/>
            <a:ext cx="11410798" cy="6949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90449" y="4196182"/>
            <a:ext cx="11410798" cy="54315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90449" y="2948026"/>
            <a:ext cx="2286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2672791" y="2948026"/>
            <a:ext cx="28575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390449" y="3642970"/>
            <a:ext cx="2286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2672791" y="3642970"/>
            <a:ext cx="28575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390449" y="4187038"/>
            <a:ext cx="2286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2672791" y="4187038"/>
            <a:ext cx="28575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543154" y="2514600"/>
            <a:ext cx="534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TPOT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2825496" y="2514600"/>
            <a:ext cx="1686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Genetic Programming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543154" y="3209544"/>
            <a:ext cx="1105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Auto-sklearn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825496" y="3209544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Bayesian Optimization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43154" y="3829507"/>
            <a:ext cx="1067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H2O AutoML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2825496" y="3829507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Methods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543154" y="4371746"/>
            <a:ext cx="896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DataRobot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2825496" y="4371746"/>
            <a:ext cx="1629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Platform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525719" y="2948026"/>
            <a:ext cx="4572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5525719" y="3642970"/>
            <a:ext cx="4572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5525719" y="4187038"/>
            <a:ext cx="45720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5677510" y="2428646"/>
            <a:ext cx="432968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automated cleaning; limited to model selection; computationally expensive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5677510" y="3838651"/>
            <a:ext cx="3872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"Black box" nature; limited transparency on internal choices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5677510" y="4381805"/>
            <a:ext cx="42537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Expensive licensing; proprietary/closed source; hard to customize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10089490" y="2948026"/>
            <a:ext cx="17145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69473" y="2533802"/>
            <a:ext cx="152705" cy="152705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5677510" y="3124505"/>
            <a:ext cx="40251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Doesn't handle complex preprocessing decisions; constrained search space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10089490" y="4187038"/>
            <a:ext cx="17145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4"/>
          <p:cNvSpPr/>
          <p:nvPr/>
        </p:nvSpPr>
        <p:spPr>
          <a:xfrm>
            <a:off x="10089490" y="3642970"/>
            <a:ext cx="17145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9473" y="3228746"/>
            <a:ext cx="152705" cy="152705"/>
          </a:xfrm>
          <a:prstGeom prst="rect">
            <a:avLst/>
          </a:prstGeom>
        </p:spPr>
      </p:pic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69473" y="3847795"/>
            <a:ext cx="152705" cy="152705"/>
          </a:xfrm>
          <a:prstGeom prst="rect">
            <a:avLst/>
          </a:prstGeom>
        </p:spPr>
      </p:pic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869473" y="4390949"/>
            <a:ext cx="152705" cy="152705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381305" y="5048402"/>
            <a:ext cx="11430000" cy="1828800"/>
          </a:xfrm>
          <a:prstGeom prst="roundRect">
            <a:avLst>
              <a:gd name="adj" fmla="val 31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6"/>
          <p:cNvSpPr/>
          <p:nvPr/>
        </p:nvSpPr>
        <p:spPr>
          <a:xfrm>
            <a:off x="4267505" y="5286146"/>
            <a:ext cx="9144" cy="135239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19049" y="5513832"/>
            <a:ext cx="171907" cy="171907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866851" y="5466283"/>
            <a:ext cx="15197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in Literature</a:t>
            </a:r>
            <a:endParaRPr lang="en-US" sz="1300" dirty="0"/>
          </a:p>
        </p:txBody>
      </p:sp>
      <p:sp>
        <p:nvSpPr>
          <p:cNvPr id="57" name="Text 48"/>
          <p:cNvSpPr txBox="1"/>
          <p:nvPr/>
        </p:nvSpPr>
        <p:spPr>
          <a:xfrm>
            <a:off x="619049" y="5828386"/>
            <a:ext cx="336773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solutions excel at model selection but fail at intelligent data preparation and reasoning transparency.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4574743" y="5286146"/>
            <a:ext cx="2238451" cy="1352398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0"/>
          <p:cNvSpPr/>
          <p:nvPr/>
        </p:nvSpPr>
        <p:spPr>
          <a:xfrm>
            <a:off x="4574743" y="5286146"/>
            <a:ext cx="38405" cy="135239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65853" y="5471770"/>
            <a:ext cx="237744" cy="190195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4765853" y="5790895"/>
            <a:ext cx="14246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Disjointed Workflow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4765853" y="6010351"/>
            <a:ext cx="19248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end-to-end system integrating cleaning with modeling logic</a:t>
            </a:r>
            <a:endParaRPr lang="en-US" sz="900" dirty="0"/>
          </a:p>
        </p:txBody>
      </p:sp>
      <p:sp>
        <p:nvSpPr>
          <p:cNvPr id="63" name="Shape 53"/>
          <p:cNvSpPr/>
          <p:nvPr/>
        </p:nvSpPr>
        <p:spPr>
          <a:xfrm>
            <a:off x="6958584" y="5286146"/>
            <a:ext cx="2238451" cy="1352398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54"/>
          <p:cNvSpPr/>
          <p:nvPr/>
        </p:nvSpPr>
        <p:spPr>
          <a:xfrm>
            <a:off x="6958584" y="5286146"/>
            <a:ext cx="38405" cy="135239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148779" y="5471770"/>
            <a:ext cx="190195" cy="190195"/>
          </a:xfrm>
          <a:prstGeom prst="rect">
            <a:avLst/>
          </a:prstGeom>
        </p:spPr>
      </p:pic>
      <p:sp>
        <p:nvSpPr>
          <p:cNvPr id="66" name="Text 55"/>
          <p:cNvSpPr txBox="1"/>
          <p:nvPr/>
        </p:nvSpPr>
        <p:spPr>
          <a:xfrm>
            <a:off x="7148779" y="5790895"/>
            <a:ext cx="13386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Reasoning</a:t>
            </a:r>
            <a:endParaRPr lang="en-US" sz="1000" dirty="0"/>
          </a:p>
        </p:txBody>
      </p:sp>
      <p:sp>
        <p:nvSpPr>
          <p:cNvPr id="67" name="Text 56"/>
          <p:cNvSpPr txBox="1"/>
          <p:nvPr/>
        </p:nvSpPr>
        <p:spPr>
          <a:xfrm>
            <a:off x="7148779" y="6010351"/>
            <a:ext cx="1962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semantic understanding of data characteristics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9341510" y="5286146"/>
            <a:ext cx="2238451" cy="1352398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58"/>
          <p:cNvSpPr/>
          <p:nvPr/>
        </p:nvSpPr>
        <p:spPr>
          <a:xfrm>
            <a:off x="9341510" y="5286146"/>
            <a:ext cx="38405" cy="135239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532620" y="5471770"/>
            <a:ext cx="237744" cy="190195"/>
          </a:xfrm>
          <a:prstGeom prst="rect">
            <a:avLst/>
          </a:prstGeom>
        </p:spPr>
      </p:pic>
      <p:sp>
        <p:nvSpPr>
          <p:cNvPr id="71" name="Text 59"/>
          <p:cNvSpPr txBox="1"/>
          <p:nvPr/>
        </p:nvSpPr>
        <p:spPr>
          <a:xfrm>
            <a:off x="9532620" y="5790895"/>
            <a:ext cx="13770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Interpretability</a:t>
            </a:r>
            <a:endParaRPr lang="en-US" sz="1000" dirty="0"/>
          </a:p>
        </p:txBody>
      </p:sp>
      <p:sp>
        <p:nvSpPr>
          <p:cNvPr id="72" name="Text 60"/>
          <p:cNvSpPr txBox="1"/>
          <p:nvPr/>
        </p:nvSpPr>
        <p:spPr>
          <a:xfrm>
            <a:off x="9532620" y="6010351"/>
            <a:ext cx="18004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are opaque to human users ("why did it do that?")</a:t>
            </a:r>
            <a:endParaRPr lang="en-US" sz="900" dirty="0"/>
          </a:p>
        </p:txBody>
      </p:sp>
      <p:sp>
        <p:nvSpPr>
          <p:cNvPr id="73" name="Shape 61"/>
          <p:cNvSpPr/>
          <p:nvPr/>
        </p:nvSpPr>
        <p:spPr>
          <a:xfrm>
            <a:off x="0" y="7258507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62"/>
          <p:cNvSpPr/>
          <p:nvPr/>
        </p:nvSpPr>
        <p:spPr>
          <a:xfrm>
            <a:off x="0" y="7258507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3"/>
          <p:cNvSpPr txBox="1"/>
          <p:nvPr/>
        </p:nvSpPr>
        <p:spPr>
          <a:xfrm>
            <a:off x="457200" y="7414870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76" name="Text 64"/>
          <p:cNvSpPr txBox="1"/>
          <p:nvPr/>
        </p:nvSpPr>
        <p:spPr>
          <a:xfrm>
            <a:off x="11369650" y="7414870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</a:t>
            </a:r>
            <a:endParaRPr lang="en-US" sz="900" dirty="0"/>
          </a:p>
        </p:txBody>
      </p:sp>
      <p:sp>
        <p:nvSpPr>
          <p:cNvPr id="77" name="Shape 65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81" name="Text 68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8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83" name="Text 69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41532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of Proposed Solution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402836" y="1564538"/>
            <a:ext cx="36054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Novel Contributions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05149" y="2002536"/>
            <a:ext cx="4905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the gap between automated tools and intelligent research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1305" y="2440534"/>
            <a:ext cx="5562295" cy="146669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81305" y="2440534"/>
            <a:ext cx="55622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09905" y="2707538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754" y="2869387"/>
            <a:ext cx="286207" cy="2862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10005" y="2726741"/>
            <a:ext cx="2886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LLM-Guided Decision Making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410005" y="3088843"/>
            <a:ext cx="105156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91056" y="3059582"/>
            <a:ext cx="38816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choices for imputation, encoding, and model selection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410005" y="3531413"/>
            <a:ext cx="105156" cy="1143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91056" y="3503066"/>
            <a:ext cx="34052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reasoning for every decision (explainability)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48095" y="2440534"/>
            <a:ext cx="5562295" cy="146669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248095" y="2440534"/>
            <a:ext cx="5562295" cy="3840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476695" y="2707538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38544" y="2869387"/>
            <a:ext cx="286207" cy="2862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76795" y="2726741"/>
            <a:ext cx="245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Leakage Prevention</a:t>
            </a:r>
            <a:endParaRPr lang="en-US" sz="15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276795" y="3088843"/>
            <a:ext cx="105156" cy="1143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457846" y="3059582"/>
            <a:ext cx="3329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safeguards with strict fit/transform patterns</a:t>
            </a:r>
            <a:endParaRPr lang="en-US" sz="1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276795" y="3347618"/>
            <a:ext cx="105156" cy="1143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457846" y="3319272"/>
            <a:ext cx="23957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train/test splitting enforcement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381305" y="4209898"/>
            <a:ext cx="5562295" cy="146669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381305" y="4209898"/>
            <a:ext cx="5562295" cy="3840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3"/>
          <p:cNvSpPr/>
          <p:nvPr/>
        </p:nvSpPr>
        <p:spPr>
          <a:xfrm>
            <a:off x="609905" y="4476902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7"/>
          <a:srcRect l="-607" r="-607"/>
          <a:stretch/>
        </p:blipFill>
        <p:spPr>
          <a:xfrm>
            <a:off x="733349" y="4638751"/>
            <a:ext cx="362102" cy="28620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410005" y="4496105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Architecture</a:t>
            </a:r>
            <a:endParaRPr lang="en-US" sz="15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410005" y="4858207"/>
            <a:ext cx="105156" cy="1143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591056" y="4828946"/>
            <a:ext cx="2910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agents with quality control loops</a:t>
            </a:r>
            <a:endParaRPr lang="en-US" sz="10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410005" y="5116982"/>
            <a:ext cx="105156" cy="11430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591056" y="5088636"/>
            <a:ext cx="3176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workflow based on data characteristics</a:t>
            </a:r>
            <a:endParaRPr lang="en-US" sz="1000" dirty="0"/>
          </a:p>
        </p:txBody>
      </p:sp>
      <p:sp>
        <p:nvSpPr>
          <p:cNvPr id="39" name="Shape 27"/>
          <p:cNvSpPr/>
          <p:nvPr/>
        </p:nvSpPr>
        <p:spPr>
          <a:xfrm>
            <a:off x="6248095" y="4209898"/>
            <a:ext cx="5562295" cy="146669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28"/>
          <p:cNvSpPr/>
          <p:nvPr/>
        </p:nvSpPr>
        <p:spPr>
          <a:xfrm>
            <a:off x="6248095" y="4209898"/>
            <a:ext cx="5562295" cy="3840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29"/>
          <p:cNvSpPr/>
          <p:nvPr/>
        </p:nvSpPr>
        <p:spPr>
          <a:xfrm>
            <a:off x="6476695" y="4476902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38544" y="4638751"/>
            <a:ext cx="286207" cy="286207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7276795" y="4496105"/>
            <a:ext cx="2181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Automation</a:t>
            </a:r>
            <a:endParaRPr lang="en-US" sz="15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276795" y="4858207"/>
            <a:ext cx="105156" cy="114300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7457846" y="4828946"/>
            <a:ext cx="3329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CSV to publication-ready research report</a:t>
            </a:r>
            <a:endParaRPr lang="en-US" sz="100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276795" y="5116982"/>
            <a:ext cx="105156" cy="114300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7457846" y="5088636"/>
            <a:ext cx="37005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hypothesis generation, code, visualizations, and references</a:t>
            </a:r>
            <a:endParaRPr lang="en-US" sz="1000" dirty="0"/>
          </a:p>
        </p:txBody>
      </p:sp>
      <p:sp>
        <p:nvSpPr>
          <p:cNvPr id="48" name="Shape 3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34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35"/>
          <p:cNvSpPr txBox="1"/>
          <p:nvPr/>
        </p:nvSpPr>
        <p:spPr>
          <a:xfrm>
            <a:off x="457200" y="655807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51" name="Text 36"/>
          <p:cNvSpPr txBox="1"/>
          <p:nvPr/>
        </p:nvSpPr>
        <p:spPr>
          <a:xfrm>
            <a:off x="11366906" y="6558077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</a:t>
            </a:r>
            <a:endParaRPr lang="en-US" sz="900" dirty="0"/>
          </a:p>
        </p:txBody>
      </p:sp>
      <p:sp>
        <p:nvSpPr>
          <p:cNvPr id="52" name="Shape 37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475366" y="38405"/>
            <a:ext cx="3400654" cy="2210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4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400" dirty="0"/>
          </a:p>
        </p:txBody>
      </p:sp>
      <p:sp>
        <p:nvSpPr>
          <p:cNvPr id="6" name="Shape 4"/>
          <p:cNvSpPr/>
          <p:nvPr/>
        </p:nvSpPr>
        <p:spPr>
          <a:xfrm>
            <a:off x="0" y="2229307"/>
            <a:ext cx="914400" cy="18288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0" y="2572207"/>
            <a:ext cx="1218895" cy="2438705"/>
          </a:xfrm>
          <a:prstGeom prst="roundRect">
            <a:avLst>
              <a:gd name="adj" fmla="val 75019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90295" y="237744"/>
            <a:ext cx="44869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1: LLM-Based Pipeline Approach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86654" y="1218895"/>
            <a:ext cx="819302" cy="761695"/>
          </a:xfrm>
          <a:prstGeom prst="roundRect">
            <a:avLst>
              <a:gd name="adj" fmla="val 12004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44" r="-44"/>
          <a:stretch/>
        </p:blipFill>
        <p:spPr>
          <a:xfrm>
            <a:off x="5838444" y="1371600"/>
            <a:ext cx="514807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52774" y="2229307"/>
            <a:ext cx="572505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LLM-Based Pipeline Approach</a:t>
            </a:r>
            <a:endParaRPr lang="en-US" sz="4500" dirty="0"/>
          </a:p>
        </p:txBody>
      </p:sp>
      <p:sp>
        <p:nvSpPr>
          <p:cNvPr id="17" name="Shape 13"/>
          <p:cNvSpPr/>
          <p:nvPr/>
        </p:nvSpPr>
        <p:spPr>
          <a:xfrm>
            <a:off x="5486400" y="3733495"/>
            <a:ext cx="12188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361895" y="4238244"/>
            <a:ext cx="76398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CSV data to trained models using explainable LLM decisions and leakage-safe preprocessing mechanisms.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2505456" y="5544007"/>
            <a:ext cx="2000707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44114" y="5686654"/>
            <a:ext cx="190195" cy="19019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801514" y="5544007"/>
            <a:ext cx="2257654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3048610" y="5686654"/>
            <a:ext cx="1334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 Logic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39258" y="5686654"/>
            <a:ext cx="190195" cy="19019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356348" y="5544007"/>
            <a:ext cx="2333549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5344668" y="5686654"/>
            <a:ext cx="1591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Decisions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94092" y="5686654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98587" y="5686654"/>
            <a:ext cx="1666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Reporting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457200" y="655807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1372393" y="6558077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</a:t>
            </a:r>
            <a:endParaRPr lang="en-US" sz="9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3191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Pipeline Architecture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217566" y="5924398"/>
            <a:ext cx="152705" cy="152705"/>
          </a:xfrm>
          <a:prstGeom prst="roundRect">
            <a:avLst>
              <a:gd name="adj" fmla="val 14970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457200" y="655807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366906" y="6558077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DAB60629-AEF0-3217-677A-46C079E0FC69}"/>
              </a:ext>
            </a:extLst>
          </p:cNvPr>
          <p:cNvSpPr txBox="1"/>
          <p:nvPr/>
        </p:nvSpPr>
        <p:spPr>
          <a:xfrm>
            <a:off x="990295" y="237744"/>
            <a:ext cx="44869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Pipeline Architecture</a:t>
            </a:r>
            <a:endParaRPr lang="en-US" sz="18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1F354B1-CFA0-0521-D47B-F086856D5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193" y="837590"/>
            <a:ext cx="5701669" cy="5563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90449"/>
            <a:ext cx="12191695" cy="66294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1305" y="761695"/>
            <a:ext cx="5600700" cy="2819095"/>
          </a:xfrm>
          <a:prstGeom prst="roundRect">
            <a:avLst>
              <a:gd name="adj" fmla="val 13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1305" y="761695"/>
            <a:ext cx="38405" cy="28190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7395" y="1485900"/>
            <a:ext cx="5105095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7395" y="99029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407" y="1086307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000" y="1067105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Framework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395" y="1686154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1666951"/>
            <a:ext cx="1610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GPT Models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1886407"/>
            <a:ext cx="3557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 (gpt-4-1106-preview) &amp; GPT-3.5 (gpt-3.5-turbo)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395" y="2257654"/>
            <a:ext cx="152705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14400" y="2238451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2457907"/>
            <a:ext cx="39008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engineering, chain orchestration, and output parsing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210605" y="761695"/>
            <a:ext cx="5600700" cy="2819095"/>
          </a:xfrm>
          <a:prstGeom prst="roundRect">
            <a:avLst>
              <a:gd name="adj" fmla="val 13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210605" y="761695"/>
            <a:ext cx="38405" cy="281909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76695" y="1485900"/>
            <a:ext cx="5105095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76695" y="99029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581851" y="1086307"/>
            <a:ext cx="171907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72300" y="1067105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Processing</a:t>
            </a:r>
            <a:endParaRPr lang="en-US" sz="15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6695" y="1686154"/>
            <a:ext cx="152705" cy="152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743700" y="1666951"/>
            <a:ext cx="1162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Libraries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743700" y="1886407"/>
            <a:ext cx="1200607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6819595" y="1904695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pandas, numpy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6695" y="2305202"/>
            <a:ext cx="152705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743700" y="2286000"/>
            <a:ext cx="1457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743700" y="2505456"/>
            <a:ext cx="1114654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 txBox="1"/>
          <p:nvPr/>
        </p:nvSpPr>
        <p:spPr>
          <a:xfrm>
            <a:off x="6819595" y="2523744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6695" y="2924251"/>
            <a:ext cx="152705" cy="15270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743700" y="2905049"/>
            <a:ext cx="1038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743700" y="3124505"/>
            <a:ext cx="1438351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5"/>
          <p:cNvSpPr txBox="1"/>
          <p:nvPr/>
        </p:nvSpPr>
        <p:spPr>
          <a:xfrm>
            <a:off x="6819595" y="3143707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imbalanced-learn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381305" y="3810305"/>
            <a:ext cx="5600700" cy="2819095"/>
          </a:xfrm>
          <a:prstGeom prst="roundRect">
            <a:avLst>
              <a:gd name="adj" fmla="val 13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7"/>
          <p:cNvSpPr/>
          <p:nvPr/>
        </p:nvSpPr>
        <p:spPr>
          <a:xfrm>
            <a:off x="381305" y="3810305"/>
            <a:ext cx="38405" cy="281909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647395" y="4534510"/>
            <a:ext cx="5105095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647395" y="40389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728777" y="4134002"/>
            <a:ext cx="219456" cy="19019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143000" y="4114800"/>
            <a:ext cx="1772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 &amp; UI</a:t>
            </a:r>
            <a:endParaRPr lang="en-US" sz="15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395" y="4733849"/>
            <a:ext cx="152705" cy="15270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14400" y="4714646"/>
            <a:ext cx="13816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Plotting Libraries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914400" y="4934102"/>
            <a:ext cx="2314346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3"/>
          <p:cNvSpPr txBox="1"/>
          <p:nvPr/>
        </p:nvSpPr>
        <p:spPr>
          <a:xfrm>
            <a:off x="990295" y="4953305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matplotlib, seaborn, plotly</a:t>
            </a:r>
            <a:endParaRPr lang="en-US" sz="10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395" y="5352898"/>
            <a:ext cx="152705" cy="152705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914400" y="5333695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914400" y="5553151"/>
            <a:ext cx="35387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based UI for real-time interaction and display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6210605" y="3819449"/>
            <a:ext cx="5600700" cy="2819095"/>
          </a:xfrm>
          <a:prstGeom prst="roundRect">
            <a:avLst>
              <a:gd name="adj" fmla="val 13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37"/>
          <p:cNvSpPr/>
          <p:nvPr/>
        </p:nvSpPr>
        <p:spPr>
          <a:xfrm>
            <a:off x="6210605" y="3810305"/>
            <a:ext cx="38405" cy="28190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38"/>
          <p:cNvSpPr/>
          <p:nvPr/>
        </p:nvSpPr>
        <p:spPr>
          <a:xfrm>
            <a:off x="6476695" y="4534510"/>
            <a:ext cx="5105095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39"/>
          <p:cNvSpPr/>
          <p:nvPr/>
        </p:nvSpPr>
        <p:spPr>
          <a:xfrm>
            <a:off x="6476695" y="40389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48018" y="4134002"/>
            <a:ext cx="237744" cy="190195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6972300" y="4114800"/>
            <a:ext cx="1524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Support</a:t>
            </a:r>
            <a:endParaRPr lang="en-US" sz="1500" dirty="0"/>
          </a:p>
        </p:txBody>
      </p:sp>
      <p:sp>
        <p:nvSpPr>
          <p:cNvPr id="54" name="Text 41"/>
          <p:cNvSpPr txBox="1"/>
          <p:nvPr/>
        </p:nvSpPr>
        <p:spPr>
          <a:xfrm>
            <a:off x="6476695" y="4695444"/>
            <a:ext cx="10863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55" name="Text 42"/>
          <p:cNvSpPr txBox="1"/>
          <p:nvPr/>
        </p:nvSpPr>
        <p:spPr>
          <a:xfrm>
            <a:off x="6476695" y="5302606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</a:t>
            </a:r>
            <a:endParaRPr lang="en-US" sz="900" dirty="0"/>
          </a:p>
        </p:txBody>
      </p:sp>
      <p:sp>
        <p:nvSpPr>
          <p:cNvPr id="56" name="Text 43"/>
          <p:cNvSpPr txBox="1"/>
          <p:nvPr/>
        </p:nvSpPr>
        <p:spPr>
          <a:xfrm>
            <a:off x="6476695" y="5908853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CLUSTERING</a:t>
            </a:r>
            <a:endParaRPr lang="en-US" sz="900" dirty="0"/>
          </a:p>
        </p:txBody>
      </p:sp>
      <p:sp>
        <p:nvSpPr>
          <p:cNvPr id="57" name="Text 44"/>
          <p:cNvSpPr txBox="1"/>
          <p:nvPr/>
        </p:nvSpPr>
        <p:spPr>
          <a:xfrm>
            <a:off x="6476695" y="4848149"/>
            <a:ext cx="4476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LogisticRegression, SVC, RandomForest, XGBoost, GradientBoosting</a:t>
            </a:r>
            <a:endParaRPr lang="en-US" sz="900" dirty="0"/>
          </a:p>
        </p:txBody>
      </p:sp>
      <p:sp>
        <p:nvSpPr>
          <p:cNvPr id="58" name="Text 45"/>
          <p:cNvSpPr txBox="1"/>
          <p:nvPr/>
        </p:nvSpPr>
        <p:spPr>
          <a:xfrm>
            <a:off x="6476695" y="5454396"/>
            <a:ext cx="3934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LinearRegression, Ridge, Lasso, ElasticNet, RandomForest</a:t>
            </a:r>
            <a:endParaRPr lang="en-US" sz="900" dirty="0"/>
          </a:p>
        </p:txBody>
      </p:sp>
      <p:sp>
        <p:nvSpPr>
          <p:cNvPr id="59" name="Text 46"/>
          <p:cNvSpPr txBox="1"/>
          <p:nvPr/>
        </p:nvSpPr>
        <p:spPr>
          <a:xfrm>
            <a:off x="6476695" y="6060643"/>
            <a:ext cx="31821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KMeans, DBSCAN, GaussianMixture, Hierarchical</a:t>
            </a:r>
            <a:endParaRPr lang="en-US" sz="900" dirty="0"/>
          </a:p>
        </p:txBody>
      </p:sp>
      <p:sp>
        <p:nvSpPr>
          <p:cNvPr id="60" name="Shape 47"/>
          <p:cNvSpPr/>
          <p:nvPr/>
        </p:nvSpPr>
        <p:spPr>
          <a:xfrm>
            <a:off x="0" y="7010705"/>
            <a:ext cx="12191695" cy="161849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48"/>
          <p:cNvSpPr/>
          <p:nvPr/>
        </p:nvSpPr>
        <p:spPr>
          <a:xfrm>
            <a:off x="0" y="701070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49"/>
          <p:cNvSpPr txBox="1"/>
          <p:nvPr/>
        </p:nvSpPr>
        <p:spPr>
          <a:xfrm>
            <a:off x="457200" y="7019849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63" name="Text 50"/>
          <p:cNvSpPr txBox="1"/>
          <p:nvPr/>
        </p:nvSpPr>
        <p:spPr>
          <a:xfrm>
            <a:off x="11366906" y="7019849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</a:t>
            </a:r>
            <a:endParaRPr lang="en-US" sz="900" dirty="0"/>
          </a:p>
        </p:txBody>
      </p:sp>
      <p:sp>
        <p:nvSpPr>
          <p:cNvPr id="64" name="Shape 5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52"/>
          <p:cNvSpPr/>
          <p:nvPr/>
        </p:nvSpPr>
        <p:spPr>
          <a:xfrm>
            <a:off x="457200" y="0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6" name="Image 11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538582" y="95098"/>
            <a:ext cx="219456" cy="190195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990295" y="47549"/>
            <a:ext cx="4410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Stack - Pipeline Approach</a:t>
            </a:r>
            <a:endParaRPr lang="en-US" sz="1800" dirty="0"/>
          </a:p>
        </p:txBody>
      </p:sp>
      <p:sp>
        <p:nvSpPr>
          <p:cNvPr id="68" name="Text 54"/>
          <p:cNvSpPr txBox="1"/>
          <p:nvPr/>
        </p:nvSpPr>
        <p:spPr>
          <a:xfrm>
            <a:off x="9719158" y="105156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pic>
        <p:nvPicPr>
          <p:cNvPr id="70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73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74" name="Text 58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2990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029907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523" y="286207"/>
            <a:ext cx="237744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3715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Decision-Making Process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57342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04495" y="1143000"/>
            <a:ext cx="3562502" cy="3029407"/>
          </a:xfrm>
          <a:prstGeom prst="roundRect">
            <a:avLst>
              <a:gd name="adj" fmla="val 11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3154" y="1419149"/>
            <a:ext cx="142646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1695" y="1380744"/>
            <a:ext cx="16669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Strategy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3154" y="1837944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9244" y="1819656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JSON Output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09244" y="2038198"/>
            <a:ext cx="25100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Enforces machine-readable format for reliable parsing in the pipeline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3154" y="2600554"/>
            <a:ext cx="15270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9244" y="2581351"/>
            <a:ext cx="1867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 Requirement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9244" y="2800807"/>
            <a:ext cx="28629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Forces LLM to explain "why" (explainability) before making a choice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3154" y="3362249"/>
            <a:ext cx="15270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09244" y="3343046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Injection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809244" y="3562502"/>
            <a:ext cx="28053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insertion of data types, head, and attributes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04495" y="4401007"/>
            <a:ext cx="3562502" cy="1867205"/>
          </a:xfrm>
          <a:prstGeom prst="roundRect">
            <a:avLst>
              <a:gd name="adj" fmla="val 299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 txBox="1"/>
          <p:nvPr/>
        </p:nvSpPr>
        <p:spPr>
          <a:xfrm>
            <a:off x="543154" y="4657954"/>
            <a:ext cx="1467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matters?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543154" y="4962449"/>
            <a:ext cx="295808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AutoML tools use hard-coded heuristics (e.g., "if columns &gt; 100, use PCA"). This system uses semantic understanding: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543154" y="5612587"/>
            <a:ext cx="31007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"This column contains ID numbers, not features - drop it."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102248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13106095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"""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1366022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 txBox="1"/>
          <p:nvPr/>
        </p:nvSpPr>
        <p:spPr>
          <a:xfrm>
            <a:off x="133456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1893631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 txBox="1"/>
          <p:nvPr/>
        </p:nvSpPr>
        <p:spPr>
          <a:xfrm>
            <a:off x="1862175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2149114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 txBox="1"/>
          <p:nvPr/>
        </p:nvSpPr>
        <p:spPr>
          <a:xfrm>
            <a:off x="2117659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21651163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Types: {types_info}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2364638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 txBox="1"/>
          <p:nvPr/>
        </p:nvSpPr>
        <p:spPr>
          <a:xfrm>
            <a:off x="2333183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23806404" y="1809598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Data head: {head_info}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2604119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 txBox="1"/>
          <p:nvPr/>
        </p:nvSpPr>
        <p:spPr>
          <a:xfrm>
            <a:off x="2572664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2651577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 txBox="1"/>
          <p:nvPr/>
        </p:nvSpPr>
        <p:spPr>
          <a:xfrm>
            <a:off x="2620121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26675791" y="1809598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 JSON format only: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2891149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 txBox="1"/>
          <p:nvPr/>
        </p:nvSpPr>
        <p:spPr>
          <a:xfrm>
            <a:off x="2859694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2907060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294656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3"/>
          <p:cNvSpPr txBox="1"/>
          <p:nvPr/>
        </p:nvSpPr>
        <p:spPr>
          <a:xfrm>
            <a:off x="2915107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Text 54"/>
          <p:cNvSpPr txBox="1"/>
          <p:nvPr/>
        </p:nvSpPr>
        <p:spPr>
          <a:xfrm>
            <a:off x="29625646" y="1809598"/>
            <a:ext cx="28245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"decision": {"target": "species"},</a:t>
            </a:r>
            <a:endParaRPr lang="en-US" sz="1000" dirty="0"/>
          </a:p>
        </p:txBody>
      </p:sp>
      <p:sp>
        <p:nvSpPr>
          <p:cNvPr id="62" name="Shape 55"/>
          <p:cNvSpPr/>
          <p:nvPr/>
        </p:nvSpPr>
        <p:spPr>
          <a:xfrm>
            <a:off x="326614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6"/>
          <p:cNvSpPr txBox="1"/>
          <p:nvPr/>
        </p:nvSpPr>
        <p:spPr>
          <a:xfrm>
            <a:off x="3234690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64" name="Text 57"/>
          <p:cNvSpPr txBox="1"/>
          <p:nvPr/>
        </p:nvSpPr>
        <p:spPr>
          <a:xfrm>
            <a:off x="32820559" y="1809598"/>
            <a:ext cx="47484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"reasoning": "The 'species' column is identified as target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37776607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59"/>
          <p:cNvSpPr txBox="1"/>
          <p:nvPr/>
        </p:nvSpPr>
        <p:spPr>
          <a:xfrm>
            <a:off x="3746205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67" name="Text 60"/>
          <p:cNvSpPr txBox="1"/>
          <p:nvPr/>
        </p:nvSpPr>
        <p:spPr>
          <a:xfrm>
            <a:off x="37936627" y="1809598"/>
            <a:ext cx="38624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because: (1) Categorical with few unique values</a:t>
            </a:r>
            <a:endParaRPr lang="en-US" sz="1000" dirty="0"/>
          </a:p>
        </p:txBody>
      </p:sp>
      <p:sp>
        <p:nvSpPr>
          <p:cNvPr id="68" name="Shape 61"/>
          <p:cNvSpPr/>
          <p:nvPr/>
        </p:nvSpPr>
        <p:spPr>
          <a:xfrm>
            <a:off x="4201210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2"/>
          <p:cNvSpPr txBox="1"/>
          <p:nvPr/>
        </p:nvSpPr>
        <p:spPr>
          <a:xfrm>
            <a:off x="4169755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42172128" y="1809598"/>
            <a:ext cx="44247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(setosa, versicolor, virginica), (2) All other columns</a:t>
            </a:r>
            <a:endParaRPr lang="en-US" sz="1000" dirty="0"/>
          </a:p>
        </p:txBody>
      </p:sp>
      <p:sp>
        <p:nvSpPr>
          <p:cNvPr id="71" name="Shape 64"/>
          <p:cNvSpPr/>
          <p:nvPr/>
        </p:nvSpPr>
        <p:spPr>
          <a:xfrm>
            <a:off x="4680813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5"/>
          <p:cNvSpPr txBox="1"/>
          <p:nvPr/>
        </p:nvSpPr>
        <p:spPr>
          <a:xfrm>
            <a:off x="4649358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73" name="Text 66"/>
          <p:cNvSpPr txBox="1"/>
          <p:nvPr/>
        </p:nvSpPr>
        <p:spPr>
          <a:xfrm>
            <a:off x="46968156" y="1809598"/>
            <a:ext cx="45866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are continuous measurements (features), (3) Semantically</a:t>
            </a:r>
            <a:endParaRPr lang="en-US" sz="1000" dirty="0"/>
          </a:p>
        </p:txBody>
      </p:sp>
      <p:sp>
        <p:nvSpPr>
          <p:cNvPr id="74" name="Shape 67"/>
          <p:cNvSpPr/>
          <p:nvPr/>
        </p:nvSpPr>
        <p:spPr>
          <a:xfrm>
            <a:off x="5176418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8"/>
          <p:cNvSpPr txBox="1"/>
          <p:nvPr/>
        </p:nvSpPr>
        <p:spPr>
          <a:xfrm>
            <a:off x="5144963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76" name="Text 69"/>
          <p:cNvSpPr txBox="1"/>
          <p:nvPr/>
        </p:nvSpPr>
        <p:spPr>
          <a:xfrm>
            <a:off x="51924204" y="1809598"/>
            <a:ext cx="27486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represents prediction outcome..."</a:t>
            </a:r>
            <a:endParaRPr lang="en-US" sz="1000" dirty="0"/>
          </a:p>
        </p:txBody>
      </p:sp>
      <p:sp>
        <p:nvSpPr>
          <p:cNvPr id="77" name="Shape 70"/>
          <p:cNvSpPr/>
          <p:nvPr/>
        </p:nvSpPr>
        <p:spPr>
          <a:xfrm>
            <a:off x="5487954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1"/>
          <p:cNvSpPr txBox="1"/>
          <p:nvPr/>
        </p:nvSpPr>
        <p:spPr>
          <a:xfrm>
            <a:off x="5456499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79" name="Text 72"/>
          <p:cNvSpPr txBox="1"/>
          <p:nvPr/>
        </p:nvSpPr>
        <p:spPr>
          <a:xfrm>
            <a:off x="5503956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00" dirty="0"/>
          </a:p>
        </p:txBody>
      </p:sp>
      <p:sp>
        <p:nvSpPr>
          <p:cNvPr id="80" name="Shape 73"/>
          <p:cNvSpPr/>
          <p:nvPr/>
        </p:nvSpPr>
        <p:spPr>
          <a:xfrm>
            <a:off x="5543367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4"/>
          <p:cNvSpPr txBox="1"/>
          <p:nvPr/>
        </p:nvSpPr>
        <p:spPr>
          <a:xfrm>
            <a:off x="5511911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82" name="Text 75"/>
          <p:cNvSpPr txBox="1"/>
          <p:nvPr/>
        </p:nvSpPr>
        <p:spPr>
          <a:xfrm>
            <a:off x="55593691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"""</a:t>
            </a:r>
            <a:endParaRPr lang="en-US" sz="1000" dirty="0"/>
          </a:p>
        </p:txBody>
      </p:sp>
      <p:sp>
        <p:nvSpPr>
          <p:cNvPr id="83" name="Shape 76"/>
          <p:cNvSpPr/>
          <p:nvPr/>
        </p:nvSpPr>
        <p:spPr>
          <a:xfrm>
            <a:off x="5614873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7"/>
          <p:cNvSpPr txBox="1"/>
          <p:nvPr/>
        </p:nvSpPr>
        <p:spPr>
          <a:xfrm>
            <a:off x="558341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85" name="Shape 78"/>
          <p:cNvSpPr/>
          <p:nvPr/>
        </p:nvSpPr>
        <p:spPr>
          <a:xfrm>
            <a:off x="5662330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 txBox="1"/>
          <p:nvPr/>
        </p:nvSpPr>
        <p:spPr>
          <a:xfrm>
            <a:off x="5630875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87" name="Text 80"/>
          <p:cNvSpPr txBox="1"/>
          <p:nvPr/>
        </p:nvSpPr>
        <p:spPr>
          <a:xfrm>
            <a:off x="5678332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endParaRPr lang="en-US" sz="1000" dirty="0"/>
          </a:p>
        </p:txBody>
      </p:sp>
      <p:sp>
        <p:nvSpPr>
          <p:cNvPr id="88" name="Text 81"/>
          <p:cNvSpPr txBox="1"/>
          <p:nvPr/>
        </p:nvSpPr>
        <p:spPr>
          <a:xfrm>
            <a:off x="57022898" y="1809598"/>
            <a:ext cx="1148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decide_target</a:t>
            </a:r>
            <a:endParaRPr lang="en-US" sz="1000" dirty="0"/>
          </a:p>
        </p:txBody>
      </p:sp>
      <p:sp>
        <p:nvSpPr>
          <p:cNvPr id="89" name="Text 82"/>
          <p:cNvSpPr txBox="1"/>
          <p:nvPr/>
        </p:nvSpPr>
        <p:spPr>
          <a:xfrm>
            <a:off x="58063486" y="1809598"/>
            <a:ext cx="21863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(attributes, types, head):</a:t>
            </a:r>
            <a:endParaRPr lang="en-US" sz="1000" dirty="0"/>
          </a:p>
        </p:txBody>
      </p:sp>
      <p:sp>
        <p:nvSpPr>
          <p:cNvPr id="90" name="Shape 83"/>
          <p:cNvSpPr/>
          <p:nvPr/>
        </p:nvSpPr>
        <p:spPr>
          <a:xfrm>
            <a:off x="6045829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4"/>
          <p:cNvSpPr txBox="1"/>
          <p:nvPr/>
        </p:nvSpPr>
        <p:spPr>
          <a:xfrm>
            <a:off x="6014374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92" name="Text 85"/>
          <p:cNvSpPr txBox="1"/>
          <p:nvPr/>
        </p:nvSpPr>
        <p:spPr>
          <a:xfrm>
            <a:off x="60618319" y="1809598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prompt = PromptTemplate(</a:t>
            </a:r>
            <a:endParaRPr lang="en-US" sz="1000" dirty="0"/>
          </a:p>
        </p:txBody>
      </p:sp>
      <p:sp>
        <p:nvSpPr>
          <p:cNvPr id="93" name="Shape 86"/>
          <p:cNvSpPr/>
          <p:nvPr/>
        </p:nvSpPr>
        <p:spPr>
          <a:xfrm>
            <a:off x="62854027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7"/>
          <p:cNvSpPr txBox="1"/>
          <p:nvPr/>
        </p:nvSpPr>
        <p:spPr>
          <a:xfrm>
            <a:off x="625394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95" name="Text 88"/>
          <p:cNvSpPr txBox="1"/>
          <p:nvPr/>
        </p:nvSpPr>
        <p:spPr>
          <a:xfrm>
            <a:off x="63014047" y="1809598"/>
            <a:ext cx="34628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template=decide_target_attribute_template,</a:t>
            </a:r>
            <a:endParaRPr lang="en-US" sz="1000" dirty="0"/>
          </a:p>
        </p:txBody>
      </p:sp>
      <p:sp>
        <p:nvSpPr>
          <p:cNvPr id="96" name="Shape 89"/>
          <p:cNvSpPr/>
          <p:nvPr/>
        </p:nvSpPr>
        <p:spPr>
          <a:xfrm>
            <a:off x="666890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0"/>
          <p:cNvSpPr txBox="1"/>
          <p:nvPr/>
        </p:nvSpPr>
        <p:spPr>
          <a:xfrm>
            <a:off x="6637446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98" name="Text 91"/>
          <p:cNvSpPr txBox="1"/>
          <p:nvPr/>
        </p:nvSpPr>
        <p:spPr>
          <a:xfrm>
            <a:off x="66849041" y="1809598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input_variables=[</a:t>
            </a:r>
            <a:endParaRPr lang="en-US" sz="1000" dirty="0"/>
          </a:p>
        </p:txBody>
      </p:sp>
      <p:sp>
        <p:nvSpPr>
          <p:cNvPr id="99" name="Text 92"/>
          <p:cNvSpPr txBox="1"/>
          <p:nvPr/>
        </p:nvSpPr>
        <p:spPr>
          <a:xfrm>
            <a:off x="68209668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"attributes"</a:t>
            </a:r>
            <a:endParaRPr lang="en-US" sz="1000" dirty="0"/>
          </a:p>
        </p:txBody>
      </p:sp>
      <p:sp>
        <p:nvSpPr>
          <p:cNvPr id="100" name="Text 93"/>
          <p:cNvSpPr txBox="1"/>
          <p:nvPr/>
        </p:nvSpPr>
        <p:spPr>
          <a:xfrm>
            <a:off x="6916978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101" name="Text 94"/>
          <p:cNvSpPr txBox="1"/>
          <p:nvPr/>
        </p:nvSpPr>
        <p:spPr>
          <a:xfrm>
            <a:off x="69250255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"types_info"</a:t>
            </a:r>
            <a:endParaRPr lang="en-US" sz="1000" dirty="0"/>
          </a:p>
        </p:txBody>
      </p:sp>
      <p:sp>
        <p:nvSpPr>
          <p:cNvPr id="102" name="Text 95"/>
          <p:cNvSpPr txBox="1"/>
          <p:nvPr/>
        </p:nvSpPr>
        <p:spPr>
          <a:xfrm>
            <a:off x="7021037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103" name="Text 96"/>
          <p:cNvSpPr txBox="1"/>
          <p:nvPr/>
        </p:nvSpPr>
        <p:spPr>
          <a:xfrm>
            <a:off x="70290842" y="18095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"head_info"</a:t>
            </a:r>
            <a:endParaRPr lang="en-US" sz="1000" dirty="0"/>
          </a:p>
        </p:txBody>
      </p:sp>
      <p:sp>
        <p:nvSpPr>
          <p:cNvPr id="104" name="Text 97"/>
          <p:cNvSpPr txBox="1"/>
          <p:nvPr/>
        </p:nvSpPr>
        <p:spPr>
          <a:xfrm>
            <a:off x="7117049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05" name="Shape 98"/>
          <p:cNvSpPr/>
          <p:nvPr/>
        </p:nvSpPr>
        <p:spPr>
          <a:xfrm>
            <a:off x="7156551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9"/>
          <p:cNvSpPr txBox="1"/>
          <p:nvPr/>
        </p:nvSpPr>
        <p:spPr>
          <a:xfrm>
            <a:off x="712509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07" name="Text 100"/>
          <p:cNvSpPr txBox="1"/>
          <p:nvPr/>
        </p:nvSpPr>
        <p:spPr>
          <a:xfrm>
            <a:off x="7172553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108" name="Shape 101"/>
          <p:cNvSpPr/>
          <p:nvPr/>
        </p:nvSpPr>
        <p:spPr>
          <a:xfrm>
            <a:off x="721196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2"/>
          <p:cNvSpPr txBox="1"/>
          <p:nvPr/>
        </p:nvSpPr>
        <p:spPr>
          <a:xfrm>
            <a:off x="718050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10" name="Text 103"/>
          <p:cNvSpPr txBox="1"/>
          <p:nvPr/>
        </p:nvSpPr>
        <p:spPr>
          <a:xfrm>
            <a:off x="72279662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Chain execution with robust error handling</a:t>
            </a:r>
            <a:endParaRPr lang="en-US" sz="1000" dirty="0"/>
          </a:p>
        </p:txBody>
      </p:sp>
      <p:sp>
        <p:nvSpPr>
          <p:cNvPr id="111" name="Shape 104"/>
          <p:cNvSpPr/>
          <p:nvPr/>
        </p:nvSpPr>
        <p:spPr>
          <a:xfrm>
            <a:off x="7611557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05"/>
          <p:cNvSpPr txBox="1"/>
          <p:nvPr/>
        </p:nvSpPr>
        <p:spPr>
          <a:xfrm>
            <a:off x="7580101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13" name="Text 106"/>
          <p:cNvSpPr txBox="1"/>
          <p:nvPr/>
        </p:nvSpPr>
        <p:spPr>
          <a:xfrm>
            <a:off x="76275590" y="1809598"/>
            <a:ext cx="38624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chain = LLMChain(llm=gpt4_model, prompt=prompt)</a:t>
            </a:r>
            <a:endParaRPr lang="en-US" sz="1000" dirty="0"/>
          </a:p>
        </p:txBody>
      </p:sp>
      <p:sp>
        <p:nvSpPr>
          <p:cNvPr id="114" name="Shape 107"/>
          <p:cNvSpPr/>
          <p:nvPr/>
        </p:nvSpPr>
        <p:spPr>
          <a:xfrm>
            <a:off x="8035107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8"/>
          <p:cNvSpPr txBox="1"/>
          <p:nvPr/>
        </p:nvSpPr>
        <p:spPr>
          <a:xfrm>
            <a:off x="8003651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16" name="Text 109"/>
          <p:cNvSpPr txBox="1"/>
          <p:nvPr/>
        </p:nvSpPr>
        <p:spPr>
          <a:xfrm>
            <a:off x="80511091" y="1809598"/>
            <a:ext cx="18626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 = chain.run({</a:t>
            </a:r>
            <a:endParaRPr lang="en-US" sz="1000" dirty="0"/>
          </a:p>
        </p:txBody>
      </p:sp>
      <p:sp>
        <p:nvSpPr>
          <p:cNvPr id="117" name="Shape 110"/>
          <p:cNvSpPr/>
          <p:nvPr/>
        </p:nvSpPr>
        <p:spPr>
          <a:xfrm>
            <a:off x="8258586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1"/>
          <p:cNvSpPr txBox="1"/>
          <p:nvPr/>
        </p:nvSpPr>
        <p:spPr>
          <a:xfrm>
            <a:off x="8227131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19" name="Text 112"/>
          <p:cNvSpPr txBox="1"/>
          <p:nvPr/>
        </p:nvSpPr>
        <p:spPr>
          <a:xfrm>
            <a:off x="82745885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"attributes"</a:t>
            </a:r>
            <a:endParaRPr lang="en-US" sz="1000" dirty="0"/>
          </a:p>
        </p:txBody>
      </p:sp>
      <p:sp>
        <p:nvSpPr>
          <p:cNvPr id="120" name="Text 113"/>
          <p:cNvSpPr txBox="1"/>
          <p:nvPr/>
        </p:nvSpPr>
        <p:spPr>
          <a:xfrm>
            <a:off x="83706919" y="1809598"/>
            <a:ext cx="1148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attributes,</a:t>
            </a:r>
            <a:endParaRPr lang="en-US" sz="1000" dirty="0"/>
          </a:p>
        </p:txBody>
      </p:sp>
      <p:sp>
        <p:nvSpPr>
          <p:cNvPr id="121" name="Shape 114"/>
          <p:cNvSpPr/>
          <p:nvPr/>
        </p:nvSpPr>
        <p:spPr>
          <a:xfrm>
            <a:off x="8506114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5"/>
          <p:cNvSpPr txBox="1"/>
          <p:nvPr/>
        </p:nvSpPr>
        <p:spPr>
          <a:xfrm>
            <a:off x="8474659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28</a:t>
            </a:r>
            <a:endParaRPr lang="en-US" sz="1000" dirty="0"/>
          </a:p>
        </p:txBody>
      </p:sp>
      <p:sp>
        <p:nvSpPr>
          <p:cNvPr id="123" name="Text 116"/>
          <p:cNvSpPr txBox="1"/>
          <p:nvPr/>
        </p:nvSpPr>
        <p:spPr>
          <a:xfrm>
            <a:off x="85221166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"types_info"</a:t>
            </a:r>
            <a:endParaRPr lang="en-US" sz="1000" dirty="0"/>
          </a:p>
        </p:txBody>
      </p:sp>
      <p:sp>
        <p:nvSpPr>
          <p:cNvPr id="124" name="Text 117"/>
          <p:cNvSpPr txBox="1"/>
          <p:nvPr/>
        </p:nvSpPr>
        <p:spPr>
          <a:xfrm>
            <a:off x="8618220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types,</a:t>
            </a:r>
            <a:endParaRPr lang="en-US" sz="1000" dirty="0"/>
          </a:p>
        </p:txBody>
      </p:sp>
      <p:sp>
        <p:nvSpPr>
          <p:cNvPr id="125" name="Shape 118"/>
          <p:cNvSpPr/>
          <p:nvPr/>
        </p:nvSpPr>
        <p:spPr>
          <a:xfrm>
            <a:off x="8713683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19"/>
          <p:cNvSpPr txBox="1"/>
          <p:nvPr/>
        </p:nvSpPr>
        <p:spPr>
          <a:xfrm>
            <a:off x="8682228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29</a:t>
            </a:r>
            <a:endParaRPr lang="en-US" sz="1000" dirty="0"/>
          </a:p>
        </p:txBody>
      </p:sp>
      <p:sp>
        <p:nvSpPr>
          <p:cNvPr id="127" name="Text 120"/>
          <p:cNvSpPr txBox="1"/>
          <p:nvPr/>
        </p:nvSpPr>
        <p:spPr>
          <a:xfrm>
            <a:off x="87296854" y="18095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"head_info"</a:t>
            </a:r>
            <a:endParaRPr lang="en-US" sz="1000" dirty="0"/>
          </a:p>
        </p:txBody>
      </p:sp>
      <p:sp>
        <p:nvSpPr>
          <p:cNvPr id="128" name="Text 121"/>
          <p:cNvSpPr txBox="1"/>
          <p:nvPr/>
        </p:nvSpPr>
        <p:spPr>
          <a:xfrm>
            <a:off x="88176506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head</a:t>
            </a:r>
            <a:endParaRPr lang="en-US" sz="1000" dirty="0"/>
          </a:p>
        </p:txBody>
      </p:sp>
      <p:sp>
        <p:nvSpPr>
          <p:cNvPr id="129" name="Shape 122"/>
          <p:cNvSpPr/>
          <p:nvPr/>
        </p:nvSpPr>
        <p:spPr>
          <a:xfrm>
            <a:off x="8897203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23"/>
          <p:cNvSpPr txBox="1"/>
          <p:nvPr/>
        </p:nvSpPr>
        <p:spPr>
          <a:xfrm>
            <a:off x="8865748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30</a:t>
            </a:r>
            <a:endParaRPr lang="en-US" sz="1000" dirty="0"/>
          </a:p>
        </p:txBody>
      </p:sp>
      <p:sp>
        <p:nvSpPr>
          <p:cNvPr id="131" name="Text 124"/>
          <p:cNvSpPr txBox="1"/>
          <p:nvPr/>
        </p:nvSpPr>
        <p:spPr>
          <a:xfrm>
            <a:off x="8913114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})</a:t>
            </a:r>
            <a:endParaRPr lang="en-US" sz="1000" dirty="0"/>
          </a:p>
        </p:txBody>
      </p:sp>
      <p:sp>
        <p:nvSpPr>
          <p:cNvPr id="132" name="Shape 125"/>
          <p:cNvSpPr/>
          <p:nvPr/>
        </p:nvSpPr>
        <p:spPr>
          <a:xfrm>
            <a:off x="8960662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26"/>
          <p:cNvSpPr txBox="1"/>
          <p:nvPr/>
        </p:nvSpPr>
        <p:spPr>
          <a:xfrm>
            <a:off x="892920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31</a:t>
            </a:r>
            <a:endParaRPr lang="en-US" sz="1000" dirty="0"/>
          </a:p>
        </p:txBody>
      </p:sp>
      <p:sp>
        <p:nvSpPr>
          <p:cNvPr id="134" name="Text 127"/>
          <p:cNvSpPr txBox="1"/>
          <p:nvPr/>
        </p:nvSpPr>
        <p:spPr>
          <a:xfrm>
            <a:off x="89765734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35" name="Text 128"/>
          <p:cNvSpPr txBox="1"/>
          <p:nvPr/>
        </p:nvSpPr>
        <p:spPr>
          <a:xfrm>
            <a:off x="90246708" y="1809598"/>
            <a:ext cx="22622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parse_json_output(response)</a:t>
            </a:r>
            <a:endParaRPr lang="en-US" sz="1000" dirty="0"/>
          </a:p>
        </p:txBody>
      </p:sp>
      <p:sp>
        <p:nvSpPr>
          <p:cNvPr id="136" name="Shape 129"/>
          <p:cNvSpPr/>
          <p:nvPr/>
        </p:nvSpPr>
        <p:spPr>
          <a:xfrm>
            <a:off x="0" y="6569964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0"/>
          <p:cNvSpPr/>
          <p:nvPr/>
        </p:nvSpPr>
        <p:spPr>
          <a:xfrm>
            <a:off x="0" y="6569964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Text 131"/>
          <p:cNvSpPr txBox="1"/>
          <p:nvPr/>
        </p:nvSpPr>
        <p:spPr>
          <a:xfrm>
            <a:off x="457200" y="6727241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139" name="Text 132"/>
          <p:cNvSpPr txBox="1"/>
          <p:nvPr/>
        </p:nvSpPr>
        <p:spPr>
          <a:xfrm>
            <a:off x="11318443" y="6727241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</a:t>
            </a:r>
            <a:endParaRPr lang="en-US" sz="900" dirty="0"/>
          </a:p>
        </p:txBody>
      </p:sp>
      <p:sp>
        <p:nvSpPr>
          <p:cNvPr id="140" name="Shape 133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44" name="Text 136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45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46" name="Text 13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B12495BF-3C50-F1D6-78D5-7D3D96CE99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730" y="1061610"/>
            <a:ext cx="6120192" cy="5538548"/>
          </a:xfrm>
          <a:prstGeom prst="rect">
            <a:avLst/>
          </a:prstGeom>
        </p:spPr>
      </p:pic>
      <p:sp>
        <p:nvSpPr>
          <p:cNvPr id="149" name="Text 53">
            <a:extLst>
              <a:ext uri="{FF2B5EF4-FFF2-40B4-BE49-F238E27FC236}">
                <a16:creationId xmlns:a16="http://schemas.microsoft.com/office/drawing/2014/main" id="{F655C1A5-8920-4425-B1FB-C6EFC1B36E16}"/>
              </a:ext>
            </a:extLst>
          </p:cNvPr>
          <p:cNvSpPr txBox="1"/>
          <p:nvPr/>
        </p:nvSpPr>
        <p:spPr>
          <a:xfrm>
            <a:off x="647395" y="287121"/>
            <a:ext cx="4410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Decision Making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A6CE8-59FF-4590-9A4F-D521E6BE4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805438-A25F-E0DE-91EE-4CAF9546F822}"/>
              </a:ext>
            </a:extLst>
          </p:cNvPr>
          <p:cNvSpPr/>
          <p:nvPr/>
        </p:nvSpPr>
        <p:spPr>
          <a:xfrm>
            <a:off x="0" y="0"/>
            <a:ext cx="12191695" cy="702990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1B523F6-61E1-9547-7409-4807F8426217}"/>
              </a:ext>
            </a:extLst>
          </p:cNvPr>
          <p:cNvSpPr/>
          <p:nvPr/>
        </p:nvSpPr>
        <p:spPr>
          <a:xfrm>
            <a:off x="0" y="0"/>
            <a:ext cx="12191695" cy="7029907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B278B0-9BD9-B9E1-DA87-CB3A7F00248E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74F35D0-051C-E8CF-BDB7-3372F45C83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523" y="286207"/>
            <a:ext cx="237744" cy="19019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5CC7939E-58C1-2D12-A3BA-3DA1F259A66F}"/>
              </a:ext>
            </a:extLst>
          </p:cNvPr>
          <p:cNvSpPr txBox="1"/>
          <p:nvPr/>
        </p:nvSpPr>
        <p:spPr>
          <a:xfrm>
            <a:off x="990295" y="237744"/>
            <a:ext cx="3715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Decision-Making Process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1BA2995-EE38-CCF1-E546-6BA3D8B4B098}"/>
              </a:ext>
            </a:extLst>
          </p:cNvPr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715EF0D-ABF2-DC20-EDAF-780113FE0D60}"/>
              </a:ext>
            </a:extLst>
          </p:cNvPr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AF1C7348-1F26-EB76-3BF6-12B1EB3DD301}"/>
              </a:ext>
            </a:extLst>
          </p:cNvPr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E160EE76-808A-965C-A8B9-40BD9061A29F}"/>
              </a:ext>
            </a:extLst>
          </p:cNvPr>
          <p:cNvSpPr/>
          <p:nvPr/>
        </p:nvSpPr>
        <p:spPr>
          <a:xfrm>
            <a:off x="102248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5D212403-A4CC-F720-A152-70AE3146FAC3}"/>
              </a:ext>
            </a:extLst>
          </p:cNvPr>
          <p:cNvSpPr txBox="1"/>
          <p:nvPr/>
        </p:nvSpPr>
        <p:spPr>
          <a:xfrm>
            <a:off x="13106095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"""</a:t>
            </a:r>
            <a:endParaRPr lang="en-US" sz="1000" dirty="0"/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3CF256E3-1669-77A2-5FF4-83526FC761E9}"/>
              </a:ext>
            </a:extLst>
          </p:cNvPr>
          <p:cNvSpPr/>
          <p:nvPr/>
        </p:nvSpPr>
        <p:spPr>
          <a:xfrm>
            <a:off x="1366022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0BF66F2E-4410-7C77-9ACB-3219C0D677F5}"/>
              </a:ext>
            </a:extLst>
          </p:cNvPr>
          <p:cNvSpPr txBox="1"/>
          <p:nvPr/>
        </p:nvSpPr>
        <p:spPr>
          <a:xfrm>
            <a:off x="133456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767A8998-8271-A2EC-A6E2-4DA127D59F48}"/>
              </a:ext>
            </a:extLst>
          </p:cNvPr>
          <p:cNvSpPr/>
          <p:nvPr/>
        </p:nvSpPr>
        <p:spPr>
          <a:xfrm>
            <a:off x="1893631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6">
            <a:extLst>
              <a:ext uri="{FF2B5EF4-FFF2-40B4-BE49-F238E27FC236}">
                <a16:creationId xmlns:a16="http://schemas.microsoft.com/office/drawing/2014/main" id="{BD4A1488-7DF1-7694-E665-4DBC91F73251}"/>
              </a:ext>
            </a:extLst>
          </p:cNvPr>
          <p:cNvSpPr txBox="1"/>
          <p:nvPr/>
        </p:nvSpPr>
        <p:spPr>
          <a:xfrm>
            <a:off x="1862175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Shape 38">
            <a:extLst>
              <a:ext uri="{FF2B5EF4-FFF2-40B4-BE49-F238E27FC236}">
                <a16:creationId xmlns:a16="http://schemas.microsoft.com/office/drawing/2014/main" id="{787AFE51-221B-8C3F-306A-2633F60100FE}"/>
              </a:ext>
            </a:extLst>
          </p:cNvPr>
          <p:cNvSpPr/>
          <p:nvPr/>
        </p:nvSpPr>
        <p:spPr>
          <a:xfrm>
            <a:off x="2149114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9">
            <a:extLst>
              <a:ext uri="{FF2B5EF4-FFF2-40B4-BE49-F238E27FC236}">
                <a16:creationId xmlns:a16="http://schemas.microsoft.com/office/drawing/2014/main" id="{69000DA6-3128-4835-563A-99C1089DFB36}"/>
              </a:ext>
            </a:extLst>
          </p:cNvPr>
          <p:cNvSpPr txBox="1"/>
          <p:nvPr/>
        </p:nvSpPr>
        <p:spPr>
          <a:xfrm>
            <a:off x="2117659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47" name="Text 40">
            <a:extLst>
              <a:ext uri="{FF2B5EF4-FFF2-40B4-BE49-F238E27FC236}">
                <a16:creationId xmlns:a16="http://schemas.microsoft.com/office/drawing/2014/main" id="{E295C938-ADBC-64A7-EE8D-0F92301998A7}"/>
              </a:ext>
            </a:extLst>
          </p:cNvPr>
          <p:cNvSpPr txBox="1"/>
          <p:nvPr/>
        </p:nvSpPr>
        <p:spPr>
          <a:xfrm>
            <a:off x="21651163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Types: {types_info}</a:t>
            </a:r>
            <a:endParaRPr lang="en-US" sz="1000" dirty="0"/>
          </a:p>
        </p:txBody>
      </p:sp>
      <p:sp>
        <p:nvSpPr>
          <p:cNvPr id="48" name="Shape 41">
            <a:extLst>
              <a:ext uri="{FF2B5EF4-FFF2-40B4-BE49-F238E27FC236}">
                <a16:creationId xmlns:a16="http://schemas.microsoft.com/office/drawing/2014/main" id="{06847EC0-2CC8-3F16-6BB1-98A903B58E12}"/>
              </a:ext>
            </a:extLst>
          </p:cNvPr>
          <p:cNvSpPr/>
          <p:nvPr/>
        </p:nvSpPr>
        <p:spPr>
          <a:xfrm>
            <a:off x="2364638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>
            <a:extLst>
              <a:ext uri="{FF2B5EF4-FFF2-40B4-BE49-F238E27FC236}">
                <a16:creationId xmlns:a16="http://schemas.microsoft.com/office/drawing/2014/main" id="{0F4DD734-A20B-5422-0719-3A9629DB9A7D}"/>
              </a:ext>
            </a:extLst>
          </p:cNvPr>
          <p:cNvSpPr txBox="1"/>
          <p:nvPr/>
        </p:nvSpPr>
        <p:spPr>
          <a:xfrm>
            <a:off x="2333183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50" name="Text 43">
            <a:extLst>
              <a:ext uri="{FF2B5EF4-FFF2-40B4-BE49-F238E27FC236}">
                <a16:creationId xmlns:a16="http://schemas.microsoft.com/office/drawing/2014/main" id="{167E0B44-8372-922F-922E-5C438633F7C6}"/>
              </a:ext>
            </a:extLst>
          </p:cNvPr>
          <p:cNvSpPr txBox="1"/>
          <p:nvPr/>
        </p:nvSpPr>
        <p:spPr>
          <a:xfrm>
            <a:off x="23806404" y="1809598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Data head: {head_info}</a:t>
            </a:r>
            <a:endParaRPr lang="en-US" sz="1000" dirty="0"/>
          </a:p>
        </p:txBody>
      </p:sp>
      <p:sp>
        <p:nvSpPr>
          <p:cNvPr id="51" name="Shape 44">
            <a:extLst>
              <a:ext uri="{FF2B5EF4-FFF2-40B4-BE49-F238E27FC236}">
                <a16:creationId xmlns:a16="http://schemas.microsoft.com/office/drawing/2014/main" id="{71D27A5C-6004-63EE-2EC8-441FA83280D8}"/>
              </a:ext>
            </a:extLst>
          </p:cNvPr>
          <p:cNvSpPr/>
          <p:nvPr/>
        </p:nvSpPr>
        <p:spPr>
          <a:xfrm>
            <a:off x="2604119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5">
            <a:extLst>
              <a:ext uri="{FF2B5EF4-FFF2-40B4-BE49-F238E27FC236}">
                <a16:creationId xmlns:a16="http://schemas.microsoft.com/office/drawing/2014/main" id="{C09B367F-A45E-7CCD-4FEF-6F4816BB4A7D}"/>
              </a:ext>
            </a:extLst>
          </p:cNvPr>
          <p:cNvSpPr txBox="1"/>
          <p:nvPr/>
        </p:nvSpPr>
        <p:spPr>
          <a:xfrm>
            <a:off x="2572664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0A6D15D8-161D-3E12-0DD2-A5B57927AA01}"/>
              </a:ext>
            </a:extLst>
          </p:cNvPr>
          <p:cNvSpPr/>
          <p:nvPr/>
        </p:nvSpPr>
        <p:spPr>
          <a:xfrm>
            <a:off x="2651577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7">
            <a:extLst>
              <a:ext uri="{FF2B5EF4-FFF2-40B4-BE49-F238E27FC236}">
                <a16:creationId xmlns:a16="http://schemas.microsoft.com/office/drawing/2014/main" id="{6C2A3EB2-2F4C-0705-8052-86353F2D4051}"/>
              </a:ext>
            </a:extLst>
          </p:cNvPr>
          <p:cNvSpPr txBox="1"/>
          <p:nvPr/>
        </p:nvSpPr>
        <p:spPr>
          <a:xfrm>
            <a:off x="2620121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55" name="Text 48">
            <a:extLst>
              <a:ext uri="{FF2B5EF4-FFF2-40B4-BE49-F238E27FC236}">
                <a16:creationId xmlns:a16="http://schemas.microsoft.com/office/drawing/2014/main" id="{752064AF-3CD5-7104-2488-E921B6A093EC}"/>
              </a:ext>
            </a:extLst>
          </p:cNvPr>
          <p:cNvSpPr txBox="1"/>
          <p:nvPr/>
        </p:nvSpPr>
        <p:spPr>
          <a:xfrm>
            <a:off x="26675791" y="1809598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 JSON format only:</a:t>
            </a:r>
            <a:endParaRPr lang="en-US" sz="1000" dirty="0"/>
          </a:p>
        </p:txBody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AA8DC107-E323-A19B-001D-8A0173DAEBEA}"/>
              </a:ext>
            </a:extLst>
          </p:cNvPr>
          <p:cNvSpPr/>
          <p:nvPr/>
        </p:nvSpPr>
        <p:spPr>
          <a:xfrm>
            <a:off x="2891149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0">
            <a:extLst>
              <a:ext uri="{FF2B5EF4-FFF2-40B4-BE49-F238E27FC236}">
                <a16:creationId xmlns:a16="http://schemas.microsoft.com/office/drawing/2014/main" id="{B0555C69-8D4C-AFF8-709D-385AAE98A6D4}"/>
              </a:ext>
            </a:extLst>
          </p:cNvPr>
          <p:cNvSpPr txBox="1"/>
          <p:nvPr/>
        </p:nvSpPr>
        <p:spPr>
          <a:xfrm>
            <a:off x="2859694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58" name="Text 51">
            <a:extLst>
              <a:ext uri="{FF2B5EF4-FFF2-40B4-BE49-F238E27FC236}">
                <a16:creationId xmlns:a16="http://schemas.microsoft.com/office/drawing/2014/main" id="{CB864535-EDD6-59D0-14DA-21811040656D}"/>
              </a:ext>
            </a:extLst>
          </p:cNvPr>
          <p:cNvSpPr txBox="1"/>
          <p:nvPr/>
        </p:nvSpPr>
        <p:spPr>
          <a:xfrm>
            <a:off x="2907060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000" dirty="0"/>
          </a:p>
        </p:txBody>
      </p:sp>
      <p:sp>
        <p:nvSpPr>
          <p:cNvPr id="59" name="Shape 52">
            <a:extLst>
              <a:ext uri="{FF2B5EF4-FFF2-40B4-BE49-F238E27FC236}">
                <a16:creationId xmlns:a16="http://schemas.microsoft.com/office/drawing/2014/main" id="{072FAE5F-07CE-FFEE-3527-ACDB329BDC86}"/>
              </a:ext>
            </a:extLst>
          </p:cNvPr>
          <p:cNvSpPr/>
          <p:nvPr/>
        </p:nvSpPr>
        <p:spPr>
          <a:xfrm>
            <a:off x="294656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3">
            <a:extLst>
              <a:ext uri="{FF2B5EF4-FFF2-40B4-BE49-F238E27FC236}">
                <a16:creationId xmlns:a16="http://schemas.microsoft.com/office/drawing/2014/main" id="{177912E7-9538-E81B-94DB-7E74AE1301D6}"/>
              </a:ext>
            </a:extLst>
          </p:cNvPr>
          <p:cNvSpPr txBox="1"/>
          <p:nvPr/>
        </p:nvSpPr>
        <p:spPr>
          <a:xfrm>
            <a:off x="2915107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Text 54">
            <a:extLst>
              <a:ext uri="{FF2B5EF4-FFF2-40B4-BE49-F238E27FC236}">
                <a16:creationId xmlns:a16="http://schemas.microsoft.com/office/drawing/2014/main" id="{B930E2DA-DE8B-2AF3-7773-6D670CA03AB4}"/>
              </a:ext>
            </a:extLst>
          </p:cNvPr>
          <p:cNvSpPr txBox="1"/>
          <p:nvPr/>
        </p:nvSpPr>
        <p:spPr>
          <a:xfrm>
            <a:off x="29625646" y="1809598"/>
            <a:ext cx="28245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"decision": {"target": "species"},</a:t>
            </a:r>
            <a:endParaRPr lang="en-US" sz="1000" dirty="0"/>
          </a:p>
        </p:txBody>
      </p:sp>
      <p:sp>
        <p:nvSpPr>
          <p:cNvPr id="62" name="Shape 55">
            <a:extLst>
              <a:ext uri="{FF2B5EF4-FFF2-40B4-BE49-F238E27FC236}">
                <a16:creationId xmlns:a16="http://schemas.microsoft.com/office/drawing/2014/main" id="{A28C3E18-43B9-788D-437E-2C0B90A7E04B}"/>
              </a:ext>
            </a:extLst>
          </p:cNvPr>
          <p:cNvSpPr/>
          <p:nvPr/>
        </p:nvSpPr>
        <p:spPr>
          <a:xfrm>
            <a:off x="326614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6">
            <a:extLst>
              <a:ext uri="{FF2B5EF4-FFF2-40B4-BE49-F238E27FC236}">
                <a16:creationId xmlns:a16="http://schemas.microsoft.com/office/drawing/2014/main" id="{98A14AB2-762C-C577-F4CF-54F0D98839AC}"/>
              </a:ext>
            </a:extLst>
          </p:cNvPr>
          <p:cNvSpPr txBox="1"/>
          <p:nvPr/>
        </p:nvSpPr>
        <p:spPr>
          <a:xfrm>
            <a:off x="3234690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64" name="Text 57">
            <a:extLst>
              <a:ext uri="{FF2B5EF4-FFF2-40B4-BE49-F238E27FC236}">
                <a16:creationId xmlns:a16="http://schemas.microsoft.com/office/drawing/2014/main" id="{49A90886-7AF4-0A4A-976E-1520F14167F3}"/>
              </a:ext>
            </a:extLst>
          </p:cNvPr>
          <p:cNvSpPr txBox="1"/>
          <p:nvPr/>
        </p:nvSpPr>
        <p:spPr>
          <a:xfrm>
            <a:off x="32820559" y="1809598"/>
            <a:ext cx="47484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"reasoning": "The 'species' column is identified as target</a:t>
            </a:r>
            <a:endParaRPr lang="en-US" sz="1000" dirty="0"/>
          </a:p>
        </p:txBody>
      </p:sp>
      <p:sp>
        <p:nvSpPr>
          <p:cNvPr id="65" name="Shape 58">
            <a:extLst>
              <a:ext uri="{FF2B5EF4-FFF2-40B4-BE49-F238E27FC236}">
                <a16:creationId xmlns:a16="http://schemas.microsoft.com/office/drawing/2014/main" id="{51C17018-0BE4-1AD0-73D0-AA44126DE625}"/>
              </a:ext>
            </a:extLst>
          </p:cNvPr>
          <p:cNvSpPr/>
          <p:nvPr/>
        </p:nvSpPr>
        <p:spPr>
          <a:xfrm>
            <a:off x="37776607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59">
            <a:extLst>
              <a:ext uri="{FF2B5EF4-FFF2-40B4-BE49-F238E27FC236}">
                <a16:creationId xmlns:a16="http://schemas.microsoft.com/office/drawing/2014/main" id="{A245F3D2-5F70-9B12-AD9C-066FA05B0C50}"/>
              </a:ext>
            </a:extLst>
          </p:cNvPr>
          <p:cNvSpPr txBox="1"/>
          <p:nvPr/>
        </p:nvSpPr>
        <p:spPr>
          <a:xfrm>
            <a:off x="3746205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67" name="Text 60">
            <a:extLst>
              <a:ext uri="{FF2B5EF4-FFF2-40B4-BE49-F238E27FC236}">
                <a16:creationId xmlns:a16="http://schemas.microsoft.com/office/drawing/2014/main" id="{6F823B3C-AE25-9560-6FA3-CADE9DDFEA74}"/>
              </a:ext>
            </a:extLst>
          </p:cNvPr>
          <p:cNvSpPr txBox="1"/>
          <p:nvPr/>
        </p:nvSpPr>
        <p:spPr>
          <a:xfrm>
            <a:off x="37936627" y="1809598"/>
            <a:ext cx="38624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because: (1) Categorical with few unique values</a:t>
            </a:r>
            <a:endParaRPr lang="en-US" sz="1000" dirty="0"/>
          </a:p>
        </p:txBody>
      </p:sp>
      <p:sp>
        <p:nvSpPr>
          <p:cNvPr id="68" name="Shape 61">
            <a:extLst>
              <a:ext uri="{FF2B5EF4-FFF2-40B4-BE49-F238E27FC236}">
                <a16:creationId xmlns:a16="http://schemas.microsoft.com/office/drawing/2014/main" id="{925964A8-2A75-B345-BDA8-6A97F7B1A196}"/>
              </a:ext>
            </a:extLst>
          </p:cNvPr>
          <p:cNvSpPr/>
          <p:nvPr/>
        </p:nvSpPr>
        <p:spPr>
          <a:xfrm>
            <a:off x="4201210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2">
            <a:extLst>
              <a:ext uri="{FF2B5EF4-FFF2-40B4-BE49-F238E27FC236}">
                <a16:creationId xmlns:a16="http://schemas.microsoft.com/office/drawing/2014/main" id="{6E400819-6A99-90EF-D9C6-DCFD84D32395}"/>
              </a:ext>
            </a:extLst>
          </p:cNvPr>
          <p:cNvSpPr txBox="1"/>
          <p:nvPr/>
        </p:nvSpPr>
        <p:spPr>
          <a:xfrm>
            <a:off x="4169755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70" name="Text 63">
            <a:extLst>
              <a:ext uri="{FF2B5EF4-FFF2-40B4-BE49-F238E27FC236}">
                <a16:creationId xmlns:a16="http://schemas.microsoft.com/office/drawing/2014/main" id="{169DFFAC-B7A9-9A9F-91A6-87E39DAB40FF}"/>
              </a:ext>
            </a:extLst>
          </p:cNvPr>
          <p:cNvSpPr txBox="1"/>
          <p:nvPr/>
        </p:nvSpPr>
        <p:spPr>
          <a:xfrm>
            <a:off x="42172128" y="1809598"/>
            <a:ext cx="44247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(setosa, versicolor, virginica), (2) All other columns</a:t>
            </a:r>
            <a:endParaRPr lang="en-US" sz="1000" dirty="0"/>
          </a:p>
        </p:txBody>
      </p:sp>
      <p:sp>
        <p:nvSpPr>
          <p:cNvPr id="71" name="Shape 64">
            <a:extLst>
              <a:ext uri="{FF2B5EF4-FFF2-40B4-BE49-F238E27FC236}">
                <a16:creationId xmlns:a16="http://schemas.microsoft.com/office/drawing/2014/main" id="{A9CF5C39-5596-CDDB-301E-D13ED683BC12}"/>
              </a:ext>
            </a:extLst>
          </p:cNvPr>
          <p:cNvSpPr/>
          <p:nvPr/>
        </p:nvSpPr>
        <p:spPr>
          <a:xfrm>
            <a:off x="4680813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5">
            <a:extLst>
              <a:ext uri="{FF2B5EF4-FFF2-40B4-BE49-F238E27FC236}">
                <a16:creationId xmlns:a16="http://schemas.microsoft.com/office/drawing/2014/main" id="{41E0BCC4-5412-D6A9-FA81-34580D1E0F71}"/>
              </a:ext>
            </a:extLst>
          </p:cNvPr>
          <p:cNvSpPr txBox="1"/>
          <p:nvPr/>
        </p:nvSpPr>
        <p:spPr>
          <a:xfrm>
            <a:off x="4649358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73" name="Text 66">
            <a:extLst>
              <a:ext uri="{FF2B5EF4-FFF2-40B4-BE49-F238E27FC236}">
                <a16:creationId xmlns:a16="http://schemas.microsoft.com/office/drawing/2014/main" id="{9980BBE5-F5C9-5C07-21E2-FD4580DC66C1}"/>
              </a:ext>
            </a:extLst>
          </p:cNvPr>
          <p:cNvSpPr txBox="1"/>
          <p:nvPr/>
        </p:nvSpPr>
        <p:spPr>
          <a:xfrm>
            <a:off x="46968156" y="1809598"/>
            <a:ext cx="45866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are continuous measurements (features), (3) Semantically</a:t>
            </a:r>
            <a:endParaRPr lang="en-US" sz="1000" dirty="0"/>
          </a:p>
        </p:txBody>
      </p:sp>
      <p:sp>
        <p:nvSpPr>
          <p:cNvPr id="74" name="Shape 67">
            <a:extLst>
              <a:ext uri="{FF2B5EF4-FFF2-40B4-BE49-F238E27FC236}">
                <a16:creationId xmlns:a16="http://schemas.microsoft.com/office/drawing/2014/main" id="{02CFD735-68ED-8C8B-750F-6B495B4F8881}"/>
              </a:ext>
            </a:extLst>
          </p:cNvPr>
          <p:cNvSpPr/>
          <p:nvPr/>
        </p:nvSpPr>
        <p:spPr>
          <a:xfrm>
            <a:off x="5176418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8">
            <a:extLst>
              <a:ext uri="{FF2B5EF4-FFF2-40B4-BE49-F238E27FC236}">
                <a16:creationId xmlns:a16="http://schemas.microsoft.com/office/drawing/2014/main" id="{DD8199D7-D737-81F4-EE0C-215AE7BE3E55}"/>
              </a:ext>
            </a:extLst>
          </p:cNvPr>
          <p:cNvSpPr txBox="1"/>
          <p:nvPr/>
        </p:nvSpPr>
        <p:spPr>
          <a:xfrm>
            <a:off x="5144963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76" name="Text 69">
            <a:extLst>
              <a:ext uri="{FF2B5EF4-FFF2-40B4-BE49-F238E27FC236}">
                <a16:creationId xmlns:a16="http://schemas.microsoft.com/office/drawing/2014/main" id="{89402E33-3730-9333-339B-50C264187778}"/>
              </a:ext>
            </a:extLst>
          </p:cNvPr>
          <p:cNvSpPr txBox="1"/>
          <p:nvPr/>
        </p:nvSpPr>
        <p:spPr>
          <a:xfrm>
            <a:off x="51924204" y="1809598"/>
            <a:ext cx="27486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represents prediction outcome..."</a:t>
            </a:r>
            <a:endParaRPr lang="en-US" sz="1000" dirty="0"/>
          </a:p>
        </p:txBody>
      </p:sp>
      <p:sp>
        <p:nvSpPr>
          <p:cNvPr id="77" name="Shape 70">
            <a:extLst>
              <a:ext uri="{FF2B5EF4-FFF2-40B4-BE49-F238E27FC236}">
                <a16:creationId xmlns:a16="http://schemas.microsoft.com/office/drawing/2014/main" id="{438AA4DA-1C06-F8EC-0A3D-01A2E42F729B}"/>
              </a:ext>
            </a:extLst>
          </p:cNvPr>
          <p:cNvSpPr/>
          <p:nvPr/>
        </p:nvSpPr>
        <p:spPr>
          <a:xfrm>
            <a:off x="5487954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1">
            <a:extLst>
              <a:ext uri="{FF2B5EF4-FFF2-40B4-BE49-F238E27FC236}">
                <a16:creationId xmlns:a16="http://schemas.microsoft.com/office/drawing/2014/main" id="{4AFDA030-556D-3FBB-2FD0-0FD72B740B09}"/>
              </a:ext>
            </a:extLst>
          </p:cNvPr>
          <p:cNvSpPr txBox="1"/>
          <p:nvPr/>
        </p:nvSpPr>
        <p:spPr>
          <a:xfrm>
            <a:off x="5456499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79" name="Text 72">
            <a:extLst>
              <a:ext uri="{FF2B5EF4-FFF2-40B4-BE49-F238E27FC236}">
                <a16:creationId xmlns:a16="http://schemas.microsoft.com/office/drawing/2014/main" id="{70B11ED2-B22D-F01C-836F-B7BCCA485FAF}"/>
              </a:ext>
            </a:extLst>
          </p:cNvPr>
          <p:cNvSpPr txBox="1"/>
          <p:nvPr/>
        </p:nvSpPr>
        <p:spPr>
          <a:xfrm>
            <a:off x="5503956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00" dirty="0"/>
          </a:p>
        </p:txBody>
      </p:sp>
      <p:sp>
        <p:nvSpPr>
          <p:cNvPr id="80" name="Shape 73">
            <a:extLst>
              <a:ext uri="{FF2B5EF4-FFF2-40B4-BE49-F238E27FC236}">
                <a16:creationId xmlns:a16="http://schemas.microsoft.com/office/drawing/2014/main" id="{B6F75B44-E34A-0FA3-7C64-56C388CFC3DC}"/>
              </a:ext>
            </a:extLst>
          </p:cNvPr>
          <p:cNvSpPr/>
          <p:nvPr/>
        </p:nvSpPr>
        <p:spPr>
          <a:xfrm>
            <a:off x="5543367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4">
            <a:extLst>
              <a:ext uri="{FF2B5EF4-FFF2-40B4-BE49-F238E27FC236}">
                <a16:creationId xmlns:a16="http://schemas.microsoft.com/office/drawing/2014/main" id="{34C2E00A-B5AC-86AC-666A-75722BDCF2B8}"/>
              </a:ext>
            </a:extLst>
          </p:cNvPr>
          <p:cNvSpPr txBox="1"/>
          <p:nvPr/>
        </p:nvSpPr>
        <p:spPr>
          <a:xfrm>
            <a:off x="5511911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82" name="Text 75">
            <a:extLst>
              <a:ext uri="{FF2B5EF4-FFF2-40B4-BE49-F238E27FC236}">
                <a16:creationId xmlns:a16="http://schemas.microsoft.com/office/drawing/2014/main" id="{335ABC5D-0A43-3224-85AF-3B411BF8509B}"/>
              </a:ext>
            </a:extLst>
          </p:cNvPr>
          <p:cNvSpPr txBox="1"/>
          <p:nvPr/>
        </p:nvSpPr>
        <p:spPr>
          <a:xfrm>
            <a:off x="55593691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"""</a:t>
            </a:r>
            <a:endParaRPr lang="en-US" sz="1000" dirty="0"/>
          </a:p>
        </p:txBody>
      </p:sp>
      <p:sp>
        <p:nvSpPr>
          <p:cNvPr id="83" name="Shape 76">
            <a:extLst>
              <a:ext uri="{FF2B5EF4-FFF2-40B4-BE49-F238E27FC236}">
                <a16:creationId xmlns:a16="http://schemas.microsoft.com/office/drawing/2014/main" id="{9E01B5D7-9173-2FC9-EABC-61E07A1B8158}"/>
              </a:ext>
            </a:extLst>
          </p:cNvPr>
          <p:cNvSpPr/>
          <p:nvPr/>
        </p:nvSpPr>
        <p:spPr>
          <a:xfrm>
            <a:off x="5614873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7">
            <a:extLst>
              <a:ext uri="{FF2B5EF4-FFF2-40B4-BE49-F238E27FC236}">
                <a16:creationId xmlns:a16="http://schemas.microsoft.com/office/drawing/2014/main" id="{56611BA1-74A3-E2B8-9E8E-0D00E53129CA}"/>
              </a:ext>
            </a:extLst>
          </p:cNvPr>
          <p:cNvSpPr txBox="1"/>
          <p:nvPr/>
        </p:nvSpPr>
        <p:spPr>
          <a:xfrm>
            <a:off x="558341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85" name="Shape 78">
            <a:extLst>
              <a:ext uri="{FF2B5EF4-FFF2-40B4-BE49-F238E27FC236}">
                <a16:creationId xmlns:a16="http://schemas.microsoft.com/office/drawing/2014/main" id="{AA646D54-E691-3BB8-F2B9-24A744C715C0}"/>
              </a:ext>
            </a:extLst>
          </p:cNvPr>
          <p:cNvSpPr/>
          <p:nvPr/>
        </p:nvSpPr>
        <p:spPr>
          <a:xfrm>
            <a:off x="5662330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>
            <a:extLst>
              <a:ext uri="{FF2B5EF4-FFF2-40B4-BE49-F238E27FC236}">
                <a16:creationId xmlns:a16="http://schemas.microsoft.com/office/drawing/2014/main" id="{15997055-0F3F-C8CB-76A2-4B90CEDA953B}"/>
              </a:ext>
            </a:extLst>
          </p:cNvPr>
          <p:cNvSpPr txBox="1"/>
          <p:nvPr/>
        </p:nvSpPr>
        <p:spPr>
          <a:xfrm>
            <a:off x="5630875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87" name="Text 80">
            <a:extLst>
              <a:ext uri="{FF2B5EF4-FFF2-40B4-BE49-F238E27FC236}">
                <a16:creationId xmlns:a16="http://schemas.microsoft.com/office/drawing/2014/main" id="{99D80BD5-4619-F26F-2564-38A34DB2D859}"/>
              </a:ext>
            </a:extLst>
          </p:cNvPr>
          <p:cNvSpPr txBox="1"/>
          <p:nvPr/>
        </p:nvSpPr>
        <p:spPr>
          <a:xfrm>
            <a:off x="5678332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endParaRPr lang="en-US" sz="1000" dirty="0"/>
          </a:p>
        </p:txBody>
      </p:sp>
      <p:sp>
        <p:nvSpPr>
          <p:cNvPr id="88" name="Text 81">
            <a:extLst>
              <a:ext uri="{FF2B5EF4-FFF2-40B4-BE49-F238E27FC236}">
                <a16:creationId xmlns:a16="http://schemas.microsoft.com/office/drawing/2014/main" id="{5F5CA6CF-C278-680A-AE38-414CB16A2B16}"/>
              </a:ext>
            </a:extLst>
          </p:cNvPr>
          <p:cNvSpPr txBox="1"/>
          <p:nvPr/>
        </p:nvSpPr>
        <p:spPr>
          <a:xfrm>
            <a:off x="57022898" y="1809598"/>
            <a:ext cx="1148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decide_target</a:t>
            </a:r>
            <a:endParaRPr lang="en-US" sz="1000" dirty="0"/>
          </a:p>
        </p:txBody>
      </p:sp>
      <p:sp>
        <p:nvSpPr>
          <p:cNvPr id="89" name="Text 82">
            <a:extLst>
              <a:ext uri="{FF2B5EF4-FFF2-40B4-BE49-F238E27FC236}">
                <a16:creationId xmlns:a16="http://schemas.microsoft.com/office/drawing/2014/main" id="{11F4E12C-73C3-4615-93AE-A1B7958C1779}"/>
              </a:ext>
            </a:extLst>
          </p:cNvPr>
          <p:cNvSpPr txBox="1"/>
          <p:nvPr/>
        </p:nvSpPr>
        <p:spPr>
          <a:xfrm>
            <a:off x="58063486" y="1809598"/>
            <a:ext cx="21863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(attributes, types, head):</a:t>
            </a:r>
            <a:endParaRPr lang="en-US" sz="1000" dirty="0"/>
          </a:p>
        </p:txBody>
      </p:sp>
      <p:sp>
        <p:nvSpPr>
          <p:cNvPr id="90" name="Shape 83">
            <a:extLst>
              <a:ext uri="{FF2B5EF4-FFF2-40B4-BE49-F238E27FC236}">
                <a16:creationId xmlns:a16="http://schemas.microsoft.com/office/drawing/2014/main" id="{77569048-54F7-BC11-3AE2-2840EBFF344A}"/>
              </a:ext>
            </a:extLst>
          </p:cNvPr>
          <p:cNvSpPr/>
          <p:nvPr/>
        </p:nvSpPr>
        <p:spPr>
          <a:xfrm>
            <a:off x="6045829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4">
            <a:extLst>
              <a:ext uri="{FF2B5EF4-FFF2-40B4-BE49-F238E27FC236}">
                <a16:creationId xmlns:a16="http://schemas.microsoft.com/office/drawing/2014/main" id="{8273ABD2-8477-8962-F366-5B05F1985DC8}"/>
              </a:ext>
            </a:extLst>
          </p:cNvPr>
          <p:cNvSpPr txBox="1"/>
          <p:nvPr/>
        </p:nvSpPr>
        <p:spPr>
          <a:xfrm>
            <a:off x="6014374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92" name="Text 85">
            <a:extLst>
              <a:ext uri="{FF2B5EF4-FFF2-40B4-BE49-F238E27FC236}">
                <a16:creationId xmlns:a16="http://schemas.microsoft.com/office/drawing/2014/main" id="{00E17632-E98A-0ED9-BD0C-BA8122721FF0}"/>
              </a:ext>
            </a:extLst>
          </p:cNvPr>
          <p:cNvSpPr txBox="1"/>
          <p:nvPr/>
        </p:nvSpPr>
        <p:spPr>
          <a:xfrm>
            <a:off x="60618319" y="1809598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prompt = PromptTemplate(</a:t>
            </a:r>
            <a:endParaRPr lang="en-US" sz="1000" dirty="0"/>
          </a:p>
        </p:txBody>
      </p:sp>
      <p:sp>
        <p:nvSpPr>
          <p:cNvPr id="93" name="Shape 86">
            <a:extLst>
              <a:ext uri="{FF2B5EF4-FFF2-40B4-BE49-F238E27FC236}">
                <a16:creationId xmlns:a16="http://schemas.microsoft.com/office/drawing/2014/main" id="{04712142-DA8F-DAE3-10FD-0D7F963A3D19}"/>
              </a:ext>
            </a:extLst>
          </p:cNvPr>
          <p:cNvSpPr/>
          <p:nvPr/>
        </p:nvSpPr>
        <p:spPr>
          <a:xfrm>
            <a:off x="62854027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7">
            <a:extLst>
              <a:ext uri="{FF2B5EF4-FFF2-40B4-BE49-F238E27FC236}">
                <a16:creationId xmlns:a16="http://schemas.microsoft.com/office/drawing/2014/main" id="{38D0C252-AB8C-E79C-5477-25F6DF9CF95B}"/>
              </a:ext>
            </a:extLst>
          </p:cNvPr>
          <p:cNvSpPr txBox="1"/>
          <p:nvPr/>
        </p:nvSpPr>
        <p:spPr>
          <a:xfrm>
            <a:off x="625394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95" name="Text 88">
            <a:extLst>
              <a:ext uri="{FF2B5EF4-FFF2-40B4-BE49-F238E27FC236}">
                <a16:creationId xmlns:a16="http://schemas.microsoft.com/office/drawing/2014/main" id="{5B73900C-EF66-B681-9FF7-287FCC10E3C5}"/>
              </a:ext>
            </a:extLst>
          </p:cNvPr>
          <p:cNvSpPr txBox="1"/>
          <p:nvPr/>
        </p:nvSpPr>
        <p:spPr>
          <a:xfrm>
            <a:off x="63014047" y="1809598"/>
            <a:ext cx="34628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template=decide_target_attribute_template,</a:t>
            </a:r>
            <a:endParaRPr lang="en-US" sz="1000" dirty="0"/>
          </a:p>
        </p:txBody>
      </p:sp>
      <p:sp>
        <p:nvSpPr>
          <p:cNvPr id="96" name="Shape 89">
            <a:extLst>
              <a:ext uri="{FF2B5EF4-FFF2-40B4-BE49-F238E27FC236}">
                <a16:creationId xmlns:a16="http://schemas.microsoft.com/office/drawing/2014/main" id="{4D94B9EF-525F-486D-5F17-3EC770672660}"/>
              </a:ext>
            </a:extLst>
          </p:cNvPr>
          <p:cNvSpPr/>
          <p:nvPr/>
        </p:nvSpPr>
        <p:spPr>
          <a:xfrm>
            <a:off x="666890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0">
            <a:extLst>
              <a:ext uri="{FF2B5EF4-FFF2-40B4-BE49-F238E27FC236}">
                <a16:creationId xmlns:a16="http://schemas.microsoft.com/office/drawing/2014/main" id="{123F04D3-F6B4-930A-B87C-438739FD71B9}"/>
              </a:ext>
            </a:extLst>
          </p:cNvPr>
          <p:cNvSpPr txBox="1"/>
          <p:nvPr/>
        </p:nvSpPr>
        <p:spPr>
          <a:xfrm>
            <a:off x="6637446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98" name="Text 91">
            <a:extLst>
              <a:ext uri="{FF2B5EF4-FFF2-40B4-BE49-F238E27FC236}">
                <a16:creationId xmlns:a16="http://schemas.microsoft.com/office/drawing/2014/main" id="{24D59456-4B54-A7C5-FD0D-2072555DB376}"/>
              </a:ext>
            </a:extLst>
          </p:cNvPr>
          <p:cNvSpPr txBox="1"/>
          <p:nvPr/>
        </p:nvSpPr>
        <p:spPr>
          <a:xfrm>
            <a:off x="66849041" y="1809598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input_variables=[</a:t>
            </a:r>
            <a:endParaRPr lang="en-US" sz="1000" dirty="0"/>
          </a:p>
        </p:txBody>
      </p:sp>
      <p:sp>
        <p:nvSpPr>
          <p:cNvPr id="99" name="Text 92">
            <a:extLst>
              <a:ext uri="{FF2B5EF4-FFF2-40B4-BE49-F238E27FC236}">
                <a16:creationId xmlns:a16="http://schemas.microsoft.com/office/drawing/2014/main" id="{2B04398D-14CC-1714-3762-E96A4B488F11}"/>
              </a:ext>
            </a:extLst>
          </p:cNvPr>
          <p:cNvSpPr txBox="1"/>
          <p:nvPr/>
        </p:nvSpPr>
        <p:spPr>
          <a:xfrm>
            <a:off x="68209668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"attributes"</a:t>
            </a:r>
            <a:endParaRPr lang="en-US" sz="1000" dirty="0"/>
          </a:p>
        </p:txBody>
      </p:sp>
      <p:sp>
        <p:nvSpPr>
          <p:cNvPr id="100" name="Text 93">
            <a:extLst>
              <a:ext uri="{FF2B5EF4-FFF2-40B4-BE49-F238E27FC236}">
                <a16:creationId xmlns:a16="http://schemas.microsoft.com/office/drawing/2014/main" id="{F7C81799-7F67-88A7-DB6C-A9A8E59B78B6}"/>
              </a:ext>
            </a:extLst>
          </p:cNvPr>
          <p:cNvSpPr txBox="1"/>
          <p:nvPr/>
        </p:nvSpPr>
        <p:spPr>
          <a:xfrm>
            <a:off x="6916978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101" name="Text 94">
            <a:extLst>
              <a:ext uri="{FF2B5EF4-FFF2-40B4-BE49-F238E27FC236}">
                <a16:creationId xmlns:a16="http://schemas.microsoft.com/office/drawing/2014/main" id="{96FE02B4-2420-0130-CFA4-0E640AF48202}"/>
              </a:ext>
            </a:extLst>
          </p:cNvPr>
          <p:cNvSpPr txBox="1"/>
          <p:nvPr/>
        </p:nvSpPr>
        <p:spPr>
          <a:xfrm>
            <a:off x="69250255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"types_info"</a:t>
            </a:r>
            <a:endParaRPr lang="en-US" sz="1000" dirty="0"/>
          </a:p>
        </p:txBody>
      </p:sp>
      <p:sp>
        <p:nvSpPr>
          <p:cNvPr id="102" name="Text 95">
            <a:extLst>
              <a:ext uri="{FF2B5EF4-FFF2-40B4-BE49-F238E27FC236}">
                <a16:creationId xmlns:a16="http://schemas.microsoft.com/office/drawing/2014/main" id="{3200C14D-C88F-C7C4-1153-CC3CEE1782FC}"/>
              </a:ext>
            </a:extLst>
          </p:cNvPr>
          <p:cNvSpPr txBox="1"/>
          <p:nvPr/>
        </p:nvSpPr>
        <p:spPr>
          <a:xfrm>
            <a:off x="7021037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103" name="Text 96">
            <a:extLst>
              <a:ext uri="{FF2B5EF4-FFF2-40B4-BE49-F238E27FC236}">
                <a16:creationId xmlns:a16="http://schemas.microsoft.com/office/drawing/2014/main" id="{DDEC34EF-ED9B-F488-7B55-BA6C014CAE8A}"/>
              </a:ext>
            </a:extLst>
          </p:cNvPr>
          <p:cNvSpPr txBox="1"/>
          <p:nvPr/>
        </p:nvSpPr>
        <p:spPr>
          <a:xfrm>
            <a:off x="70290842" y="18095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"head_info"</a:t>
            </a:r>
            <a:endParaRPr lang="en-US" sz="1000" dirty="0"/>
          </a:p>
        </p:txBody>
      </p:sp>
      <p:sp>
        <p:nvSpPr>
          <p:cNvPr id="104" name="Text 97">
            <a:extLst>
              <a:ext uri="{FF2B5EF4-FFF2-40B4-BE49-F238E27FC236}">
                <a16:creationId xmlns:a16="http://schemas.microsoft.com/office/drawing/2014/main" id="{5796AACC-6665-0082-5B4D-15A0BC9B4C30}"/>
              </a:ext>
            </a:extLst>
          </p:cNvPr>
          <p:cNvSpPr txBox="1"/>
          <p:nvPr/>
        </p:nvSpPr>
        <p:spPr>
          <a:xfrm>
            <a:off x="7117049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05" name="Shape 98">
            <a:extLst>
              <a:ext uri="{FF2B5EF4-FFF2-40B4-BE49-F238E27FC236}">
                <a16:creationId xmlns:a16="http://schemas.microsoft.com/office/drawing/2014/main" id="{B07EAFF1-A82B-CE55-8349-97C2565EBE60}"/>
              </a:ext>
            </a:extLst>
          </p:cNvPr>
          <p:cNvSpPr/>
          <p:nvPr/>
        </p:nvSpPr>
        <p:spPr>
          <a:xfrm>
            <a:off x="7156551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9">
            <a:extLst>
              <a:ext uri="{FF2B5EF4-FFF2-40B4-BE49-F238E27FC236}">
                <a16:creationId xmlns:a16="http://schemas.microsoft.com/office/drawing/2014/main" id="{70DD4F54-D539-C916-B419-85783811B2D3}"/>
              </a:ext>
            </a:extLst>
          </p:cNvPr>
          <p:cNvSpPr txBox="1"/>
          <p:nvPr/>
        </p:nvSpPr>
        <p:spPr>
          <a:xfrm>
            <a:off x="712509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07" name="Text 100">
            <a:extLst>
              <a:ext uri="{FF2B5EF4-FFF2-40B4-BE49-F238E27FC236}">
                <a16:creationId xmlns:a16="http://schemas.microsoft.com/office/drawing/2014/main" id="{C47AC188-716A-3B65-02ED-E7BAADA91354}"/>
              </a:ext>
            </a:extLst>
          </p:cNvPr>
          <p:cNvSpPr txBox="1"/>
          <p:nvPr/>
        </p:nvSpPr>
        <p:spPr>
          <a:xfrm>
            <a:off x="7172553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108" name="Shape 101">
            <a:extLst>
              <a:ext uri="{FF2B5EF4-FFF2-40B4-BE49-F238E27FC236}">
                <a16:creationId xmlns:a16="http://schemas.microsoft.com/office/drawing/2014/main" id="{5D3CD4AD-F897-0196-4598-BFF743DE6A9E}"/>
              </a:ext>
            </a:extLst>
          </p:cNvPr>
          <p:cNvSpPr/>
          <p:nvPr/>
        </p:nvSpPr>
        <p:spPr>
          <a:xfrm>
            <a:off x="721196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2">
            <a:extLst>
              <a:ext uri="{FF2B5EF4-FFF2-40B4-BE49-F238E27FC236}">
                <a16:creationId xmlns:a16="http://schemas.microsoft.com/office/drawing/2014/main" id="{AD360CC5-1A08-5BC0-1E8A-34B654DFC550}"/>
              </a:ext>
            </a:extLst>
          </p:cNvPr>
          <p:cNvSpPr txBox="1"/>
          <p:nvPr/>
        </p:nvSpPr>
        <p:spPr>
          <a:xfrm>
            <a:off x="718050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10" name="Text 103">
            <a:extLst>
              <a:ext uri="{FF2B5EF4-FFF2-40B4-BE49-F238E27FC236}">
                <a16:creationId xmlns:a16="http://schemas.microsoft.com/office/drawing/2014/main" id="{D688A55B-19FE-A2D3-CE75-A8D382EFC81F}"/>
              </a:ext>
            </a:extLst>
          </p:cNvPr>
          <p:cNvSpPr txBox="1"/>
          <p:nvPr/>
        </p:nvSpPr>
        <p:spPr>
          <a:xfrm>
            <a:off x="72279662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Chain execution with robust error handling</a:t>
            </a:r>
            <a:endParaRPr lang="en-US" sz="1000" dirty="0"/>
          </a:p>
        </p:txBody>
      </p:sp>
      <p:sp>
        <p:nvSpPr>
          <p:cNvPr id="111" name="Shape 104">
            <a:extLst>
              <a:ext uri="{FF2B5EF4-FFF2-40B4-BE49-F238E27FC236}">
                <a16:creationId xmlns:a16="http://schemas.microsoft.com/office/drawing/2014/main" id="{507BE465-94C9-5A28-9112-07A68DF1B918}"/>
              </a:ext>
            </a:extLst>
          </p:cNvPr>
          <p:cNvSpPr/>
          <p:nvPr/>
        </p:nvSpPr>
        <p:spPr>
          <a:xfrm>
            <a:off x="7611557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05">
            <a:extLst>
              <a:ext uri="{FF2B5EF4-FFF2-40B4-BE49-F238E27FC236}">
                <a16:creationId xmlns:a16="http://schemas.microsoft.com/office/drawing/2014/main" id="{9E29E69F-607A-FF12-1DF8-FA51C0804B93}"/>
              </a:ext>
            </a:extLst>
          </p:cNvPr>
          <p:cNvSpPr txBox="1"/>
          <p:nvPr/>
        </p:nvSpPr>
        <p:spPr>
          <a:xfrm>
            <a:off x="7580101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13" name="Text 106">
            <a:extLst>
              <a:ext uri="{FF2B5EF4-FFF2-40B4-BE49-F238E27FC236}">
                <a16:creationId xmlns:a16="http://schemas.microsoft.com/office/drawing/2014/main" id="{FDD827F2-1AB5-FDC0-BC4B-F835570DC2F8}"/>
              </a:ext>
            </a:extLst>
          </p:cNvPr>
          <p:cNvSpPr txBox="1"/>
          <p:nvPr/>
        </p:nvSpPr>
        <p:spPr>
          <a:xfrm>
            <a:off x="76275590" y="1809598"/>
            <a:ext cx="38624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chain = LLMChain(llm=gpt4_model, prompt=prompt)</a:t>
            </a:r>
            <a:endParaRPr lang="en-US" sz="1000" dirty="0"/>
          </a:p>
        </p:txBody>
      </p:sp>
      <p:sp>
        <p:nvSpPr>
          <p:cNvPr id="114" name="Shape 107">
            <a:extLst>
              <a:ext uri="{FF2B5EF4-FFF2-40B4-BE49-F238E27FC236}">
                <a16:creationId xmlns:a16="http://schemas.microsoft.com/office/drawing/2014/main" id="{F8320A7D-FA0E-26F0-7074-649A3753E456}"/>
              </a:ext>
            </a:extLst>
          </p:cNvPr>
          <p:cNvSpPr/>
          <p:nvPr/>
        </p:nvSpPr>
        <p:spPr>
          <a:xfrm>
            <a:off x="8035107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8">
            <a:extLst>
              <a:ext uri="{FF2B5EF4-FFF2-40B4-BE49-F238E27FC236}">
                <a16:creationId xmlns:a16="http://schemas.microsoft.com/office/drawing/2014/main" id="{D7A4A5D9-BACA-6962-27B3-4495ADC98687}"/>
              </a:ext>
            </a:extLst>
          </p:cNvPr>
          <p:cNvSpPr txBox="1"/>
          <p:nvPr/>
        </p:nvSpPr>
        <p:spPr>
          <a:xfrm>
            <a:off x="8003651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16" name="Text 109">
            <a:extLst>
              <a:ext uri="{FF2B5EF4-FFF2-40B4-BE49-F238E27FC236}">
                <a16:creationId xmlns:a16="http://schemas.microsoft.com/office/drawing/2014/main" id="{C53AA922-7FC3-20EF-12D8-A8484BBD52E2}"/>
              </a:ext>
            </a:extLst>
          </p:cNvPr>
          <p:cNvSpPr txBox="1"/>
          <p:nvPr/>
        </p:nvSpPr>
        <p:spPr>
          <a:xfrm>
            <a:off x="80511091" y="1809598"/>
            <a:ext cx="18626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 = chain.run({</a:t>
            </a:r>
            <a:endParaRPr lang="en-US" sz="1000" dirty="0"/>
          </a:p>
        </p:txBody>
      </p:sp>
      <p:sp>
        <p:nvSpPr>
          <p:cNvPr id="117" name="Shape 110">
            <a:extLst>
              <a:ext uri="{FF2B5EF4-FFF2-40B4-BE49-F238E27FC236}">
                <a16:creationId xmlns:a16="http://schemas.microsoft.com/office/drawing/2014/main" id="{87335CC3-3F78-251E-674F-2FE5E3CD8411}"/>
              </a:ext>
            </a:extLst>
          </p:cNvPr>
          <p:cNvSpPr/>
          <p:nvPr/>
        </p:nvSpPr>
        <p:spPr>
          <a:xfrm>
            <a:off x="8258586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1">
            <a:extLst>
              <a:ext uri="{FF2B5EF4-FFF2-40B4-BE49-F238E27FC236}">
                <a16:creationId xmlns:a16="http://schemas.microsoft.com/office/drawing/2014/main" id="{DF0381DC-6C77-5E5D-6DB3-872426A47984}"/>
              </a:ext>
            </a:extLst>
          </p:cNvPr>
          <p:cNvSpPr txBox="1"/>
          <p:nvPr/>
        </p:nvSpPr>
        <p:spPr>
          <a:xfrm>
            <a:off x="8227131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19" name="Text 112">
            <a:extLst>
              <a:ext uri="{FF2B5EF4-FFF2-40B4-BE49-F238E27FC236}">
                <a16:creationId xmlns:a16="http://schemas.microsoft.com/office/drawing/2014/main" id="{C53629E0-9F7A-DEB0-5B7B-C2C2D668AD37}"/>
              </a:ext>
            </a:extLst>
          </p:cNvPr>
          <p:cNvSpPr txBox="1"/>
          <p:nvPr/>
        </p:nvSpPr>
        <p:spPr>
          <a:xfrm>
            <a:off x="82745885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"attributes"</a:t>
            </a:r>
            <a:endParaRPr lang="en-US" sz="1000" dirty="0"/>
          </a:p>
        </p:txBody>
      </p:sp>
      <p:sp>
        <p:nvSpPr>
          <p:cNvPr id="120" name="Text 113">
            <a:extLst>
              <a:ext uri="{FF2B5EF4-FFF2-40B4-BE49-F238E27FC236}">
                <a16:creationId xmlns:a16="http://schemas.microsoft.com/office/drawing/2014/main" id="{F78313B2-49B2-76C0-113A-C97D7E90FF3C}"/>
              </a:ext>
            </a:extLst>
          </p:cNvPr>
          <p:cNvSpPr txBox="1"/>
          <p:nvPr/>
        </p:nvSpPr>
        <p:spPr>
          <a:xfrm>
            <a:off x="83706919" y="1809598"/>
            <a:ext cx="1148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attributes,</a:t>
            </a:r>
            <a:endParaRPr lang="en-US" sz="1000" dirty="0"/>
          </a:p>
        </p:txBody>
      </p:sp>
      <p:sp>
        <p:nvSpPr>
          <p:cNvPr id="121" name="Shape 114">
            <a:extLst>
              <a:ext uri="{FF2B5EF4-FFF2-40B4-BE49-F238E27FC236}">
                <a16:creationId xmlns:a16="http://schemas.microsoft.com/office/drawing/2014/main" id="{76569E0B-8B0D-CA53-3D7E-A1FC20D9FF64}"/>
              </a:ext>
            </a:extLst>
          </p:cNvPr>
          <p:cNvSpPr/>
          <p:nvPr/>
        </p:nvSpPr>
        <p:spPr>
          <a:xfrm>
            <a:off x="8506114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5">
            <a:extLst>
              <a:ext uri="{FF2B5EF4-FFF2-40B4-BE49-F238E27FC236}">
                <a16:creationId xmlns:a16="http://schemas.microsoft.com/office/drawing/2014/main" id="{89894FED-E0DC-ADD5-C6A1-BFE105BD8140}"/>
              </a:ext>
            </a:extLst>
          </p:cNvPr>
          <p:cNvSpPr txBox="1"/>
          <p:nvPr/>
        </p:nvSpPr>
        <p:spPr>
          <a:xfrm>
            <a:off x="8474659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28</a:t>
            </a:r>
            <a:endParaRPr lang="en-US" sz="1000" dirty="0"/>
          </a:p>
        </p:txBody>
      </p:sp>
      <p:sp>
        <p:nvSpPr>
          <p:cNvPr id="123" name="Text 116">
            <a:extLst>
              <a:ext uri="{FF2B5EF4-FFF2-40B4-BE49-F238E27FC236}">
                <a16:creationId xmlns:a16="http://schemas.microsoft.com/office/drawing/2014/main" id="{051F2DE6-FE9B-CF73-222A-590B2006269E}"/>
              </a:ext>
            </a:extLst>
          </p:cNvPr>
          <p:cNvSpPr txBox="1"/>
          <p:nvPr/>
        </p:nvSpPr>
        <p:spPr>
          <a:xfrm>
            <a:off x="85221166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"types_info"</a:t>
            </a:r>
            <a:endParaRPr lang="en-US" sz="1000" dirty="0"/>
          </a:p>
        </p:txBody>
      </p:sp>
      <p:sp>
        <p:nvSpPr>
          <p:cNvPr id="124" name="Text 117">
            <a:extLst>
              <a:ext uri="{FF2B5EF4-FFF2-40B4-BE49-F238E27FC236}">
                <a16:creationId xmlns:a16="http://schemas.microsoft.com/office/drawing/2014/main" id="{62B66416-B270-63DA-F867-D74DD76F0284}"/>
              </a:ext>
            </a:extLst>
          </p:cNvPr>
          <p:cNvSpPr txBox="1"/>
          <p:nvPr/>
        </p:nvSpPr>
        <p:spPr>
          <a:xfrm>
            <a:off x="8618220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types,</a:t>
            </a:r>
            <a:endParaRPr lang="en-US" sz="1000" dirty="0"/>
          </a:p>
        </p:txBody>
      </p:sp>
      <p:sp>
        <p:nvSpPr>
          <p:cNvPr id="125" name="Shape 118">
            <a:extLst>
              <a:ext uri="{FF2B5EF4-FFF2-40B4-BE49-F238E27FC236}">
                <a16:creationId xmlns:a16="http://schemas.microsoft.com/office/drawing/2014/main" id="{C11DA048-00AC-C490-08D9-FF7A73F418E0}"/>
              </a:ext>
            </a:extLst>
          </p:cNvPr>
          <p:cNvSpPr/>
          <p:nvPr/>
        </p:nvSpPr>
        <p:spPr>
          <a:xfrm>
            <a:off x="8713683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19">
            <a:extLst>
              <a:ext uri="{FF2B5EF4-FFF2-40B4-BE49-F238E27FC236}">
                <a16:creationId xmlns:a16="http://schemas.microsoft.com/office/drawing/2014/main" id="{3D66E731-017D-304C-167F-6D8558F8A675}"/>
              </a:ext>
            </a:extLst>
          </p:cNvPr>
          <p:cNvSpPr txBox="1"/>
          <p:nvPr/>
        </p:nvSpPr>
        <p:spPr>
          <a:xfrm>
            <a:off x="8682228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29</a:t>
            </a:r>
            <a:endParaRPr lang="en-US" sz="1000" dirty="0"/>
          </a:p>
        </p:txBody>
      </p:sp>
      <p:sp>
        <p:nvSpPr>
          <p:cNvPr id="127" name="Text 120">
            <a:extLst>
              <a:ext uri="{FF2B5EF4-FFF2-40B4-BE49-F238E27FC236}">
                <a16:creationId xmlns:a16="http://schemas.microsoft.com/office/drawing/2014/main" id="{380CCCF0-B150-D044-AD4D-3BA65B14BB6F}"/>
              </a:ext>
            </a:extLst>
          </p:cNvPr>
          <p:cNvSpPr txBox="1"/>
          <p:nvPr/>
        </p:nvSpPr>
        <p:spPr>
          <a:xfrm>
            <a:off x="87296854" y="18095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"head_info"</a:t>
            </a:r>
            <a:endParaRPr lang="en-US" sz="1000" dirty="0"/>
          </a:p>
        </p:txBody>
      </p:sp>
      <p:sp>
        <p:nvSpPr>
          <p:cNvPr id="128" name="Text 121">
            <a:extLst>
              <a:ext uri="{FF2B5EF4-FFF2-40B4-BE49-F238E27FC236}">
                <a16:creationId xmlns:a16="http://schemas.microsoft.com/office/drawing/2014/main" id="{B3CD19C9-0021-FDC7-D115-93478688F601}"/>
              </a:ext>
            </a:extLst>
          </p:cNvPr>
          <p:cNvSpPr txBox="1"/>
          <p:nvPr/>
        </p:nvSpPr>
        <p:spPr>
          <a:xfrm>
            <a:off x="88176506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head</a:t>
            </a:r>
            <a:endParaRPr lang="en-US" sz="1000" dirty="0"/>
          </a:p>
        </p:txBody>
      </p:sp>
      <p:sp>
        <p:nvSpPr>
          <p:cNvPr id="129" name="Shape 122">
            <a:extLst>
              <a:ext uri="{FF2B5EF4-FFF2-40B4-BE49-F238E27FC236}">
                <a16:creationId xmlns:a16="http://schemas.microsoft.com/office/drawing/2014/main" id="{1868833A-9F95-E2D2-F663-A0DFEED6E7D9}"/>
              </a:ext>
            </a:extLst>
          </p:cNvPr>
          <p:cNvSpPr/>
          <p:nvPr/>
        </p:nvSpPr>
        <p:spPr>
          <a:xfrm>
            <a:off x="8897203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23">
            <a:extLst>
              <a:ext uri="{FF2B5EF4-FFF2-40B4-BE49-F238E27FC236}">
                <a16:creationId xmlns:a16="http://schemas.microsoft.com/office/drawing/2014/main" id="{5A8C9400-5198-F460-C323-CB3A871366A7}"/>
              </a:ext>
            </a:extLst>
          </p:cNvPr>
          <p:cNvSpPr txBox="1"/>
          <p:nvPr/>
        </p:nvSpPr>
        <p:spPr>
          <a:xfrm>
            <a:off x="8865748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30</a:t>
            </a:r>
            <a:endParaRPr lang="en-US" sz="1000" dirty="0"/>
          </a:p>
        </p:txBody>
      </p:sp>
      <p:sp>
        <p:nvSpPr>
          <p:cNvPr id="131" name="Text 124">
            <a:extLst>
              <a:ext uri="{FF2B5EF4-FFF2-40B4-BE49-F238E27FC236}">
                <a16:creationId xmlns:a16="http://schemas.microsoft.com/office/drawing/2014/main" id="{177A3419-AC83-B955-69F8-41C4F2B4EE4D}"/>
              </a:ext>
            </a:extLst>
          </p:cNvPr>
          <p:cNvSpPr txBox="1"/>
          <p:nvPr/>
        </p:nvSpPr>
        <p:spPr>
          <a:xfrm>
            <a:off x="8913114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})</a:t>
            </a:r>
            <a:endParaRPr lang="en-US" sz="1000" dirty="0"/>
          </a:p>
        </p:txBody>
      </p:sp>
      <p:sp>
        <p:nvSpPr>
          <p:cNvPr id="132" name="Shape 125">
            <a:extLst>
              <a:ext uri="{FF2B5EF4-FFF2-40B4-BE49-F238E27FC236}">
                <a16:creationId xmlns:a16="http://schemas.microsoft.com/office/drawing/2014/main" id="{434E28AC-26A1-1F0C-9550-68FD116F20FD}"/>
              </a:ext>
            </a:extLst>
          </p:cNvPr>
          <p:cNvSpPr/>
          <p:nvPr/>
        </p:nvSpPr>
        <p:spPr>
          <a:xfrm>
            <a:off x="8960662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26">
            <a:extLst>
              <a:ext uri="{FF2B5EF4-FFF2-40B4-BE49-F238E27FC236}">
                <a16:creationId xmlns:a16="http://schemas.microsoft.com/office/drawing/2014/main" id="{24461B6B-7C09-8500-DCF2-6975EACF103D}"/>
              </a:ext>
            </a:extLst>
          </p:cNvPr>
          <p:cNvSpPr txBox="1"/>
          <p:nvPr/>
        </p:nvSpPr>
        <p:spPr>
          <a:xfrm>
            <a:off x="892920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31</a:t>
            </a:r>
            <a:endParaRPr lang="en-US" sz="1000" dirty="0"/>
          </a:p>
        </p:txBody>
      </p:sp>
      <p:sp>
        <p:nvSpPr>
          <p:cNvPr id="134" name="Text 127">
            <a:extLst>
              <a:ext uri="{FF2B5EF4-FFF2-40B4-BE49-F238E27FC236}">
                <a16:creationId xmlns:a16="http://schemas.microsoft.com/office/drawing/2014/main" id="{C8E54CA6-BBCD-1CB3-6FD8-232896EAEA07}"/>
              </a:ext>
            </a:extLst>
          </p:cNvPr>
          <p:cNvSpPr txBox="1"/>
          <p:nvPr/>
        </p:nvSpPr>
        <p:spPr>
          <a:xfrm>
            <a:off x="89765734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35" name="Text 128">
            <a:extLst>
              <a:ext uri="{FF2B5EF4-FFF2-40B4-BE49-F238E27FC236}">
                <a16:creationId xmlns:a16="http://schemas.microsoft.com/office/drawing/2014/main" id="{938D1489-1A1C-AC3F-D598-A40AD7551BD8}"/>
              </a:ext>
            </a:extLst>
          </p:cNvPr>
          <p:cNvSpPr txBox="1"/>
          <p:nvPr/>
        </p:nvSpPr>
        <p:spPr>
          <a:xfrm>
            <a:off x="90246708" y="1809598"/>
            <a:ext cx="22622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parse_json_output(response)</a:t>
            </a:r>
            <a:endParaRPr lang="en-US" sz="1000" dirty="0"/>
          </a:p>
        </p:txBody>
      </p:sp>
      <p:sp>
        <p:nvSpPr>
          <p:cNvPr id="136" name="Shape 129">
            <a:extLst>
              <a:ext uri="{FF2B5EF4-FFF2-40B4-BE49-F238E27FC236}">
                <a16:creationId xmlns:a16="http://schemas.microsoft.com/office/drawing/2014/main" id="{3466D5BF-8880-3135-6180-577151141E87}"/>
              </a:ext>
            </a:extLst>
          </p:cNvPr>
          <p:cNvSpPr/>
          <p:nvPr/>
        </p:nvSpPr>
        <p:spPr>
          <a:xfrm>
            <a:off x="0" y="6569964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0">
            <a:extLst>
              <a:ext uri="{FF2B5EF4-FFF2-40B4-BE49-F238E27FC236}">
                <a16:creationId xmlns:a16="http://schemas.microsoft.com/office/drawing/2014/main" id="{CE754E79-ACEC-F589-FA6E-568F9E0A3892}"/>
              </a:ext>
            </a:extLst>
          </p:cNvPr>
          <p:cNvSpPr/>
          <p:nvPr/>
        </p:nvSpPr>
        <p:spPr>
          <a:xfrm>
            <a:off x="0" y="6569964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3">
            <a:extLst>
              <a:ext uri="{FF2B5EF4-FFF2-40B4-BE49-F238E27FC236}">
                <a16:creationId xmlns:a16="http://schemas.microsoft.com/office/drawing/2014/main" id="{22C1E481-5A6C-1E12-BBB6-C39A8B10FBBB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2" name="Image 5" descr="preencoded.png">
            <a:extLst>
              <a:ext uri="{FF2B5EF4-FFF2-40B4-BE49-F238E27FC236}">
                <a16:creationId xmlns:a16="http://schemas.microsoft.com/office/drawing/2014/main" id="{24F6304A-86A6-6F47-AABC-4F1D64B492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44" name="Text 136">
            <a:extLst>
              <a:ext uri="{FF2B5EF4-FFF2-40B4-BE49-F238E27FC236}">
                <a16:creationId xmlns:a16="http://schemas.microsoft.com/office/drawing/2014/main" id="{F0CFEB2A-9007-F90D-5CB4-392C7616B7EF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45" name="Image 6" descr="preencoded.png">
            <a:extLst>
              <a:ext uri="{FF2B5EF4-FFF2-40B4-BE49-F238E27FC236}">
                <a16:creationId xmlns:a16="http://schemas.microsoft.com/office/drawing/2014/main" id="{A4DB5CB8-1002-2BFF-E7D9-2FB36D9C0B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46" name="Text 137">
            <a:extLst>
              <a:ext uri="{FF2B5EF4-FFF2-40B4-BE49-F238E27FC236}">
                <a16:creationId xmlns:a16="http://schemas.microsoft.com/office/drawing/2014/main" id="{F6E2BE9F-B491-C88C-424C-823C21068318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49" name="Text 53">
            <a:extLst>
              <a:ext uri="{FF2B5EF4-FFF2-40B4-BE49-F238E27FC236}">
                <a16:creationId xmlns:a16="http://schemas.microsoft.com/office/drawing/2014/main" id="{31F2AB5D-B650-AFF8-37F1-AC3F9B572443}"/>
              </a:ext>
            </a:extLst>
          </p:cNvPr>
          <p:cNvSpPr txBox="1"/>
          <p:nvPr/>
        </p:nvSpPr>
        <p:spPr>
          <a:xfrm>
            <a:off x="647395" y="287121"/>
            <a:ext cx="4410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LLM: Handle Missing Values</a:t>
            </a:r>
            <a:endParaRPr lang="en-US" sz="1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9A73C7F-4F3C-2148-EE3A-574762572B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6253" y="837590"/>
            <a:ext cx="6754978" cy="556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4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DB141-19E2-049B-B236-0B068291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28CC76-F2F2-53C4-6E12-2920BB44851D}"/>
              </a:ext>
            </a:extLst>
          </p:cNvPr>
          <p:cNvSpPr/>
          <p:nvPr/>
        </p:nvSpPr>
        <p:spPr>
          <a:xfrm>
            <a:off x="0" y="0"/>
            <a:ext cx="12191695" cy="702990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58C9AC-913F-129E-B521-3926F5A61DC5}"/>
              </a:ext>
            </a:extLst>
          </p:cNvPr>
          <p:cNvSpPr/>
          <p:nvPr/>
        </p:nvSpPr>
        <p:spPr>
          <a:xfrm>
            <a:off x="0" y="0"/>
            <a:ext cx="12191695" cy="7029907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4748614-FFA0-B26F-6D09-4D0D3D50D97A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FEB634E-170B-4647-2050-BC979711DD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523" y="286207"/>
            <a:ext cx="237744" cy="19019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27E55B4-9C0E-880E-D962-EE9EA37D225C}"/>
              </a:ext>
            </a:extLst>
          </p:cNvPr>
          <p:cNvSpPr txBox="1"/>
          <p:nvPr/>
        </p:nvSpPr>
        <p:spPr>
          <a:xfrm>
            <a:off x="990295" y="237744"/>
            <a:ext cx="3715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Decision-Making Process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FBD65B-374A-0E29-9321-0A5B409E01BE}"/>
              </a:ext>
            </a:extLst>
          </p:cNvPr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C21B46E-5456-DBB5-72D5-8044D8AD55C2}"/>
              </a:ext>
            </a:extLst>
          </p:cNvPr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1FC57D5D-4C36-6D3F-48E0-8BE9E552083A}"/>
              </a:ext>
            </a:extLst>
          </p:cNvPr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C01FC505-C72F-3349-B94F-2ACA7E166D90}"/>
              </a:ext>
            </a:extLst>
          </p:cNvPr>
          <p:cNvSpPr/>
          <p:nvPr/>
        </p:nvSpPr>
        <p:spPr>
          <a:xfrm>
            <a:off x="102248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6F69CAE4-11A9-DB9B-3A2E-79C50193D85B}"/>
              </a:ext>
            </a:extLst>
          </p:cNvPr>
          <p:cNvSpPr txBox="1"/>
          <p:nvPr/>
        </p:nvSpPr>
        <p:spPr>
          <a:xfrm>
            <a:off x="13106095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"""</a:t>
            </a:r>
            <a:endParaRPr lang="en-US" sz="1000" dirty="0"/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CB582E1B-5E73-1F22-F492-5D38FF5F725E}"/>
              </a:ext>
            </a:extLst>
          </p:cNvPr>
          <p:cNvSpPr/>
          <p:nvPr/>
        </p:nvSpPr>
        <p:spPr>
          <a:xfrm>
            <a:off x="1366022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EDEB2D05-B29A-ED38-A7BB-12D8F42DD12A}"/>
              </a:ext>
            </a:extLst>
          </p:cNvPr>
          <p:cNvSpPr txBox="1"/>
          <p:nvPr/>
        </p:nvSpPr>
        <p:spPr>
          <a:xfrm>
            <a:off x="133456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03C39DC0-A6CB-5C83-BC1B-B04DC14D6BF6}"/>
              </a:ext>
            </a:extLst>
          </p:cNvPr>
          <p:cNvSpPr/>
          <p:nvPr/>
        </p:nvSpPr>
        <p:spPr>
          <a:xfrm>
            <a:off x="1893631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6">
            <a:extLst>
              <a:ext uri="{FF2B5EF4-FFF2-40B4-BE49-F238E27FC236}">
                <a16:creationId xmlns:a16="http://schemas.microsoft.com/office/drawing/2014/main" id="{E841667D-836A-342B-BDAA-2CF6963FF168}"/>
              </a:ext>
            </a:extLst>
          </p:cNvPr>
          <p:cNvSpPr txBox="1"/>
          <p:nvPr/>
        </p:nvSpPr>
        <p:spPr>
          <a:xfrm>
            <a:off x="1862175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Shape 38">
            <a:extLst>
              <a:ext uri="{FF2B5EF4-FFF2-40B4-BE49-F238E27FC236}">
                <a16:creationId xmlns:a16="http://schemas.microsoft.com/office/drawing/2014/main" id="{C4E881EA-91D9-FF63-71FD-A294A8B75210}"/>
              </a:ext>
            </a:extLst>
          </p:cNvPr>
          <p:cNvSpPr/>
          <p:nvPr/>
        </p:nvSpPr>
        <p:spPr>
          <a:xfrm>
            <a:off x="2149114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9">
            <a:extLst>
              <a:ext uri="{FF2B5EF4-FFF2-40B4-BE49-F238E27FC236}">
                <a16:creationId xmlns:a16="http://schemas.microsoft.com/office/drawing/2014/main" id="{3B420394-2E10-051F-C538-4B6CA16E10BE}"/>
              </a:ext>
            </a:extLst>
          </p:cNvPr>
          <p:cNvSpPr txBox="1"/>
          <p:nvPr/>
        </p:nvSpPr>
        <p:spPr>
          <a:xfrm>
            <a:off x="2117659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47" name="Text 40">
            <a:extLst>
              <a:ext uri="{FF2B5EF4-FFF2-40B4-BE49-F238E27FC236}">
                <a16:creationId xmlns:a16="http://schemas.microsoft.com/office/drawing/2014/main" id="{394515B8-0B95-BCFC-6BB7-0B0D2DE6F941}"/>
              </a:ext>
            </a:extLst>
          </p:cNvPr>
          <p:cNvSpPr txBox="1"/>
          <p:nvPr/>
        </p:nvSpPr>
        <p:spPr>
          <a:xfrm>
            <a:off x="21651163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Types: {types_info}</a:t>
            </a:r>
            <a:endParaRPr lang="en-US" sz="1000" dirty="0"/>
          </a:p>
        </p:txBody>
      </p:sp>
      <p:sp>
        <p:nvSpPr>
          <p:cNvPr id="48" name="Shape 41">
            <a:extLst>
              <a:ext uri="{FF2B5EF4-FFF2-40B4-BE49-F238E27FC236}">
                <a16:creationId xmlns:a16="http://schemas.microsoft.com/office/drawing/2014/main" id="{343D12B5-8022-65C0-BC35-E995F0CEE08E}"/>
              </a:ext>
            </a:extLst>
          </p:cNvPr>
          <p:cNvSpPr/>
          <p:nvPr/>
        </p:nvSpPr>
        <p:spPr>
          <a:xfrm>
            <a:off x="2364638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>
            <a:extLst>
              <a:ext uri="{FF2B5EF4-FFF2-40B4-BE49-F238E27FC236}">
                <a16:creationId xmlns:a16="http://schemas.microsoft.com/office/drawing/2014/main" id="{CE34FBF6-C2B5-ACF4-682A-098B0E04482B}"/>
              </a:ext>
            </a:extLst>
          </p:cNvPr>
          <p:cNvSpPr txBox="1"/>
          <p:nvPr/>
        </p:nvSpPr>
        <p:spPr>
          <a:xfrm>
            <a:off x="2333183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50" name="Text 43">
            <a:extLst>
              <a:ext uri="{FF2B5EF4-FFF2-40B4-BE49-F238E27FC236}">
                <a16:creationId xmlns:a16="http://schemas.microsoft.com/office/drawing/2014/main" id="{5A257470-A331-8FAA-DBDE-A2614B9AD905}"/>
              </a:ext>
            </a:extLst>
          </p:cNvPr>
          <p:cNvSpPr txBox="1"/>
          <p:nvPr/>
        </p:nvSpPr>
        <p:spPr>
          <a:xfrm>
            <a:off x="23806404" y="1809598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Data head: {head_info}</a:t>
            </a:r>
            <a:endParaRPr lang="en-US" sz="1000" dirty="0"/>
          </a:p>
        </p:txBody>
      </p:sp>
      <p:sp>
        <p:nvSpPr>
          <p:cNvPr id="51" name="Shape 44">
            <a:extLst>
              <a:ext uri="{FF2B5EF4-FFF2-40B4-BE49-F238E27FC236}">
                <a16:creationId xmlns:a16="http://schemas.microsoft.com/office/drawing/2014/main" id="{4489FA93-E40B-3CA8-C2E2-DC0D9D870106}"/>
              </a:ext>
            </a:extLst>
          </p:cNvPr>
          <p:cNvSpPr/>
          <p:nvPr/>
        </p:nvSpPr>
        <p:spPr>
          <a:xfrm>
            <a:off x="2604119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5">
            <a:extLst>
              <a:ext uri="{FF2B5EF4-FFF2-40B4-BE49-F238E27FC236}">
                <a16:creationId xmlns:a16="http://schemas.microsoft.com/office/drawing/2014/main" id="{E8825F63-2DE7-F1D9-8D82-BC621197CCF2}"/>
              </a:ext>
            </a:extLst>
          </p:cNvPr>
          <p:cNvSpPr txBox="1"/>
          <p:nvPr/>
        </p:nvSpPr>
        <p:spPr>
          <a:xfrm>
            <a:off x="2572664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689D0D46-99F5-ED03-67DC-195112A33C12}"/>
              </a:ext>
            </a:extLst>
          </p:cNvPr>
          <p:cNvSpPr/>
          <p:nvPr/>
        </p:nvSpPr>
        <p:spPr>
          <a:xfrm>
            <a:off x="2651577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7">
            <a:extLst>
              <a:ext uri="{FF2B5EF4-FFF2-40B4-BE49-F238E27FC236}">
                <a16:creationId xmlns:a16="http://schemas.microsoft.com/office/drawing/2014/main" id="{B0F44D9D-4B4A-EF8E-B6FD-7104ABD81549}"/>
              </a:ext>
            </a:extLst>
          </p:cNvPr>
          <p:cNvSpPr txBox="1"/>
          <p:nvPr/>
        </p:nvSpPr>
        <p:spPr>
          <a:xfrm>
            <a:off x="2620121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55" name="Text 48">
            <a:extLst>
              <a:ext uri="{FF2B5EF4-FFF2-40B4-BE49-F238E27FC236}">
                <a16:creationId xmlns:a16="http://schemas.microsoft.com/office/drawing/2014/main" id="{300D57A1-1163-C409-3F0C-73B62B6A399C}"/>
              </a:ext>
            </a:extLst>
          </p:cNvPr>
          <p:cNvSpPr txBox="1"/>
          <p:nvPr/>
        </p:nvSpPr>
        <p:spPr>
          <a:xfrm>
            <a:off x="26675791" y="1809598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 JSON format only:</a:t>
            </a:r>
            <a:endParaRPr lang="en-US" sz="1000" dirty="0"/>
          </a:p>
        </p:txBody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7F11A62D-F260-7F45-F7AF-080CC6699532}"/>
              </a:ext>
            </a:extLst>
          </p:cNvPr>
          <p:cNvSpPr/>
          <p:nvPr/>
        </p:nvSpPr>
        <p:spPr>
          <a:xfrm>
            <a:off x="2891149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0">
            <a:extLst>
              <a:ext uri="{FF2B5EF4-FFF2-40B4-BE49-F238E27FC236}">
                <a16:creationId xmlns:a16="http://schemas.microsoft.com/office/drawing/2014/main" id="{3B081311-0DF4-E09F-D845-8A4342FA68D9}"/>
              </a:ext>
            </a:extLst>
          </p:cNvPr>
          <p:cNvSpPr txBox="1"/>
          <p:nvPr/>
        </p:nvSpPr>
        <p:spPr>
          <a:xfrm>
            <a:off x="2859694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58" name="Text 51">
            <a:extLst>
              <a:ext uri="{FF2B5EF4-FFF2-40B4-BE49-F238E27FC236}">
                <a16:creationId xmlns:a16="http://schemas.microsoft.com/office/drawing/2014/main" id="{43CBE318-C6C0-301E-838A-7023621EE8D1}"/>
              </a:ext>
            </a:extLst>
          </p:cNvPr>
          <p:cNvSpPr txBox="1"/>
          <p:nvPr/>
        </p:nvSpPr>
        <p:spPr>
          <a:xfrm>
            <a:off x="2907060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000" dirty="0"/>
          </a:p>
        </p:txBody>
      </p:sp>
      <p:sp>
        <p:nvSpPr>
          <p:cNvPr id="59" name="Shape 52">
            <a:extLst>
              <a:ext uri="{FF2B5EF4-FFF2-40B4-BE49-F238E27FC236}">
                <a16:creationId xmlns:a16="http://schemas.microsoft.com/office/drawing/2014/main" id="{E47C3A74-69EA-E277-02B4-5491E5E48DBA}"/>
              </a:ext>
            </a:extLst>
          </p:cNvPr>
          <p:cNvSpPr/>
          <p:nvPr/>
        </p:nvSpPr>
        <p:spPr>
          <a:xfrm>
            <a:off x="294656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3">
            <a:extLst>
              <a:ext uri="{FF2B5EF4-FFF2-40B4-BE49-F238E27FC236}">
                <a16:creationId xmlns:a16="http://schemas.microsoft.com/office/drawing/2014/main" id="{4C531688-21BA-8473-BA11-AE3ED6319C06}"/>
              </a:ext>
            </a:extLst>
          </p:cNvPr>
          <p:cNvSpPr txBox="1"/>
          <p:nvPr/>
        </p:nvSpPr>
        <p:spPr>
          <a:xfrm>
            <a:off x="2915107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Text 54">
            <a:extLst>
              <a:ext uri="{FF2B5EF4-FFF2-40B4-BE49-F238E27FC236}">
                <a16:creationId xmlns:a16="http://schemas.microsoft.com/office/drawing/2014/main" id="{FEDF475B-CC75-1C04-29E7-870605A3B991}"/>
              </a:ext>
            </a:extLst>
          </p:cNvPr>
          <p:cNvSpPr txBox="1"/>
          <p:nvPr/>
        </p:nvSpPr>
        <p:spPr>
          <a:xfrm>
            <a:off x="29625646" y="1809598"/>
            <a:ext cx="28245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"decision": {"target": "species"},</a:t>
            </a:r>
            <a:endParaRPr lang="en-US" sz="1000" dirty="0"/>
          </a:p>
        </p:txBody>
      </p:sp>
      <p:sp>
        <p:nvSpPr>
          <p:cNvPr id="62" name="Shape 55">
            <a:extLst>
              <a:ext uri="{FF2B5EF4-FFF2-40B4-BE49-F238E27FC236}">
                <a16:creationId xmlns:a16="http://schemas.microsoft.com/office/drawing/2014/main" id="{70881244-49DE-E8D8-FB36-6955DAB1F059}"/>
              </a:ext>
            </a:extLst>
          </p:cNvPr>
          <p:cNvSpPr/>
          <p:nvPr/>
        </p:nvSpPr>
        <p:spPr>
          <a:xfrm>
            <a:off x="326614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6">
            <a:extLst>
              <a:ext uri="{FF2B5EF4-FFF2-40B4-BE49-F238E27FC236}">
                <a16:creationId xmlns:a16="http://schemas.microsoft.com/office/drawing/2014/main" id="{1C848C4F-DA56-9BD8-1467-21D6E3712A73}"/>
              </a:ext>
            </a:extLst>
          </p:cNvPr>
          <p:cNvSpPr txBox="1"/>
          <p:nvPr/>
        </p:nvSpPr>
        <p:spPr>
          <a:xfrm>
            <a:off x="3234690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64" name="Text 57">
            <a:extLst>
              <a:ext uri="{FF2B5EF4-FFF2-40B4-BE49-F238E27FC236}">
                <a16:creationId xmlns:a16="http://schemas.microsoft.com/office/drawing/2014/main" id="{90C0954B-830F-03A4-E7F8-A8BE1D8A2C39}"/>
              </a:ext>
            </a:extLst>
          </p:cNvPr>
          <p:cNvSpPr txBox="1"/>
          <p:nvPr/>
        </p:nvSpPr>
        <p:spPr>
          <a:xfrm>
            <a:off x="32820559" y="1809598"/>
            <a:ext cx="47484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"reasoning": "The 'species' column is identified as target</a:t>
            </a:r>
            <a:endParaRPr lang="en-US" sz="1000" dirty="0"/>
          </a:p>
        </p:txBody>
      </p:sp>
      <p:sp>
        <p:nvSpPr>
          <p:cNvPr id="65" name="Shape 58">
            <a:extLst>
              <a:ext uri="{FF2B5EF4-FFF2-40B4-BE49-F238E27FC236}">
                <a16:creationId xmlns:a16="http://schemas.microsoft.com/office/drawing/2014/main" id="{AFD67DFB-1DEE-FFCC-8D4A-552D2DA7F900}"/>
              </a:ext>
            </a:extLst>
          </p:cNvPr>
          <p:cNvSpPr/>
          <p:nvPr/>
        </p:nvSpPr>
        <p:spPr>
          <a:xfrm>
            <a:off x="37776607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59">
            <a:extLst>
              <a:ext uri="{FF2B5EF4-FFF2-40B4-BE49-F238E27FC236}">
                <a16:creationId xmlns:a16="http://schemas.microsoft.com/office/drawing/2014/main" id="{51640A94-A527-0467-8139-F6A457386C6B}"/>
              </a:ext>
            </a:extLst>
          </p:cNvPr>
          <p:cNvSpPr txBox="1"/>
          <p:nvPr/>
        </p:nvSpPr>
        <p:spPr>
          <a:xfrm>
            <a:off x="3746205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67" name="Text 60">
            <a:extLst>
              <a:ext uri="{FF2B5EF4-FFF2-40B4-BE49-F238E27FC236}">
                <a16:creationId xmlns:a16="http://schemas.microsoft.com/office/drawing/2014/main" id="{5DF80314-3F26-BE05-80F6-DE516091C70D}"/>
              </a:ext>
            </a:extLst>
          </p:cNvPr>
          <p:cNvSpPr txBox="1"/>
          <p:nvPr/>
        </p:nvSpPr>
        <p:spPr>
          <a:xfrm>
            <a:off x="37936627" y="1809598"/>
            <a:ext cx="38624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because: (1) Categorical with few unique values</a:t>
            </a:r>
            <a:endParaRPr lang="en-US" sz="1000" dirty="0"/>
          </a:p>
        </p:txBody>
      </p:sp>
      <p:sp>
        <p:nvSpPr>
          <p:cNvPr id="68" name="Shape 61">
            <a:extLst>
              <a:ext uri="{FF2B5EF4-FFF2-40B4-BE49-F238E27FC236}">
                <a16:creationId xmlns:a16="http://schemas.microsoft.com/office/drawing/2014/main" id="{C411322B-3F74-66B9-EE14-3DC70F1243BE}"/>
              </a:ext>
            </a:extLst>
          </p:cNvPr>
          <p:cNvSpPr/>
          <p:nvPr/>
        </p:nvSpPr>
        <p:spPr>
          <a:xfrm>
            <a:off x="4201210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2">
            <a:extLst>
              <a:ext uri="{FF2B5EF4-FFF2-40B4-BE49-F238E27FC236}">
                <a16:creationId xmlns:a16="http://schemas.microsoft.com/office/drawing/2014/main" id="{93C6E9A1-D865-3510-E7AB-B0632B5F9499}"/>
              </a:ext>
            </a:extLst>
          </p:cNvPr>
          <p:cNvSpPr txBox="1"/>
          <p:nvPr/>
        </p:nvSpPr>
        <p:spPr>
          <a:xfrm>
            <a:off x="4169755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70" name="Text 63">
            <a:extLst>
              <a:ext uri="{FF2B5EF4-FFF2-40B4-BE49-F238E27FC236}">
                <a16:creationId xmlns:a16="http://schemas.microsoft.com/office/drawing/2014/main" id="{1784FDAE-B9C5-A1A6-B7B3-22800B45E144}"/>
              </a:ext>
            </a:extLst>
          </p:cNvPr>
          <p:cNvSpPr txBox="1"/>
          <p:nvPr/>
        </p:nvSpPr>
        <p:spPr>
          <a:xfrm>
            <a:off x="42172128" y="1809598"/>
            <a:ext cx="44247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(setosa, versicolor, virginica), (2) All other columns</a:t>
            </a:r>
            <a:endParaRPr lang="en-US" sz="1000" dirty="0"/>
          </a:p>
        </p:txBody>
      </p:sp>
      <p:sp>
        <p:nvSpPr>
          <p:cNvPr id="71" name="Shape 64">
            <a:extLst>
              <a:ext uri="{FF2B5EF4-FFF2-40B4-BE49-F238E27FC236}">
                <a16:creationId xmlns:a16="http://schemas.microsoft.com/office/drawing/2014/main" id="{30EB804B-973D-EE3B-6900-53C8CFD4316B}"/>
              </a:ext>
            </a:extLst>
          </p:cNvPr>
          <p:cNvSpPr/>
          <p:nvPr/>
        </p:nvSpPr>
        <p:spPr>
          <a:xfrm>
            <a:off x="4680813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5">
            <a:extLst>
              <a:ext uri="{FF2B5EF4-FFF2-40B4-BE49-F238E27FC236}">
                <a16:creationId xmlns:a16="http://schemas.microsoft.com/office/drawing/2014/main" id="{7D05ADE5-E469-B776-50F6-4E9C7CBA02C5}"/>
              </a:ext>
            </a:extLst>
          </p:cNvPr>
          <p:cNvSpPr txBox="1"/>
          <p:nvPr/>
        </p:nvSpPr>
        <p:spPr>
          <a:xfrm>
            <a:off x="4649358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73" name="Text 66">
            <a:extLst>
              <a:ext uri="{FF2B5EF4-FFF2-40B4-BE49-F238E27FC236}">
                <a16:creationId xmlns:a16="http://schemas.microsoft.com/office/drawing/2014/main" id="{7A5E911A-555E-185B-838D-785CA45C623A}"/>
              </a:ext>
            </a:extLst>
          </p:cNvPr>
          <p:cNvSpPr txBox="1"/>
          <p:nvPr/>
        </p:nvSpPr>
        <p:spPr>
          <a:xfrm>
            <a:off x="46968156" y="1809598"/>
            <a:ext cx="45866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are continuous measurements (features), (3) Semantically</a:t>
            </a:r>
            <a:endParaRPr lang="en-US" sz="1000" dirty="0"/>
          </a:p>
        </p:txBody>
      </p:sp>
      <p:sp>
        <p:nvSpPr>
          <p:cNvPr id="74" name="Shape 67">
            <a:extLst>
              <a:ext uri="{FF2B5EF4-FFF2-40B4-BE49-F238E27FC236}">
                <a16:creationId xmlns:a16="http://schemas.microsoft.com/office/drawing/2014/main" id="{50463B78-751F-34EB-85E6-45049DF98B0B}"/>
              </a:ext>
            </a:extLst>
          </p:cNvPr>
          <p:cNvSpPr/>
          <p:nvPr/>
        </p:nvSpPr>
        <p:spPr>
          <a:xfrm>
            <a:off x="5176418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8">
            <a:extLst>
              <a:ext uri="{FF2B5EF4-FFF2-40B4-BE49-F238E27FC236}">
                <a16:creationId xmlns:a16="http://schemas.microsoft.com/office/drawing/2014/main" id="{A76AD76C-DC4E-9C2B-25C3-1E722ECEF656}"/>
              </a:ext>
            </a:extLst>
          </p:cNvPr>
          <p:cNvSpPr txBox="1"/>
          <p:nvPr/>
        </p:nvSpPr>
        <p:spPr>
          <a:xfrm>
            <a:off x="5144963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76" name="Text 69">
            <a:extLst>
              <a:ext uri="{FF2B5EF4-FFF2-40B4-BE49-F238E27FC236}">
                <a16:creationId xmlns:a16="http://schemas.microsoft.com/office/drawing/2014/main" id="{DA548840-0B1E-419A-E83F-9D9953428399}"/>
              </a:ext>
            </a:extLst>
          </p:cNvPr>
          <p:cNvSpPr txBox="1"/>
          <p:nvPr/>
        </p:nvSpPr>
        <p:spPr>
          <a:xfrm>
            <a:off x="51924204" y="1809598"/>
            <a:ext cx="27486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represents prediction outcome..."</a:t>
            </a:r>
            <a:endParaRPr lang="en-US" sz="1000" dirty="0"/>
          </a:p>
        </p:txBody>
      </p:sp>
      <p:sp>
        <p:nvSpPr>
          <p:cNvPr id="77" name="Shape 70">
            <a:extLst>
              <a:ext uri="{FF2B5EF4-FFF2-40B4-BE49-F238E27FC236}">
                <a16:creationId xmlns:a16="http://schemas.microsoft.com/office/drawing/2014/main" id="{53CD3468-9422-B665-F98C-393577170107}"/>
              </a:ext>
            </a:extLst>
          </p:cNvPr>
          <p:cNvSpPr/>
          <p:nvPr/>
        </p:nvSpPr>
        <p:spPr>
          <a:xfrm>
            <a:off x="5487954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1">
            <a:extLst>
              <a:ext uri="{FF2B5EF4-FFF2-40B4-BE49-F238E27FC236}">
                <a16:creationId xmlns:a16="http://schemas.microsoft.com/office/drawing/2014/main" id="{F1D07E4F-012F-CF45-23A4-94300AC07BE2}"/>
              </a:ext>
            </a:extLst>
          </p:cNvPr>
          <p:cNvSpPr txBox="1"/>
          <p:nvPr/>
        </p:nvSpPr>
        <p:spPr>
          <a:xfrm>
            <a:off x="5456499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79" name="Text 72">
            <a:extLst>
              <a:ext uri="{FF2B5EF4-FFF2-40B4-BE49-F238E27FC236}">
                <a16:creationId xmlns:a16="http://schemas.microsoft.com/office/drawing/2014/main" id="{136DE982-BCDD-2DD5-9FDD-32E160D5DF9A}"/>
              </a:ext>
            </a:extLst>
          </p:cNvPr>
          <p:cNvSpPr txBox="1"/>
          <p:nvPr/>
        </p:nvSpPr>
        <p:spPr>
          <a:xfrm>
            <a:off x="5503956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00" dirty="0"/>
          </a:p>
        </p:txBody>
      </p:sp>
      <p:sp>
        <p:nvSpPr>
          <p:cNvPr id="80" name="Shape 73">
            <a:extLst>
              <a:ext uri="{FF2B5EF4-FFF2-40B4-BE49-F238E27FC236}">
                <a16:creationId xmlns:a16="http://schemas.microsoft.com/office/drawing/2014/main" id="{43112447-9BCF-B083-6A83-9E07B14069F7}"/>
              </a:ext>
            </a:extLst>
          </p:cNvPr>
          <p:cNvSpPr/>
          <p:nvPr/>
        </p:nvSpPr>
        <p:spPr>
          <a:xfrm>
            <a:off x="5543367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4">
            <a:extLst>
              <a:ext uri="{FF2B5EF4-FFF2-40B4-BE49-F238E27FC236}">
                <a16:creationId xmlns:a16="http://schemas.microsoft.com/office/drawing/2014/main" id="{B11A292F-0A77-62A7-8991-FF39194F4DEC}"/>
              </a:ext>
            </a:extLst>
          </p:cNvPr>
          <p:cNvSpPr txBox="1"/>
          <p:nvPr/>
        </p:nvSpPr>
        <p:spPr>
          <a:xfrm>
            <a:off x="5511911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82" name="Text 75">
            <a:extLst>
              <a:ext uri="{FF2B5EF4-FFF2-40B4-BE49-F238E27FC236}">
                <a16:creationId xmlns:a16="http://schemas.microsoft.com/office/drawing/2014/main" id="{18972AD9-12F3-6201-2D69-DF75A483BB91}"/>
              </a:ext>
            </a:extLst>
          </p:cNvPr>
          <p:cNvSpPr txBox="1"/>
          <p:nvPr/>
        </p:nvSpPr>
        <p:spPr>
          <a:xfrm>
            <a:off x="55593691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"""</a:t>
            </a:r>
            <a:endParaRPr lang="en-US" sz="1000" dirty="0"/>
          </a:p>
        </p:txBody>
      </p:sp>
      <p:sp>
        <p:nvSpPr>
          <p:cNvPr id="83" name="Shape 76">
            <a:extLst>
              <a:ext uri="{FF2B5EF4-FFF2-40B4-BE49-F238E27FC236}">
                <a16:creationId xmlns:a16="http://schemas.microsoft.com/office/drawing/2014/main" id="{02481B76-39BA-249C-0CDB-0A9C8D99050A}"/>
              </a:ext>
            </a:extLst>
          </p:cNvPr>
          <p:cNvSpPr/>
          <p:nvPr/>
        </p:nvSpPr>
        <p:spPr>
          <a:xfrm>
            <a:off x="5614873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7">
            <a:extLst>
              <a:ext uri="{FF2B5EF4-FFF2-40B4-BE49-F238E27FC236}">
                <a16:creationId xmlns:a16="http://schemas.microsoft.com/office/drawing/2014/main" id="{5A4E095C-D867-07B1-6383-CB4DB906368B}"/>
              </a:ext>
            </a:extLst>
          </p:cNvPr>
          <p:cNvSpPr txBox="1"/>
          <p:nvPr/>
        </p:nvSpPr>
        <p:spPr>
          <a:xfrm>
            <a:off x="558341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85" name="Shape 78">
            <a:extLst>
              <a:ext uri="{FF2B5EF4-FFF2-40B4-BE49-F238E27FC236}">
                <a16:creationId xmlns:a16="http://schemas.microsoft.com/office/drawing/2014/main" id="{47ABE97E-BBEC-90B6-ADDD-082EACAC58A1}"/>
              </a:ext>
            </a:extLst>
          </p:cNvPr>
          <p:cNvSpPr/>
          <p:nvPr/>
        </p:nvSpPr>
        <p:spPr>
          <a:xfrm>
            <a:off x="5662330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>
            <a:extLst>
              <a:ext uri="{FF2B5EF4-FFF2-40B4-BE49-F238E27FC236}">
                <a16:creationId xmlns:a16="http://schemas.microsoft.com/office/drawing/2014/main" id="{88DC9E22-5FD0-5C65-A356-2842AFEFE8B3}"/>
              </a:ext>
            </a:extLst>
          </p:cNvPr>
          <p:cNvSpPr txBox="1"/>
          <p:nvPr/>
        </p:nvSpPr>
        <p:spPr>
          <a:xfrm>
            <a:off x="5630875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87" name="Text 80">
            <a:extLst>
              <a:ext uri="{FF2B5EF4-FFF2-40B4-BE49-F238E27FC236}">
                <a16:creationId xmlns:a16="http://schemas.microsoft.com/office/drawing/2014/main" id="{82ADC4B6-E450-0E17-0DBF-4DF44092AF57}"/>
              </a:ext>
            </a:extLst>
          </p:cNvPr>
          <p:cNvSpPr txBox="1"/>
          <p:nvPr/>
        </p:nvSpPr>
        <p:spPr>
          <a:xfrm>
            <a:off x="5678332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endParaRPr lang="en-US" sz="1000" dirty="0"/>
          </a:p>
        </p:txBody>
      </p:sp>
      <p:sp>
        <p:nvSpPr>
          <p:cNvPr id="88" name="Text 81">
            <a:extLst>
              <a:ext uri="{FF2B5EF4-FFF2-40B4-BE49-F238E27FC236}">
                <a16:creationId xmlns:a16="http://schemas.microsoft.com/office/drawing/2014/main" id="{F81114D9-665E-7B41-77A4-A1F76D97F974}"/>
              </a:ext>
            </a:extLst>
          </p:cNvPr>
          <p:cNvSpPr txBox="1"/>
          <p:nvPr/>
        </p:nvSpPr>
        <p:spPr>
          <a:xfrm>
            <a:off x="57022898" y="1809598"/>
            <a:ext cx="1148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decide_target</a:t>
            </a:r>
            <a:endParaRPr lang="en-US" sz="1000" dirty="0"/>
          </a:p>
        </p:txBody>
      </p:sp>
      <p:sp>
        <p:nvSpPr>
          <p:cNvPr id="89" name="Text 82">
            <a:extLst>
              <a:ext uri="{FF2B5EF4-FFF2-40B4-BE49-F238E27FC236}">
                <a16:creationId xmlns:a16="http://schemas.microsoft.com/office/drawing/2014/main" id="{180B8B9F-4905-4460-AA56-58A02C49833B}"/>
              </a:ext>
            </a:extLst>
          </p:cNvPr>
          <p:cNvSpPr txBox="1"/>
          <p:nvPr/>
        </p:nvSpPr>
        <p:spPr>
          <a:xfrm>
            <a:off x="58063486" y="1809598"/>
            <a:ext cx="21863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(attributes, types, head):</a:t>
            </a:r>
            <a:endParaRPr lang="en-US" sz="1000" dirty="0"/>
          </a:p>
        </p:txBody>
      </p:sp>
      <p:sp>
        <p:nvSpPr>
          <p:cNvPr id="90" name="Shape 83">
            <a:extLst>
              <a:ext uri="{FF2B5EF4-FFF2-40B4-BE49-F238E27FC236}">
                <a16:creationId xmlns:a16="http://schemas.microsoft.com/office/drawing/2014/main" id="{BC232CC9-36D0-C6AA-4802-3883D65BF3A2}"/>
              </a:ext>
            </a:extLst>
          </p:cNvPr>
          <p:cNvSpPr/>
          <p:nvPr/>
        </p:nvSpPr>
        <p:spPr>
          <a:xfrm>
            <a:off x="6045829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4">
            <a:extLst>
              <a:ext uri="{FF2B5EF4-FFF2-40B4-BE49-F238E27FC236}">
                <a16:creationId xmlns:a16="http://schemas.microsoft.com/office/drawing/2014/main" id="{1D7D910A-468D-6787-96D5-CEA9F6F3C1AD}"/>
              </a:ext>
            </a:extLst>
          </p:cNvPr>
          <p:cNvSpPr txBox="1"/>
          <p:nvPr/>
        </p:nvSpPr>
        <p:spPr>
          <a:xfrm>
            <a:off x="6014374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92" name="Text 85">
            <a:extLst>
              <a:ext uri="{FF2B5EF4-FFF2-40B4-BE49-F238E27FC236}">
                <a16:creationId xmlns:a16="http://schemas.microsoft.com/office/drawing/2014/main" id="{634DD4FD-B1CE-3C3A-05F2-E2CA4ACE494C}"/>
              </a:ext>
            </a:extLst>
          </p:cNvPr>
          <p:cNvSpPr txBox="1"/>
          <p:nvPr/>
        </p:nvSpPr>
        <p:spPr>
          <a:xfrm>
            <a:off x="60618319" y="1809598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prompt = PromptTemplate(</a:t>
            </a:r>
            <a:endParaRPr lang="en-US" sz="1000" dirty="0"/>
          </a:p>
        </p:txBody>
      </p:sp>
      <p:sp>
        <p:nvSpPr>
          <p:cNvPr id="93" name="Shape 86">
            <a:extLst>
              <a:ext uri="{FF2B5EF4-FFF2-40B4-BE49-F238E27FC236}">
                <a16:creationId xmlns:a16="http://schemas.microsoft.com/office/drawing/2014/main" id="{3760E854-4286-D5BB-C644-0EB9B8074D95}"/>
              </a:ext>
            </a:extLst>
          </p:cNvPr>
          <p:cNvSpPr/>
          <p:nvPr/>
        </p:nvSpPr>
        <p:spPr>
          <a:xfrm>
            <a:off x="62854027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7">
            <a:extLst>
              <a:ext uri="{FF2B5EF4-FFF2-40B4-BE49-F238E27FC236}">
                <a16:creationId xmlns:a16="http://schemas.microsoft.com/office/drawing/2014/main" id="{9D0BD40F-66C0-114F-2441-D8984E0B7990}"/>
              </a:ext>
            </a:extLst>
          </p:cNvPr>
          <p:cNvSpPr txBox="1"/>
          <p:nvPr/>
        </p:nvSpPr>
        <p:spPr>
          <a:xfrm>
            <a:off x="625394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95" name="Text 88">
            <a:extLst>
              <a:ext uri="{FF2B5EF4-FFF2-40B4-BE49-F238E27FC236}">
                <a16:creationId xmlns:a16="http://schemas.microsoft.com/office/drawing/2014/main" id="{19896098-13D5-63C0-168E-8915779F4A78}"/>
              </a:ext>
            </a:extLst>
          </p:cNvPr>
          <p:cNvSpPr txBox="1"/>
          <p:nvPr/>
        </p:nvSpPr>
        <p:spPr>
          <a:xfrm>
            <a:off x="63014047" y="1809598"/>
            <a:ext cx="34628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template=decide_target_attribute_template,</a:t>
            </a:r>
            <a:endParaRPr lang="en-US" sz="1000" dirty="0"/>
          </a:p>
        </p:txBody>
      </p:sp>
      <p:sp>
        <p:nvSpPr>
          <p:cNvPr id="96" name="Shape 89">
            <a:extLst>
              <a:ext uri="{FF2B5EF4-FFF2-40B4-BE49-F238E27FC236}">
                <a16:creationId xmlns:a16="http://schemas.microsoft.com/office/drawing/2014/main" id="{AB271224-9A5D-6899-5C4C-DBEC66002C7A}"/>
              </a:ext>
            </a:extLst>
          </p:cNvPr>
          <p:cNvSpPr/>
          <p:nvPr/>
        </p:nvSpPr>
        <p:spPr>
          <a:xfrm>
            <a:off x="666890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0">
            <a:extLst>
              <a:ext uri="{FF2B5EF4-FFF2-40B4-BE49-F238E27FC236}">
                <a16:creationId xmlns:a16="http://schemas.microsoft.com/office/drawing/2014/main" id="{AAEEF77A-7FF4-CD99-2BFE-DDD5EE4BD46B}"/>
              </a:ext>
            </a:extLst>
          </p:cNvPr>
          <p:cNvSpPr txBox="1"/>
          <p:nvPr/>
        </p:nvSpPr>
        <p:spPr>
          <a:xfrm>
            <a:off x="6637446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98" name="Text 91">
            <a:extLst>
              <a:ext uri="{FF2B5EF4-FFF2-40B4-BE49-F238E27FC236}">
                <a16:creationId xmlns:a16="http://schemas.microsoft.com/office/drawing/2014/main" id="{88809F12-FD13-D13C-A4F3-1D12017AB3A4}"/>
              </a:ext>
            </a:extLst>
          </p:cNvPr>
          <p:cNvSpPr txBox="1"/>
          <p:nvPr/>
        </p:nvSpPr>
        <p:spPr>
          <a:xfrm>
            <a:off x="66849041" y="1809598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input_variables=[</a:t>
            </a:r>
            <a:endParaRPr lang="en-US" sz="1000" dirty="0"/>
          </a:p>
        </p:txBody>
      </p:sp>
      <p:sp>
        <p:nvSpPr>
          <p:cNvPr id="99" name="Text 92">
            <a:extLst>
              <a:ext uri="{FF2B5EF4-FFF2-40B4-BE49-F238E27FC236}">
                <a16:creationId xmlns:a16="http://schemas.microsoft.com/office/drawing/2014/main" id="{AEB27231-B1E0-6A32-BDBD-D8C1FDA2C4BB}"/>
              </a:ext>
            </a:extLst>
          </p:cNvPr>
          <p:cNvSpPr txBox="1"/>
          <p:nvPr/>
        </p:nvSpPr>
        <p:spPr>
          <a:xfrm>
            <a:off x="68209668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"attributes"</a:t>
            </a:r>
            <a:endParaRPr lang="en-US" sz="1000" dirty="0"/>
          </a:p>
        </p:txBody>
      </p:sp>
      <p:sp>
        <p:nvSpPr>
          <p:cNvPr id="100" name="Text 93">
            <a:extLst>
              <a:ext uri="{FF2B5EF4-FFF2-40B4-BE49-F238E27FC236}">
                <a16:creationId xmlns:a16="http://schemas.microsoft.com/office/drawing/2014/main" id="{096FDA50-FDE3-28C2-0464-C388514CF2DD}"/>
              </a:ext>
            </a:extLst>
          </p:cNvPr>
          <p:cNvSpPr txBox="1"/>
          <p:nvPr/>
        </p:nvSpPr>
        <p:spPr>
          <a:xfrm>
            <a:off x="6916978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101" name="Text 94">
            <a:extLst>
              <a:ext uri="{FF2B5EF4-FFF2-40B4-BE49-F238E27FC236}">
                <a16:creationId xmlns:a16="http://schemas.microsoft.com/office/drawing/2014/main" id="{52AACF1A-D54E-AE7E-833B-211DF48AAA03}"/>
              </a:ext>
            </a:extLst>
          </p:cNvPr>
          <p:cNvSpPr txBox="1"/>
          <p:nvPr/>
        </p:nvSpPr>
        <p:spPr>
          <a:xfrm>
            <a:off x="69250255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"types_info"</a:t>
            </a:r>
            <a:endParaRPr lang="en-US" sz="1000" dirty="0"/>
          </a:p>
        </p:txBody>
      </p:sp>
      <p:sp>
        <p:nvSpPr>
          <p:cNvPr id="102" name="Text 95">
            <a:extLst>
              <a:ext uri="{FF2B5EF4-FFF2-40B4-BE49-F238E27FC236}">
                <a16:creationId xmlns:a16="http://schemas.microsoft.com/office/drawing/2014/main" id="{52AFA82A-304D-F4F5-690F-F9435A01157B}"/>
              </a:ext>
            </a:extLst>
          </p:cNvPr>
          <p:cNvSpPr txBox="1"/>
          <p:nvPr/>
        </p:nvSpPr>
        <p:spPr>
          <a:xfrm>
            <a:off x="7021037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103" name="Text 96">
            <a:extLst>
              <a:ext uri="{FF2B5EF4-FFF2-40B4-BE49-F238E27FC236}">
                <a16:creationId xmlns:a16="http://schemas.microsoft.com/office/drawing/2014/main" id="{C4B3BA5A-186D-DE98-69DD-47567AE6174C}"/>
              </a:ext>
            </a:extLst>
          </p:cNvPr>
          <p:cNvSpPr txBox="1"/>
          <p:nvPr/>
        </p:nvSpPr>
        <p:spPr>
          <a:xfrm>
            <a:off x="70290842" y="18095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"head_info"</a:t>
            </a:r>
            <a:endParaRPr lang="en-US" sz="1000" dirty="0"/>
          </a:p>
        </p:txBody>
      </p:sp>
      <p:sp>
        <p:nvSpPr>
          <p:cNvPr id="104" name="Text 97">
            <a:extLst>
              <a:ext uri="{FF2B5EF4-FFF2-40B4-BE49-F238E27FC236}">
                <a16:creationId xmlns:a16="http://schemas.microsoft.com/office/drawing/2014/main" id="{E40F8FCE-8CB5-41ED-CF2C-BD579DC2C40B}"/>
              </a:ext>
            </a:extLst>
          </p:cNvPr>
          <p:cNvSpPr txBox="1"/>
          <p:nvPr/>
        </p:nvSpPr>
        <p:spPr>
          <a:xfrm>
            <a:off x="7117049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05" name="Shape 98">
            <a:extLst>
              <a:ext uri="{FF2B5EF4-FFF2-40B4-BE49-F238E27FC236}">
                <a16:creationId xmlns:a16="http://schemas.microsoft.com/office/drawing/2014/main" id="{D50CF434-62EE-4AF6-FDD2-ACC608F8DFB0}"/>
              </a:ext>
            </a:extLst>
          </p:cNvPr>
          <p:cNvSpPr/>
          <p:nvPr/>
        </p:nvSpPr>
        <p:spPr>
          <a:xfrm>
            <a:off x="7156551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9">
            <a:extLst>
              <a:ext uri="{FF2B5EF4-FFF2-40B4-BE49-F238E27FC236}">
                <a16:creationId xmlns:a16="http://schemas.microsoft.com/office/drawing/2014/main" id="{D82C246E-7C85-D19E-C0FF-577EEEE53884}"/>
              </a:ext>
            </a:extLst>
          </p:cNvPr>
          <p:cNvSpPr txBox="1"/>
          <p:nvPr/>
        </p:nvSpPr>
        <p:spPr>
          <a:xfrm>
            <a:off x="712509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07" name="Text 100">
            <a:extLst>
              <a:ext uri="{FF2B5EF4-FFF2-40B4-BE49-F238E27FC236}">
                <a16:creationId xmlns:a16="http://schemas.microsoft.com/office/drawing/2014/main" id="{7C2E1484-F217-8837-D98E-9A738B26B0BF}"/>
              </a:ext>
            </a:extLst>
          </p:cNvPr>
          <p:cNvSpPr txBox="1"/>
          <p:nvPr/>
        </p:nvSpPr>
        <p:spPr>
          <a:xfrm>
            <a:off x="7172553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108" name="Shape 101">
            <a:extLst>
              <a:ext uri="{FF2B5EF4-FFF2-40B4-BE49-F238E27FC236}">
                <a16:creationId xmlns:a16="http://schemas.microsoft.com/office/drawing/2014/main" id="{F5CCCB60-8E44-9E84-D0A1-8CAAAB249A00}"/>
              </a:ext>
            </a:extLst>
          </p:cNvPr>
          <p:cNvSpPr/>
          <p:nvPr/>
        </p:nvSpPr>
        <p:spPr>
          <a:xfrm>
            <a:off x="721196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2">
            <a:extLst>
              <a:ext uri="{FF2B5EF4-FFF2-40B4-BE49-F238E27FC236}">
                <a16:creationId xmlns:a16="http://schemas.microsoft.com/office/drawing/2014/main" id="{0A019DE4-33D6-1642-110A-5D3DEFC6A665}"/>
              </a:ext>
            </a:extLst>
          </p:cNvPr>
          <p:cNvSpPr txBox="1"/>
          <p:nvPr/>
        </p:nvSpPr>
        <p:spPr>
          <a:xfrm>
            <a:off x="718050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10" name="Text 103">
            <a:extLst>
              <a:ext uri="{FF2B5EF4-FFF2-40B4-BE49-F238E27FC236}">
                <a16:creationId xmlns:a16="http://schemas.microsoft.com/office/drawing/2014/main" id="{1CA875A6-E64C-6647-1E3F-441028FACA10}"/>
              </a:ext>
            </a:extLst>
          </p:cNvPr>
          <p:cNvSpPr txBox="1"/>
          <p:nvPr/>
        </p:nvSpPr>
        <p:spPr>
          <a:xfrm>
            <a:off x="72279662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Chain execution with robust error handling</a:t>
            </a:r>
            <a:endParaRPr lang="en-US" sz="1000" dirty="0"/>
          </a:p>
        </p:txBody>
      </p:sp>
      <p:sp>
        <p:nvSpPr>
          <p:cNvPr id="111" name="Shape 104">
            <a:extLst>
              <a:ext uri="{FF2B5EF4-FFF2-40B4-BE49-F238E27FC236}">
                <a16:creationId xmlns:a16="http://schemas.microsoft.com/office/drawing/2014/main" id="{E2BC3FC9-78B0-93E7-345A-B443FD5832DB}"/>
              </a:ext>
            </a:extLst>
          </p:cNvPr>
          <p:cNvSpPr/>
          <p:nvPr/>
        </p:nvSpPr>
        <p:spPr>
          <a:xfrm>
            <a:off x="7611557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05">
            <a:extLst>
              <a:ext uri="{FF2B5EF4-FFF2-40B4-BE49-F238E27FC236}">
                <a16:creationId xmlns:a16="http://schemas.microsoft.com/office/drawing/2014/main" id="{61A8943C-31E7-B99F-6772-80865DDD6B08}"/>
              </a:ext>
            </a:extLst>
          </p:cNvPr>
          <p:cNvSpPr txBox="1"/>
          <p:nvPr/>
        </p:nvSpPr>
        <p:spPr>
          <a:xfrm>
            <a:off x="7580101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13" name="Text 106">
            <a:extLst>
              <a:ext uri="{FF2B5EF4-FFF2-40B4-BE49-F238E27FC236}">
                <a16:creationId xmlns:a16="http://schemas.microsoft.com/office/drawing/2014/main" id="{6BA73C24-AB22-55F8-5CCF-1C2015F72C08}"/>
              </a:ext>
            </a:extLst>
          </p:cNvPr>
          <p:cNvSpPr txBox="1"/>
          <p:nvPr/>
        </p:nvSpPr>
        <p:spPr>
          <a:xfrm>
            <a:off x="76275590" y="1809598"/>
            <a:ext cx="38624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chain = LLMChain(llm=gpt4_model, prompt=prompt)</a:t>
            </a:r>
            <a:endParaRPr lang="en-US" sz="1000" dirty="0"/>
          </a:p>
        </p:txBody>
      </p:sp>
      <p:sp>
        <p:nvSpPr>
          <p:cNvPr id="114" name="Shape 107">
            <a:extLst>
              <a:ext uri="{FF2B5EF4-FFF2-40B4-BE49-F238E27FC236}">
                <a16:creationId xmlns:a16="http://schemas.microsoft.com/office/drawing/2014/main" id="{BCD19A17-36A1-AD92-E4E7-D28E1A6F7BB4}"/>
              </a:ext>
            </a:extLst>
          </p:cNvPr>
          <p:cNvSpPr/>
          <p:nvPr/>
        </p:nvSpPr>
        <p:spPr>
          <a:xfrm>
            <a:off x="8035107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8">
            <a:extLst>
              <a:ext uri="{FF2B5EF4-FFF2-40B4-BE49-F238E27FC236}">
                <a16:creationId xmlns:a16="http://schemas.microsoft.com/office/drawing/2014/main" id="{9E48FD5B-B5DB-4371-F827-F840F05342BA}"/>
              </a:ext>
            </a:extLst>
          </p:cNvPr>
          <p:cNvSpPr txBox="1"/>
          <p:nvPr/>
        </p:nvSpPr>
        <p:spPr>
          <a:xfrm>
            <a:off x="8003651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16" name="Text 109">
            <a:extLst>
              <a:ext uri="{FF2B5EF4-FFF2-40B4-BE49-F238E27FC236}">
                <a16:creationId xmlns:a16="http://schemas.microsoft.com/office/drawing/2014/main" id="{10C8DA3C-172E-D851-9932-4C68B9CB7C46}"/>
              </a:ext>
            </a:extLst>
          </p:cNvPr>
          <p:cNvSpPr txBox="1"/>
          <p:nvPr/>
        </p:nvSpPr>
        <p:spPr>
          <a:xfrm>
            <a:off x="80511091" y="1809598"/>
            <a:ext cx="18626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 = chain.run({</a:t>
            </a:r>
            <a:endParaRPr lang="en-US" sz="1000" dirty="0"/>
          </a:p>
        </p:txBody>
      </p:sp>
      <p:sp>
        <p:nvSpPr>
          <p:cNvPr id="117" name="Shape 110">
            <a:extLst>
              <a:ext uri="{FF2B5EF4-FFF2-40B4-BE49-F238E27FC236}">
                <a16:creationId xmlns:a16="http://schemas.microsoft.com/office/drawing/2014/main" id="{2D521232-AEE3-A431-3A11-EFB5E9C80FF5}"/>
              </a:ext>
            </a:extLst>
          </p:cNvPr>
          <p:cNvSpPr/>
          <p:nvPr/>
        </p:nvSpPr>
        <p:spPr>
          <a:xfrm>
            <a:off x="8258586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1">
            <a:extLst>
              <a:ext uri="{FF2B5EF4-FFF2-40B4-BE49-F238E27FC236}">
                <a16:creationId xmlns:a16="http://schemas.microsoft.com/office/drawing/2014/main" id="{C415D9A1-CFF1-637C-C3B0-01E7CFFC6AC3}"/>
              </a:ext>
            </a:extLst>
          </p:cNvPr>
          <p:cNvSpPr txBox="1"/>
          <p:nvPr/>
        </p:nvSpPr>
        <p:spPr>
          <a:xfrm>
            <a:off x="8227131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19" name="Text 112">
            <a:extLst>
              <a:ext uri="{FF2B5EF4-FFF2-40B4-BE49-F238E27FC236}">
                <a16:creationId xmlns:a16="http://schemas.microsoft.com/office/drawing/2014/main" id="{81D32766-1C48-BB5B-3C59-FC2CF1CDF87E}"/>
              </a:ext>
            </a:extLst>
          </p:cNvPr>
          <p:cNvSpPr txBox="1"/>
          <p:nvPr/>
        </p:nvSpPr>
        <p:spPr>
          <a:xfrm>
            <a:off x="82745885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"attributes"</a:t>
            </a:r>
            <a:endParaRPr lang="en-US" sz="1000" dirty="0"/>
          </a:p>
        </p:txBody>
      </p:sp>
      <p:sp>
        <p:nvSpPr>
          <p:cNvPr id="120" name="Text 113">
            <a:extLst>
              <a:ext uri="{FF2B5EF4-FFF2-40B4-BE49-F238E27FC236}">
                <a16:creationId xmlns:a16="http://schemas.microsoft.com/office/drawing/2014/main" id="{AD1B1EA6-73D5-5CAD-0E59-841065EFA56C}"/>
              </a:ext>
            </a:extLst>
          </p:cNvPr>
          <p:cNvSpPr txBox="1"/>
          <p:nvPr/>
        </p:nvSpPr>
        <p:spPr>
          <a:xfrm>
            <a:off x="83706919" y="1809598"/>
            <a:ext cx="1148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attributes,</a:t>
            </a:r>
            <a:endParaRPr lang="en-US" sz="1000" dirty="0"/>
          </a:p>
        </p:txBody>
      </p:sp>
      <p:sp>
        <p:nvSpPr>
          <p:cNvPr id="121" name="Shape 114">
            <a:extLst>
              <a:ext uri="{FF2B5EF4-FFF2-40B4-BE49-F238E27FC236}">
                <a16:creationId xmlns:a16="http://schemas.microsoft.com/office/drawing/2014/main" id="{6DA505EB-AC98-ACF1-F016-9552C49A35C1}"/>
              </a:ext>
            </a:extLst>
          </p:cNvPr>
          <p:cNvSpPr/>
          <p:nvPr/>
        </p:nvSpPr>
        <p:spPr>
          <a:xfrm>
            <a:off x="8506114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5">
            <a:extLst>
              <a:ext uri="{FF2B5EF4-FFF2-40B4-BE49-F238E27FC236}">
                <a16:creationId xmlns:a16="http://schemas.microsoft.com/office/drawing/2014/main" id="{FB7F9FBB-6716-6373-ECDC-2186BD692C2E}"/>
              </a:ext>
            </a:extLst>
          </p:cNvPr>
          <p:cNvSpPr txBox="1"/>
          <p:nvPr/>
        </p:nvSpPr>
        <p:spPr>
          <a:xfrm>
            <a:off x="8474659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28</a:t>
            </a:r>
            <a:endParaRPr lang="en-US" sz="1000" dirty="0"/>
          </a:p>
        </p:txBody>
      </p:sp>
      <p:sp>
        <p:nvSpPr>
          <p:cNvPr id="123" name="Text 116">
            <a:extLst>
              <a:ext uri="{FF2B5EF4-FFF2-40B4-BE49-F238E27FC236}">
                <a16:creationId xmlns:a16="http://schemas.microsoft.com/office/drawing/2014/main" id="{575F1D8A-BF89-F87C-0FD1-A0A9C6606905}"/>
              </a:ext>
            </a:extLst>
          </p:cNvPr>
          <p:cNvSpPr txBox="1"/>
          <p:nvPr/>
        </p:nvSpPr>
        <p:spPr>
          <a:xfrm>
            <a:off x="85221166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"types_info"</a:t>
            </a:r>
            <a:endParaRPr lang="en-US" sz="1000" dirty="0"/>
          </a:p>
        </p:txBody>
      </p:sp>
      <p:sp>
        <p:nvSpPr>
          <p:cNvPr id="124" name="Text 117">
            <a:extLst>
              <a:ext uri="{FF2B5EF4-FFF2-40B4-BE49-F238E27FC236}">
                <a16:creationId xmlns:a16="http://schemas.microsoft.com/office/drawing/2014/main" id="{63121F13-BF3A-A866-C44B-AE8B06E38F04}"/>
              </a:ext>
            </a:extLst>
          </p:cNvPr>
          <p:cNvSpPr txBox="1"/>
          <p:nvPr/>
        </p:nvSpPr>
        <p:spPr>
          <a:xfrm>
            <a:off x="8618220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types,</a:t>
            </a:r>
            <a:endParaRPr lang="en-US" sz="1000" dirty="0"/>
          </a:p>
        </p:txBody>
      </p:sp>
      <p:sp>
        <p:nvSpPr>
          <p:cNvPr id="125" name="Shape 118">
            <a:extLst>
              <a:ext uri="{FF2B5EF4-FFF2-40B4-BE49-F238E27FC236}">
                <a16:creationId xmlns:a16="http://schemas.microsoft.com/office/drawing/2014/main" id="{7D2B48E0-C29E-A533-FF96-E43246ABE7B0}"/>
              </a:ext>
            </a:extLst>
          </p:cNvPr>
          <p:cNvSpPr/>
          <p:nvPr/>
        </p:nvSpPr>
        <p:spPr>
          <a:xfrm>
            <a:off x="8713683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19">
            <a:extLst>
              <a:ext uri="{FF2B5EF4-FFF2-40B4-BE49-F238E27FC236}">
                <a16:creationId xmlns:a16="http://schemas.microsoft.com/office/drawing/2014/main" id="{0CF6EA02-6A77-D0CD-0ABA-49616D24ABB6}"/>
              </a:ext>
            </a:extLst>
          </p:cNvPr>
          <p:cNvSpPr txBox="1"/>
          <p:nvPr/>
        </p:nvSpPr>
        <p:spPr>
          <a:xfrm>
            <a:off x="8682228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29</a:t>
            </a:r>
            <a:endParaRPr lang="en-US" sz="1000" dirty="0"/>
          </a:p>
        </p:txBody>
      </p:sp>
      <p:sp>
        <p:nvSpPr>
          <p:cNvPr id="127" name="Text 120">
            <a:extLst>
              <a:ext uri="{FF2B5EF4-FFF2-40B4-BE49-F238E27FC236}">
                <a16:creationId xmlns:a16="http://schemas.microsoft.com/office/drawing/2014/main" id="{50987D6A-54F5-C162-1384-168B8B59FE49}"/>
              </a:ext>
            </a:extLst>
          </p:cNvPr>
          <p:cNvSpPr txBox="1"/>
          <p:nvPr/>
        </p:nvSpPr>
        <p:spPr>
          <a:xfrm>
            <a:off x="87296854" y="18095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"head_info"</a:t>
            </a:r>
            <a:endParaRPr lang="en-US" sz="1000" dirty="0"/>
          </a:p>
        </p:txBody>
      </p:sp>
      <p:sp>
        <p:nvSpPr>
          <p:cNvPr id="128" name="Text 121">
            <a:extLst>
              <a:ext uri="{FF2B5EF4-FFF2-40B4-BE49-F238E27FC236}">
                <a16:creationId xmlns:a16="http://schemas.microsoft.com/office/drawing/2014/main" id="{41C584C5-F252-2728-870A-CC81151341E0}"/>
              </a:ext>
            </a:extLst>
          </p:cNvPr>
          <p:cNvSpPr txBox="1"/>
          <p:nvPr/>
        </p:nvSpPr>
        <p:spPr>
          <a:xfrm>
            <a:off x="88176506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head</a:t>
            </a:r>
            <a:endParaRPr lang="en-US" sz="1000" dirty="0"/>
          </a:p>
        </p:txBody>
      </p:sp>
      <p:sp>
        <p:nvSpPr>
          <p:cNvPr id="129" name="Shape 122">
            <a:extLst>
              <a:ext uri="{FF2B5EF4-FFF2-40B4-BE49-F238E27FC236}">
                <a16:creationId xmlns:a16="http://schemas.microsoft.com/office/drawing/2014/main" id="{035AFEAC-DD01-4AD3-3BF9-0615BD7B53E3}"/>
              </a:ext>
            </a:extLst>
          </p:cNvPr>
          <p:cNvSpPr/>
          <p:nvPr/>
        </p:nvSpPr>
        <p:spPr>
          <a:xfrm>
            <a:off x="8897203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23">
            <a:extLst>
              <a:ext uri="{FF2B5EF4-FFF2-40B4-BE49-F238E27FC236}">
                <a16:creationId xmlns:a16="http://schemas.microsoft.com/office/drawing/2014/main" id="{4ED15F65-E5B6-52AC-37E1-B476F528E0F7}"/>
              </a:ext>
            </a:extLst>
          </p:cNvPr>
          <p:cNvSpPr txBox="1"/>
          <p:nvPr/>
        </p:nvSpPr>
        <p:spPr>
          <a:xfrm>
            <a:off x="8865748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30</a:t>
            </a:r>
            <a:endParaRPr lang="en-US" sz="1000" dirty="0"/>
          </a:p>
        </p:txBody>
      </p:sp>
      <p:sp>
        <p:nvSpPr>
          <p:cNvPr id="131" name="Text 124">
            <a:extLst>
              <a:ext uri="{FF2B5EF4-FFF2-40B4-BE49-F238E27FC236}">
                <a16:creationId xmlns:a16="http://schemas.microsoft.com/office/drawing/2014/main" id="{208BD8B1-BCF0-9648-4AF3-CF169B462595}"/>
              </a:ext>
            </a:extLst>
          </p:cNvPr>
          <p:cNvSpPr txBox="1"/>
          <p:nvPr/>
        </p:nvSpPr>
        <p:spPr>
          <a:xfrm>
            <a:off x="8913114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})</a:t>
            </a:r>
            <a:endParaRPr lang="en-US" sz="1000" dirty="0"/>
          </a:p>
        </p:txBody>
      </p:sp>
      <p:sp>
        <p:nvSpPr>
          <p:cNvPr id="132" name="Shape 125">
            <a:extLst>
              <a:ext uri="{FF2B5EF4-FFF2-40B4-BE49-F238E27FC236}">
                <a16:creationId xmlns:a16="http://schemas.microsoft.com/office/drawing/2014/main" id="{F5E64BBF-F8FA-3336-02AF-B20FBA3C9FCC}"/>
              </a:ext>
            </a:extLst>
          </p:cNvPr>
          <p:cNvSpPr/>
          <p:nvPr/>
        </p:nvSpPr>
        <p:spPr>
          <a:xfrm>
            <a:off x="8960662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26">
            <a:extLst>
              <a:ext uri="{FF2B5EF4-FFF2-40B4-BE49-F238E27FC236}">
                <a16:creationId xmlns:a16="http://schemas.microsoft.com/office/drawing/2014/main" id="{DD2678BB-FAC4-2973-5E26-2B044013BA07}"/>
              </a:ext>
            </a:extLst>
          </p:cNvPr>
          <p:cNvSpPr txBox="1"/>
          <p:nvPr/>
        </p:nvSpPr>
        <p:spPr>
          <a:xfrm>
            <a:off x="892920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31</a:t>
            </a:r>
            <a:endParaRPr lang="en-US" sz="1000" dirty="0"/>
          </a:p>
        </p:txBody>
      </p:sp>
      <p:sp>
        <p:nvSpPr>
          <p:cNvPr id="134" name="Text 127">
            <a:extLst>
              <a:ext uri="{FF2B5EF4-FFF2-40B4-BE49-F238E27FC236}">
                <a16:creationId xmlns:a16="http://schemas.microsoft.com/office/drawing/2014/main" id="{29485F84-5CD0-7F29-DD5E-F18F68463BAB}"/>
              </a:ext>
            </a:extLst>
          </p:cNvPr>
          <p:cNvSpPr txBox="1"/>
          <p:nvPr/>
        </p:nvSpPr>
        <p:spPr>
          <a:xfrm>
            <a:off x="89765734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35" name="Text 128">
            <a:extLst>
              <a:ext uri="{FF2B5EF4-FFF2-40B4-BE49-F238E27FC236}">
                <a16:creationId xmlns:a16="http://schemas.microsoft.com/office/drawing/2014/main" id="{45113BA8-AB99-DB49-9686-081636FBE181}"/>
              </a:ext>
            </a:extLst>
          </p:cNvPr>
          <p:cNvSpPr txBox="1"/>
          <p:nvPr/>
        </p:nvSpPr>
        <p:spPr>
          <a:xfrm>
            <a:off x="90246708" y="1809598"/>
            <a:ext cx="22622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parse_json_output(response)</a:t>
            </a:r>
            <a:endParaRPr lang="en-US" sz="1000" dirty="0"/>
          </a:p>
        </p:txBody>
      </p:sp>
      <p:sp>
        <p:nvSpPr>
          <p:cNvPr id="136" name="Shape 129">
            <a:extLst>
              <a:ext uri="{FF2B5EF4-FFF2-40B4-BE49-F238E27FC236}">
                <a16:creationId xmlns:a16="http://schemas.microsoft.com/office/drawing/2014/main" id="{D09AD481-DAC2-A8E4-86A0-64F17F754F41}"/>
              </a:ext>
            </a:extLst>
          </p:cNvPr>
          <p:cNvSpPr/>
          <p:nvPr/>
        </p:nvSpPr>
        <p:spPr>
          <a:xfrm>
            <a:off x="0" y="6569964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0">
            <a:extLst>
              <a:ext uri="{FF2B5EF4-FFF2-40B4-BE49-F238E27FC236}">
                <a16:creationId xmlns:a16="http://schemas.microsoft.com/office/drawing/2014/main" id="{6FC49275-D212-5E1E-A83A-215FBD2447E8}"/>
              </a:ext>
            </a:extLst>
          </p:cNvPr>
          <p:cNvSpPr/>
          <p:nvPr/>
        </p:nvSpPr>
        <p:spPr>
          <a:xfrm>
            <a:off x="0" y="6569964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3">
            <a:extLst>
              <a:ext uri="{FF2B5EF4-FFF2-40B4-BE49-F238E27FC236}">
                <a16:creationId xmlns:a16="http://schemas.microsoft.com/office/drawing/2014/main" id="{DEAE2E72-6A91-E4DC-51D5-13CD7552508A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2" name="Image 5" descr="preencoded.png">
            <a:extLst>
              <a:ext uri="{FF2B5EF4-FFF2-40B4-BE49-F238E27FC236}">
                <a16:creationId xmlns:a16="http://schemas.microsoft.com/office/drawing/2014/main" id="{02FF660A-403F-C29F-F65F-3F3D85AE17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44" name="Text 136">
            <a:extLst>
              <a:ext uri="{FF2B5EF4-FFF2-40B4-BE49-F238E27FC236}">
                <a16:creationId xmlns:a16="http://schemas.microsoft.com/office/drawing/2014/main" id="{E4F742BC-2D73-6B07-14C4-0CC359AB6980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45" name="Image 6" descr="preencoded.png">
            <a:extLst>
              <a:ext uri="{FF2B5EF4-FFF2-40B4-BE49-F238E27FC236}">
                <a16:creationId xmlns:a16="http://schemas.microsoft.com/office/drawing/2014/main" id="{AE78B1B4-BF5C-2CA5-7003-442C0CDDD0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46" name="Text 137">
            <a:extLst>
              <a:ext uri="{FF2B5EF4-FFF2-40B4-BE49-F238E27FC236}">
                <a16:creationId xmlns:a16="http://schemas.microsoft.com/office/drawing/2014/main" id="{519DB4F8-36AB-F0F3-A477-F279D1E9B356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49" name="Text 53">
            <a:extLst>
              <a:ext uri="{FF2B5EF4-FFF2-40B4-BE49-F238E27FC236}">
                <a16:creationId xmlns:a16="http://schemas.microsoft.com/office/drawing/2014/main" id="{517EF1CE-91FB-A4A3-43A0-2807FCFE8309}"/>
              </a:ext>
            </a:extLst>
          </p:cNvPr>
          <p:cNvSpPr txBox="1"/>
          <p:nvPr/>
        </p:nvSpPr>
        <p:spPr>
          <a:xfrm>
            <a:off x="647395" y="287121"/>
            <a:ext cx="4410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LLM: Encoding Strategy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A2BC99-7312-F00E-F7F8-291AE16DEE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501" y="837590"/>
            <a:ext cx="5632638" cy="58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21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Stage 3: PCA Decision Logic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5772607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4495" y="1143000"/>
            <a:ext cx="3562502" cy="3029407"/>
          </a:xfrm>
          <a:prstGeom prst="roundRect">
            <a:avLst>
              <a:gd name="adj" fmla="val 11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3154" y="1419149"/>
            <a:ext cx="237744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57707" y="1380744"/>
            <a:ext cx="1515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Logic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3154" y="18379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662026" y="1895551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1949" y="1819656"/>
            <a:ext cx="1648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Standardization First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61949" y="2038198"/>
            <a:ext cx="25392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must be scaled (mean=0, var=1) before PCA to prevent magnitude bias.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3154" y="260055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647395" y="2657246"/>
            <a:ext cx="219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961949" y="2581351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Threshold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961949" y="2800807"/>
            <a:ext cx="268193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retention of 0.95 (95%) of original information.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43154" y="3362249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646481" y="3419856"/>
            <a:ext cx="219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961949" y="3343046"/>
            <a:ext cx="1362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Check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961949" y="3562502"/>
            <a:ext cx="27578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apply PCA if dimensions are reduced by at least 10%.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04495" y="4401007"/>
            <a:ext cx="3562502" cy="1904695"/>
          </a:xfrm>
          <a:prstGeom prst="roundRect">
            <a:avLst>
              <a:gd name="adj" fmla="val 288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3154" y="4677156"/>
            <a:ext cx="152705" cy="15270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71754" y="4638751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check?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43154" y="5000854"/>
            <a:ext cx="316748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PCA indiscriminately reduces interpretability. If 95% variance requires keeping 99% of features, PCA adds complexity without benefit. The pipeline intelligently skips PCA in such cases.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4869180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903061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94247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 txBox="1"/>
          <p:nvPr/>
        </p:nvSpPr>
        <p:spPr>
          <a:xfrm>
            <a:off x="117454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12220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5"/>
          <p:cNvSpPr/>
          <p:nvPr/>
        </p:nvSpPr>
        <p:spPr>
          <a:xfrm>
            <a:off x="1589593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 txBox="1"/>
          <p:nvPr/>
        </p:nvSpPr>
        <p:spPr>
          <a:xfrm>
            <a:off x="1558137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1605595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scaler =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16696030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178161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1829074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 txBox="1"/>
          <p:nvPr/>
        </p:nvSpPr>
        <p:spPr>
          <a:xfrm>
            <a:off x="1797619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1845076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numeric_df = df.select_dtypes(include=[np.number])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2276673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 txBox="1"/>
          <p:nvPr/>
        </p:nvSpPr>
        <p:spPr>
          <a:xfrm>
            <a:off x="224521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22926751" y="1809598"/>
            <a:ext cx="37865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scaled_data = scaler.fit_transform(numeric_df)</a:t>
            </a:r>
            <a:endParaRPr lang="en-US" sz="1000" dirty="0"/>
          </a:p>
        </p:txBody>
      </p:sp>
      <p:sp>
        <p:nvSpPr>
          <p:cNvPr id="61" name="Shape 56"/>
          <p:cNvSpPr/>
          <p:nvPr/>
        </p:nvSpPr>
        <p:spPr>
          <a:xfrm>
            <a:off x="2692267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7"/>
          <p:cNvSpPr txBox="1"/>
          <p:nvPr/>
        </p:nvSpPr>
        <p:spPr>
          <a:xfrm>
            <a:off x="2660812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3" name="Shape 58"/>
          <p:cNvSpPr/>
          <p:nvPr/>
        </p:nvSpPr>
        <p:spPr>
          <a:xfrm>
            <a:off x="2739725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9"/>
          <p:cNvSpPr txBox="1"/>
          <p:nvPr/>
        </p:nvSpPr>
        <p:spPr>
          <a:xfrm>
            <a:off x="2708269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27556358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Fit PCA to determine explained variance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3139226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2"/>
          <p:cNvSpPr txBox="1"/>
          <p:nvPr/>
        </p:nvSpPr>
        <p:spPr>
          <a:xfrm>
            <a:off x="3107771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31552286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 =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31952794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3219236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71" name="Shape 66"/>
          <p:cNvSpPr/>
          <p:nvPr/>
        </p:nvSpPr>
        <p:spPr>
          <a:xfrm>
            <a:off x="326678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7"/>
          <p:cNvSpPr txBox="1"/>
          <p:nvPr/>
        </p:nvSpPr>
        <p:spPr>
          <a:xfrm>
            <a:off x="3235330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32826960" y="1809598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pca.fit(scaled_data)</a:t>
            </a:r>
            <a:endParaRPr lang="en-US" sz="1000" dirty="0"/>
          </a:p>
        </p:txBody>
      </p:sp>
      <p:sp>
        <p:nvSpPr>
          <p:cNvPr id="74" name="Shape 69"/>
          <p:cNvSpPr/>
          <p:nvPr/>
        </p:nvSpPr>
        <p:spPr>
          <a:xfrm>
            <a:off x="3474262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0"/>
          <p:cNvSpPr txBox="1"/>
          <p:nvPr/>
        </p:nvSpPr>
        <p:spPr>
          <a:xfrm>
            <a:off x="344280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76" name="Shape 71"/>
          <p:cNvSpPr/>
          <p:nvPr/>
        </p:nvSpPr>
        <p:spPr>
          <a:xfrm>
            <a:off x="3521720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/>
          <p:cNvSpPr txBox="1"/>
          <p:nvPr/>
        </p:nvSpPr>
        <p:spPr>
          <a:xfrm>
            <a:off x="3490264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Text 73"/>
          <p:cNvSpPr txBox="1"/>
          <p:nvPr/>
        </p:nvSpPr>
        <p:spPr>
          <a:xfrm>
            <a:off x="35376307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Find components needed for 95% variance</a:t>
            </a:r>
            <a:endParaRPr lang="en-US" sz="1000" dirty="0"/>
          </a:p>
        </p:txBody>
      </p:sp>
      <p:sp>
        <p:nvSpPr>
          <p:cNvPr id="79" name="Shape 74"/>
          <p:cNvSpPr/>
          <p:nvPr/>
        </p:nvSpPr>
        <p:spPr>
          <a:xfrm>
            <a:off x="3921221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/>
          <p:cNvSpPr txBox="1"/>
          <p:nvPr/>
        </p:nvSpPr>
        <p:spPr>
          <a:xfrm>
            <a:off x="388976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81" name="Text 76"/>
          <p:cNvSpPr txBox="1"/>
          <p:nvPr/>
        </p:nvSpPr>
        <p:spPr>
          <a:xfrm>
            <a:off x="39372235" y="1809598"/>
            <a:ext cx="50630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cumulative_variance = np.cumsum(pca.explained_variance_ratio_)</a:t>
            </a:r>
            <a:endParaRPr lang="en-US" sz="1000" dirty="0"/>
          </a:p>
        </p:txBody>
      </p:sp>
      <p:sp>
        <p:nvSpPr>
          <p:cNvPr id="82" name="Shape 77"/>
          <p:cNvSpPr/>
          <p:nvPr/>
        </p:nvSpPr>
        <p:spPr>
          <a:xfrm>
            <a:off x="4464832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8"/>
          <p:cNvSpPr txBox="1"/>
          <p:nvPr/>
        </p:nvSpPr>
        <p:spPr>
          <a:xfrm>
            <a:off x="443337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84" name="Text 79"/>
          <p:cNvSpPr txBox="1"/>
          <p:nvPr/>
        </p:nvSpPr>
        <p:spPr>
          <a:xfrm>
            <a:off x="4480834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np.where returns indices where condition is true</a:t>
            </a:r>
            <a:endParaRPr lang="en-US" sz="1000" dirty="0"/>
          </a:p>
        </p:txBody>
      </p:sp>
      <p:sp>
        <p:nvSpPr>
          <p:cNvPr id="85" name="Shape 80"/>
          <p:cNvSpPr/>
          <p:nvPr/>
        </p:nvSpPr>
        <p:spPr>
          <a:xfrm>
            <a:off x="4912431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1"/>
          <p:cNvSpPr txBox="1"/>
          <p:nvPr/>
        </p:nvSpPr>
        <p:spPr>
          <a:xfrm>
            <a:off x="4880975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87" name="Text 82"/>
          <p:cNvSpPr txBox="1"/>
          <p:nvPr/>
        </p:nvSpPr>
        <p:spPr>
          <a:xfrm>
            <a:off x="49284331" y="1809598"/>
            <a:ext cx="63486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n_components = np.where(cumulative_variance &gt;= cumulative_variance_threshold)[</a:t>
            </a:r>
            <a:endParaRPr lang="en-US" sz="1000" dirty="0"/>
          </a:p>
        </p:txBody>
      </p:sp>
      <p:sp>
        <p:nvSpPr>
          <p:cNvPr id="88" name="Text 83"/>
          <p:cNvSpPr txBox="1"/>
          <p:nvPr/>
        </p:nvSpPr>
        <p:spPr>
          <a:xfrm>
            <a:off x="5552602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89" name="Text 84"/>
          <p:cNvSpPr txBox="1"/>
          <p:nvPr/>
        </p:nvSpPr>
        <p:spPr>
          <a:xfrm>
            <a:off x="556055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][</a:t>
            </a:r>
            <a:endParaRPr lang="en-US" sz="1000" dirty="0"/>
          </a:p>
        </p:txBody>
      </p:sp>
      <p:sp>
        <p:nvSpPr>
          <p:cNvPr id="90" name="Text 85"/>
          <p:cNvSpPr txBox="1"/>
          <p:nvPr/>
        </p:nvSpPr>
        <p:spPr>
          <a:xfrm>
            <a:off x="5576559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91" name="Text 86"/>
          <p:cNvSpPr txBox="1"/>
          <p:nvPr/>
        </p:nvSpPr>
        <p:spPr>
          <a:xfrm>
            <a:off x="5584606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+</a:t>
            </a:r>
            <a:endParaRPr lang="en-US" sz="1000" dirty="0"/>
          </a:p>
        </p:txBody>
      </p:sp>
      <p:sp>
        <p:nvSpPr>
          <p:cNvPr id="92" name="Text 87"/>
          <p:cNvSpPr txBox="1"/>
          <p:nvPr/>
        </p:nvSpPr>
        <p:spPr>
          <a:xfrm>
            <a:off x="56086553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Shape 88"/>
          <p:cNvSpPr/>
          <p:nvPr/>
        </p:nvSpPr>
        <p:spPr>
          <a:xfrm>
            <a:off x="5648065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9"/>
          <p:cNvSpPr txBox="1"/>
          <p:nvPr/>
        </p:nvSpPr>
        <p:spPr>
          <a:xfrm>
            <a:off x="5616610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95" name="Shape 90"/>
          <p:cNvSpPr/>
          <p:nvPr/>
        </p:nvSpPr>
        <p:spPr>
          <a:xfrm>
            <a:off x="5695523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1"/>
          <p:cNvSpPr txBox="1"/>
          <p:nvPr/>
        </p:nvSpPr>
        <p:spPr>
          <a:xfrm>
            <a:off x="5664067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97" name="Text 92"/>
          <p:cNvSpPr txBox="1"/>
          <p:nvPr/>
        </p:nvSpPr>
        <p:spPr>
          <a:xfrm>
            <a:off x="57115253" y="1809598"/>
            <a:ext cx="3710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Check if reduction is significant (&gt;10%)</a:t>
            </a:r>
            <a:endParaRPr lang="en-US" sz="1000" dirty="0"/>
          </a:p>
        </p:txBody>
      </p:sp>
      <p:sp>
        <p:nvSpPr>
          <p:cNvPr id="98" name="Shape 93"/>
          <p:cNvSpPr/>
          <p:nvPr/>
        </p:nvSpPr>
        <p:spPr>
          <a:xfrm>
            <a:off x="610307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4"/>
          <p:cNvSpPr txBox="1"/>
          <p:nvPr/>
        </p:nvSpPr>
        <p:spPr>
          <a:xfrm>
            <a:off x="6071616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100" name="Text 95"/>
          <p:cNvSpPr txBox="1"/>
          <p:nvPr/>
        </p:nvSpPr>
        <p:spPr>
          <a:xfrm>
            <a:off x="61190734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original_dims = df.shape[</a:t>
            </a:r>
            <a:endParaRPr lang="en-US" sz="1000" dirty="0"/>
          </a:p>
        </p:txBody>
      </p:sp>
      <p:sp>
        <p:nvSpPr>
          <p:cNvPr id="101" name="Text 96"/>
          <p:cNvSpPr txBox="1"/>
          <p:nvPr/>
        </p:nvSpPr>
        <p:spPr>
          <a:xfrm>
            <a:off x="63191441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97"/>
          <p:cNvSpPr txBox="1"/>
          <p:nvPr/>
        </p:nvSpPr>
        <p:spPr>
          <a:xfrm>
            <a:off x="6327190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03" name="Shape 98"/>
          <p:cNvSpPr/>
          <p:nvPr/>
        </p:nvSpPr>
        <p:spPr>
          <a:xfrm>
            <a:off x="636660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99"/>
          <p:cNvSpPr txBox="1"/>
          <p:nvPr/>
        </p:nvSpPr>
        <p:spPr>
          <a:xfrm>
            <a:off x="6335146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105" name="Text 100"/>
          <p:cNvSpPr txBox="1"/>
          <p:nvPr/>
        </p:nvSpPr>
        <p:spPr>
          <a:xfrm>
            <a:off x="63826034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dim_reduction_ratio =</a:t>
            </a:r>
            <a:endParaRPr lang="en-US" sz="1000" dirty="0"/>
          </a:p>
        </p:txBody>
      </p:sp>
      <p:sp>
        <p:nvSpPr>
          <p:cNvPr id="106" name="Text 101"/>
          <p:cNvSpPr txBox="1"/>
          <p:nvPr/>
        </p:nvSpPr>
        <p:spPr>
          <a:xfrm>
            <a:off x="65506702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7" name="Text 102"/>
          <p:cNvSpPr txBox="1"/>
          <p:nvPr/>
        </p:nvSpPr>
        <p:spPr>
          <a:xfrm>
            <a:off x="65587169" y="1809598"/>
            <a:ext cx="2662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(n_components / original_dims)</a:t>
            </a:r>
            <a:endParaRPr lang="en-US" sz="1000" dirty="0"/>
          </a:p>
        </p:txBody>
      </p:sp>
      <p:sp>
        <p:nvSpPr>
          <p:cNvPr id="108" name="Shape 103"/>
          <p:cNvSpPr/>
          <p:nvPr/>
        </p:nvSpPr>
        <p:spPr>
          <a:xfrm>
            <a:off x="68462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4"/>
          <p:cNvSpPr txBox="1"/>
          <p:nvPr/>
        </p:nvSpPr>
        <p:spPr>
          <a:xfrm>
            <a:off x="681474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10" name="Shape 105"/>
          <p:cNvSpPr/>
          <p:nvPr/>
        </p:nvSpPr>
        <p:spPr>
          <a:xfrm>
            <a:off x="6893661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6"/>
          <p:cNvSpPr txBox="1"/>
          <p:nvPr/>
        </p:nvSpPr>
        <p:spPr>
          <a:xfrm>
            <a:off x="686220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12" name="Text 107"/>
          <p:cNvSpPr txBox="1"/>
          <p:nvPr/>
        </p:nvSpPr>
        <p:spPr>
          <a:xfrm>
            <a:off x="69096636" y="1809598"/>
            <a:ext cx="49103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 = dim_reduction_ratio &gt;= min_dim_reduction_ratio</a:t>
            </a:r>
            <a:endParaRPr lang="en-US" sz="1000" dirty="0"/>
          </a:p>
        </p:txBody>
      </p:sp>
      <p:sp>
        <p:nvSpPr>
          <p:cNvPr id="113" name="Shape 108"/>
          <p:cNvSpPr/>
          <p:nvPr/>
        </p:nvSpPr>
        <p:spPr>
          <a:xfrm>
            <a:off x="7421270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9"/>
          <p:cNvSpPr txBox="1"/>
          <p:nvPr/>
        </p:nvSpPr>
        <p:spPr>
          <a:xfrm>
            <a:off x="7389815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15" name="Shape 110"/>
          <p:cNvSpPr/>
          <p:nvPr/>
        </p:nvSpPr>
        <p:spPr>
          <a:xfrm>
            <a:off x="7468727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1"/>
          <p:cNvSpPr txBox="1"/>
          <p:nvPr/>
        </p:nvSpPr>
        <p:spPr>
          <a:xfrm>
            <a:off x="7437272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17" name="Text 112"/>
          <p:cNvSpPr txBox="1"/>
          <p:nvPr/>
        </p:nvSpPr>
        <p:spPr>
          <a:xfrm>
            <a:off x="74847298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18" name="Text 113"/>
          <p:cNvSpPr txBox="1"/>
          <p:nvPr/>
        </p:nvSpPr>
        <p:spPr>
          <a:xfrm>
            <a:off x="75327358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perform_pca, n_components</a:t>
            </a:r>
            <a:endParaRPr lang="en-US" sz="1000" dirty="0"/>
          </a:p>
        </p:txBody>
      </p:sp>
      <p:sp>
        <p:nvSpPr>
          <p:cNvPr id="119" name="Shape 114"/>
          <p:cNvSpPr/>
          <p:nvPr/>
        </p:nvSpPr>
        <p:spPr>
          <a:xfrm>
            <a:off x="7764261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5"/>
          <p:cNvSpPr txBox="1"/>
          <p:nvPr/>
        </p:nvSpPr>
        <p:spPr>
          <a:xfrm>
            <a:off x="7732806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21" name="Shape 116"/>
          <p:cNvSpPr/>
          <p:nvPr/>
        </p:nvSpPr>
        <p:spPr>
          <a:xfrm>
            <a:off x="7811719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7"/>
          <p:cNvSpPr txBox="1"/>
          <p:nvPr/>
        </p:nvSpPr>
        <p:spPr>
          <a:xfrm>
            <a:off x="778026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23" name="Text 118"/>
          <p:cNvSpPr txBox="1"/>
          <p:nvPr/>
        </p:nvSpPr>
        <p:spPr>
          <a:xfrm>
            <a:off x="78276298" y="1809598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Usage Example:</a:t>
            </a:r>
            <a:endParaRPr lang="en-US" sz="1000" dirty="0"/>
          </a:p>
        </p:txBody>
      </p:sp>
      <p:sp>
        <p:nvSpPr>
          <p:cNvPr id="124" name="Shape 119"/>
          <p:cNvSpPr/>
          <p:nvPr/>
        </p:nvSpPr>
        <p:spPr>
          <a:xfrm>
            <a:off x="798719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0"/>
          <p:cNvSpPr txBox="1"/>
          <p:nvPr/>
        </p:nvSpPr>
        <p:spPr>
          <a:xfrm>
            <a:off x="7955737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26" name="Text 121"/>
          <p:cNvSpPr txBox="1"/>
          <p:nvPr/>
        </p:nvSpPr>
        <p:spPr>
          <a:xfrm>
            <a:off x="80031946" y="1809598"/>
            <a:ext cx="5462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needed=9 -&gt; ratio=0.1 -&gt; PCA=True</a:t>
            </a:r>
            <a:endParaRPr lang="en-US" sz="1000" dirty="0"/>
          </a:p>
        </p:txBody>
      </p:sp>
      <p:sp>
        <p:nvSpPr>
          <p:cNvPr id="127" name="Shape 122"/>
          <p:cNvSpPr/>
          <p:nvPr/>
        </p:nvSpPr>
        <p:spPr>
          <a:xfrm>
            <a:off x="857076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3"/>
          <p:cNvSpPr txBox="1"/>
          <p:nvPr/>
        </p:nvSpPr>
        <p:spPr>
          <a:xfrm>
            <a:off x="8539307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29" name="Text 124"/>
          <p:cNvSpPr txBox="1"/>
          <p:nvPr/>
        </p:nvSpPr>
        <p:spPr>
          <a:xfrm>
            <a:off x="85867646" y="1809598"/>
            <a:ext cx="5625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needed=10 -&gt; ratio=0.0 -&gt; PCA=False</a:t>
            </a:r>
            <a:endParaRPr lang="en-US" sz="1000" dirty="0"/>
          </a:p>
        </p:txBody>
      </p:sp>
      <p:sp>
        <p:nvSpPr>
          <p:cNvPr id="130" name="Shape 125"/>
          <p:cNvSpPr/>
          <p:nvPr/>
        </p:nvSpPr>
        <p:spPr>
          <a:xfrm>
            <a:off x="0" y="6608369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6"/>
          <p:cNvSpPr/>
          <p:nvPr/>
        </p:nvSpPr>
        <p:spPr>
          <a:xfrm>
            <a:off x="0" y="660836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Text 127"/>
          <p:cNvSpPr txBox="1"/>
          <p:nvPr/>
        </p:nvSpPr>
        <p:spPr>
          <a:xfrm>
            <a:off x="457200" y="6764731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133" name="Text 128"/>
          <p:cNvSpPr txBox="1"/>
          <p:nvPr/>
        </p:nvSpPr>
        <p:spPr>
          <a:xfrm>
            <a:off x="11320272" y="6764731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13</a:t>
            </a:r>
            <a:endParaRPr lang="en-US" sz="900" dirty="0"/>
          </a:p>
        </p:txBody>
      </p:sp>
      <p:sp>
        <p:nvSpPr>
          <p:cNvPr id="134" name="Shape 129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LLM: PCA Decision Logic</a:t>
            </a:r>
            <a:endParaRPr lang="en-US" dirty="0"/>
          </a:p>
        </p:txBody>
      </p:sp>
      <p:pic>
        <p:nvPicPr>
          <p:cNvPr id="13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38" name="Text 132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3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40" name="Text 133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026" name="Picture 2" descr="Principal Component Analysis (PCA) Explained Visually with Zero Math |  Towards Data Science">
            <a:extLst>
              <a:ext uri="{FF2B5EF4-FFF2-40B4-BE49-F238E27FC236}">
                <a16:creationId xmlns:a16="http://schemas.microsoft.com/office/drawing/2014/main" id="{D887E74A-F647-0637-82FB-98405DAB5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294" y="1491653"/>
            <a:ext cx="6371827" cy="475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8B048-5BD6-6E06-207D-8E99B532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61F2F0-EF75-F493-7FBA-B8577A33E038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70D2A0-F2B9-3B17-13EB-C71C9DDD48CF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75FEC3-212E-F3A6-AD51-24B326B4FAD8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E05CADF-E1E1-2561-2912-4447D9881C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90C1D99-3A31-4B79-BBC9-5DE3CC708031}"/>
              </a:ext>
            </a:extLst>
          </p:cNvPr>
          <p:cNvSpPr txBox="1"/>
          <p:nvPr/>
        </p:nvSpPr>
        <p:spPr>
          <a:xfrm>
            <a:off x="990295" y="237744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Stage 3: PCA Decision Logic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962EF04-BB4D-5FAF-41D4-F9B734A67753}"/>
              </a:ext>
            </a:extLst>
          </p:cNvPr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D4C5F13-6C11-BC92-9C46-E337672CC184}"/>
              </a:ext>
            </a:extLst>
          </p:cNvPr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331BA30-6AA5-B37E-8CE0-8E2584793F09}"/>
              </a:ext>
            </a:extLst>
          </p:cNvPr>
          <p:cNvSpPr/>
          <p:nvPr/>
        </p:nvSpPr>
        <p:spPr>
          <a:xfrm>
            <a:off x="0" y="838505"/>
            <a:ext cx="12191695" cy="5772607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40263BE4-A783-B88F-6F62-A30443097E3C}"/>
              </a:ext>
            </a:extLst>
          </p:cNvPr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31291618-0E85-7190-D153-A5B8577E874D}"/>
              </a:ext>
            </a:extLst>
          </p:cNvPr>
          <p:cNvSpPr txBox="1"/>
          <p:nvPr/>
        </p:nvSpPr>
        <p:spPr>
          <a:xfrm>
            <a:off x="4869180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7BA3C296-5FC6-9C6A-BD78-C21DC2F319B2}"/>
              </a:ext>
            </a:extLst>
          </p:cNvPr>
          <p:cNvSpPr txBox="1"/>
          <p:nvPr/>
        </p:nvSpPr>
        <p:spPr>
          <a:xfrm>
            <a:off x="903061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7C61AEFA-55BE-A601-CA41-28E1F2B818E2}"/>
              </a:ext>
            </a:extLst>
          </p:cNvPr>
          <p:cNvSpPr/>
          <p:nvPr/>
        </p:nvSpPr>
        <p:spPr>
          <a:xfrm>
            <a:off x="94247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EFA43C72-FAD8-2E56-702C-EED1512275FC}"/>
              </a:ext>
            </a:extLst>
          </p:cNvPr>
          <p:cNvSpPr txBox="1"/>
          <p:nvPr/>
        </p:nvSpPr>
        <p:spPr>
          <a:xfrm>
            <a:off x="117454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000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7A9D6853-B945-D2AC-24CE-16F65BDE4134}"/>
              </a:ext>
            </a:extLst>
          </p:cNvPr>
          <p:cNvSpPr/>
          <p:nvPr/>
        </p:nvSpPr>
        <p:spPr>
          <a:xfrm>
            <a:off x="12220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5">
            <a:extLst>
              <a:ext uri="{FF2B5EF4-FFF2-40B4-BE49-F238E27FC236}">
                <a16:creationId xmlns:a16="http://schemas.microsoft.com/office/drawing/2014/main" id="{349B3179-B7E5-7671-E264-392490398B85}"/>
              </a:ext>
            </a:extLst>
          </p:cNvPr>
          <p:cNvSpPr/>
          <p:nvPr/>
        </p:nvSpPr>
        <p:spPr>
          <a:xfrm>
            <a:off x="1589593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C5DB3CCE-26FC-F22F-AB8C-A6ABD1175D11}"/>
              </a:ext>
            </a:extLst>
          </p:cNvPr>
          <p:cNvSpPr txBox="1"/>
          <p:nvPr/>
        </p:nvSpPr>
        <p:spPr>
          <a:xfrm>
            <a:off x="1558137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F064922D-2AE8-78D0-A1A4-7030B47B08F4}"/>
              </a:ext>
            </a:extLst>
          </p:cNvPr>
          <p:cNvSpPr txBox="1"/>
          <p:nvPr/>
        </p:nvSpPr>
        <p:spPr>
          <a:xfrm>
            <a:off x="1605595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scaler =</a:t>
            </a:r>
            <a:endParaRPr lang="en-US" sz="1000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A04A6FA4-8D30-CA25-3452-4F5319136EF4}"/>
              </a:ext>
            </a:extLst>
          </p:cNvPr>
          <p:cNvSpPr txBox="1"/>
          <p:nvPr/>
        </p:nvSpPr>
        <p:spPr>
          <a:xfrm>
            <a:off x="16696030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E9EC41F0-FDC5-FCCE-E6DC-296BC6D81982}"/>
              </a:ext>
            </a:extLst>
          </p:cNvPr>
          <p:cNvSpPr txBox="1"/>
          <p:nvPr/>
        </p:nvSpPr>
        <p:spPr>
          <a:xfrm>
            <a:off x="178161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55" name="Shape 50">
            <a:extLst>
              <a:ext uri="{FF2B5EF4-FFF2-40B4-BE49-F238E27FC236}">
                <a16:creationId xmlns:a16="http://schemas.microsoft.com/office/drawing/2014/main" id="{CDE7D67D-FB6D-E8F8-49D7-A69CE387FDBC}"/>
              </a:ext>
            </a:extLst>
          </p:cNvPr>
          <p:cNvSpPr/>
          <p:nvPr/>
        </p:nvSpPr>
        <p:spPr>
          <a:xfrm>
            <a:off x="1829074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7E5C12C3-B52F-4D6E-EC05-184640E661B1}"/>
              </a:ext>
            </a:extLst>
          </p:cNvPr>
          <p:cNvSpPr txBox="1"/>
          <p:nvPr/>
        </p:nvSpPr>
        <p:spPr>
          <a:xfrm>
            <a:off x="1797619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BE5D4183-6E28-F1EF-71A9-C5E7C7F19966}"/>
              </a:ext>
            </a:extLst>
          </p:cNvPr>
          <p:cNvSpPr txBox="1"/>
          <p:nvPr/>
        </p:nvSpPr>
        <p:spPr>
          <a:xfrm>
            <a:off x="1845076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numeric_df = df.select_dtypes(include=[np.number])</a:t>
            </a:r>
            <a:endParaRPr lang="en-US" sz="1000" dirty="0"/>
          </a:p>
        </p:txBody>
      </p:sp>
      <p:sp>
        <p:nvSpPr>
          <p:cNvPr id="58" name="Shape 53">
            <a:extLst>
              <a:ext uri="{FF2B5EF4-FFF2-40B4-BE49-F238E27FC236}">
                <a16:creationId xmlns:a16="http://schemas.microsoft.com/office/drawing/2014/main" id="{C0408E54-5F9A-20E8-A5D5-E7A94D92CA32}"/>
              </a:ext>
            </a:extLst>
          </p:cNvPr>
          <p:cNvSpPr/>
          <p:nvPr/>
        </p:nvSpPr>
        <p:spPr>
          <a:xfrm>
            <a:off x="2276673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4EF8BA83-CB49-C703-A6D8-3AF102D2C083}"/>
              </a:ext>
            </a:extLst>
          </p:cNvPr>
          <p:cNvSpPr txBox="1"/>
          <p:nvPr/>
        </p:nvSpPr>
        <p:spPr>
          <a:xfrm>
            <a:off x="224521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E20603B3-5CCE-67A0-AD7A-2384E009B02D}"/>
              </a:ext>
            </a:extLst>
          </p:cNvPr>
          <p:cNvSpPr txBox="1"/>
          <p:nvPr/>
        </p:nvSpPr>
        <p:spPr>
          <a:xfrm>
            <a:off x="22926751" y="1809598"/>
            <a:ext cx="37865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scaled_data = scaler.fit_transform(numeric_df)</a:t>
            </a:r>
            <a:endParaRPr lang="en-US" sz="1000" dirty="0"/>
          </a:p>
        </p:txBody>
      </p:sp>
      <p:sp>
        <p:nvSpPr>
          <p:cNvPr id="61" name="Shape 56">
            <a:extLst>
              <a:ext uri="{FF2B5EF4-FFF2-40B4-BE49-F238E27FC236}">
                <a16:creationId xmlns:a16="http://schemas.microsoft.com/office/drawing/2014/main" id="{5FF05295-5AF0-EB2F-FE3D-40ED6E1E2A8C}"/>
              </a:ext>
            </a:extLst>
          </p:cNvPr>
          <p:cNvSpPr/>
          <p:nvPr/>
        </p:nvSpPr>
        <p:spPr>
          <a:xfrm>
            <a:off x="2692267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612D9873-E08E-639E-3CEC-595D72090C70}"/>
              </a:ext>
            </a:extLst>
          </p:cNvPr>
          <p:cNvSpPr txBox="1"/>
          <p:nvPr/>
        </p:nvSpPr>
        <p:spPr>
          <a:xfrm>
            <a:off x="2660812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3" name="Shape 58">
            <a:extLst>
              <a:ext uri="{FF2B5EF4-FFF2-40B4-BE49-F238E27FC236}">
                <a16:creationId xmlns:a16="http://schemas.microsoft.com/office/drawing/2014/main" id="{5C37E20C-A28E-AB82-AB79-8818E4BD7721}"/>
              </a:ext>
            </a:extLst>
          </p:cNvPr>
          <p:cNvSpPr/>
          <p:nvPr/>
        </p:nvSpPr>
        <p:spPr>
          <a:xfrm>
            <a:off x="2739725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ACFC66E7-092B-C7B6-ADA0-3334E9DEFA3A}"/>
              </a:ext>
            </a:extLst>
          </p:cNvPr>
          <p:cNvSpPr txBox="1"/>
          <p:nvPr/>
        </p:nvSpPr>
        <p:spPr>
          <a:xfrm>
            <a:off x="2708269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65" name="Text 60">
            <a:extLst>
              <a:ext uri="{FF2B5EF4-FFF2-40B4-BE49-F238E27FC236}">
                <a16:creationId xmlns:a16="http://schemas.microsoft.com/office/drawing/2014/main" id="{B4FD5A95-A793-7B2B-4B27-4487AF24D22F}"/>
              </a:ext>
            </a:extLst>
          </p:cNvPr>
          <p:cNvSpPr txBox="1"/>
          <p:nvPr/>
        </p:nvSpPr>
        <p:spPr>
          <a:xfrm>
            <a:off x="27556358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Fit PCA to determine explained variance</a:t>
            </a:r>
            <a:endParaRPr lang="en-US" sz="1000" dirty="0"/>
          </a:p>
        </p:txBody>
      </p:sp>
      <p:sp>
        <p:nvSpPr>
          <p:cNvPr id="66" name="Shape 61">
            <a:extLst>
              <a:ext uri="{FF2B5EF4-FFF2-40B4-BE49-F238E27FC236}">
                <a16:creationId xmlns:a16="http://schemas.microsoft.com/office/drawing/2014/main" id="{32B41873-F698-49A1-5F9B-9E093C2AAE77}"/>
              </a:ext>
            </a:extLst>
          </p:cNvPr>
          <p:cNvSpPr/>
          <p:nvPr/>
        </p:nvSpPr>
        <p:spPr>
          <a:xfrm>
            <a:off x="3139226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2">
            <a:extLst>
              <a:ext uri="{FF2B5EF4-FFF2-40B4-BE49-F238E27FC236}">
                <a16:creationId xmlns:a16="http://schemas.microsoft.com/office/drawing/2014/main" id="{C5B01646-2A14-9132-0366-EF11019CC5ED}"/>
              </a:ext>
            </a:extLst>
          </p:cNvPr>
          <p:cNvSpPr txBox="1"/>
          <p:nvPr/>
        </p:nvSpPr>
        <p:spPr>
          <a:xfrm>
            <a:off x="3107771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68" name="Text 63">
            <a:extLst>
              <a:ext uri="{FF2B5EF4-FFF2-40B4-BE49-F238E27FC236}">
                <a16:creationId xmlns:a16="http://schemas.microsoft.com/office/drawing/2014/main" id="{58D5C533-1E04-04F7-4312-19088A96C6E9}"/>
              </a:ext>
            </a:extLst>
          </p:cNvPr>
          <p:cNvSpPr txBox="1"/>
          <p:nvPr/>
        </p:nvSpPr>
        <p:spPr>
          <a:xfrm>
            <a:off x="31552286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 =</a:t>
            </a:r>
            <a:endParaRPr lang="en-US" sz="1000" dirty="0"/>
          </a:p>
        </p:txBody>
      </p:sp>
      <p:sp>
        <p:nvSpPr>
          <p:cNvPr id="69" name="Text 64">
            <a:extLst>
              <a:ext uri="{FF2B5EF4-FFF2-40B4-BE49-F238E27FC236}">
                <a16:creationId xmlns:a16="http://schemas.microsoft.com/office/drawing/2014/main" id="{AE4E6922-C31E-61A1-696F-ECDE5CC9038D}"/>
              </a:ext>
            </a:extLst>
          </p:cNvPr>
          <p:cNvSpPr txBox="1"/>
          <p:nvPr/>
        </p:nvSpPr>
        <p:spPr>
          <a:xfrm>
            <a:off x="31952794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</a:t>
            </a:r>
            <a:endParaRPr lang="en-US" sz="1000" dirty="0"/>
          </a:p>
        </p:txBody>
      </p:sp>
      <p:sp>
        <p:nvSpPr>
          <p:cNvPr id="70" name="Text 65">
            <a:extLst>
              <a:ext uri="{FF2B5EF4-FFF2-40B4-BE49-F238E27FC236}">
                <a16:creationId xmlns:a16="http://schemas.microsoft.com/office/drawing/2014/main" id="{ED3DCC7A-8353-E29A-6840-FDCD72BED44D}"/>
              </a:ext>
            </a:extLst>
          </p:cNvPr>
          <p:cNvSpPr txBox="1"/>
          <p:nvPr/>
        </p:nvSpPr>
        <p:spPr>
          <a:xfrm>
            <a:off x="3219236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71" name="Shape 66">
            <a:extLst>
              <a:ext uri="{FF2B5EF4-FFF2-40B4-BE49-F238E27FC236}">
                <a16:creationId xmlns:a16="http://schemas.microsoft.com/office/drawing/2014/main" id="{F767B060-D1ED-7413-0CDF-4A5C15D0C576}"/>
              </a:ext>
            </a:extLst>
          </p:cNvPr>
          <p:cNvSpPr/>
          <p:nvPr/>
        </p:nvSpPr>
        <p:spPr>
          <a:xfrm>
            <a:off x="326678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7">
            <a:extLst>
              <a:ext uri="{FF2B5EF4-FFF2-40B4-BE49-F238E27FC236}">
                <a16:creationId xmlns:a16="http://schemas.microsoft.com/office/drawing/2014/main" id="{61A3BFE9-3C21-D6F7-1C26-D94E4CC7D392}"/>
              </a:ext>
            </a:extLst>
          </p:cNvPr>
          <p:cNvSpPr txBox="1"/>
          <p:nvPr/>
        </p:nvSpPr>
        <p:spPr>
          <a:xfrm>
            <a:off x="3235330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68">
            <a:extLst>
              <a:ext uri="{FF2B5EF4-FFF2-40B4-BE49-F238E27FC236}">
                <a16:creationId xmlns:a16="http://schemas.microsoft.com/office/drawing/2014/main" id="{C36997E3-0372-464D-71DA-588BD7CEFA62}"/>
              </a:ext>
            </a:extLst>
          </p:cNvPr>
          <p:cNvSpPr txBox="1"/>
          <p:nvPr/>
        </p:nvSpPr>
        <p:spPr>
          <a:xfrm>
            <a:off x="32826960" y="1809598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pca.fit(scaled_data)</a:t>
            </a:r>
            <a:endParaRPr lang="en-US" sz="1000" dirty="0"/>
          </a:p>
        </p:txBody>
      </p:sp>
      <p:sp>
        <p:nvSpPr>
          <p:cNvPr id="74" name="Shape 69">
            <a:extLst>
              <a:ext uri="{FF2B5EF4-FFF2-40B4-BE49-F238E27FC236}">
                <a16:creationId xmlns:a16="http://schemas.microsoft.com/office/drawing/2014/main" id="{E12D9C7A-EC5A-A7EB-8B45-15B6F7B57A03}"/>
              </a:ext>
            </a:extLst>
          </p:cNvPr>
          <p:cNvSpPr/>
          <p:nvPr/>
        </p:nvSpPr>
        <p:spPr>
          <a:xfrm>
            <a:off x="3474262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0">
            <a:extLst>
              <a:ext uri="{FF2B5EF4-FFF2-40B4-BE49-F238E27FC236}">
                <a16:creationId xmlns:a16="http://schemas.microsoft.com/office/drawing/2014/main" id="{DF18E981-ED6B-A833-B6D4-D7FB3EB9507A}"/>
              </a:ext>
            </a:extLst>
          </p:cNvPr>
          <p:cNvSpPr txBox="1"/>
          <p:nvPr/>
        </p:nvSpPr>
        <p:spPr>
          <a:xfrm>
            <a:off x="344280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76" name="Shape 71">
            <a:extLst>
              <a:ext uri="{FF2B5EF4-FFF2-40B4-BE49-F238E27FC236}">
                <a16:creationId xmlns:a16="http://schemas.microsoft.com/office/drawing/2014/main" id="{FF7CFE88-5A4B-8B1E-DAD5-EA2745BEC3A0}"/>
              </a:ext>
            </a:extLst>
          </p:cNvPr>
          <p:cNvSpPr/>
          <p:nvPr/>
        </p:nvSpPr>
        <p:spPr>
          <a:xfrm>
            <a:off x="3521720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>
            <a:extLst>
              <a:ext uri="{FF2B5EF4-FFF2-40B4-BE49-F238E27FC236}">
                <a16:creationId xmlns:a16="http://schemas.microsoft.com/office/drawing/2014/main" id="{EDFB439B-6041-B8CA-B5E9-AB60DE8DE5F0}"/>
              </a:ext>
            </a:extLst>
          </p:cNvPr>
          <p:cNvSpPr txBox="1"/>
          <p:nvPr/>
        </p:nvSpPr>
        <p:spPr>
          <a:xfrm>
            <a:off x="3490264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Text 73">
            <a:extLst>
              <a:ext uri="{FF2B5EF4-FFF2-40B4-BE49-F238E27FC236}">
                <a16:creationId xmlns:a16="http://schemas.microsoft.com/office/drawing/2014/main" id="{48D4846A-624B-6BC4-FC76-75C574A3A998}"/>
              </a:ext>
            </a:extLst>
          </p:cNvPr>
          <p:cNvSpPr txBox="1"/>
          <p:nvPr/>
        </p:nvSpPr>
        <p:spPr>
          <a:xfrm>
            <a:off x="35376307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Find components needed for 95% variance</a:t>
            </a:r>
            <a:endParaRPr lang="en-US" sz="1000" dirty="0"/>
          </a:p>
        </p:txBody>
      </p:sp>
      <p:sp>
        <p:nvSpPr>
          <p:cNvPr id="79" name="Shape 74">
            <a:extLst>
              <a:ext uri="{FF2B5EF4-FFF2-40B4-BE49-F238E27FC236}">
                <a16:creationId xmlns:a16="http://schemas.microsoft.com/office/drawing/2014/main" id="{3422187C-50F7-D657-4D55-D16A2223C58E}"/>
              </a:ext>
            </a:extLst>
          </p:cNvPr>
          <p:cNvSpPr/>
          <p:nvPr/>
        </p:nvSpPr>
        <p:spPr>
          <a:xfrm>
            <a:off x="3921221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>
            <a:extLst>
              <a:ext uri="{FF2B5EF4-FFF2-40B4-BE49-F238E27FC236}">
                <a16:creationId xmlns:a16="http://schemas.microsoft.com/office/drawing/2014/main" id="{03BCF276-F716-1B4C-7F70-1EEB2FBF03A0}"/>
              </a:ext>
            </a:extLst>
          </p:cNvPr>
          <p:cNvSpPr txBox="1"/>
          <p:nvPr/>
        </p:nvSpPr>
        <p:spPr>
          <a:xfrm>
            <a:off x="388976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81" name="Text 76">
            <a:extLst>
              <a:ext uri="{FF2B5EF4-FFF2-40B4-BE49-F238E27FC236}">
                <a16:creationId xmlns:a16="http://schemas.microsoft.com/office/drawing/2014/main" id="{CE1501FD-84DE-06E3-7840-C7175B4D5CA2}"/>
              </a:ext>
            </a:extLst>
          </p:cNvPr>
          <p:cNvSpPr txBox="1"/>
          <p:nvPr/>
        </p:nvSpPr>
        <p:spPr>
          <a:xfrm>
            <a:off x="39372235" y="1809598"/>
            <a:ext cx="50630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cumulative_variance = np.cumsum(pca.explained_variance_ratio_)</a:t>
            </a:r>
            <a:endParaRPr lang="en-US" sz="1000" dirty="0"/>
          </a:p>
        </p:txBody>
      </p:sp>
      <p:sp>
        <p:nvSpPr>
          <p:cNvPr id="82" name="Shape 77">
            <a:extLst>
              <a:ext uri="{FF2B5EF4-FFF2-40B4-BE49-F238E27FC236}">
                <a16:creationId xmlns:a16="http://schemas.microsoft.com/office/drawing/2014/main" id="{22B09296-60C0-71AC-EC82-E360D2DA6BBA}"/>
              </a:ext>
            </a:extLst>
          </p:cNvPr>
          <p:cNvSpPr/>
          <p:nvPr/>
        </p:nvSpPr>
        <p:spPr>
          <a:xfrm>
            <a:off x="4464832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8">
            <a:extLst>
              <a:ext uri="{FF2B5EF4-FFF2-40B4-BE49-F238E27FC236}">
                <a16:creationId xmlns:a16="http://schemas.microsoft.com/office/drawing/2014/main" id="{E4902062-3774-8F0E-5071-0258D097D136}"/>
              </a:ext>
            </a:extLst>
          </p:cNvPr>
          <p:cNvSpPr txBox="1"/>
          <p:nvPr/>
        </p:nvSpPr>
        <p:spPr>
          <a:xfrm>
            <a:off x="443337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84" name="Text 79">
            <a:extLst>
              <a:ext uri="{FF2B5EF4-FFF2-40B4-BE49-F238E27FC236}">
                <a16:creationId xmlns:a16="http://schemas.microsoft.com/office/drawing/2014/main" id="{1410E095-714B-9A9D-E61C-B05D71397A07}"/>
              </a:ext>
            </a:extLst>
          </p:cNvPr>
          <p:cNvSpPr txBox="1"/>
          <p:nvPr/>
        </p:nvSpPr>
        <p:spPr>
          <a:xfrm>
            <a:off x="4480834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np.where returns indices where condition is true</a:t>
            </a:r>
            <a:endParaRPr lang="en-US" sz="1000" dirty="0"/>
          </a:p>
        </p:txBody>
      </p:sp>
      <p:sp>
        <p:nvSpPr>
          <p:cNvPr id="85" name="Shape 80">
            <a:extLst>
              <a:ext uri="{FF2B5EF4-FFF2-40B4-BE49-F238E27FC236}">
                <a16:creationId xmlns:a16="http://schemas.microsoft.com/office/drawing/2014/main" id="{224DFD89-578D-45A1-0ED7-508F1AC408D6}"/>
              </a:ext>
            </a:extLst>
          </p:cNvPr>
          <p:cNvSpPr/>
          <p:nvPr/>
        </p:nvSpPr>
        <p:spPr>
          <a:xfrm>
            <a:off x="4912431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1">
            <a:extLst>
              <a:ext uri="{FF2B5EF4-FFF2-40B4-BE49-F238E27FC236}">
                <a16:creationId xmlns:a16="http://schemas.microsoft.com/office/drawing/2014/main" id="{FD7DDE03-55A0-B100-97F3-C76150F410ED}"/>
              </a:ext>
            </a:extLst>
          </p:cNvPr>
          <p:cNvSpPr txBox="1"/>
          <p:nvPr/>
        </p:nvSpPr>
        <p:spPr>
          <a:xfrm>
            <a:off x="4880975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87" name="Text 82">
            <a:extLst>
              <a:ext uri="{FF2B5EF4-FFF2-40B4-BE49-F238E27FC236}">
                <a16:creationId xmlns:a16="http://schemas.microsoft.com/office/drawing/2014/main" id="{FF59E427-46DD-5150-6734-1CD5EE335E73}"/>
              </a:ext>
            </a:extLst>
          </p:cNvPr>
          <p:cNvSpPr txBox="1"/>
          <p:nvPr/>
        </p:nvSpPr>
        <p:spPr>
          <a:xfrm>
            <a:off x="49284331" y="1809598"/>
            <a:ext cx="63486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n_components = np.where(cumulative_variance &gt;= cumulative_variance_threshold)[</a:t>
            </a:r>
            <a:endParaRPr lang="en-US" sz="1000" dirty="0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67E537B7-9593-B45C-FF51-3668B98833A1}"/>
              </a:ext>
            </a:extLst>
          </p:cNvPr>
          <p:cNvSpPr txBox="1"/>
          <p:nvPr/>
        </p:nvSpPr>
        <p:spPr>
          <a:xfrm>
            <a:off x="5552602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89" name="Text 84">
            <a:extLst>
              <a:ext uri="{FF2B5EF4-FFF2-40B4-BE49-F238E27FC236}">
                <a16:creationId xmlns:a16="http://schemas.microsoft.com/office/drawing/2014/main" id="{FC179EB6-C5CD-15C7-38C5-053112A9233C}"/>
              </a:ext>
            </a:extLst>
          </p:cNvPr>
          <p:cNvSpPr txBox="1"/>
          <p:nvPr/>
        </p:nvSpPr>
        <p:spPr>
          <a:xfrm>
            <a:off x="556055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][</a:t>
            </a:r>
            <a:endParaRPr lang="en-US" sz="1000" dirty="0"/>
          </a:p>
        </p:txBody>
      </p:sp>
      <p:sp>
        <p:nvSpPr>
          <p:cNvPr id="90" name="Text 85">
            <a:extLst>
              <a:ext uri="{FF2B5EF4-FFF2-40B4-BE49-F238E27FC236}">
                <a16:creationId xmlns:a16="http://schemas.microsoft.com/office/drawing/2014/main" id="{FD7ACABD-99D8-CBA8-BA0B-15A7983E150B}"/>
              </a:ext>
            </a:extLst>
          </p:cNvPr>
          <p:cNvSpPr txBox="1"/>
          <p:nvPr/>
        </p:nvSpPr>
        <p:spPr>
          <a:xfrm>
            <a:off x="5576559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91" name="Text 86">
            <a:extLst>
              <a:ext uri="{FF2B5EF4-FFF2-40B4-BE49-F238E27FC236}">
                <a16:creationId xmlns:a16="http://schemas.microsoft.com/office/drawing/2014/main" id="{349EA684-F851-08D4-908B-798439B06216}"/>
              </a:ext>
            </a:extLst>
          </p:cNvPr>
          <p:cNvSpPr txBox="1"/>
          <p:nvPr/>
        </p:nvSpPr>
        <p:spPr>
          <a:xfrm>
            <a:off x="5584606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+</a:t>
            </a:r>
            <a:endParaRPr lang="en-US" sz="1000" dirty="0"/>
          </a:p>
        </p:txBody>
      </p:sp>
      <p:sp>
        <p:nvSpPr>
          <p:cNvPr id="92" name="Text 87">
            <a:extLst>
              <a:ext uri="{FF2B5EF4-FFF2-40B4-BE49-F238E27FC236}">
                <a16:creationId xmlns:a16="http://schemas.microsoft.com/office/drawing/2014/main" id="{A98FA0E8-C550-A887-E7E0-C9D1D4C1288D}"/>
              </a:ext>
            </a:extLst>
          </p:cNvPr>
          <p:cNvSpPr txBox="1"/>
          <p:nvPr/>
        </p:nvSpPr>
        <p:spPr>
          <a:xfrm>
            <a:off x="56086553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Shape 88">
            <a:extLst>
              <a:ext uri="{FF2B5EF4-FFF2-40B4-BE49-F238E27FC236}">
                <a16:creationId xmlns:a16="http://schemas.microsoft.com/office/drawing/2014/main" id="{A5179C1B-17DE-FDF7-09E4-8567F0D3C574}"/>
              </a:ext>
            </a:extLst>
          </p:cNvPr>
          <p:cNvSpPr/>
          <p:nvPr/>
        </p:nvSpPr>
        <p:spPr>
          <a:xfrm>
            <a:off x="5648065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9">
            <a:extLst>
              <a:ext uri="{FF2B5EF4-FFF2-40B4-BE49-F238E27FC236}">
                <a16:creationId xmlns:a16="http://schemas.microsoft.com/office/drawing/2014/main" id="{9402CD48-4353-87FA-52B0-06EC8FF3F542}"/>
              </a:ext>
            </a:extLst>
          </p:cNvPr>
          <p:cNvSpPr txBox="1"/>
          <p:nvPr/>
        </p:nvSpPr>
        <p:spPr>
          <a:xfrm>
            <a:off x="5616610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95" name="Shape 90">
            <a:extLst>
              <a:ext uri="{FF2B5EF4-FFF2-40B4-BE49-F238E27FC236}">
                <a16:creationId xmlns:a16="http://schemas.microsoft.com/office/drawing/2014/main" id="{731920AC-EF87-892D-385C-577C0C992464}"/>
              </a:ext>
            </a:extLst>
          </p:cNvPr>
          <p:cNvSpPr/>
          <p:nvPr/>
        </p:nvSpPr>
        <p:spPr>
          <a:xfrm>
            <a:off x="5695523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1">
            <a:extLst>
              <a:ext uri="{FF2B5EF4-FFF2-40B4-BE49-F238E27FC236}">
                <a16:creationId xmlns:a16="http://schemas.microsoft.com/office/drawing/2014/main" id="{406B8A96-63DC-7F53-A9B0-BB98865B2B43}"/>
              </a:ext>
            </a:extLst>
          </p:cNvPr>
          <p:cNvSpPr txBox="1"/>
          <p:nvPr/>
        </p:nvSpPr>
        <p:spPr>
          <a:xfrm>
            <a:off x="5664067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97" name="Text 92">
            <a:extLst>
              <a:ext uri="{FF2B5EF4-FFF2-40B4-BE49-F238E27FC236}">
                <a16:creationId xmlns:a16="http://schemas.microsoft.com/office/drawing/2014/main" id="{C0C38674-45F5-D6C1-B6E2-7A7DA2657316}"/>
              </a:ext>
            </a:extLst>
          </p:cNvPr>
          <p:cNvSpPr txBox="1"/>
          <p:nvPr/>
        </p:nvSpPr>
        <p:spPr>
          <a:xfrm>
            <a:off x="57115253" y="1809598"/>
            <a:ext cx="3710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Check if reduction is significant (&gt;10%)</a:t>
            </a:r>
            <a:endParaRPr lang="en-US" sz="1000" dirty="0"/>
          </a:p>
        </p:txBody>
      </p:sp>
      <p:sp>
        <p:nvSpPr>
          <p:cNvPr id="98" name="Shape 93">
            <a:extLst>
              <a:ext uri="{FF2B5EF4-FFF2-40B4-BE49-F238E27FC236}">
                <a16:creationId xmlns:a16="http://schemas.microsoft.com/office/drawing/2014/main" id="{4441CB7C-E4EE-26D4-34B7-1CFD185BA99D}"/>
              </a:ext>
            </a:extLst>
          </p:cNvPr>
          <p:cNvSpPr/>
          <p:nvPr/>
        </p:nvSpPr>
        <p:spPr>
          <a:xfrm>
            <a:off x="610307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4">
            <a:extLst>
              <a:ext uri="{FF2B5EF4-FFF2-40B4-BE49-F238E27FC236}">
                <a16:creationId xmlns:a16="http://schemas.microsoft.com/office/drawing/2014/main" id="{2370B735-F90C-E5D4-9B29-C77BD83F0217}"/>
              </a:ext>
            </a:extLst>
          </p:cNvPr>
          <p:cNvSpPr txBox="1"/>
          <p:nvPr/>
        </p:nvSpPr>
        <p:spPr>
          <a:xfrm>
            <a:off x="6071616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100" name="Text 95">
            <a:extLst>
              <a:ext uri="{FF2B5EF4-FFF2-40B4-BE49-F238E27FC236}">
                <a16:creationId xmlns:a16="http://schemas.microsoft.com/office/drawing/2014/main" id="{B95B828B-D749-2E73-9D05-DF6504253746}"/>
              </a:ext>
            </a:extLst>
          </p:cNvPr>
          <p:cNvSpPr txBox="1"/>
          <p:nvPr/>
        </p:nvSpPr>
        <p:spPr>
          <a:xfrm>
            <a:off x="61190734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original_dims = df.shape[</a:t>
            </a:r>
            <a:endParaRPr lang="en-US" sz="1000" dirty="0"/>
          </a:p>
        </p:txBody>
      </p:sp>
      <p:sp>
        <p:nvSpPr>
          <p:cNvPr id="101" name="Text 96">
            <a:extLst>
              <a:ext uri="{FF2B5EF4-FFF2-40B4-BE49-F238E27FC236}">
                <a16:creationId xmlns:a16="http://schemas.microsoft.com/office/drawing/2014/main" id="{C242E873-C04A-15A9-D115-23E8AD50AFF9}"/>
              </a:ext>
            </a:extLst>
          </p:cNvPr>
          <p:cNvSpPr txBox="1"/>
          <p:nvPr/>
        </p:nvSpPr>
        <p:spPr>
          <a:xfrm>
            <a:off x="63191441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97">
            <a:extLst>
              <a:ext uri="{FF2B5EF4-FFF2-40B4-BE49-F238E27FC236}">
                <a16:creationId xmlns:a16="http://schemas.microsoft.com/office/drawing/2014/main" id="{A3BD0973-1B15-6FB4-7472-08B561C2A0A4}"/>
              </a:ext>
            </a:extLst>
          </p:cNvPr>
          <p:cNvSpPr txBox="1"/>
          <p:nvPr/>
        </p:nvSpPr>
        <p:spPr>
          <a:xfrm>
            <a:off x="6327190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03" name="Shape 98">
            <a:extLst>
              <a:ext uri="{FF2B5EF4-FFF2-40B4-BE49-F238E27FC236}">
                <a16:creationId xmlns:a16="http://schemas.microsoft.com/office/drawing/2014/main" id="{F7153ED9-40B6-2119-2907-D9332B1463D5}"/>
              </a:ext>
            </a:extLst>
          </p:cNvPr>
          <p:cNvSpPr/>
          <p:nvPr/>
        </p:nvSpPr>
        <p:spPr>
          <a:xfrm>
            <a:off x="636660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99">
            <a:extLst>
              <a:ext uri="{FF2B5EF4-FFF2-40B4-BE49-F238E27FC236}">
                <a16:creationId xmlns:a16="http://schemas.microsoft.com/office/drawing/2014/main" id="{EC86CE5D-8028-63C0-0C33-D9DEAEB91968}"/>
              </a:ext>
            </a:extLst>
          </p:cNvPr>
          <p:cNvSpPr txBox="1"/>
          <p:nvPr/>
        </p:nvSpPr>
        <p:spPr>
          <a:xfrm>
            <a:off x="6335146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105" name="Text 100">
            <a:extLst>
              <a:ext uri="{FF2B5EF4-FFF2-40B4-BE49-F238E27FC236}">
                <a16:creationId xmlns:a16="http://schemas.microsoft.com/office/drawing/2014/main" id="{2D0FC349-7B51-E400-1F9D-6EF02B4DF557}"/>
              </a:ext>
            </a:extLst>
          </p:cNvPr>
          <p:cNvSpPr txBox="1"/>
          <p:nvPr/>
        </p:nvSpPr>
        <p:spPr>
          <a:xfrm>
            <a:off x="63826034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dim_reduction_ratio =</a:t>
            </a:r>
            <a:endParaRPr lang="en-US" sz="1000" dirty="0"/>
          </a:p>
        </p:txBody>
      </p:sp>
      <p:sp>
        <p:nvSpPr>
          <p:cNvPr id="106" name="Text 101">
            <a:extLst>
              <a:ext uri="{FF2B5EF4-FFF2-40B4-BE49-F238E27FC236}">
                <a16:creationId xmlns:a16="http://schemas.microsoft.com/office/drawing/2014/main" id="{D06CBB67-50EE-3F84-DBF9-B2BC23604478}"/>
              </a:ext>
            </a:extLst>
          </p:cNvPr>
          <p:cNvSpPr txBox="1"/>
          <p:nvPr/>
        </p:nvSpPr>
        <p:spPr>
          <a:xfrm>
            <a:off x="65506702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7" name="Text 102">
            <a:extLst>
              <a:ext uri="{FF2B5EF4-FFF2-40B4-BE49-F238E27FC236}">
                <a16:creationId xmlns:a16="http://schemas.microsoft.com/office/drawing/2014/main" id="{F05D7BA9-AC96-896D-3702-067781825CEE}"/>
              </a:ext>
            </a:extLst>
          </p:cNvPr>
          <p:cNvSpPr txBox="1"/>
          <p:nvPr/>
        </p:nvSpPr>
        <p:spPr>
          <a:xfrm>
            <a:off x="65587169" y="1809598"/>
            <a:ext cx="2662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(n_components / original_dims)</a:t>
            </a:r>
            <a:endParaRPr lang="en-US" sz="1000" dirty="0"/>
          </a:p>
        </p:txBody>
      </p:sp>
      <p:sp>
        <p:nvSpPr>
          <p:cNvPr id="108" name="Shape 103">
            <a:extLst>
              <a:ext uri="{FF2B5EF4-FFF2-40B4-BE49-F238E27FC236}">
                <a16:creationId xmlns:a16="http://schemas.microsoft.com/office/drawing/2014/main" id="{8C96EA0B-1DB4-285B-3918-99745B087394}"/>
              </a:ext>
            </a:extLst>
          </p:cNvPr>
          <p:cNvSpPr/>
          <p:nvPr/>
        </p:nvSpPr>
        <p:spPr>
          <a:xfrm>
            <a:off x="68462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4">
            <a:extLst>
              <a:ext uri="{FF2B5EF4-FFF2-40B4-BE49-F238E27FC236}">
                <a16:creationId xmlns:a16="http://schemas.microsoft.com/office/drawing/2014/main" id="{846E9EE0-6AFA-F7B2-1352-708CDACA65E0}"/>
              </a:ext>
            </a:extLst>
          </p:cNvPr>
          <p:cNvSpPr txBox="1"/>
          <p:nvPr/>
        </p:nvSpPr>
        <p:spPr>
          <a:xfrm>
            <a:off x="681474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10" name="Shape 105">
            <a:extLst>
              <a:ext uri="{FF2B5EF4-FFF2-40B4-BE49-F238E27FC236}">
                <a16:creationId xmlns:a16="http://schemas.microsoft.com/office/drawing/2014/main" id="{CBF17297-5E21-19D8-0F58-9B73EE8ACD6B}"/>
              </a:ext>
            </a:extLst>
          </p:cNvPr>
          <p:cNvSpPr/>
          <p:nvPr/>
        </p:nvSpPr>
        <p:spPr>
          <a:xfrm>
            <a:off x="6893661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6">
            <a:extLst>
              <a:ext uri="{FF2B5EF4-FFF2-40B4-BE49-F238E27FC236}">
                <a16:creationId xmlns:a16="http://schemas.microsoft.com/office/drawing/2014/main" id="{4E87D639-55CE-2505-DB84-B60F4DA9D1C0}"/>
              </a:ext>
            </a:extLst>
          </p:cNvPr>
          <p:cNvSpPr txBox="1"/>
          <p:nvPr/>
        </p:nvSpPr>
        <p:spPr>
          <a:xfrm>
            <a:off x="686220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12" name="Text 107">
            <a:extLst>
              <a:ext uri="{FF2B5EF4-FFF2-40B4-BE49-F238E27FC236}">
                <a16:creationId xmlns:a16="http://schemas.microsoft.com/office/drawing/2014/main" id="{8A3F2A12-72CE-9606-D3CD-49B81A41C765}"/>
              </a:ext>
            </a:extLst>
          </p:cNvPr>
          <p:cNvSpPr txBox="1"/>
          <p:nvPr/>
        </p:nvSpPr>
        <p:spPr>
          <a:xfrm>
            <a:off x="69096636" y="1809598"/>
            <a:ext cx="49103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 = dim_reduction_ratio &gt;= min_dim_reduction_ratio</a:t>
            </a:r>
            <a:endParaRPr lang="en-US" sz="1000" dirty="0"/>
          </a:p>
        </p:txBody>
      </p:sp>
      <p:sp>
        <p:nvSpPr>
          <p:cNvPr id="113" name="Shape 108">
            <a:extLst>
              <a:ext uri="{FF2B5EF4-FFF2-40B4-BE49-F238E27FC236}">
                <a16:creationId xmlns:a16="http://schemas.microsoft.com/office/drawing/2014/main" id="{C724A147-C203-4CB1-F031-0EBD4654BD7B}"/>
              </a:ext>
            </a:extLst>
          </p:cNvPr>
          <p:cNvSpPr/>
          <p:nvPr/>
        </p:nvSpPr>
        <p:spPr>
          <a:xfrm>
            <a:off x="7421270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9">
            <a:extLst>
              <a:ext uri="{FF2B5EF4-FFF2-40B4-BE49-F238E27FC236}">
                <a16:creationId xmlns:a16="http://schemas.microsoft.com/office/drawing/2014/main" id="{1F945C55-F074-A443-34A1-ECCE360B770D}"/>
              </a:ext>
            </a:extLst>
          </p:cNvPr>
          <p:cNvSpPr txBox="1"/>
          <p:nvPr/>
        </p:nvSpPr>
        <p:spPr>
          <a:xfrm>
            <a:off x="7389815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15" name="Shape 110">
            <a:extLst>
              <a:ext uri="{FF2B5EF4-FFF2-40B4-BE49-F238E27FC236}">
                <a16:creationId xmlns:a16="http://schemas.microsoft.com/office/drawing/2014/main" id="{B474DCDA-3CC8-BD89-4895-8A686B99466B}"/>
              </a:ext>
            </a:extLst>
          </p:cNvPr>
          <p:cNvSpPr/>
          <p:nvPr/>
        </p:nvSpPr>
        <p:spPr>
          <a:xfrm>
            <a:off x="7468727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1">
            <a:extLst>
              <a:ext uri="{FF2B5EF4-FFF2-40B4-BE49-F238E27FC236}">
                <a16:creationId xmlns:a16="http://schemas.microsoft.com/office/drawing/2014/main" id="{CE324B8B-EBB2-DC82-E741-800AC330E6C9}"/>
              </a:ext>
            </a:extLst>
          </p:cNvPr>
          <p:cNvSpPr txBox="1"/>
          <p:nvPr/>
        </p:nvSpPr>
        <p:spPr>
          <a:xfrm>
            <a:off x="7437272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17" name="Text 112">
            <a:extLst>
              <a:ext uri="{FF2B5EF4-FFF2-40B4-BE49-F238E27FC236}">
                <a16:creationId xmlns:a16="http://schemas.microsoft.com/office/drawing/2014/main" id="{5E6DCE15-1D24-B6E8-0A13-826F3D6F90A5}"/>
              </a:ext>
            </a:extLst>
          </p:cNvPr>
          <p:cNvSpPr txBox="1"/>
          <p:nvPr/>
        </p:nvSpPr>
        <p:spPr>
          <a:xfrm>
            <a:off x="74847298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18" name="Text 113">
            <a:extLst>
              <a:ext uri="{FF2B5EF4-FFF2-40B4-BE49-F238E27FC236}">
                <a16:creationId xmlns:a16="http://schemas.microsoft.com/office/drawing/2014/main" id="{0F60A87E-869B-D16D-8687-9F48006F5DB5}"/>
              </a:ext>
            </a:extLst>
          </p:cNvPr>
          <p:cNvSpPr txBox="1"/>
          <p:nvPr/>
        </p:nvSpPr>
        <p:spPr>
          <a:xfrm>
            <a:off x="75327358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perform_pca, n_components</a:t>
            </a:r>
            <a:endParaRPr lang="en-US" sz="1000" dirty="0"/>
          </a:p>
        </p:txBody>
      </p:sp>
      <p:sp>
        <p:nvSpPr>
          <p:cNvPr id="119" name="Shape 114">
            <a:extLst>
              <a:ext uri="{FF2B5EF4-FFF2-40B4-BE49-F238E27FC236}">
                <a16:creationId xmlns:a16="http://schemas.microsoft.com/office/drawing/2014/main" id="{0B76FBA6-5AAF-283E-B304-D00B69946C89}"/>
              </a:ext>
            </a:extLst>
          </p:cNvPr>
          <p:cNvSpPr/>
          <p:nvPr/>
        </p:nvSpPr>
        <p:spPr>
          <a:xfrm>
            <a:off x="7764261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5">
            <a:extLst>
              <a:ext uri="{FF2B5EF4-FFF2-40B4-BE49-F238E27FC236}">
                <a16:creationId xmlns:a16="http://schemas.microsoft.com/office/drawing/2014/main" id="{0247793D-76E8-8AA5-5A71-55F765259F74}"/>
              </a:ext>
            </a:extLst>
          </p:cNvPr>
          <p:cNvSpPr txBox="1"/>
          <p:nvPr/>
        </p:nvSpPr>
        <p:spPr>
          <a:xfrm>
            <a:off x="7732806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21" name="Shape 116">
            <a:extLst>
              <a:ext uri="{FF2B5EF4-FFF2-40B4-BE49-F238E27FC236}">
                <a16:creationId xmlns:a16="http://schemas.microsoft.com/office/drawing/2014/main" id="{A1C1525D-85D6-1FDF-51EB-4F13B5ABFFAA}"/>
              </a:ext>
            </a:extLst>
          </p:cNvPr>
          <p:cNvSpPr/>
          <p:nvPr/>
        </p:nvSpPr>
        <p:spPr>
          <a:xfrm>
            <a:off x="7811719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7">
            <a:extLst>
              <a:ext uri="{FF2B5EF4-FFF2-40B4-BE49-F238E27FC236}">
                <a16:creationId xmlns:a16="http://schemas.microsoft.com/office/drawing/2014/main" id="{B820696B-B706-4BC6-5383-BFC317437AFE}"/>
              </a:ext>
            </a:extLst>
          </p:cNvPr>
          <p:cNvSpPr txBox="1"/>
          <p:nvPr/>
        </p:nvSpPr>
        <p:spPr>
          <a:xfrm>
            <a:off x="778026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23" name="Text 118">
            <a:extLst>
              <a:ext uri="{FF2B5EF4-FFF2-40B4-BE49-F238E27FC236}">
                <a16:creationId xmlns:a16="http://schemas.microsoft.com/office/drawing/2014/main" id="{E7168AAA-073A-37EA-771A-A08C7E650D66}"/>
              </a:ext>
            </a:extLst>
          </p:cNvPr>
          <p:cNvSpPr txBox="1"/>
          <p:nvPr/>
        </p:nvSpPr>
        <p:spPr>
          <a:xfrm>
            <a:off x="78276298" y="1809598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Usage Example:</a:t>
            </a:r>
            <a:endParaRPr lang="en-US" sz="1000" dirty="0"/>
          </a:p>
        </p:txBody>
      </p:sp>
      <p:sp>
        <p:nvSpPr>
          <p:cNvPr id="124" name="Shape 119">
            <a:extLst>
              <a:ext uri="{FF2B5EF4-FFF2-40B4-BE49-F238E27FC236}">
                <a16:creationId xmlns:a16="http://schemas.microsoft.com/office/drawing/2014/main" id="{55033FA0-D3AC-E64A-53CA-B307A0BC7328}"/>
              </a:ext>
            </a:extLst>
          </p:cNvPr>
          <p:cNvSpPr/>
          <p:nvPr/>
        </p:nvSpPr>
        <p:spPr>
          <a:xfrm>
            <a:off x="798719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0">
            <a:extLst>
              <a:ext uri="{FF2B5EF4-FFF2-40B4-BE49-F238E27FC236}">
                <a16:creationId xmlns:a16="http://schemas.microsoft.com/office/drawing/2014/main" id="{8987102F-10BA-745C-D606-151F93BAC1FA}"/>
              </a:ext>
            </a:extLst>
          </p:cNvPr>
          <p:cNvSpPr txBox="1"/>
          <p:nvPr/>
        </p:nvSpPr>
        <p:spPr>
          <a:xfrm>
            <a:off x="7955737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26" name="Text 121">
            <a:extLst>
              <a:ext uri="{FF2B5EF4-FFF2-40B4-BE49-F238E27FC236}">
                <a16:creationId xmlns:a16="http://schemas.microsoft.com/office/drawing/2014/main" id="{BB74E5F4-1C68-CBCD-F8A7-F255A0FD7919}"/>
              </a:ext>
            </a:extLst>
          </p:cNvPr>
          <p:cNvSpPr txBox="1"/>
          <p:nvPr/>
        </p:nvSpPr>
        <p:spPr>
          <a:xfrm>
            <a:off x="80031946" y="1809598"/>
            <a:ext cx="5462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needed=9 -&gt; ratio=0.1 -&gt; PCA=True</a:t>
            </a:r>
            <a:endParaRPr lang="en-US" sz="1000" dirty="0"/>
          </a:p>
        </p:txBody>
      </p:sp>
      <p:sp>
        <p:nvSpPr>
          <p:cNvPr id="127" name="Shape 122">
            <a:extLst>
              <a:ext uri="{FF2B5EF4-FFF2-40B4-BE49-F238E27FC236}">
                <a16:creationId xmlns:a16="http://schemas.microsoft.com/office/drawing/2014/main" id="{457B77EF-9B2B-54D1-6BAE-4BCDB8F39D58}"/>
              </a:ext>
            </a:extLst>
          </p:cNvPr>
          <p:cNvSpPr/>
          <p:nvPr/>
        </p:nvSpPr>
        <p:spPr>
          <a:xfrm>
            <a:off x="857076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3">
            <a:extLst>
              <a:ext uri="{FF2B5EF4-FFF2-40B4-BE49-F238E27FC236}">
                <a16:creationId xmlns:a16="http://schemas.microsoft.com/office/drawing/2014/main" id="{19A0A458-7E12-5C41-69E1-C051467839DA}"/>
              </a:ext>
            </a:extLst>
          </p:cNvPr>
          <p:cNvSpPr txBox="1"/>
          <p:nvPr/>
        </p:nvSpPr>
        <p:spPr>
          <a:xfrm>
            <a:off x="8539307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29" name="Text 124">
            <a:extLst>
              <a:ext uri="{FF2B5EF4-FFF2-40B4-BE49-F238E27FC236}">
                <a16:creationId xmlns:a16="http://schemas.microsoft.com/office/drawing/2014/main" id="{A26BAF20-FD70-14BD-20E5-0B0077ED3AB9}"/>
              </a:ext>
            </a:extLst>
          </p:cNvPr>
          <p:cNvSpPr txBox="1"/>
          <p:nvPr/>
        </p:nvSpPr>
        <p:spPr>
          <a:xfrm>
            <a:off x="85867646" y="1809598"/>
            <a:ext cx="5625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needed=10 -&gt; ratio=0.0 -&gt; PCA=False</a:t>
            </a:r>
            <a:endParaRPr lang="en-US" sz="1000" dirty="0"/>
          </a:p>
        </p:txBody>
      </p:sp>
      <p:sp>
        <p:nvSpPr>
          <p:cNvPr id="130" name="Shape 125">
            <a:extLst>
              <a:ext uri="{FF2B5EF4-FFF2-40B4-BE49-F238E27FC236}">
                <a16:creationId xmlns:a16="http://schemas.microsoft.com/office/drawing/2014/main" id="{857CF1A2-95F1-7BB8-AAD3-5331643CD662}"/>
              </a:ext>
            </a:extLst>
          </p:cNvPr>
          <p:cNvSpPr/>
          <p:nvPr/>
        </p:nvSpPr>
        <p:spPr>
          <a:xfrm>
            <a:off x="0" y="6608369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6">
            <a:extLst>
              <a:ext uri="{FF2B5EF4-FFF2-40B4-BE49-F238E27FC236}">
                <a16:creationId xmlns:a16="http://schemas.microsoft.com/office/drawing/2014/main" id="{87781C60-A075-8A03-BB1E-BDFC0A667C39}"/>
              </a:ext>
            </a:extLst>
          </p:cNvPr>
          <p:cNvSpPr/>
          <p:nvPr/>
        </p:nvSpPr>
        <p:spPr>
          <a:xfrm>
            <a:off x="0" y="660836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29">
            <a:extLst>
              <a:ext uri="{FF2B5EF4-FFF2-40B4-BE49-F238E27FC236}">
                <a16:creationId xmlns:a16="http://schemas.microsoft.com/office/drawing/2014/main" id="{7715E43D-5004-A209-F800-42529318E5C9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Data Leakage</a:t>
            </a:r>
            <a:endParaRPr lang="en-US" dirty="0"/>
          </a:p>
        </p:txBody>
      </p:sp>
      <p:pic>
        <p:nvPicPr>
          <p:cNvPr id="136" name="Image 3" descr="preencoded.png">
            <a:extLst>
              <a:ext uri="{FF2B5EF4-FFF2-40B4-BE49-F238E27FC236}">
                <a16:creationId xmlns:a16="http://schemas.microsoft.com/office/drawing/2014/main" id="{1C9F9C5D-6FA5-51CF-EB30-6C93E3E926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38" name="Text 132">
            <a:extLst>
              <a:ext uri="{FF2B5EF4-FFF2-40B4-BE49-F238E27FC236}">
                <a16:creationId xmlns:a16="http://schemas.microsoft.com/office/drawing/2014/main" id="{23A9D0BD-46C1-B9D4-299E-3C8343F51BF1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40" name="Text 133">
            <a:extLst>
              <a:ext uri="{FF2B5EF4-FFF2-40B4-BE49-F238E27FC236}">
                <a16:creationId xmlns:a16="http://schemas.microsoft.com/office/drawing/2014/main" id="{7E4B95AF-76B8-92BE-0474-1F330E365F21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047E1AF-CB5C-32C0-4D6B-6A60591A2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19" y="902543"/>
            <a:ext cx="5277880" cy="580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88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130B0-EABD-24E5-E89D-7D037A2D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70BDA0-ABBD-8229-AFBD-D7DD50A4A0F6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BBDEA0-34AF-3F14-2992-6B04A42DA58D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5D66FA-32B1-B322-A893-30C9F08F90EB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D0E0EA5-72E5-E6AC-86CB-E0320E01D8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E7AC2410-17A7-141D-A3A0-FFFE2317BC00}"/>
              </a:ext>
            </a:extLst>
          </p:cNvPr>
          <p:cNvSpPr txBox="1"/>
          <p:nvPr/>
        </p:nvSpPr>
        <p:spPr>
          <a:xfrm>
            <a:off x="990295" y="237744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Stage 3: PCA Decision Logic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854D14A-CA1D-1B0E-473B-34BC3AD39295}"/>
              </a:ext>
            </a:extLst>
          </p:cNvPr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6CBA4AA-67E1-50D7-3840-19320FFB40FE}"/>
              </a:ext>
            </a:extLst>
          </p:cNvPr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1B664B6-5997-DA5E-E320-2FDDBE3D614F}"/>
              </a:ext>
            </a:extLst>
          </p:cNvPr>
          <p:cNvSpPr/>
          <p:nvPr/>
        </p:nvSpPr>
        <p:spPr>
          <a:xfrm>
            <a:off x="0" y="838505"/>
            <a:ext cx="12191695" cy="5772607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6C1F3DCA-F4CF-D81C-E0A6-A81B6CC54234}"/>
              </a:ext>
            </a:extLst>
          </p:cNvPr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6E2F321D-CE9C-8A2F-E525-32F83A45D291}"/>
              </a:ext>
            </a:extLst>
          </p:cNvPr>
          <p:cNvSpPr txBox="1"/>
          <p:nvPr/>
        </p:nvSpPr>
        <p:spPr>
          <a:xfrm>
            <a:off x="4869180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DA13E95D-5FB9-9993-2B94-E1908939A073}"/>
              </a:ext>
            </a:extLst>
          </p:cNvPr>
          <p:cNvSpPr txBox="1"/>
          <p:nvPr/>
        </p:nvSpPr>
        <p:spPr>
          <a:xfrm>
            <a:off x="903061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9282A345-21F2-300F-2256-5C04A58B801F}"/>
              </a:ext>
            </a:extLst>
          </p:cNvPr>
          <p:cNvSpPr/>
          <p:nvPr/>
        </p:nvSpPr>
        <p:spPr>
          <a:xfrm>
            <a:off x="94247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7A8E90FE-7E2C-247A-5C43-8102F410254A}"/>
              </a:ext>
            </a:extLst>
          </p:cNvPr>
          <p:cNvSpPr txBox="1"/>
          <p:nvPr/>
        </p:nvSpPr>
        <p:spPr>
          <a:xfrm>
            <a:off x="117454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000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F3284C42-2A17-9A20-BCAC-4AB879F04A26}"/>
              </a:ext>
            </a:extLst>
          </p:cNvPr>
          <p:cNvSpPr/>
          <p:nvPr/>
        </p:nvSpPr>
        <p:spPr>
          <a:xfrm>
            <a:off x="12220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5">
            <a:extLst>
              <a:ext uri="{FF2B5EF4-FFF2-40B4-BE49-F238E27FC236}">
                <a16:creationId xmlns:a16="http://schemas.microsoft.com/office/drawing/2014/main" id="{09764A2C-4DE0-96CD-2878-E193744ACC30}"/>
              </a:ext>
            </a:extLst>
          </p:cNvPr>
          <p:cNvSpPr/>
          <p:nvPr/>
        </p:nvSpPr>
        <p:spPr>
          <a:xfrm>
            <a:off x="1589593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2B767FFF-0EF8-065C-269B-DAAA3E7DA4D4}"/>
              </a:ext>
            </a:extLst>
          </p:cNvPr>
          <p:cNvSpPr txBox="1"/>
          <p:nvPr/>
        </p:nvSpPr>
        <p:spPr>
          <a:xfrm>
            <a:off x="1558137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E18B088E-F171-4316-8482-62076F02F6BB}"/>
              </a:ext>
            </a:extLst>
          </p:cNvPr>
          <p:cNvSpPr txBox="1"/>
          <p:nvPr/>
        </p:nvSpPr>
        <p:spPr>
          <a:xfrm>
            <a:off x="1605595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scaler =</a:t>
            </a:r>
            <a:endParaRPr lang="en-US" sz="1000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03B2C580-EB15-D514-D862-67BD9F5F0E9A}"/>
              </a:ext>
            </a:extLst>
          </p:cNvPr>
          <p:cNvSpPr txBox="1"/>
          <p:nvPr/>
        </p:nvSpPr>
        <p:spPr>
          <a:xfrm>
            <a:off x="16696030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3BC4F0BE-1D42-C164-3681-7A151A635EE6}"/>
              </a:ext>
            </a:extLst>
          </p:cNvPr>
          <p:cNvSpPr txBox="1"/>
          <p:nvPr/>
        </p:nvSpPr>
        <p:spPr>
          <a:xfrm>
            <a:off x="178161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55" name="Shape 50">
            <a:extLst>
              <a:ext uri="{FF2B5EF4-FFF2-40B4-BE49-F238E27FC236}">
                <a16:creationId xmlns:a16="http://schemas.microsoft.com/office/drawing/2014/main" id="{0300B993-FDFF-313E-C0A0-4A5590517102}"/>
              </a:ext>
            </a:extLst>
          </p:cNvPr>
          <p:cNvSpPr/>
          <p:nvPr/>
        </p:nvSpPr>
        <p:spPr>
          <a:xfrm>
            <a:off x="1829074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160110B3-7AE8-C87D-05DA-B7A3FD2C0EA8}"/>
              </a:ext>
            </a:extLst>
          </p:cNvPr>
          <p:cNvSpPr txBox="1"/>
          <p:nvPr/>
        </p:nvSpPr>
        <p:spPr>
          <a:xfrm>
            <a:off x="1797619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3E987E0B-28DD-E5FF-07EB-1617CC853FF3}"/>
              </a:ext>
            </a:extLst>
          </p:cNvPr>
          <p:cNvSpPr txBox="1"/>
          <p:nvPr/>
        </p:nvSpPr>
        <p:spPr>
          <a:xfrm>
            <a:off x="1845076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numeric_df = df.select_dtypes(include=[np.number])</a:t>
            </a:r>
            <a:endParaRPr lang="en-US" sz="1000" dirty="0"/>
          </a:p>
        </p:txBody>
      </p:sp>
      <p:sp>
        <p:nvSpPr>
          <p:cNvPr id="58" name="Shape 53">
            <a:extLst>
              <a:ext uri="{FF2B5EF4-FFF2-40B4-BE49-F238E27FC236}">
                <a16:creationId xmlns:a16="http://schemas.microsoft.com/office/drawing/2014/main" id="{F5903EA9-CFC7-A2FB-17A6-2AF719C2E5EF}"/>
              </a:ext>
            </a:extLst>
          </p:cNvPr>
          <p:cNvSpPr/>
          <p:nvPr/>
        </p:nvSpPr>
        <p:spPr>
          <a:xfrm>
            <a:off x="2276673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1F06E2D7-E2F3-048E-6FC1-654B902A356D}"/>
              </a:ext>
            </a:extLst>
          </p:cNvPr>
          <p:cNvSpPr txBox="1"/>
          <p:nvPr/>
        </p:nvSpPr>
        <p:spPr>
          <a:xfrm>
            <a:off x="224521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1CD70D76-1507-0363-FB4F-EDC1893319F8}"/>
              </a:ext>
            </a:extLst>
          </p:cNvPr>
          <p:cNvSpPr txBox="1"/>
          <p:nvPr/>
        </p:nvSpPr>
        <p:spPr>
          <a:xfrm>
            <a:off x="22926751" y="1809598"/>
            <a:ext cx="37865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scaled_data = scaler.fit_transform(numeric_df)</a:t>
            </a:r>
            <a:endParaRPr lang="en-US" sz="1000" dirty="0"/>
          </a:p>
        </p:txBody>
      </p:sp>
      <p:sp>
        <p:nvSpPr>
          <p:cNvPr id="61" name="Shape 56">
            <a:extLst>
              <a:ext uri="{FF2B5EF4-FFF2-40B4-BE49-F238E27FC236}">
                <a16:creationId xmlns:a16="http://schemas.microsoft.com/office/drawing/2014/main" id="{D4FDDEC5-6140-C8DA-B5FF-4A4704D02681}"/>
              </a:ext>
            </a:extLst>
          </p:cNvPr>
          <p:cNvSpPr/>
          <p:nvPr/>
        </p:nvSpPr>
        <p:spPr>
          <a:xfrm>
            <a:off x="2692267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9303F38B-3BC3-7EC4-7805-F259DDD58B6D}"/>
              </a:ext>
            </a:extLst>
          </p:cNvPr>
          <p:cNvSpPr txBox="1"/>
          <p:nvPr/>
        </p:nvSpPr>
        <p:spPr>
          <a:xfrm>
            <a:off x="2660812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3" name="Shape 58">
            <a:extLst>
              <a:ext uri="{FF2B5EF4-FFF2-40B4-BE49-F238E27FC236}">
                <a16:creationId xmlns:a16="http://schemas.microsoft.com/office/drawing/2014/main" id="{8163DBDF-2759-AE85-3C75-1BE2E334F1C7}"/>
              </a:ext>
            </a:extLst>
          </p:cNvPr>
          <p:cNvSpPr/>
          <p:nvPr/>
        </p:nvSpPr>
        <p:spPr>
          <a:xfrm>
            <a:off x="2739725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BDE91E97-3A53-99DA-462D-6CABE80BCD9A}"/>
              </a:ext>
            </a:extLst>
          </p:cNvPr>
          <p:cNvSpPr txBox="1"/>
          <p:nvPr/>
        </p:nvSpPr>
        <p:spPr>
          <a:xfrm>
            <a:off x="2708269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65" name="Text 60">
            <a:extLst>
              <a:ext uri="{FF2B5EF4-FFF2-40B4-BE49-F238E27FC236}">
                <a16:creationId xmlns:a16="http://schemas.microsoft.com/office/drawing/2014/main" id="{2F74BAE6-EC07-DBB6-1857-C89963815211}"/>
              </a:ext>
            </a:extLst>
          </p:cNvPr>
          <p:cNvSpPr txBox="1"/>
          <p:nvPr/>
        </p:nvSpPr>
        <p:spPr>
          <a:xfrm>
            <a:off x="27556358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Fit PCA to determine explained variance</a:t>
            </a:r>
            <a:endParaRPr lang="en-US" sz="1000" dirty="0"/>
          </a:p>
        </p:txBody>
      </p:sp>
      <p:sp>
        <p:nvSpPr>
          <p:cNvPr id="66" name="Shape 61">
            <a:extLst>
              <a:ext uri="{FF2B5EF4-FFF2-40B4-BE49-F238E27FC236}">
                <a16:creationId xmlns:a16="http://schemas.microsoft.com/office/drawing/2014/main" id="{B6205061-0DD0-35AC-1BB1-105F22959B72}"/>
              </a:ext>
            </a:extLst>
          </p:cNvPr>
          <p:cNvSpPr/>
          <p:nvPr/>
        </p:nvSpPr>
        <p:spPr>
          <a:xfrm>
            <a:off x="3139226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2">
            <a:extLst>
              <a:ext uri="{FF2B5EF4-FFF2-40B4-BE49-F238E27FC236}">
                <a16:creationId xmlns:a16="http://schemas.microsoft.com/office/drawing/2014/main" id="{1928E942-594C-BC30-7D30-9C139ED88526}"/>
              </a:ext>
            </a:extLst>
          </p:cNvPr>
          <p:cNvSpPr txBox="1"/>
          <p:nvPr/>
        </p:nvSpPr>
        <p:spPr>
          <a:xfrm>
            <a:off x="3107771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68" name="Text 63">
            <a:extLst>
              <a:ext uri="{FF2B5EF4-FFF2-40B4-BE49-F238E27FC236}">
                <a16:creationId xmlns:a16="http://schemas.microsoft.com/office/drawing/2014/main" id="{2E49F5E3-0659-B5DD-F337-9CFF90C11325}"/>
              </a:ext>
            </a:extLst>
          </p:cNvPr>
          <p:cNvSpPr txBox="1"/>
          <p:nvPr/>
        </p:nvSpPr>
        <p:spPr>
          <a:xfrm>
            <a:off x="31552286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 =</a:t>
            </a:r>
            <a:endParaRPr lang="en-US" sz="1000" dirty="0"/>
          </a:p>
        </p:txBody>
      </p:sp>
      <p:sp>
        <p:nvSpPr>
          <p:cNvPr id="69" name="Text 64">
            <a:extLst>
              <a:ext uri="{FF2B5EF4-FFF2-40B4-BE49-F238E27FC236}">
                <a16:creationId xmlns:a16="http://schemas.microsoft.com/office/drawing/2014/main" id="{64F23769-FC3E-A06E-3A9C-AF107A567E3E}"/>
              </a:ext>
            </a:extLst>
          </p:cNvPr>
          <p:cNvSpPr txBox="1"/>
          <p:nvPr/>
        </p:nvSpPr>
        <p:spPr>
          <a:xfrm>
            <a:off x="31952794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</a:t>
            </a:r>
            <a:endParaRPr lang="en-US" sz="1000" dirty="0"/>
          </a:p>
        </p:txBody>
      </p:sp>
      <p:sp>
        <p:nvSpPr>
          <p:cNvPr id="70" name="Text 65">
            <a:extLst>
              <a:ext uri="{FF2B5EF4-FFF2-40B4-BE49-F238E27FC236}">
                <a16:creationId xmlns:a16="http://schemas.microsoft.com/office/drawing/2014/main" id="{80D93A4E-6E08-05D2-3C36-E6DFBE9155D0}"/>
              </a:ext>
            </a:extLst>
          </p:cNvPr>
          <p:cNvSpPr txBox="1"/>
          <p:nvPr/>
        </p:nvSpPr>
        <p:spPr>
          <a:xfrm>
            <a:off x="3219236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71" name="Shape 66">
            <a:extLst>
              <a:ext uri="{FF2B5EF4-FFF2-40B4-BE49-F238E27FC236}">
                <a16:creationId xmlns:a16="http://schemas.microsoft.com/office/drawing/2014/main" id="{7D519363-EB58-2A56-7D07-1D7E80F30EE8}"/>
              </a:ext>
            </a:extLst>
          </p:cNvPr>
          <p:cNvSpPr/>
          <p:nvPr/>
        </p:nvSpPr>
        <p:spPr>
          <a:xfrm>
            <a:off x="326678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7">
            <a:extLst>
              <a:ext uri="{FF2B5EF4-FFF2-40B4-BE49-F238E27FC236}">
                <a16:creationId xmlns:a16="http://schemas.microsoft.com/office/drawing/2014/main" id="{25C44EAB-EF33-6DF6-C819-3E06853DEA6B}"/>
              </a:ext>
            </a:extLst>
          </p:cNvPr>
          <p:cNvSpPr txBox="1"/>
          <p:nvPr/>
        </p:nvSpPr>
        <p:spPr>
          <a:xfrm>
            <a:off x="3235330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68">
            <a:extLst>
              <a:ext uri="{FF2B5EF4-FFF2-40B4-BE49-F238E27FC236}">
                <a16:creationId xmlns:a16="http://schemas.microsoft.com/office/drawing/2014/main" id="{37E64B69-05EA-DD17-E101-F83F43E0099F}"/>
              </a:ext>
            </a:extLst>
          </p:cNvPr>
          <p:cNvSpPr txBox="1"/>
          <p:nvPr/>
        </p:nvSpPr>
        <p:spPr>
          <a:xfrm>
            <a:off x="32826960" y="1809598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pca.fit(scaled_data)</a:t>
            </a:r>
            <a:endParaRPr lang="en-US" sz="1000" dirty="0"/>
          </a:p>
        </p:txBody>
      </p:sp>
      <p:sp>
        <p:nvSpPr>
          <p:cNvPr id="74" name="Shape 69">
            <a:extLst>
              <a:ext uri="{FF2B5EF4-FFF2-40B4-BE49-F238E27FC236}">
                <a16:creationId xmlns:a16="http://schemas.microsoft.com/office/drawing/2014/main" id="{E760A2DE-2C28-07B1-66C4-7AF1E3CED958}"/>
              </a:ext>
            </a:extLst>
          </p:cNvPr>
          <p:cNvSpPr/>
          <p:nvPr/>
        </p:nvSpPr>
        <p:spPr>
          <a:xfrm>
            <a:off x="3474262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0">
            <a:extLst>
              <a:ext uri="{FF2B5EF4-FFF2-40B4-BE49-F238E27FC236}">
                <a16:creationId xmlns:a16="http://schemas.microsoft.com/office/drawing/2014/main" id="{F351EAC1-5827-B274-CBD1-6065D94731DB}"/>
              </a:ext>
            </a:extLst>
          </p:cNvPr>
          <p:cNvSpPr txBox="1"/>
          <p:nvPr/>
        </p:nvSpPr>
        <p:spPr>
          <a:xfrm>
            <a:off x="344280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76" name="Shape 71">
            <a:extLst>
              <a:ext uri="{FF2B5EF4-FFF2-40B4-BE49-F238E27FC236}">
                <a16:creationId xmlns:a16="http://schemas.microsoft.com/office/drawing/2014/main" id="{35578022-09D7-636E-D464-0FCD010CB9F9}"/>
              </a:ext>
            </a:extLst>
          </p:cNvPr>
          <p:cNvSpPr/>
          <p:nvPr/>
        </p:nvSpPr>
        <p:spPr>
          <a:xfrm>
            <a:off x="3521720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>
            <a:extLst>
              <a:ext uri="{FF2B5EF4-FFF2-40B4-BE49-F238E27FC236}">
                <a16:creationId xmlns:a16="http://schemas.microsoft.com/office/drawing/2014/main" id="{3A536E54-8300-78B4-C8F2-110FC934BE2D}"/>
              </a:ext>
            </a:extLst>
          </p:cNvPr>
          <p:cNvSpPr txBox="1"/>
          <p:nvPr/>
        </p:nvSpPr>
        <p:spPr>
          <a:xfrm>
            <a:off x="3490264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Text 73">
            <a:extLst>
              <a:ext uri="{FF2B5EF4-FFF2-40B4-BE49-F238E27FC236}">
                <a16:creationId xmlns:a16="http://schemas.microsoft.com/office/drawing/2014/main" id="{F5450DA6-AA98-A350-B357-0D6155580123}"/>
              </a:ext>
            </a:extLst>
          </p:cNvPr>
          <p:cNvSpPr txBox="1"/>
          <p:nvPr/>
        </p:nvSpPr>
        <p:spPr>
          <a:xfrm>
            <a:off x="35376307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Find components needed for 95% variance</a:t>
            </a:r>
            <a:endParaRPr lang="en-US" sz="1000" dirty="0"/>
          </a:p>
        </p:txBody>
      </p:sp>
      <p:sp>
        <p:nvSpPr>
          <p:cNvPr id="79" name="Shape 74">
            <a:extLst>
              <a:ext uri="{FF2B5EF4-FFF2-40B4-BE49-F238E27FC236}">
                <a16:creationId xmlns:a16="http://schemas.microsoft.com/office/drawing/2014/main" id="{CEB008B5-2CAD-2762-FAC3-AE930C47DA89}"/>
              </a:ext>
            </a:extLst>
          </p:cNvPr>
          <p:cNvSpPr/>
          <p:nvPr/>
        </p:nvSpPr>
        <p:spPr>
          <a:xfrm>
            <a:off x="3921221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>
            <a:extLst>
              <a:ext uri="{FF2B5EF4-FFF2-40B4-BE49-F238E27FC236}">
                <a16:creationId xmlns:a16="http://schemas.microsoft.com/office/drawing/2014/main" id="{658442C7-0E6E-5ACF-186C-B38C3DEB034B}"/>
              </a:ext>
            </a:extLst>
          </p:cNvPr>
          <p:cNvSpPr txBox="1"/>
          <p:nvPr/>
        </p:nvSpPr>
        <p:spPr>
          <a:xfrm>
            <a:off x="388976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81" name="Text 76">
            <a:extLst>
              <a:ext uri="{FF2B5EF4-FFF2-40B4-BE49-F238E27FC236}">
                <a16:creationId xmlns:a16="http://schemas.microsoft.com/office/drawing/2014/main" id="{515E037A-146C-BB74-ADB1-994629784F66}"/>
              </a:ext>
            </a:extLst>
          </p:cNvPr>
          <p:cNvSpPr txBox="1"/>
          <p:nvPr/>
        </p:nvSpPr>
        <p:spPr>
          <a:xfrm>
            <a:off x="39372235" y="1809598"/>
            <a:ext cx="50630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cumulative_variance = np.cumsum(pca.explained_variance_ratio_)</a:t>
            </a:r>
            <a:endParaRPr lang="en-US" sz="1000" dirty="0"/>
          </a:p>
        </p:txBody>
      </p:sp>
      <p:sp>
        <p:nvSpPr>
          <p:cNvPr id="82" name="Shape 77">
            <a:extLst>
              <a:ext uri="{FF2B5EF4-FFF2-40B4-BE49-F238E27FC236}">
                <a16:creationId xmlns:a16="http://schemas.microsoft.com/office/drawing/2014/main" id="{8C587F93-0AA4-F44C-998C-57212AE8FF4C}"/>
              </a:ext>
            </a:extLst>
          </p:cNvPr>
          <p:cNvSpPr/>
          <p:nvPr/>
        </p:nvSpPr>
        <p:spPr>
          <a:xfrm>
            <a:off x="4464832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8">
            <a:extLst>
              <a:ext uri="{FF2B5EF4-FFF2-40B4-BE49-F238E27FC236}">
                <a16:creationId xmlns:a16="http://schemas.microsoft.com/office/drawing/2014/main" id="{8FCE88E2-E3B4-CDA8-8676-4420E4EAD581}"/>
              </a:ext>
            </a:extLst>
          </p:cNvPr>
          <p:cNvSpPr txBox="1"/>
          <p:nvPr/>
        </p:nvSpPr>
        <p:spPr>
          <a:xfrm>
            <a:off x="443337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84" name="Text 79">
            <a:extLst>
              <a:ext uri="{FF2B5EF4-FFF2-40B4-BE49-F238E27FC236}">
                <a16:creationId xmlns:a16="http://schemas.microsoft.com/office/drawing/2014/main" id="{B2B2731A-AED5-F115-068F-516A39772866}"/>
              </a:ext>
            </a:extLst>
          </p:cNvPr>
          <p:cNvSpPr txBox="1"/>
          <p:nvPr/>
        </p:nvSpPr>
        <p:spPr>
          <a:xfrm>
            <a:off x="4480834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np.where returns indices where condition is true</a:t>
            </a:r>
            <a:endParaRPr lang="en-US" sz="1000" dirty="0"/>
          </a:p>
        </p:txBody>
      </p:sp>
      <p:sp>
        <p:nvSpPr>
          <p:cNvPr id="85" name="Shape 80">
            <a:extLst>
              <a:ext uri="{FF2B5EF4-FFF2-40B4-BE49-F238E27FC236}">
                <a16:creationId xmlns:a16="http://schemas.microsoft.com/office/drawing/2014/main" id="{E9CD7AB9-197D-0EA2-2832-1FD5E595FB2A}"/>
              </a:ext>
            </a:extLst>
          </p:cNvPr>
          <p:cNvSpPr/>
          <p:nvPr/>
        </p:nvSpPr>
        <p:spPr>
          <a:xfrm>
            <a:off x="4912431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1">
            <a:extLst>
              <a:ext uri="{FF2B5EF4-FFF2-40B4-BE49-F238E27FC236}">
                <a16:creationId xmlns:a16="http://schemas.microsoft.com/office/drawing/2014/main" id="{D33A803A-B327-8BB7-92E8-91D5C25EF050}"/>
              </a:ext>
            </a:extLst>
          </p:cNvPr>
          <p:cNvSpPr txBox="1"/>
          <p:nvPr/>
        </p:nvSpPr>
        <p:spPr>
          <a:xfrm>
            <a:off x="4880975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87" name="Text 82">
            <a:extLst>
              <a:ext uri="{FF2B5EF4-FFF2-40B4-BE49-F238E27FC236}">
                <a16:creationId xmlns:a16="http://schemas.microsoft.com/office/drawing/2014/main" id="{DD5BBCF4-EAE3-5CFA-51D3-204765421B2F}"/>
              </a:ext>
            </a:extLst>
          </p:cNvPr>
          <p:cNvSpPr txBox="1"/>
          <p:nvPr/>
        </p:nvSpPr>
        <p:spPr>
          <a:xfrm>
            <a:off x="49284331" y="1809598"/>
            <a:ext cx="63486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n_components = np.where(cumulative_variance &gt;= cumulative_variance_threshold)[</a:t>
            </a:r>
            <a:endParaRPr lang="en-US" sz="1000" dirty="0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0642CBF9-B156-3FF5-5BED-F7B4732351AC}"/>
              </a:ext>
            </a:extLst>
          </p:cNvPr>
          <p:cNvSpPr txBox="1"/>
          <p:nvPr/>
        </p:nvSpPr>
        <p:spPr>
          <a:xfrm>
            <a:off x="5552602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89" name="Text 84">
            <a:extLst>
              <a:ext uri="{FF2B5EF4-FFF2-40B4-BE49-F238E27FC236}">
                <a16:creationId xmlns:a16="http://schemas.microsoft.com/office/drawing/2014/main" id="{D1FCD361-3C67-EE84-E43E-7000FA63FC8E}"/>
              </a:ext>
            </a:extLst>
          </p:cNvPr>
          <p:cNvSpPr txBox="1"/>
          <p:nvPr/>
        </p:nvSpPr>
        <p:spPr>
          <a:xfrm>
            <a:off x="556055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][</a:t>
            </a:r>
            <a:endParaRPr lang="en-US" sz="1000" dirty="0"/>
          </a:p>
        </p:txBody>
      </p:sp>
      <p:sp>
        <p:nvSpPr>
          <p:cNvPr id="90" name="Text 85">
            <a:extLst>
              <a:ext uri="{FF2B5EF4-FFF2-40B4-BE49-F238E27FC236}">
                <a16:creationId xmlns:a16="http://schemas.microsoft.com/office/drawing/2014/main" id="{FF6BA7D0-6132-ABD4-F1E3-55C914959F44}"/>
              </a:ext>
            </a:extLst>
          </p:cNvPr>
          <p:cNvSpPr txBox="1"/>
          <p:nvPr/>
        </p:nvSpPr>
        <p:spPr>
          <a:xfrm>
            <a:off x="5576559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91" name="Text 86">
            <a:extLst>
              <a:ext uri="{FF2B5EF4-FFF2-40B4-BE49-F238E27FC236}">
                <a16:creationId xmlns:a16="http://schemas.microsoft.com/office/drawing/2014/main" id="{C974245F-1D54-9EB0-BD96-98280D9C76F8}"/>
              </a:ext>
            </a:extLst>
          </p:cNvPr>
          <p:cNvSpPr txBox="1"/>
          <p:nvPr/>
        </p:nvSpPr>
        <p:spPr>
          <a:xfrm>
            <a:off x="5584606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+</a:t>
            </a:r>
            <a:endParaRPr lang="en-US" sz="1000" dirty="0"/>
          </a:p>
        </p:txBody>
      </p:sp>
      <p:sp>
        <p:nvSpPr>
          <p:cNvPr id="92" name="Text 87">
            <a:extLst>
              <a:ext uri="{FF2B5EF4-FFF2-40B4-BE49-F238E27FC236}">
                <a16:creationId xmlns:a16="http://schemas.microsoft.com/office/drawing/2014/main" id="{8C4E2148-0964-5055-128C-2C019240463B}"/>
              </a:ext>
            </a:extLst>
          </p:cNvPr>
          <p:cNvSpPr txBox="1"/>
          <p:nvPr/>
        </p:nvSpPr>
        <p:spPr>
          <a:xfrm>
            <a:off x="56086553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Shape 88">
            <a:extLst>
              <a:ext uri="{FF2B5EF4-FFF2-40B4-BE49-F238E27FC236}">
                <a16:creationId xmlns:a16="http://schemas.microsoft.com/office/drawing/2014/main" id="{251BD4BE-4D6C-2C2C-0249-55B67DE04E93}"/>
              </a:ext>
            </a:extLst>
          </p:cNvPr>
          <p:cNvSpPr/>
          <p:nvPr/>
        </p:nvSpPr>
        <p:spPr>
          <a:xfrm>
            <a:off x="5648065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9">
            <a:extLst>
              <a:ext uri="{FF2B5EF4-FFF2-40B4-BE49-F238E27FC236}">
                <a16:creationId xmlns:a16="http://schemas.microsoft.com/office/drawing/2014/main" id="{E8086709-B852-2EC1-5024-D5FF65F12727}"/>
              </a:ext>
            </a:extLst>
          </p:cNvPr>
          <p:cNvSpPr txBox="1"/>
          <p:nvPr/>
        </p:nvSpPr>
        <p:spPr>
          <a:xfrm>
            <a:off x="5616610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95" name="Shape 90">
            <a:extLst>
              <a:ext uri="{FF2B5EF4-FFF2-40B4-BE49-F238E27FC236}">
                <a16:creationId xmlns:a16="http://schemas.microsoft.com/office/drawing/2014/main" id="{1D8DB0CE-D121-60BD-C4AE-C913489ED92A}"/>
              </a:ext>
            </a:extLst>
          </p:cNvPr>
          <p:cNvSpPr/>
          <p:nvPr/>
        </p:nvSpPr>
        <p:spPr>
          <a:xfrm>
            <a:off x="5695523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1">
            <a:extLst>
              <a:ext uri="{FF2B5EF4-FFF2-40B4-BE49-F238E27FC236}">
                <a16:creationId xmlns:a16="http://schemas.microsoft.com/office/drawing/2014/main" id="{BB96B694-AEDD-C083-803F-F87EA43B17EF}"/>
              </a:ext>
            </a:extLst>
          </p:cNvPr>
          <p:cNvSpPr txBox="1"/>
          <p:nvPr/>
        </p:nvSpPr>
        <p:spPr>
          <a:xfrm>
            <a:off x="5664067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97" name="Text 92">
            <a:extLst>
              <a:ext uri="{FF2B5EF4-FFF2-40B4-BE49-F238E27FC236}">
                <a16:creationId xmlns:a16="http://schemas.microsoft.com/office/drawing/2014/main" id="{A6C78B61-33E0-72C1-660B-33AF5DA647C8}"/>
              </a:ext>
            </a:extLst>
          </p:cNvPr>
          <p:cNvSpPr txBox="1"/>
          <p:nvPr/>
        </p:nvSpPr>
        <p:spPr>
          <a:xfrm>
            <a:off x="57115253" y="1809598"/>
            <a:ext cx="3710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Check if reduction is significant (&gt;10%)</a:t>
            </a:r>
            <a:endParaRPr lang="en-US" sz="1000" dirty="0"/>
          </a:p>
        </p:txBody>
      </p:sp>
      <p:sp>
        <p:nvSpPr>
          <p:cNvPr id="98" name="Shape 93">
            <a:extLst>
              <a:ext uri="{FF2B5EF4-FFF2-40B4-BE49-F238E27FC236}">
                <a16:creationId xmlns:a16="http://schemas.microsoft.com/office/drawing/2014/main" id="{94EE337E-0746-24F5-88D0-F1EA64A04068}"/>
              </a:ext>
            </a:extLst>
          </p:cNvPr>
          <p:cNvSpPr/>
          <p:nvPr/>
        </p:nvSpPr>
        <p:spPr>
          <a:xfrm>
            <a:off x="610307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4">
            <a:extLst>
              <a:ext uri="{FF2B5EF4-FFF2-40B4-BE49-F238E27FC236}">
                <a16:creationId xmlns:a16="http://schemas.microsoft.com/office/drawing/2014/main" id="{88228041-0666-E421-7CBF-F53CD457A4A4}"/>
              </a:ext>
            </a:extLst>
          </p:cNvPr>
          <p:cNvSpPr txBox="1"/>
          <p:nvPr/>
        </p:nvSpPr>
        <p:spPr>
          <a:xfrm>
            <a:off x="6071616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100" name="Text 95">
            <a:extLst>
              <a:ext uri="{FF2B5EF4-FFF2-40B4-BE49-F238E27FC236}">
                <a16:creationId xmlns:a16="http://schemas.microsoft.com/office/drawing/2014/main" id="{27E8CB64-693B-7A15-01F5-62C3B242AEE3}"/>
              </a:ext>
            </a:extLst>
          </p:cNvPr>
          <p:cNvSpPr txBox="1"/>
          <p:nvPr/>
        </p:nvSpPr>
        <p:spPr>
          <a:xfrm>
            <a:off x="61190734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original_dims = df.shape[</a:t>
            </a:r>
            <a:endParaRPr lang="en-US" sz="1000" dirty="0"/>
          </a:p>
        </p:txBody>
      </p:sp>
      <p:sp>
        <p:nvSpPr>
          <p:cNvPr id="101" name="Text 96">
            <a:extLst>
              <a:ext uri="{FF2B5EF4-FFF2-40B4-BE49-F238E27FC236}">
                <a16:creationId xmlns:a16="http://schemas.microsoft.com/office/drawing/2014/main" id="{FE47D4FB-99C9-6073-B342-6277FEE1B38C}"/>
              </a:ext>
            </a:extLst>
          </p:cNvPr>
          <p:cNvSpPr txBox="1"/>
          <p:nvPr/>
        </p:nvSpPr>
        <p:spPr>
          <a:xfrm>
            <a:off x="63191441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97">
            <a:extLst>
              <a:ext uri="{FF2B5EF4-FFF2-40B4-BE49-F238E27FC236}">
                <a16:creationId xmlns:a16="http://schemas.microsoft.com/office/drawing/2014/main" id="{CD323553-25E6-E6CB-EBD8-BDE645FEC59B}"/>
              </a:ext>
            </a:extLst>
          </p:cNvPr>
          <p:cNvSpPr txBox="1"/>
          <p:nvPr/>
        </p:nvSpPr>
        <p:spPr>
          <a:xfrm>
            <a:off x="6327190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03" name="Shape 98">
            <a:extLst>
              <a:ext uri="{FF2B5EF4-FFF2-40B4-BE49-F238E27FC236}">
                <a16:creationId xmlns:a16="http://schemas.microsoft.com/office/drawing/2014/main" id="{908B8FE8-8F3A-D69D-8F41-E80D5FBF31CD}"/>
              </a:ext>
            </a:extLst>
          </p:cNvPr>
          <p:cNvSpPr/>
          <p:nvPr/>
        </p:nvSpPr>
        <p:spPr>
          <a:xfrm>
            <a:off x="636660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99">
            <a:extLst>
              <a:ext uri="{FF2B5EF4-FFF2-40B4-BE49-F238E27FC236}">
                <a16:creationId xmlns:a16="http://schemas.microsoft.com/office/drawing/2014/main" id="{8E4677A7-D2D6-CDD2-E54B-5455BC77D866}"/>
              </a:ext>
            </a:extLst>
          </p:cNvPr>
          <p:cNvSpPr txBox="1"/>
          <p:nvPr/>
        </p:nvSpPr>
        <p:spPr>
          <a:xfrm>
            <a:off x="6335146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105" name="Text 100">
            <a:extLst>
              <a:ext uri="{FF2B5EF4-FFF2-40B4-BE49-F238E27FC236}">
                <a16:creationId xmlns:a16="http://schemas.microsoft.com/office/drawing/2014/main" id="{DAAC5550-92F9-701A-4CE3-BFF3A75C74CA}"/>
              </a:ext>
            </a:extLst>
          </p:cNvPr>
          <p:cNvSpPr txBox="1"/>
          <p:nvPr/>
        </p:nvSpPr>
        <p:spPr>
          <a:xfrm>
            <a:off x="63826034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dim_reduction_ratio =</a:t>
            </a:r>
            <a:endParaRPr lang="en-US" sz="1000" dirty="0"/>
          </a:p>
        </p:txBody>
      </p:sp>
      <p:sp>
        <p:nvSpPr>
          <p:cNvPr id="106" name="Text 101">
            <a:extLst>
              <a:ext uri="{FF2B5EF4-FFF2-40B4-BE49-F238E27FC236}">
                <a16:creationId xmlns:a16="http://schemas.microsoft.com/office/drawing/2014/main" id="{0CFEE7E6-C2C8-A8CD-1254-47270F7DDFA5}"/>
              </a:ext>
            </a:extLst>
          </p:cNvPr>
          <p:cNvSpPr txBox="1"/>
          <p:nvPr/>
        </p:nvSpPr>
        <p:spPr>
          <a:xfrm>
            <a:off x="65506702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7" name="Text 102">
            <a:extLst>
              <a:ext uri="{FF2B5EF4-FFF2-40B4-BE49-F238E27FC236}">
                <a16:creationId xmlns:a16="http://schemas.microsoft.com/office/drawing/2014/main" id="{8E04B504-00FB-7606-A03F-455F110DD4B5}"/>
              </a:ext>
            </a:extLst>
          </p:cNvPr>
          <p:cNvSpPr txBox="1"/>
          <p:nvPr/>
        </p:nvSpPr>
        <p:spPr>
          <a:xfrm>
            <a:off x="65587169" y="1809598"/>
            <a:ext cx="2662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(n_components / original_dims)</a:t>
            </a:r>
            <a:endParaRPr lang="en-US" sz="1000" dirty="0"/>
          </a:p>
        </p:txBody>
      </p:sp>
      <p:sp>
        <p:nvSpPr>
          <p:cNvPr id="108" name="Shape 103">
            <a:extLst>
              <a:ext uri="{FF2B5EF4-FFF2-40B4-BE49-F238E27FC236}">
                <a16:creationId xmlns:a16="http://schemas.microsoft.com/office/drawing/2014/main" id="{C92CE33E-9172-4462-7B15-053E0CFACF20}"/>
              </a:ext>
            </a:extLst>
          </p:cNvPr>
          <p:cNvSpPr/>
          <p:nvPr/>
        </p:nvSpPr>
        <p:spPr>
          <a:xfrm>
            <a:off x="68462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4">
            <a:extLst>
              <a:ext uri="{FF2B5EF4-FFF2-40B4-BE49-F238E27FC236}">
                <a16:creationId xmlns:a16="http://schemas.microsoft.com/office/drawing/2014/main" id="{83E83BA0-340F-A308-F3BE-2CFD87F9071A}"/>
              </a:ext>
            </a:extLst>
          </p:cNvPr>
          <p:cNvSpPr txBox="1"/>
          <p:nvPr/>
        </p:nvSpPr>
        <p:spPr>
          <a:xfrm>
            <a:off x="681474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10" name="Shape 105">
            <a:extLst>
              <a:ext uri="{FF2B5EF4-FFF2-40B4-BE49-F238E27FC236}">
                <a16:creationId xmlns:a16="http://schemas.microsoft.com/office/drawing/2014/main" id="{0B7B81AA-0DF8-AFD2-0EFA-0C1424200048}"/>
              </a:ext>
            </a:extLst>
          </p:cNvPr>
          <p:cNvSpPr/>
          <p:nvPr/>
        </p:nvSpPr>
        <p:spPr>
          <a:xfrm>
            <a:off x="6893661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6">
            <a:extLst>
              <a:ext uri="{FF2B5EF4-FFF2-40B4-BE49-F238E27FC236}">
                <a16:creationId xmlns:a16="http://schemas.microsoft.com/office/drawing/2014/main" id="{F6898E15-76EC-47A1-6E5B-E28F16CE4559}"/>
              </a:ext>
            </a:extLst>
          </p:cNvPr>
          <p:cNvSpPr txBox="1"/>
          <p:nvPr/>
        </p:nvSpPr>
        <p:spPr>
          <a:xfrm>
            <a:off x="686220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12" name="Text 107">
            <a:extLst>
              <a:ext uri="{FF2B5EF4-FFF2-40B4-BE49-F238E27FC236}">
                <a16:creationId xmlns:a16="http://schemas.microsoft.com/office/drawing/2014/main" id="{F626637C-1135-7AAB-98BD-C6F52C1441DB}"/>
              </a:ext>
            </a:extLst>
          </p:cNvPr>
          <p:cNvSpPr txBox="1"/>
          <p:nvPr/>
        </p:nvSpPr>
        <p:spPr>
          <a:xfrm>
            <a:off x="69096636" y="1809598"/>
            <a:ext cx="49103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 = dim_reduction_ratio &gt;= min_dim_reduction_ratio</a:t>
            </a:r>
            <a:endParaRPr lang="en-US" sz="1000" dirty="0"/>
          </a:p>
        </p:txBody>
      </p:sp>
      <p:sp>
        <p:nvSpPr>
          <p:cNvPr id="113" name="Shape 108">
            <a:extLst>
              <a:ext uri="{FF2B5EF4-FFF2-40B4-BE49-F238E27FC236}">
                <a16:creationId xmlns:a16="http://schemas.microsoft.com/office/drawing/2014/main" id="{8B83AE0F-C033-6753-CDC3-488780F97436}"/>
              </a:ext>
            </a:extLst>
          </p:cNvPr>
          <p:cNvSpPr/>
          <p:nvPr/>
        </p:nvSpPr>
        <p:spPr>
          <a:xfrm>
            <a:off x="7421270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9">
            <a:extLst>
              <a:ext uri="{FF2B5EF4-FFF2-40B4-BE49-F238E27FC236}">
                <a16:creationId xmlns:a16="http://schemas.microsoft.com/office/drawing/2014/main" id="{A9BB16F5-D75F-FDDC-6D35-7097F345DA66}"/>
              </a:ext>
            </a:extLst>
          </p:cNvPr>
          <p:cNvSpPr txBox="1"/>
          <p:nvPr/>
        </p:nvSpPr>
        <p:spPr>
          <a:xfrm>
            <a:off x="7389815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15" name="Shape 110">
            <a:extLst>
              <a:ext uri="{FF2B5EF4-FFF2-40B4-BE49-F238E27FC236}">
                <a16:creationId xmlns:a16="http://schemas.microsoft.com/office/drawing/2014/main" id="{7DD4E672-DD0B-58FB-0DB4-5F5C97C45B31}"/>
              </a:ext>
            </a:extLst>
          </p:cNvPr>
          <p:cNvSpPr/>
          <p:nvPr/>
        </p:nvSpPr>
        <p:spPr>
          <a:xfrm>
            <a:off x="7468727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1">
            <a:extLst>
              <a:ext uri="{FF2B5EF4-FFF2-40B4-BE49-F238E27FC236}">
                <a16:creationId xmlns:a16="http://schemas.microsoft.com/office/drawing/2014/main" id="{C6E994C7-E2ED-5796-9352-1A3F782C09FB}"/>
              </a:ext>
            </a:extLst>
          </p:cNvPr>
          <p:cNvSpPr txBox="1"/>
          <p:nvPr/>
        </p:nvSpPr>
        <p:spPr>
          <a:xfrm>
            <a:off x="7437272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17" name="Text 112">
            <a:extLst>
              <a:ext uri="{FF2B5EF4-FFF2-40B4-BE49-F238E27FC236}">
                <a16:creationId xmlns:a16="http://schemas.microsoft.com/office/drawing/2014/main" id="{BAFC9726-73FD-095E-9EA5-94E711144C5B}"/>
              </a:ext>
            </a:extLst>
          </p:cNvPr>
          <p:cNvSpPr txBox="1"/>
          <p:nvPr/>
        </p:nvSpPr>
        <p:spPr>
          <a:xfrm>
            <a:off x="74847298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18" name="Text 113">
            <a:extLst>
              <a:ext uri="{FF2B5EF4-FFF2-40B4-BE49-F238E27FC236}">
                <a16:creationId xmlns:a16="http://schemas.microsoft.com/office/drawing/2014/main" id="{15D1E1A3-F880-E3B3-CC07-1170EDA8F1A6}"/>
              </a:ext>
            </a:extLst>
          </p:cNvPr>
          <p:cNvSpPr txBox="1"/>
          <p:nvPr/>
        </p:nvSpPr>
        <p:spPr>
          <a:xfrm>
            <a:off x="75327358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perform_pca, n_components</a:t>
            </a:r>
            <a:endParaRPr lang="en-US" sz="1000" dirty="0"/>
          </a:p>
        </p:txBody>
      </p:sp>
      <p:sp>
        <p:nvSpPr>
          <p:cNvPr id="119" name="Shape 114">
            <a:extLst>
              <a:ext uri="{FF2B5EF4-FFF2-40B4-BE49-F238E27FC236}">
                <a16:creationId xmlns:a16="http://schemas.microsoft.com/office/drawing/2014/main" id="{7C8D4098-7EA0-76AD-9EAB-6A16E070EB68}"/>
              </a:ext>
            </a:extLst>
          </p:cNvPr>
          <p:cNvSpPr/>
          <p:nvPr/>
        </p:nvSpPr>
        <p:spPr>
          <a:xfrm>
            <a:off x="7764261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5">
            <a:extLst>
              <a:ext uri="{FF2B5EF4-FFF2-40B4-BE49-F238E27FC236}">
                <a16:creationId xmlns:a16="http://schemas.microsoft.com/office/drawing/2014/main" id="{22A6E0A2-B1A3-AC45-C214-7ECED54857EB}"/>
              </a:ext>
            </a:extLst>
          </p:cNvPr>
          <p:cNvSpPr txBox="1"/>
          <p:nvPr/>
        </p:nvSpPr>
        <p:spPr>
          <a:xfrm>
            <a:off x="7732806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21" name="Shape 116">
            <a:extLst>
              <a:ext uri="{FF2B5EF4-FFF2-40B4-BE49-F238E27FC236}">
                <a16:creationId xmlns:a16="http://schemas.microsoft.com/office/drawing/2014/main" id="{CE5A188E-60E1-67BF-3E16-E7605174E45E}"/>
              </a:ext>
            </a:extLst>
          </p:cNvPr>
          <p:cNvSpPr/>
          <p:nvPr/>
        </p:nvSpPr>
        <p:spPr>
          <a:xfrm>
            <a:off x="7811719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7">
            <a:extLst>
              <a:ext uri="{FF2B5EF4-FFF2-40B4-BE49-F238E27FC236}">
                <a16:creationId xmlns:a16="http://schemas.microsoft.com/office/drawing/2014/main" id="{CF941528-50F7-F108-969E-ECB228F9D9AA}"/>
              </a:ext>
            </a:extLst>
          </p:cNvPr>
          <p:cNvSpPr txBox="1"/>
          <p:nvPr/>
        </p:nvSpPr>
        <p:spPr>
          <a:xfrm>
            <a:off x="778026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23" name="Text 118">
            <a:extLst>
              <a:ext uri="{FF2B5EF4-FFF2-40B4-BE49-F238E27FC236}">
                <a16:creationId xmlns:a16="http://schemas.microsoft.com/office/drawing/2014/main" id="{7E4EF8BA-781E-64AD-06CB-22B48C62EF08}"/>
              </a:ext>
            </a:extLst>
          </p:cNvPr>
          <p:cNvSpPr txBox="1"/>
          <p:nvPr/>
        </p:nvSpPr>
        <p:spPr>
          <a:xfrm>
            <a:off x="78276298" y="1809598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Usage Example:</a:t>
            </a:r>
            <a:endParaRPr lang="en-US" sz="1000" dirty="0"/>
          </a:p>
        </p:txBody>
      </p:sp>
      <p:sp>
        <p:nvSpPr>
          <p:cNvPr id="124" name="Shape 119">
            <a:extLst>
              <a:ext uri="{FF2B5EF4-FFF2-40B4-BE49-F238E27FC236}">
                <a16:creationId xmlns:a16="http://schemas.microsoft.com/office/drawing/2014/main" id="{FE0F5D12-FF08-041A-B7B9-70A711410BD9}"/>
              </a:ext>
            </a:extLst>
          </p:cNvPr>
          <p:cNvSpPr/>
          <p:nvPr/>
        </p:nvSpPr>
        <p:spPr>
          <a:xfrm>
            <a:off x="798719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0">
            <a:extLst>
              <a:ext uri="{FF2B5EF4-FFF2-40B4-BE49-F238E27FC236}">
                <a16:creationId xmlns:a16="http://schemas.microsoft.com/office/drawing/2014/main" id="{E75CE3CC-12B2-3875-7A6A-74F0EA22BFC1}"/>
              </a:ext>
            </a:extLst>
          </p:cNvPr>
          <p:cNvSpPr txBox="1"/>
          <p:nvPr/>
        </p:nvSpPr>
        <p:spPr>
          <a:xfrm>
            <a:off x="7955737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26" name="Text 121">
            <a:extLst>
              <a:ext uri="{FF2B5EF4-FFF2-40B4-BE49-F238E27FC236}">
                <a16:creationId xmlns:a16="http://schemas.microsoft.com/office/drawing/2014/main" id="{FB7CD41A-964E-F3D1-FBCD-67EC10FF4AB5}"/>
              </a:ext>
            </a:extLst>
          </p:cNvPr>
          <p:cNvSpPr txBox="1"/>
          <p:nvPr/>
        </p:nvSpPr>
        <p:spPr>
          <a:xfrm>
            <a:off x="80031946" y="1809598"/>
            <a:ext cx="5462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needed=9 -&gt; ratio=0.1 -&gt; PCA=True</a:t>
            </a:r>
            <a:endParaRPr lang="en-US" sz="1000" dirty="0"/>
          </a:p>
        </p:txBody>
      </p:sp>
      <p:sp>
        <p:nvSpPr>
          <p:cNvPr id="127" name="Shape 122">
            <a:extLst>
              <a:ext uri="{FF2B5EF4-FFF2-40B4-BE49-F238E27FC236}">
                <a16:creationId xmlns:a16="http://schemas.microsoft.com/office/drawing/2014/main" id="{027EED80-57AC-B067-2F3D-D5B5ABB661FB}"/>
              </a:ext>
            </a:extLst>
          </p:cNvPr>
          <p:cNvSpPr/>
          <p:nvPr/>
        </p:nvSpPr>
        <p:spPr>
          <a:xfrm>
            <a:off x="857076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3">
            <a:extLst>
              <a:ext uri="{FF2B5EF4-FFF2-40B4-BE49-F238E27FC236}">
                <a16:creationId xmlns:a16="http://schemas.microsoft.com/office/drawing/2014/main" id="{4021C5C8-CE8D-A281-4340-F8F2A42989D6}"/>
              </a:ext>
            </a:extLst>
          </p:cNvPr>
          <p:cNvSpPr txBox="1"/>
          <p:nvPr/>
        </p:nvSpPr>
        <p:spPr>
          <a:xfrm>
            <a:off x="8539307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29" name="Text 124">
            <a:extLst>
              <a:ext uri="{FF2B5EF4-FFF2-40B4-BE49-F238E27FC236}">
                <a16:creationId xmlns:a16="http://schemas.microsoft.com/office/drawing/2014/main" id="{D5A2749D-A614-35CF-B10F-3B130B7927FB}"/>
              </a:ext>
            </a:extLst>
          </p:cNvPr>
          <p:cNvSpPr txBox="1"/>
          <p:nvPr/>
        </p:nvSpPr>
        <p:spPr>
          <a:xfrm>
            <a:off x="85867646" y="1809598"/>
            <a:ext cx="5625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needed=10 -&gt; ratio=0.0 -&gt; PCA=False</a:t>
            </a:r>
            <a:endParaRPr lang="en-US" sz="1000" dirty="0"/>
          </a:p>
        </p:txBody>
      </p:sp>
      <p:sp>
        <p:nvSpPr>
          <p:cNvPr id="130" name="Shape 125">
            <a:extLst>
              <a:ext uri="{FF2B5EF4-FFF2-40B4-BE49-F238E27FC236}">
                <a16:creationId xmlns:a16="http://schemas.microsoft.com/office/drawing/2014/main" id="{CBB78E9B-AC84-1EDF-DD39-7134F0A22075}"/>
              </a:ext>
            </a:extLst>
          </p:cNvPr>
          <p:cNvSpPr/>
          <p:nvPr/>
        </p:nvSpPr>
        <p:spPr>
          <a:xfrm>
            <a:off x="0" y="6608369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6">
            <a:extLst>
              <a:ext uri="{FF2B5EF4-FFF2-40B4-BE49-F238E27FC236}">
                <a16:creationId xmlns:a16="http://schemas.microsoft.com/office/drawing/2014/main" id="{2A2A18DF-C14B-0ABF-E239-E70EDA2D663A}"/>
              </a:ext>
            </a:extLst>
          </p:cNvPr>
          <p:cNvSpPr/>
          <p:nvPr/>
        </p:nvSpPr>
        <p:spPr>
          <a:xfrm>
            <a:off x="0" y="660836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29">
            <a:extLst>
              <a:ext uri="{FF2B5EF4-FFF2-40B4-BE49-F238E27FC236}">
                <a16:creationId xmlns:a16="http://schemas.microsoft.com/office/drawing/2014/main" id="{38337CF8-91E7-1837-1C3D-C5186C3BE4FB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Fixed</a:t>
            </a:r>
            <a:endParaRPr lang="en-US" dirty="0"/>
          </a:p>
        </p:txBody>
      </p:sp>
      <p:pic>
        <p:nvPicPr>
          <p:cNvPr id="136" name="Image 3" descr="preencoded.png">
            <a:extLst>
              <a:ext uri="{FF2B5EF4-FFF2-40B4-BE49-F238E27FC236}">
                <a16:creationId xmlns:a16="http://schemas.microsoft.com/office/drawing/2014/main" id="{071C8D4B-3357-5840-0F21-14B81852EA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38" name="Text 132">
            <a:extLst>
              <a:ext uri="{FF2B5EF4-FFF2-40B4-BE49-F238E27FC236}">
                <a16:creationId xmlns:a16="http://schemas.microsoft.com/office/drawing/2014/main" id="{C5B9747E-F46E-5424-C769-BC1E7CA49D8E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40" name="Text 133">
            <a:extLst>
              <a:ext uri="{FF2B5EF4-FFF2-40B4-BE49-F238E27FC236}">
                <a16:creationId xmlns:a16="http://schemas.microsoft.com/office/drawing/2014/main" id="{4708306A-4B66-CEB5-D54D-F6BD2A7D78AB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8DAB5A-7DBD-9335-A08B-F22FC0A81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59" y="923966"/>
            <a:ext cx="5984942" cy="558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13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523" y="286207"/>
            <a:ext cx="237744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31720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Selection with LLM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304495" y="1190549"/>
            <a:ext cx="152705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3095" y="1143000"/>
            <a:ext cx="24725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Algorithm Choice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443070" y="1171346"/>
            <a:ext cx="1352398" cy="209398"/>
          </a:xfrm>
          <a:prstGeom prst="roundRect">
            <a:avLst>
              <a:gd name="adj" fmla="val 79396"/>
            </a:avLst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4548226" y="1200607"/>
            <a:ext cx="12289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Parsed Output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04495" y="1600200"/>
            <a:ext cx="5486400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04495" y="1600200"/>
            <a:ext cx="38405" cy="9528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95605" y="17903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905" y="1904695"/>
            <a:ext cx="152705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28700" y="1772107"/>
            <a:ext cx="1724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Logistic Regression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028700" y="2029054"/>
            <a:ext cx="41577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as an interpretable baseline to establish a performance benchmark for linear relationships.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04495" y="2743200"/>
            <a:ext cx="5486400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04495" y="2743200"/>
            <a:ext cx="38405" cy="95280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95605" y="29333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19049" y="3047695"/>
            <a:ext cx="133502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28700" y="2915107"/>
            <a:ext cx="1410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Random Forest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028700" y="3172054"/>
            <a:ext cx="44631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Chosen for ability to handle non-linear interactions and robustness to outliers in the dataset.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04495" y="3886200"/>
            <a:ext cx="5486400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04495" y="3886200"/>
            <a:ext cx="38405" cy="9528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95605" y="40763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905" y="4190695"/>
            <a:ext cx="152705" cy="1527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28700" y="4058107"/>
            <a:ext cx="943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XGBoost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028700" y="4315054"/>
            <a:ext cx="46533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for state-of-the-art performance on tabular data and capability to handle class imbalance.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04495" y="5162702"/>
            <a:ext cx="5486400" cy="933602"/>
          </a:xfrm>
          <a:prstGeom prst="roundRect">
            <a:avLst>
              <a:gd name="adj" fmla="val 799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466344" y="5352898"/>
            <a:ext cx="105156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47395" y="5324551"/>
            <a:ext cx="1871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Strategy Reasoning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466344" y="5562295"/>
            <a:ext cx="45390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"Selected diverse model families (Linear, Bagging, Boosting) to ensure comprehensive evaluation coverage and reduce bias."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620256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9157716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10254996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4"/>
          <p:cNvSpPr/>
          <p:nvPr/>
        </p:nvSpPr>
        <p:spPr>
          <a:xfrm>
            <a:off x="12392863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5"/>
          <p:cNvSpPr txBox="1"/>
          <p:nvPr/>
        </p:nvSpPr>
        <p:spPr>
          <a:xfrm>
            <a:off x="1209751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54" name="Text 46"/>
          <p:cNvSpPr txBox="1"/>
          <p:nvPr/>
        </p:nvSpPr>
        <p:spPr>
          <a:xfrm>
            <a:off x="12554712" y="1809598"/>
            <a:ext cx="27486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Description: {description_info}</a:t>
            </a:r>
            <a:endParaRPr lang="en-US" sz="1000" dirty="0"/>
          </a:p>
        </p:txBody>
      </p:sp>
      <p:sp>
        <p:nvSpPr>
          <p:cNvPr id="55" name="Shape 47"/>
          <p:cNvSpPr/>
          <p:nvPr/>
        </p:nvSpPr>
        <p:spPr>
          <a:xfrm>
            <a:off x="15490850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 txBox="1"/>
          <p:nvPr/>
        </p:nvSpPr>
        <p:spPr>
          <a:xfrm>
            <a:off x="1519549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7" name="Text 49"/>
          <p:cNvSpPr txBox="1"/>
          <p:nvPr/>
        </p:nvSpPr>
        <p:spPr>
          <a:xfrm>
            <a:off x="15652699" y="1809598"/>
            <a:ext cx="25868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Unique Values: {nunique_info}</a:t>
            </a:r>
            <a:endParaRPr lang="en-US" sz="1000" dirty="0"/>
          </a:p>
        </p:txBody>
      </p:sp>
      <p:sp>
        <p:nvSpPr>
          <p:cNvPr id="58" name="Shape 50"/>
          <p:cNvSpPr/>
          <p:nvPr/>
        </p:nvSpPr>
        <p:spPr>
          <a:xfrm>
            <a:off x="18428818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1"/>
          <p:cNvSpPr txBox="1"/>
          <p:nvPr/>
        </p:nvSpPr>
        <p:spPr>
          <a:xfrm>
            <a:off x="1813346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60" name="Shape 52"/>
          <p:cNvSpPr/>
          <p:nvPr/>
        </p:nvSpPr>
        <p:spPr>
          <a:xfrm>
            <a:off x="18886018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3"/>
          <p:cNvSpPr txBox="1"/>
          <p:nvPr/>
        </p:nvSpPr>
        <p:spPr>
          <a:xfrm>
            <a:off x="1859066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2" name="Text 54"/>
          <p:cNvSpPr txBox="1"/>
          <p:nvPr/>
        </p:nvSpPr>
        <p:spPr>
          <a:xfrm>
            <a:off x="19047866" y="1809598"/>
            <a:ext cx="34628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Task: Select 3 classification models from:</a:t>
            </a:r>
            <a:endParaRPr lang="en-US" sz="1000" dirty="0"/>
          </a:p>
        </p:txBody>
      </p:sp>
      <p:sp>
        <p:nvSpPr>
          <p:cNvPr id="63" name="Shape 55"/>
          <p:cNvSpPr/>
          <p:nvPr/>
        </p:nvSpPr>
        <p:spPr>
          <a:xfrm>
            <a:off x="22704552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6"/>
          <p:cNvSpPr txBox="1"/>
          <p:nvPr/>
        </p:nvSpPr>
        <p:spPr>
          <a:xfrm>
            <a:off x="2240920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65" name="Text 57"/>
          <p:cNvSpPr txBox="1"/>
          <p:nvPr/>
        </p:nvSpPr>
        <p:spPr>
          <a:xfrm>
            <a:off x="22866401" y="1809598"/>
            <a:ext cx="34628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1:LogisticRegression, 2:SVC, 3:GaussianNB,</a:t>
            </a:r>
            <a:endParaRPr lang="en-US" sz="1000" dirty="0"/>
          </a:p>
        </p:txBody>
      </p:sp>
      <p:sp>
        <p:nvSpPr>
          <p:cNvPr id="66" name="Shape 58"/>
          <p:cNvSpPr/>
          <p:nvPr/>
        </p:nvSpPr>
        <p:spPr>
          <a:xfrm>
            <a:off x="26523086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59"/>
          <p:cNvSpPr txBox="1"/>
          <p:nvPr/>
        </p:nvSpPr>
        <p:spPr>
          <a:xfrm>
            <a:off x="2622773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68" name="Text 60"/>
          <p:cNvSpPr txBox="1"/>
          <p:nvPr/>
        </p:nvSpPr>
        <p:spPr>
          <a:xfrm>
            <a:off x="26684935" y="1809598"/>
            <a:ext cx="38624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4:RandomForestClassifier, 5:AdaBoostClassifier,</a:t>
            </a:r>
            <a:endParaRPr lang="en-US" sz="1000" dirty="0"/>
          </a:p>
        </p:txBody>
      </p:sp>
      <p:sp>
        <p:nvSpPr>
          <p:cNvPr id="69" name="Shape 61"/>
          <p:cNvSpPr/>
          <p:nvPr/>
        </p:nvSpPr>
        <p:spPr>
          <a:xfrm>
            <a:off x="30741214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2"/>
          <p:cNvSpPr txBox="1"/>
          <p:nvPr/>
        </p:nvSpPr>
        <p:spPr>
          <a:xfrm>
            <a:off x="304458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1" name="Text 63"/>
          <p:cNvSpPr txBox="1"/>
          <p:nvPr/>
        </p:nvSpPr>
        <p:spPr>
          <a:xfrm>
            <a:off x="30903062" y="1809598"/>
            <a:ext cx="3710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6:XGBClassifier, 7:GradientBoostingClassifier</a:t>
            </a:r>
            <a:endParaRPr lang="en-US" sz="1000" dirty="0"/>
          </a:p>
        </p:txBody>
      </p:sp>
      <p:sp>
        <p:nvSpPr>
          <p:cNvPr id="72" name="Shape 64"/>
          <p:cNvSpPr/>
          <p:nvPr/>
        </p:nvSpPr>
        <p:spPr>
          <a:xfrm>
            <a:off x="34799321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5"/>
          <p:cNvSpPr txBox="1"/>
          <p:nvPr/>
        </p:nvSpPr>
        <p:spPr>
          <a:xfrm>
            <a:off x="345039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74" name="Shape 66"/>
          <p:cNvSpPr/>
          <p:nvPr/>
        </p:nvSpPr>
        <p:spPr>
          <a:xfrm>
            <a:off x="35256521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7"/>
          <p:cNvSpPr txBox="1"/>
          <p:nvPr/>
        </p:nvSpPr>
        <p:spPr>
          <a:xfrm>
            <a:off x="349611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76" name="Text 68"/>
          <p:cNvSpPr txBox="1"/>
          <p:nvPr/>
        </p:nvSpPr>
        <p:spPr>
          <a:xfrm>
            <a:off x="35418370" y="1809598"/>
            <a:ext cx="29864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 JSON with reasoning for each:</a:t>
            </a:r>
            <a:endParaRPr lang="en-US" sz="1000" dirty="0"/>
          </a:p>
        </p:txBody>
      </p:sp>
      <p:sp>
        <p:nvSpPr>
          <p:cNvPr id="77" name="Shape 69"/>
          <p:cNvSpPr/>
          <p:nvPr/>
        </p:nvSpPr>
        <p:spPr>
          <a:xfrm>
            <a:off x="38594995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0"/>
          <p:cNvSpPr txBox="1"/>
          <p:nvPr/>
        </p:nvSpPr>
        <p:spPr>
          <a:xfrm>
            <a:off x="3829964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79" name="Text 71"/>
          <p:cNvSpPr txBox="1"/>
          <p:nvPr/>
        </p:nvSpPr>
        <p:spPr>
          <a:xfrm>
            <a:off x="3875684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000" dirty="0"/>
          </a:p>
        </p:txBody>
      </p:sp>
      <p:sp>
        <p:nvSpPr>
          <p:cNvPr id="80" name="Shape 72"/>
          <p:cNvSpPr/>
          <p:nvPr/>
        </p:nvSpPr>
        <p:spPr>
          <a:xfrm>
            <a:off x="39131748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3"/>
          <p:cNvSpPr txBox="1"/>
          <p:nvPr/>
        </p:nvSpPr>
        <p:spPr>
          <a:xfrm>
            <a:off x="3883639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82" name="Text 74"/>
          <p:cNvSpPr txBox="1"/>
          <p:nvPr/>
        </p:nvSpPr>
        <p:spPr>
          <a:xfrm>
            <a:off x="39293597" y="1809598"/>
            <a:ext cx="43488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"decisions": {"model1": 1, "model2": 4, "model3": 6},</a:t>
            </a:r>
            <a:endParaRPr lang="en-US" sz="1000" dirty="0"/>
          </a:p>
        </p:txBody>
      </p:sp>
      <p:sp>
        <p:nvSpPr>
          <p:cNvPr id="83" name="Shape 75"/>
          <p:cNvSpPr/>
          <p:nvPr/>
        </p:nvSpPr>
        <p:spPr>
          <a:xfrm>
            <a:off x="43830850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6"/>
          <p:cNvSpPr txBox="1"/>
          <p:nvPr/>
        </p:nvSpPr>
        <p:spPr>
          <a:xfrm>
            <a:off x="4353549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85" name="Text 77"/>
          <p:cNvSpPr txBox="1"/>
          <p:nvPr/>
        </p:nvSpPr>
        <p:spPr>
          <a:xfrm>
            <a:off x="43992698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"reasoning": {</a:t>
            </a:r>
            <a:endParaRPr lang="en-US" sz="1000" dirty="0"/>
          </a:p>
        </p:txBody>
      </p:sp>
      <p:sp>
        <p:nvSpPr>
          <p:cNvPr id="86" name="Shape 78"/>
          <p:cNvSpPr/>
          <p:nvPr/>
        </p:nvSpPr>
        <p:spPr>
          <a:xfrm>
            <a:off x="45408190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79"/>
          <p:cNvSpPr txBox="1"/>
          <p:nvPr/>
        </p:nvSpPr>
        <p:spPr>
          <a:xfrm>
            <a:off x="451128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88" name="Text 80"/>
          <p:cNvSpPr txBox="1"/>
          <p:nvPr/>
        </p:nvSpPr>
        <p:spPr>
          <a:xfrm>
            <a:off x="45570038" y="1809598"/>
            <a:ext cx="41870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"model1": "LogisticRegression: Linear baseline...",</a:t>
            </a:r>
            <a:endParaRPr lang="en-US" sz="1000" dirty="0"/>
          </a:p>
        </p:txBody>
      </p:sp>
      <p:sp>
        <p:nvSpPr>
          <p:cNvPr id="89" name="Shape 81"/>
          <p:cNvSpPr/>
          <p:nvPr/>
        </p:nvSpPr>
        <p:spPr>
          <a:xfrm>
            <a:off x="49946357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2"/>
          <p:cNvSpPr txBox="1"/>
          <p:nvPr/>
        </p:nvSpPr>
        <p:spPr>
          <a:xfrm>
            <a:off x="4965100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91" name="Text 83"/>
          <p:cNvSpPr txBox="1"/>
          <p:nvPr/>
        </p:nvSpPr>
        <p:spPr>
          <a:xfrm>
            <a:off x="50108206" y="1809598"/>
            <a:ext cx="39483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"model2": "RandomForest: Handles non-linear...",</a:t>
            </a:r>
            <a:endParaRPr lang="en-US" sz="1000" dirty="0"/>
          </a:p>
        </p:txBody>
      </p:sp>
      <p:sp>
        <p:nvSpPr>
          <p:cNvPr id="92" name="Shape 84"/>
          <p:cNvSpPr/>
          <p:nvPr/>
        </p:nvSpPr>
        <p:spPr>
          <a:xfrm>
            <a:off x="54244951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85"/>
          <p:cNvSpPr txBox="1"/>
          <p:nvPr/>
        </p:nvSpPr>
        <p:spPr>
          <a:xfrm>
            <a:off x="5394960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94" name="Text 86"/>
          <p:cNvSpPr txBox="1"/>
          <p:nvPr/>
        </p:nvSpPr>
        <p:spPr>
          <a:xfrm>
            <a:off x="54406800" y="1809598"/>
            <a:ext cx="39483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"model3": "XGBoost: State-of-art performance..."</a:t>
            </a:r>
            <a:endParaRPr lang="en-US" sz="1000" dirty="0"/>
          </a:p>
        </p:txBody>
      </p:sp>
      <p:sp>
        <p:nvSpPr>
          <p:cNvPr id="95" name="Shape 87"/>
          <p:cNvSpPr/>
          <p:nvPr/>
        </p:nvSpPr>
        <p:spPr>
          <a:xfrm>
            <a:off x="58543546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88"/>
          <p:cNvSpPr txBox="1"/>
          <p:nvPr/>
        </p:nvSpPr>
        <p:spPr>
          <a:xfrm>
            <a:off x="5824819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97" name="Text 89"/>
          <p:cNvSpPr txBox="1"/>
          <p:nvPr/>
        </p:nvSpPr>
        <p:spPr>
          <a:xfrm>
            <a:off x="5870539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},</a:t>
            </a:r>
            <a:endParaRPr lang="en-US" sz="1000" dirty="0"/>
          </a:p>
        </p:txBody>
      </p:sp>
      <p:sp>
        <p:nvSpPr>
          <p:cNvPr id="98" name="Shape 90"/>
          <p:cNvSpPr/>
          <p:nvPr/>
        </p:nvSpPr>
        <p:spPr>
          <a:xfrm>
            <a:off x="59160766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1"/>
          <p:cNvSpPr txBox="1"/>
          <p:nvPr/>
        </p:nvSpPr>
        <p:spPr>
          <a:xfrm>
            <a:off x="5886541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00" name="Text 92"/>
          <p:cNvSpPr txBox="1"/>
          <p:nvPr/>
        </p:nvSpPr>
        <p:spPr>
          <a:xfrm>
            <a:off x="59322614" y="1809598"/>
            <a:ext cx="42629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"overall_reasoning": "Strategy: Selected diverse..."</a:t>
            </a:r>
            <a:endParaRPr lang="en-US" sz="1000" dirty="0"/>
          </a:p>
        </p:txBody>
      </p:sp>
      <p:sp>
        <p:nvSpPr>
          <p:cNvPr id="101" name="Shape 93"/>
          <p:cNvSpPr/>
          <p:nvPr/>
        </p:nvSpPr>
        <p:spPr>
          <a:xfrm>
            <a:off x="63778486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4"/>
          <p:cNvSpPr txBox="1"/>
          <p:nvPr/>
        </p:nvSpPr>
        <p:spPr>
          <a:xfrm>
            <a:off x="6348313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03" name="Text 95"/>
          <p:cNvSpPr txBox="1"/>
          <p:nvPr/>
        </p:nvSpPr>
        <p:spPr>
          <a:xfrm>
            <a:off x="6394033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00" dirty="0"/>
          </a:p>
        </p:txBody>
      </p:sp>
      <p:sp>
        <p:nvSpPr>
          <p:cNvPr id="104" name="Shape 96"/>
          <p:cNvSpPr/>
          <p:nvPr/>
        </p:nvSpPr>
        <p:spPr>
          <a:xfrm>
            <a:off x="64316153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97"/>
          <p:cNvSpPr txBox="1"/>
          <p:nvPr/>
        </p:nvSpPr>
        <p:spPr>
          <a:xfrm>
            <a:off x="6402080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06" name="Text 98"/>
          <p:cNvSpPr txBox="1"/>
          <p:nvPr/>
        </p:nvSpPr>
        <p:spPr>
          <a:xfrm>
            <a:off x="64478002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"""</a:t>
            </a:r>
            <a:endParaRPr lang="en-US" sz="1000" dirty="0"/>
          </a:p>
        </p:txBody>
      </p:sp>
      <p:sp>
        <p:nvSpPr>
          <p:cNvPr id="107" name="Shape 99"/>
          <p:cNvSpPr/>
          <p:nvPr/>
        </p:nvSpPr>
        <p:spPr>
          <a:xfrm>
            <a:off x="65013840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0"/>
          <p:cNvSpPr txBox="1"/>
          <p:nvPr/>
        </p:nvSpPr>
        <p:spPr>
          <a:xfrm>
            <a:off x="647184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09" name="Shape 101"/>
          <p:cNvSpPr/>
          <p:nvPr/>
        </p:nvSpPr>
        <p:spPr>
          <a:xfrm>
            <a:off x="65471040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2"/>
          <p:cNvSpPr txBox="1"/>
          <p:nvPr/>
        </p:nvSpPr>
        <p:spPr>
          <a:xfrm>
            <a:off x="651756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11" name="Text 103"/>
          <p:cNvSpPr txBox="1"/>
          <p:nvPr/>
        </p:nvSpPr>
        <p:spPr>
          <a:xfrm>
            <a:off x="65632889" y="1809598"/>
            <a:ext cx="16248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Application Logic</a:t>
            </a:r>
            <a:endParaRPr lang="en-US" sz="1000" dirty="0"/>
          </a:p>
        </p:txBody>
      </p:sp>
      <p:sp>
        <p:nvSpPr>
          <p:cNvPr id="112" name="Shape 104"/>
          <p:cNvSpPr/>
          <p:nvPr/>
        </p:nvSpPr>
        <p:spPr>
          <a:xfrm>
            <a:off x="67448887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05"/>
          <p:cNvSpPr txBox="1"/>
          <p:nvPr/>
        </p:nvSpPr>
        <p:spPr>
          <a:xfrm>
            <a:off x="6715353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14" name="Text 106"/>
          <p:cNvSpPr txBox="1"/>
          <p:nvPr/>
        </p:nvSpPr>
        <p:spPr>
          <a:xfrm>
            <a:off x="67610736" y="1809598"/>
            <a:ext cx="32250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models = json.loads(llm.invoke(prompt))</a:t>
            </a:r>
            <a:endParaRPr lang="en-US" sz="1000" dirty="0"/>
          </a:p>
        </p:txBody>
      </p:sp>
      <p:sp>
        <p:nvSpPr>
          <p:cNvPr id="115" name="Shape 107"/>
          <p:cNvSpPr/>
          <p:nvPr/>
        </p:nvSpPr>
        <p:spPr>
          <a:xfrm>
            <a:off x="71026934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08"/>
          <p:cNvSpPr txBox="1"/>
          <p:nvPr/>
        </p:nvSpPr>
        <p:spPr>
          <a:xfrm>
            <a:off x="7073158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17" name="Text 109"/>
          <p:cNvSpPr txBox="1"/>
          <p:nvPr/>
        </p:nvSpPr>
        <p:spPr>
          <a:xfrm>
            <a:off x="71188783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endParaRPr lang="en-US" sz="1000" dirty="0"/>
          </a:p>
        </p:txBody>
      </p:sp>
      <p:sp>
        <p:nvSpPr>
          <p:cNvPr id="118" name="Text 110"/>
          <p:cNvSpPr txBox="1"/>
          <p:nvPr/>
        </p:nvSpPr>
        <p:spPr>
          <a:xfrm>
            <a:off x="71428356" y="1809598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m_id</a:t>
            </a:r>
            <a:endParaRPr lang="en-US" sz="1000" dirty="0"/>
          </a:p>
        </p:txBody>
      </p:sp>
      <p:sp>
        <p:nvSpPr>
          <p:cNvPr id="119" name="Text 111"/>
          <p:cNvSpPr txBox="1"/>
          <p:nvPr/>
        </p:nvSpPr>
        <p:spPr>
          <a:xfrm>
            <a:off x="7174839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000" dirty="0"/>
          </a:p>
        </p:txBody>
      </p:sp>
      <p:sp>
        <p:nvSpPr>
          <p:cNvPr id="120" name="Text 112"/>
          <p:cNvSpPr txBox="1"/>
          <p:nvPr/>
        </p:nvSpPr>
        <p:spPr>
          <a:xfrm>
            <a:off x="71909330" y="1809598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models[</a:t>
            </a:r>
            <a:endParaRPr lang="en-US" sz="1000" dirty="0"/>
          </a:p>
        </p:txBody>
      </p:sp>
      <p:sp>
        <p:nvSpPr>
          <p:cNvPr id="121" name="Text 113"/>
          <p:cNvSpPr txBox="1"/>
          <p:nvPr/>
        </p:nvSpPr>
        <p:spPr>
          <a:xfrm>
            <a:off x="72468943" y="18095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"decisions"</a:t>
            </a:r>
            <a:endParaRPr lang="en-US" sz="1000" dirty="0"/>
          </a:p>
        </p:txBody>
      </p:sp>
      <p:sp>
        <p:nvSpPr>
          <p:cNvPr id="122" name="Text 114"/>
          <p:cNvSpPr txBox="1"/>
          <p:nvPr/>
        </p:nvSpPr>
        <p:spPr>
          <a:xfrm>
            <a:off x="73349510" y="18095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].values():</a:t>
            </a:r>
            <a:endParaRPr lang="en-US" sz="1000" dirty="0"/>
          </a:p>
        </p:txBody>
      </p:sp>
      <p:sp>
        <p:nvSpPr>
          <p:cNvPr id="123" name="Shape 115"/>
          <p:cNvSpPr/>
          <p:nvPr/>
        </p:nvSpPr>
        <p:spPr>
          <a:xfrm>
            <a:off x="74525429" y="1790395"/>
            <a:ext cx="9144" cy="19019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6"/>
          <p:cNvSpPr txBox="1"/>
          <p:nvPr/>
        </p:nvSpPr>
        <p:spPr>
          <a:xfrm>
            <a:off x="742300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25" name="Text 117"/>
          <p:cNvSpPr txBox="1"/>
          <p:nvPr/>
        </p:nvSpPr>
        <p:spPr>
          <a:xfrm>
            <a:off x="74687278" y="1809598"/>
            <a:ext cx="29105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train_and_evaluate(model_map[m_id])</a:t>
            </a:r>
            <a:endParaRPr lang="en-US" sz="1000" dirty="0"/>
          </a:p>
        </p:txBody>
      </p:sp>
      <p:sp>
        <p:nvSpPr>
          <p:cNvPr id="126" name="Shape 118"/>
          <p:cNvSpPr/>
          <p:nvPr/>
        </p:nvSpPr>
        <p:spPr>
          <a:xfrm>
            <a:off x="6096305" y="5315407"/>
            <a:ext cx="1857146" cy="780898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7" name="Text 119"/>
          <p:cNvSpPr txBox="1"/>
          <p:nvPr/>
        </p:nvSpPr>
        <p:spPr>
          <a:xfrm>
            <a:off x="6516929" y="5400446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Output</a:t>
            </a:r>
            <a:endParaRPr lang="en-US" sz="900" dirty="0"/>
          </a:p>
        </p:txBody>
      </p:sp>
      <p:sp>
        <p:nvSpPr>
          <p:cNvPr id="128" name="Text 120"/>
          <p:cNvSpPr txBox="1"/>
          <p:nvPr/>
        </p:nvSpPr>
        <p:spPr>
          <a:xfrm>
            <a:off x="6356909" y="5572354"/>
            <a:ext cx="14484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parseable JSON</a:t>
            </a:r>
            <a:endParaRPr lang="en-US" sz="1200" dirty="0"/>
          </a:p>
        </p:txBody>
      </p:sp>
      <p:sp>
        <p:nvSpPr>
          <p:cNvPr id="129" name="Shape 121"/>
          <p:cNvSpPr/>
          <p:nvPr/>
        </p:nvSpPr>
        <p:spPr>
          <a:xfrm>
            <a:off x="8064094" y="5315407"/>
            <a:ext cx="1857146" cy="780898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0" name="Text 122"/>
          <p:cNvSpPr txBox="1"/>
          <p:nvPr/>
        </p:nvSpPr>
        <p:spPr>
          <a:xfrm>
            <a:off x="8418881" y="5400446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 Checking</a:t>
            </a:r>
            <a:endParaRPr lang="en-US" sz="900" dirty="0"/>
          </a:p>
        </p:txBody>
      </p:sp>
      <p:sp>
        <p:nvSpPr>
          <p:cNvPr id="131" name="Text 123"/>
          <p:cNvSpPr txBox="1"/>
          <p:nvPr/>
        </p:nvSpPr>
        <p:spPr>
          <a:xfrm>
            <a:off x="8263433" y="5572354"/>
            <a:ext cx="1571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 choices to list</a:t>
            </a:r>
            <a:endParaRPr lang="en-US" sz="1200" dirty="0"/>
          </a:p>
        </p:txBody>
      </p:sp>
      <p:sp>
        <p:nvSpPr>
          <p:cNvPr id="132" name="Shape 124"/>
          <p:cNvSpPr/>
          <p:nvPr/>
        </p:nvSpPr>
        <p:spPr>
          <a:xfrm>
            <a:off x="10032797" y="5315407"/>
            <a:ext cx="1857146" cy="780898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3" name="Text 125"/>
          <p:cNvSpPr txBox="1"/>
          <p:nvPr/>
        </p:nvSpPr>
        <p:spPr>
          <a:xfrm>
            <a:off x="10584180" y="5400446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134" name="Text 126"/>
          <p:cNvSpPr txBox="1"/>
          <p:nvPr/>
        </p:nvSpPr>
        <p:spPr>
          <a:xfrm>
            <a:off x="10193731" y="5572354"/>
            <a:ext cx="16486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reasoning field</a:t>
            </a:r>
            <a:endParaRPr lang="en-US" sz="1200" dirty="0"/>
          </a:p>
        </p:txBody>
      </p:sp>
      <p:sp>
        <p:nvSpPr>
          <p:cNvPr id="135" name="Shape 12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128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129"/>
          <p:cNvSpPr txBox="1"/>
          <p:nvPr/>
        </p:nvSpPr>
        <p:spPr>
          <a:xfrm>
            <a:off x="457200" y="655807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138" name="Text 130"/>
          <p:cNvSpPr txBox="1"/>
          <p:nvPr/>
        </p:nvSpPr>
        <p:spPr>
          <a:xfrm>
            <a:off x="11320272" y="6558077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16</a:t>
            </a:r>
            <a:endParaRPr lang="en-US" sz="900" dirty="0"/>
          </a:p>
        </p:txBody>
      </p:sp>
      <p:pic>
        <p:nvPicPr>
          <p:cNvPr id="14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43" name="Text 134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44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45" name="Text 135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48" name="Shape 129">
            <a:extLst>
              <a:ext uri="{FF2B5EF4-FFF2-40B4-BE49-F238E27FC236}">
                <a16:creationId xmlns:a16="http://schemas.microsoft.com/office/drawing/2014/main" id="{69BF4C1F-9C02-DD64-8A23-CB112F9C9634}"/>
              </a:ext>
            </a:extLst>
          </p:cNvPr>
          <p:cNvSpPr/>
          <p:nvPr/>
        </p:nvSpPr>
        <p:spPr>
          <a:xfrm>
            <a:off x="-1" y="5487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LLM: Choosing Algorithms</a:t>
            </a:r>
            <a:endParaRPr lang="en-US" dirty="0"/>
          </a:p>
        </p:txBody>
      </p:sp>
      <p:pic>
        <p:nvPicPr>
          <p:cNvPr id="2050" name="Picture 2" descr="How to choose the right Machine Learning model for your data">
            <a:extLst>
              <a:ext uri="{FF2B5EF4-FFF2-40B4-BE49-F238E27FC236}">
                <a16:creationId xmlns:a16="http://schemas.microsoft.com/office/drawing/2014/main" id="{B7AEF3E2-DC88-4FB3-C574-294B6E811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241" y="1084478"/>
            <a:ext cx="5219662" cy="3987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3333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Approach: Results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4495" y="1143000"/>
            <a:ext cx="1781251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04495" y="1143000"/>
            <a:ext cx="38405" cy="135239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1257300"/>
            <a:ext cx="286207" cy="342900"/>
          </a:xfrm>
          <a:prstGeom prst="roundRect">
            <a:avLst>
              <a:gd name="adj" fmla="val 8519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514807" y="1368857"/>
            <a:ext cx="171907" cy="1335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497787" y="1257300"/>
            <a:ext cx="476402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1554480" y="1295705"/>
            <a:ext cx="476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1638605"/>
            <a:ext cx="1028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0-Code Analysis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1809598"/>
            <a:ext cx="13624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workflow without manual coding.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234794" y="1143000"/>
            <a:ext cx="1781251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234794" y="1143000"/>
            <a:ext cx="38405" cy="13523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2387498" y="1257300"/>
            <a:ext cx="228600" cy="342900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2445106" y="1368857"/>
            <a:ext cx="114300" cy="13350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311042" y="1257300"/>
            <a:ext cx="590702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3367735" y="1295705"/>
            <a:ext cx="590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2387498" y="1638605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5-10 Minutes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2387498" y="1809598"/>
            <a:ext cx="14767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execution vs hours of manual work.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166006" y="1143000"/>
            <a:ext cx="1781251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166006" y="1143000"/>
            <a:ext cx="38405" cy="135239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317797" y="1257300"/>
            <a:ext cx="247802" cy="342900"/>
          </a:xfrm>
          <a:prstGeom prst="roundRect">
            <a:avLst>
              <a:gd name="adj" fmla="val 11354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75404" y="1368857"/>
            <a:ext cx="133502" cy="13350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171846" y="1257300"/>
            <a:ext cx="666598" cy="267005"/>
          </a:xfrm>
          <a:prstGeom prst="roundRect">
            <a:avLst>
              <a:gd name="adj" fmla="val 342465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229454" y="1295705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317797" y="1638605"/>
            <a:ext cx="10863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Transparency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4317797" y="1809598"/>
            <a:ext cx="12957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 for preprocessing &amp; models.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096305" y="1143000"/>
            <a:ext cx="1781251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6096305" y="1143000"/>
            <a:ext cx="38405" cy="135239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6248095" y="1257300"/>
            <a:ext cx="247802" cy="342900"/>
          </a:xfrm>
          <a:prstGeom prst="roundRect">
            <a:avLst>
              <a:gd name="adj" fmla="val 11354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05702" y="1368857"/>
            <a:ext cx="133502" cy="133502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157923" y="1257300"/>
            <a:ext cx="609905" cy="267005"/>
          </a:xfrm>
          <a:prstGeom prst="roundRect">
            <a:avLst>
              <a:gd name="adj" fmla="val 342465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 txBox="1"/>
          <p:nvPr/>
        </p:nvSpPr>
        <p:spPr>
          <a:xfrm>
            <a:off x="7215530" y="1295705"/>
            <a:ext cx="609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6248095" y="1638605"/>
            <a:ext cx="896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 Proof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6248095" y="1809598"/>
            <a:ext cx="1571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fit/transform safeguards.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304495" y="2723998"/>
            <a:ext cx="7572146" cy="4134002"/>
          </a:xfrm>
          <a:prstGeom prst="roundRect">
            <a:avLst>
              <a:gd name="adj" fmla="val 91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95605" y="2943454"/>
            <a:ext cx="133502" cy="133502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705002" y="2915107"/>
            <a:ext cx="2300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Experimental Results (5 Datasets)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95605" y="3219602"/>
            <a:ext cx="7191756" cy="2686507"/>
          </a:xfrm>
          <a:prstGeom prst="roundRect">
            <a:avLst>
              <a:gd name="adj" fmla="val 96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1933956" y="3538728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 txBox="1"/>
          <p:nvPr/>
        </p:nvSpPr>
        <p:spPr>
          <a:xfrm>
            <a:off x="580644" y="3619195"/>
            <a:ext cx="1219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Lung Cancer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580644" y="3810305"/>
            <a:ext cx="13533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Total: 447 | Train: 386 | Test: 61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3367735" y="3538728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 txBox="1"/>
          <p:nvPr/>
        </p:nvSpPr>
        <p:spPr>
          <a:xfrm>
            <a:off x="2019910" y="3619195"/>
            <a:ext cx="495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SMOTE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4801514" y="3538728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 txBox="1"/>
          <p:nvPr/>
        </p:nvSpPr>
        <p:spPr>
          <a:xfrm>
            <a:off x="3781958" y="3619195"/>
            <a:ext cx="70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88.5% Acc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3549701" y="3771900"/>
            <a:ext cx="1172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0.63 | AUC: 0.94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6235294" y="3538728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7"/>
          <p:cNvSpPr txBox="1"/>
          <p:nvPr/>
        </p:nvSpPr>
        <p:spPr>
          <a:xfrm>
            <a:off x="5213909" y="3619195"/>
            <a:ext cx="70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90.2% Acc</a:t>
            </a: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4989881" y="3771900"/>
            <a:ext cx="1153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0.67 | AUC: 0.95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6239866" y="3538728"/>
            <a:ext cx="1438351" cy="65745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0"/>
          <p:cNvSpPr txBox="1"/>
          <p:nvPr/>
        </p:nvSpPr>
        <p:spPr>
          <a:xfrm>
            <a:off x="6648602" y="3619195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93.4% Acc</a:t>
            </a:r>
            <a:endParaRPr lang="en-US" sz="900" dirty="0"/>
          </a:p>
        </p:txBody>
      </p:sp>
      <p:sp>
        <p:nvSpPr>
          <p:cNvPr id="59" name="Text 51"/>
          <p:cNvSpPr txBox="1"/>
          <p:nvPr/>
        </p:nvSpPr>
        <p:spPr>
          <a:xfrm>
            <a:off x="6422746" y="3771900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0.80 | AUC: 0.95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504749" y="4196182"/>
            <a:ext cx="717255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3"/>
          <p:cNvSpPr/>
          <p:nvPr/>
        </p:nvSpPr>
        <p:spPr>
          <a:xfrm>
            <a:off x="1933956" y="4196182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4"/>
          <p:cNvSpPr txBox="1"/>
          <p:nvPr/>
        </p:nvSpPr>
        <p:spPr>
          <a:xfrm>
            <a:off x="580644" y="4276649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Iris Flowers</a:t>
            </a:r>
            <a:endParaRPr lang="en-US" sz="900" dirty="0"/>
          </a:p>
        </p:txBody>
      </p:sp>
      <p:sp>
        <p:nvSpPr>
          <p:cNvPr id="63" name="Text 55"/>
          <p:cNvSpPr txBox="1"/>
          <p:nvPr/>
        </p:nvSpPr>
        <p:spPr>
          <a:xfrm>
            <a:off x="580644" y="4466844"/>
            <a:ext cx="13057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Total: 150 | Train: 120 | Test: 30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3367735" y="4196182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7"/>
          <p:cNvSpPr txBox="1"/>
          <p:nvPr/>
        </p:nvSpPr>
        <p:spPr>
          <a:xfrm>
            <a:off x="2019910" y="4276649"/>
            <a:ext cx="381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900" dirty="0"/>
          </a:p>
        </p:txBody>
      </p:sp>
      <p:sp>
        <p:nvSpPr>
          <p:cNvPr id="66" name="Shape 58"/>
          <p:cNvSpPr/>
          <p:nvPr/>
        </p:nvSpPr>
        <p:spPr>
          <a:xfrm>
            <a:off x="3372307" y="4196182"/>
            <a:ext cx="1438351" cy="65745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59"/>
          <p:cNvSpPr/>
          <p:nvPr/>
        </p:nvSpPr>
        <p:spPr>
          <a:xfrm>
            <a:off x="4801514" y="4196182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0"/>
          <p:cNvSpPr txBox="1"/>
          <p:nvPr/>
        </p:nvSpPr>
        <p:spPr>
          <a:xfrm>
            <a:off x="3807562" y="4276649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Acc</a:t>
            </a:r>
            <a:endParaRPr lang="en-US" sz="900" dirty="0"/>
          </a:p>
        </p:txBody>
      </p:sp>
      <p:sp>
        <p:nvSpPr>
          <p:cNvPr id="69" name="Text 61"/>
          <p:cNvSpPr txBox="1"/>
          <p:nvPr/>
        </p:nvSpPr>
        <p:spPr>
          <a:xfrm>
            <a:off x="3925519" y="4429354"/>
            <a:ext cx="4197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1.0</a:t>
            </a:r>
            <a:endParaRPr lang="en-US" sz="900" dirty="0"/>
          </a:p>
        </p:txBody>
      </p:sp>
      <p:sp>
        <p:nvSpPr>
          <p:cNvPr id="70" name="Shape 62"/>
          <p:cNvSpPr/>
          <p:nvPr/>
        </p:nvSpPr>
        <p:spPr>
          <a:xfrm>
            <a:off x="4806086" y="4196182"/>
            <a:ext cx="1438351" cy="65745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3"/>
          <p:cNvSpPr/>
          <p:nvPr/>
        </p:nvSpPr>
        <p:spPr>
          <a:xfrm>
            <a:off x="6235294" y="4196182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4"/>
          <p:cNvSpPr txBox="1"/>
          <p:nvPr/>
        </p:nvSpPr>
        <p:spPr>
          <a:xfrm>
            <a:off x="5241341" y="4276649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Acc</a:t>
            </a:r>
            <a:endParaRPr lang="en-US" sz="900" dirty="0"/>
          </a:p>
        </p:txBody>
      </p:sp>
      <p:sp>
        <p:nvSpPr>
          <p:cNvPr id="73" name="Text 65"/>
          <p:cNvSpPr txBox="1"/>
          <p:nvPr/>
        </p:nvSpPr>
        <p:spPr>
          <a:xfrm>
            <a:off x="5359298" y="4429354"/>
            <a:ext cx="4197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1.0</a:t>
            </a:r>
            <a:endParaRPr lang="en-US" sz="900" dirty="0"/>
          </a:p>
        </p:txBody>
      </p:sp>
      <p:sp>
        <p:nvSpPr>
          <p:cNvPr id="74" name="Text 66"/>
          <p:cNvSpPr txBox="1"/>
          <p:nvPr/>
        </p:nvSpPr>
        <p:spPr>
          <a:xfrm>
            <a:off x="6655918" y="4276649"/>
            <a:ext cx="695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96.7% Acc</a:t>
            </a:r>
            <a:endParaRPr lang="en-US" sz="900" dirty="0"/>
          </a:p>
        </p:txBody>
      </p:sp>
      <p:sp>
        <p:nvSpPr>
          <p:cNvPr id="75" name="Text 67"/>
          <p:cNvSpPr txBox="1"/>
          <p:nvPr/>
        </p:nvSpPr>
        <p:spPr>
          <a:xfrm>
            <a:off x="6752844" y="4429354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0.97</a:t>
            </a:r>
            <a:endParaRPr lang="en-US" sz="900" dirty="0"/>
          </a:p>
        </p:txBody>
      </p:sp>
      <p:sp>
        <p:nvSpPr>
          <p:cNvPr id="76" name="Shape 68"/>
          <p:cNvSpPr/>
          <p:nvPr/>
        </p:nvSpPr>
        <p:spPr>
          <a:xfrm>
            <a:off x="504749" y="4852721"/>
            <a:ext cx="717255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69"/>
          <p:cNvSpPr/>
          <p:nvPr/>
        </p:nvSpPr>
        <p:spPr>
          <a:xfrm>
            <a:off x="1933956" y="4852721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0"/>
          <p:cNvSpPr txBox="1"/>
          <p:nvPr/>
        </p:nvSpPr>
        <p:spPr>
          <a:xfrm>
            <a:off x="580644" y="4934102"/>
            <a:ext cx="476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Titanic</a:t>
            </a:r>
            <a:endParaRPr lang="en-US" sz="900" dirty="0"/>
          </a:p>
        </p:txBody>
      </p:sp>
      <p:sp>
        <p:nvSpPr>
          <p:cNvPr id="79" name="Text 71"/>
          <p:cNvSpPr txBox="1"/>
          <p:nvPr/>
        </p:nvSpPr>
        <p:spPr>
          <a:xfrm>
            <a:off x="580644" y="5124298"/>
            <a:ext cx="12957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Total: 891 | Train: 712 | Test: 179</a:t>
            </a:r>
            <a:endParaRPr lang="en-US" sz="900" dirty="0"/>
          </a:p>
        </p:txBody>
      </p:sp>
      <p:sp>
        <p:nvSpPr>
          <p:cNvPr id="80" name="Shape 72"/>
          <p:cNvSpPr/>
          <p:nvPr/>
        </p:nvSpPr>
        <p:spPr>
          <a:xfrm>
            <a:off x="3367735" y="4852721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3"/>
          <p:cNvSpPr txBox="1"/>
          <p:nvPr/>
        </p:nvSpPr>
        <p:spPr>
          <a:xfrm>
            <a:off x="2019910" y="4934102"/>
            <a:ext cx="495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SMOTE</a:t>
            </a:r>
            <a:endParaRPr lang="en-US" sz="900" dirty="0"/>
          </a:p>
        </p:txBody>
      </p:sp>
      <p:sp>
        <p:nvSpPr>
          <p:cNvPr id="82" name="Shape 74"/>
          <p:cNvSpPr/>
          <p:nvPr/>
        </p:nvSpPr>
        <p:spPr>
          <a:xfrm>
            <a:off x="4801514" y="4852721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5"/>
          <p:cNvSpPr txBox="1"/>
          <p:nvPr/>
        </p:nvSpPr>
        <p:spPr>
          <a:xfrm>
            <a:off x="3786530" y="4934102"/>
            <a:ext cx="695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79.3% Acc</a:t>
            </a:r>
            <a:endParaRPr lang="en-US" sz="900" dirty="0"/>
          </a:p>
        </p:txBody>
      </p:sp>
      <p:sp>
        <p:nvSpPr>
          <p:cNvPr id="84" name="Text 76"/>
          <p:cNvSpPr txBox="1"/>
          <p:nvPr/>
        </p:nvSpPr>
        <p:spPr>
          <a:xfrm>
            <a:off x="3883457" y="5086807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0.74</a:t>
            </a:r>
            <a:endParaRPr lang="en-US" sz="900" dirty="0"/>
          </a:p>
        </p:txBody>
      </p:sp>
      <p:sp>
        <p:nvSpPr>
          <p:cNvPr id="85" name="Shape 77"/>
          <p:cNvSpPr/>
          <p:nvPr/>
        </p:nvSpPr>
        <p:spPr>
          <a:xfrm>
            <a:off x="4806086" y="4852721"/>
            <a:ext cx="1438351" cy="65745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78"/>
          <p:cNvSpPr/>
          <p:nvPr/>
        </p:nvSpPr>
        <p:spPr>
          <a:xfrm>
            <a:off x="6235294" y="4852721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79"/>
          <p:cNvSpPr txBox="1"/>
          <p:nvPr/>
        </p:nvSpPr>
        <p:spPr>
          <a:xfrm>
            <a:off x="5214823" y="4934102"/>
            <a:ext cx="70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83.2% Acc</a:t>
            </a:r>
            <a:endParaRPr lang="en-US" sz="900" dirty="0"/>
          </a:p>
        </p:txBody>
      </p:sp>
      <p:sp>
        <p:nvSpPr>
          <p:cNvPr id="88" name="Text 80"/>
          <p:cNvSpPr txBox="1"/>
          <p:nvPr/>
        </p:nvSpPr>
        <p:spPr>
          <a:xfrm>
            <a:off x="5316322" y="5086807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0.78</a:t>
            </a:r>
            <a:endParaRPr lang="en-US" sz="900" dirty="0"/>
          </a:p>
        </p:txBody>
      </p:sp>
      <p:sp>
        <p:nvSpPr>
          <p:cNvPr id="89" name="Text 81"/>
          <p:cNvSpPr txBox="1"/>
          <p:nvPr/>
        </p:nvSpPr>
        <p:spPr>
          <a:xfrm>
            <a:off x="6662318" y="4934102"/>
            <a:ext cx="685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81.6% Acc</a:t>
            </a:r>
            <a:endParaRPr lang="en-US" sz="900" dirty="0"/>
          </a:p>
        </p:txBody>
      </p:sp>
      <p:sp>
        <p:nvSpPr>
          <p:cNvPr id="90" name="Text 82"/>
          <p:cNvSpPr txBox="1"/>
          <p:nvPr/>
        </p:nvSpPr>
        <p:spPr>
          <a:xfrm>
            <a:off x="6752844" y="5086807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0.76</a:t>
            </a:r>
            <a:endParaRPr lang="en-US" sz="900" dirty="0"/>
          </a:p>
        </p:txBody>
      </p:sp>
      <p:sp>
        <p:nvSpPr>
          <p:cNvPr id="91" name="Shape 83"/>
          <p:cNvSpPr/>
          <p:nvPr/>
        </p:nvSpPr>
        <p:spPr>
          <a:xfrm>
            <a:off x="504749" y="5510174"/>
            <a:ext cx="717255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84"/>
          <p:cNvSpPr/>
          <p:nvPr/>
        </p:nvSpPr>
        <p:spPr>
          <a:xfrm>
            <a:off x="1933956" y="5510174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85"/>
          <p:cNvSpPr txBox="1"/>
          <p:nvPr/>
        </p:nvSpPr>
        <p:spPr>
          <a:xfrm>
            <a:off x="580644" y="5591556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WineQT</a:t>
            </a:r>
            <a:endParaRPr lang="en-US" sz="900" dirty="0"/>
          </a:p>
        </p:txBody>
      </p:sp>
      <p:sp>
        <p:nvSpPr>
          <p:cNvPr id="94" name="Text 86"/>
          <p:cNvSpPr txBox="1"/>
          <p:nvPr/>
        </p:nvSpPr>
        <p:spPr>
          <a:xfrm>
            <a:off x="580644" y="5781751"/>
            <a:ext cx="13533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Total: 1143 | Train: 914 | Test: 229</a:t>
            </a:r>
            <a:endParaRPr lang="en-US" sz="900" dirty="0"/>
          </a:p>
        </p:txBody>
      </p:sp>
      <p:sp>
        <p:nvSpPr>
          <p:cNvPr id="95" name="Shape 87"/>
          <p:cNvSpPr/>
          <p:nvPr/>
        </p:nvSpPr>
        <p:spPr>
          <a:xfrm>
            <a:off x="3367735" y="5510174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88"/>
          <p:cNvSpPr txBox="1"/>
          <p:nvPr/>
        </p:nvSpPr>
        <p:spPr>
          <a:xfrm>
            <a:off x="2019910" y="5591556"/>
            <a:ext cx="495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SMOTE</a:t>
            </a:r>
            <a:endParaRPr lang="en-US" sz="900" dirty="0"/>
          </a:p>
        </p:txBody>
      </p:sp>
      <p:sp>
        <p:nvSpPr>
          <p:cNvPr id="97" name="Shape 89"/>
          <p:cNvSpPr/>
          <p:nvPr/>
        </p:nvSpPr>
        <p:spPr>
          <a:xfrm>
            <a:off x="4801514" y="5510174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0"/>
          <p:cNvSpPr txBox="1"/>
          <p:nvPr/>
        </p:nvSpPr>
        <p:spPr>
          <a:xfrm>
            <a:off x="3782873" y="5591556"/>
            <a:ext cx="70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58.5% Acc</a:t>
            </a:r>
            <a:endParaRPr lang="en-US" sz="900" dirty="0"/>
          </a:p>
        </p:txBody>
      </p:sp>
      <p:sp>
        <p:nvSpPr>
          <p:cNvPr id="99" name="Text 91"/>
          <p:cNvSpPr txBox="1"/>
          <p:nvPr/>
        </p:nvSpPr>
        <p:spPr>
          <a:xfrm>
            <a:off x="3879799" y="5743346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0.56</a:t>
            </a:r>
            <a:endParaRPr lang="en-US" sz="900" dirty="0"/>
          </a:p>
        </p:txBody>
      </p:sp>
      <p:sp>
        <p:nvSpPr>
          <p:cNvPr id="100" name="Shape 92"/>
          <p:cNvSpPr/>
          <p:nvPr/>
        </p:nvSpPr>
        <p:spPr>
          <a:xfrm>
            <a:off x="4806086" y="5510174"/>
            <a:ext cx="1438351" cy="65745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3"/>
          <p:cNvSpPr/>
          <p:nvPr/>
        </p:nvSpPr>
        <p:spPr>
          <a:xfrm>
            <a:off x="6235294" y="5510174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4"/>
          <p:cNvSpPr txBox="1"/>
          <p:nvPr/>
        </p:nvSpPr>
        <p:spPr>
          <a:xfrm>
            <a:off x="5224882" y="5591556"/>
            <a:ext cx="685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67.2% Acc</a:t>
            </a:r>
            <a:endParaRPr lang="en-US" sz="900" dirty="0"/>
          </a:p>
        </p:txBody>
      </p:sp>
      <p:sp>
        <p:nvSpPr>
          <p:cNvPr id="103" name="Text 95"/>
          <p:cNvSpPr txBox="1"/>
          <p:nvPr/>
        </p:nvSpPr>
        <p:spPr>
          <a:xfrm>
            <a:off x="5314493" y="5743346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0.65</a:t>
            </a:r>
            <a:endParaRPr lang="en-US" sz="900" dirty="0"/>
          </a:p>
        </p:txBody>
      </p:sp>
      <p:sp>
        <p:nvSpPr>
          <p:cNvPr id="104" name="Text 96"/>
          <p:cNvSpPr txBox="1"/>
          <p:nvPr/>
        </p:nvSpPr>
        <p:spPr>
          <a:xfrm>
            <a:off x="6650431" y="5591556"/>
            <a:ext cx="70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64.6% Acc</a:t>
            </a:r>
            <a:endParaRPr lang="en-US" sz="900" dirty="0"/>
          </a:p>
        </p:txBody>
      </p:sp>
      <p:sp>
        <p:nvSpPr>
          <p:cNvPr id="105" name="Text 97"/>
          <p:cNvSpPr txBox="1"/>
          <p:nvPr/>
        </p:nvSpPr>
        <p:spPr>
          <a:xfrm>
            <a:off x="6750101" y="5743346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F1: 0.62</a:t>
            </a:r>
            <a:endParaRPr lang="en-US" sz="900" dirty="0"/>
          </a:p>
        </p:txBody>
      </p:sp>
      <p:sp>
        <p:nvSpPr>
          <p:cNvPr id="106" name="Shape 98"/>
          <p:cNvSpPr/>
          <p:nvPr/>
        </p:nvSpPr>
        <p:spPr>
          <a:xfrm>
            <a:off x="504749" y="6167628"/>
            <a:ext cx="717255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99"/>
          <p:cNvSpPr/>
          <p:nvPr/>
        </p:nvSpPr>
        <p:spPr>
          <a:xfrm>
            <a:off x="1933956" y="6167628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0"/>
          <p:cNvSpPr txBox="1"/>
          <p:nvPr/>
        </p:nvSpPr>
        <p:spPr>
          <a:xfrm>
            <a:off x="580644" y="6248095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 Data</a:t>
            </a:r>
            <a:endParaRPr lang="en-US" sz="900" dirty="0"/>
          </a:p>
        </p:txBody>
      </p:sp>
      <p:sp>
        <p:nvSpPr>
          <p:cNvPr id="109" name="Text 101"/>
          <p:cNvSpPr txBox="1"/>
          <p:nvPr/>
        </p:nvSpPr>
        <p:spPr>
          <a:xfrm>
            <a:off x="580644" y="6439205"/>
            <a:ext cx="13533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Total: 506 | Train: 404 | Test: 102</a:t>
            </a:r>
            <a:endParaRPr lang="en-US" sz="900" dirty="0"/>
          </a:p>
        </p:txBody>
      </p:sp>
      <p:sp>
        <p:nvSpPr>
          <p:cNvPr id="110" name="Shape 102"/>
          <p:cNvSpPr/>
          <p:nvPr/>
        </p:nvSpPr>
        <p:spPr>
          <a:xfrm>
            <a:off x="3367735" y="6167628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3"/>
          <p:cNvSpPr txBox="1"/>
          <p:nvPr/>
        </p:nvSpPr>
        <p:spPr>
          <a:xfrm>
            <a:off x="2019910" y="6248095"/>
            <a:ext cx="381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900" dirty="0"/>
          </a:p>
        </p:txBody>
      </p:sp>
      <p:sp>
        <p:nvSpPr>
          <p:cNvPr id="112" name="Shape 104"/>
          <p:cNvSpPr/>
          <p:nvPr/>
        </p:nvSpPr>
        <p:spPr>
          <a:xfrm>
            <a:off x="4801514" y="6167628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05"/>
          <p:cNvSpPr txBox="1"/>
          <p:nvPr/>
        </p:nvSpPr>
        <p:spPr>
          <a:xfrm>
            <a:off x="3888029" y="6248095"/>
            <a:ext cx="495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0.72 R²</a:t>
            </a:r>
            <a:endParaRPr lang="en-US" sz="900" dirty="0"/>
          </a:p>
        </p:txBody>
      </p:sp>
      <p:sp>
        <p:nvSpPr>
          <p:cNvPr id="114" name="Text 106"/>
          <p:cNvSpPr txBox="1"/>
          <p:nvPr/>
        </p:nvSpPr>
        <p:spPr>
          <a:xfrm>
            <a:off x="3812134" y="6400800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RMSE: 4.8</a:t>
            </a:r>
            <a:endParaRPr lang="en-US" sz="900" dirty="0"/>
          </a:p>
        </p:txBody>
      </p:sp>
      <p:sp>
        <p:nvSpPr>
          <p:cNvPr id="115" name="Shape 107"/>
          <p:cNvSpPr/>
          <p:nvPr/>
        </p:nvSpPr>
        <p:spPr>
          <a:xfrm>
            <a:off x="6235294" y="6167628"/>
            <a:ext cx="9144" cy="65745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08"/>
          <p:cNvSpPr txBox="1"/>
          <p:nvPr/>
        </p:nvSpPr>
        <p:spPr>
          <a:xfrm>
            <a:off x="5317236" y="6248095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0.86 R²</a:t>
            </a:r>
            <a:endParaRPr lang="en-US" sz="900" dirty="0"/>
          </a:p>
        </p:txBody>
      </p:sp>
      <p:sp>
        <p:nvSpPr>
          <p:cNvPr id="117" name="Text 109"/>
          <p:cNvSpPr txBox="1"/>
          <p:nvPr/>
        </p:nvSpPr>
        <p:spPr>
          <a:xfrm>
            <a:off x="5244084" y="6400800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RMSE: 3.4</a:t>
            </a:r>
            <a:endParaRPr lang="en-US" sz="900" dirty="0"/>
          </a:p>
        </p:txBody>
      </p:sp>
      <p:sp>
        <p:nvSpPr>
          <p:cNvPr id="118" name="Shape 110"/>
          <p:cNvSpPr/>
          <p:nvPr/>
        </p:nvSpPr>
        <p:spPr>
          <a:xfrm>
            <a:off x="6239866" y="6167628"/>
            <a:ext cx="1438351" cy="65745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1"/>
          <p:cNvSpPr txBox="1"/>
          <p:nvPr/>
        </p:nvSpPr>
        <p:spPr>
          <a:xfrm>
            <a:off x="6753758" y="6248095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0.89 R²</a:t>
            </a:r>
            <a:endParaRPr lang="en-US" sz="900" dirty="0"/>
          </a:p>
        </p:txBody>
      </p:sp>
      <p:sp>
        <p:nvSpPr>
          <p:cNvPr id="120" name="Text 112"/>
          <p:cNvSpPr txBox="1"/>
          <p:nvPr/>
        </p:nvSpPr>
        <p:spPr>
          <a:xfrm>
            <a:off x="6680606" y="6400800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RMSE: 2.9</a:t>
            </a:r>
            <a:endParaRPr lang="en-US" sz="900" dirty="0"/>
          </a:p>
        </p:txBody>
      </p:sp>
      <p:sp>
        <p:nvSpPr>
          <p:cNvPr id="121" name="Shape 113"/>
          <p:cNvSpPr/>
          <p:nvPr/>
        </p:nvSpPr>
        <p:spPr>
          <a:xfrm>
            <a:off x="8102498" y="1143000"/>
            <a:ext cx="3791102" cy="2734056"/>
          </a:xfrm>
          <a:prstGeom prst="roundRect">
            <a:avLst>
              <a:gd name="adj" fmla="val 1398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4"/>
          <p:cNvSpPr/>
          <p:nvPr/>
        </p:nvSpPr>
        <p:spPr>
          <a:xfrm>
            <a:off x="8292694" y="1714500"/>
            <a:ext cx="34097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92694" y="1399946"/>
            <a:ext cx="133502" cy="133502"/>
          </a:xfrm>
          <a:prstGeom prst="rect">
            <a:avLst/>
          </a:prstGeom>
        </p:spPr>
      </p:pic>
      <p:sp>
        <p:nvSpPr>
          <p:cNvPr id="124" name="Text 115"/>
          <p:cNvSpPr txBox="1"/>
          <p:nvPr/>
        </p:nvSpPr>
        <p:spPr>
          <a:xfrm>
            <a:off x="8503006" y="1371600"/>
            <a:ext cx="1090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Efficiency</a:t>
            </a:r>
            <a:endParaRPr lang="en-US" sz="1000" dirty="0"/>
          </a:p>
        </p:txBody>
      </p:sp>
      <p:sp>
        <p:nvSpPr>
          <p:cNvPr id="125" name="Shape 116"/>
          <p:cNvSpPr/>
          <p:nvPr/>
        </p:nvSpPr>
        <p:spPr>
          <a:xfrm>
            <a:off x="10416845" y="1333195"/>
            <a:ext cx="1285646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17"/>
          <p:cNvSpPr txBox="1"/>
          <p:nvPr/>
        </p:nvSpPr>
        <p:spPr>
          <a:xfrm>
            <a:off x="10493654" y="1371600"/>
            <a:ext cx="1248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99.9% Savings</a:t>
            </a:r>
            <a:endParaRPr lang="en-US" sz="1200" dirty="0"/>
          </a:p>
        </p:txBody>
      </p:sp>
      <p:sp>
        <p:nvSpPr>
          <p:cNvPr id="127" name="Text 118"/>
          <p:cNvSpPr txBox="1"/>
          <p:nvPr/>
        </p:nvSpPr>
        <p:spPr>
          <a:xfrm>
            <a:off x="8889797" y="1895551"/>
            <a:ext cx="1105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</a:t>
            </a:r>
            <a:endParaRPr lang="en-US" sz="1200" dirty="0"/>
          </a:p>
        </p:txBody>
      </p:sp>
      <p:sp>
        <p:nvSpPr>
          <p:cNvPr id="128" name="Shape 119"/>
          <p:cNvSpPr/>
          <p:nvPr/>
        </p:nvSpPr>
        <p:spPr>
          <a:xfrm>
            <a:off x="8889797" y="2143354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ECFDF5"/>
          </a:solidFill>
          <a:ln w="508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0"/>
          <p:cNvSpPr txBox="1"/>
          <p:nvPr/>
        </p:nvSpPr>
        <p:spPr>
          <a:xfrm>
            <a:off x="8994038" y="2295144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$0.02</a:t>
            </a:r>
            <a:endParaRPr lang="en-US" sz="1500" dirty="0"/>
          </a:p>
        </p:txBody>
      </p:sp>
      <p:sp>
        <p:nvSpPr>
          <p:cNvPr id="130" name="Text 121"/>
          <p:cNvSpPr txBox="1"/>
          <p:nvPr/>
        </p:nvSpPr>
        <p:spPr>
          <a:xfrm>
            <a:off x="9011412" y="2562149"/>
            <a:ext cx="638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run</a:t>
            </a:r>
            <a:endParaRPr lang="en-US" sz="1200" dirty="0"/>
          </a:p>
        </p:txBody>
      </p:sp>
      <p:pic>
        <p:nvPicPr>
          <p:cNvPr id="131" name="Image 7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10032797" y="2297887"/>
            <a:ext cx="152705" cy="171907"/>
          </a:xfrm>
          <a:prstGeom prst="rect">
            <a:avLst/>
          </a:prstGeom>
        </p:spPr>
      </p:pic>
      <p:sp>
        <p:nvSpPr>
          <p:cNvPr id="132" name="Text 122"/>
          <p:cNvSpPr txBox="1"/>
          <p:nvPr/>
        </p:nvSpPr>
        <p:spPr>
          <a:xfrm>
            <a:off x="10377526" y="1895551"/>
            <a:ext cx="800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endParaRPr lang="en-US" sz="1200" dirty="0"/>
          </a:p>
        </p:txBody>
      </p:sp>
      <p:sp>
        <p:nvSpPr>
          <p:cNvPr id="133" name="Shape 123"/>
          <p:cNvSpPr/>
          <p:nvPr/>
        </p:nvSpPr>
        <p:spPr>
          <a:xfrm>
            <a:off x="10337292" y="2143354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F9FAFB">
              <a:alpha val="60000"/>
            </a:srgbClr>
          </a:solidFill>
          <a:ln w="508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24"/>
          <p:cNvSpPr txBox="1"/>
          <p:nvPr/>
        </p:nvSpPr>
        <p:spPr>
          <a:xfrm>
            <a:off x="10456164" y="2305202"/>
            <a:ext cx="6620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$150+</a:t>
            </a:r>
            <a:endParaRPr lang="en-US" sz="1300" dirty="0"/>
          </a:p>
        </p:txBody>
      </p:sp>
      <p:sp>
        <p:nvSpPr>
          <p:cNvPr id="135" name="Text 125"/>
          <p:cNvSpPr txBox="1"/>
          <p:nvPr/>
        </p:nvSpPr>
        <p:spPr>
          <a:xfrm>
            <a:off x="10535717" y="2562149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hrs</a:t>
            </a:r>
            <a:endParaRPr lang="en-US" sz="1200" dirty="0"/>
          </a:p>
        </p:txBody>
      </p:sp>
      <p:sp>
        <p:nvSpPr>
          <p:cNvPr id="136" name="Shape 126"/>
          <p:cNvSpPr/>
          <p:nvPr/>
        </p:nvSpPr>
        <p:spPr>
          <a:xfrm>
            <a:off x="8292694" y="3057754"/>
            <a:ext cx="3409798" cy="629107"/>
          </a:xfrm>
          <a:prstGeom prst="roundRect">
            <a:avLst>
              <a:gd name="adj" fmla="val 17618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27"/>
          <p:cNvSpPr txBox="1"/>
          <p:nvPr/>
        </p:nvSpPr>
        <p:spPr>
          <a:xfrm>
            <a:off x="8378647" y="3143707"/>
            <a:ext cx="3353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 for strategy + GPT-3.5 for tasks optimizes cost/quality.</a:t>
            </a:r>
            <a:endParaRPr lang="en-US" sz="1200" dirty="0"/>
          </a:p>
        </p:txBody>
      </p:sp>
      <p:sp>
        <p:nvSpPr>
          <p:cNvPr id="138" name="Shape 128"/>
          <p:cNvSpPr/>
          <p:nvPr/>
        </p:nvSpPr>
        <p:spPr>
          <a:xfrm>
            <a:off x="8102498" y="4105656"/>
            <a:ext cx="3791102" cy="2419502"/>
          </a:xfrm>
          <a:prstGeom prst="roundRect">
            <a:avLst>
              <a:gd name="adj" fmla="val 1785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292694" y="4324198"/>
            <a:ext cx="133502" cy="133502"/>
          </a:xfrm>
          <a:prstGeom prst="rect">
            <a:avLst/>
          </a:prstGeom>
        </p:spPr>
      </p:pic>
      <p:sp>
        <p:nvSpPr>
          <p:cNvPr id="140" name="Text 129"/>
          <p:cNvSpPr txBox="1"/>
          <p:nvPr/>
        </p:nvSpPr>
        <p:spPr>
          <a:xfrm>
            <a:off x="8503006" y="4295851"/>
            <a:ext cx="2196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Lung Cancer Model Comparison</a:t>
            </a:r>
            <a:endParaRPr lang="en-US" sz="1000" dirty="0"/>
          </a:p>
        </p:txBody>
      </p:sp>
      <p:pic>
        <p:nvPicPr>
          <p:cNvPr id="141" name="Image 9" descr="preencoded.png"/>
          <p:cNvPicPr>
            <a:picLocks noChangeAspect="1"/>
          </p:cNvPicPr>
          <p:nvPr/>
        </p:nvPicPr>
        <p:blipFill>
          <a:blip r:embed="rId12"/>
          <a:srcRect l="-122" r="-122"/>
          <a:stretch/>
        </p:blipFill>
        <p:spPr>
          <a:xfrm>
            <a:off x="8292694" y="4600346"/>
            <a:ext cx="3409798" cy="1429207"/>
          </a:xfrm>
          <a:prstGeom prst="rect">
            <a:avLst/>
          </a:prstGeom>
        </p:spPr>
      </p:pic>
      <p:sp>
        <p:nvSpPr>
          <p:cNvPr id="142" name="Text 130"/>
          <p:cNvSpPr txBox="1"/>
          <p:nvPr/>
        </p:nvSpPr>
        <p:spPr>
          <a:xfrm>
            <a:off x="8369503" y="6124651"/>
            <a:ext cx="1524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43" name="Text 131"/>
          <p:cNvSpPr txBox="1"/>
          <p:nvPr/>
        </p:nvSpPr>
        <p:spPr>
          <a:xfrm>
            <a:off x="9843516" y="6124651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44" name="Text 132"/>
          <p:cNvSpPr txBox="1"/>
          <p:nvPr/>
        </p:nvSpPr>
        <p:spPr>
          <a:xfrm>
            <a:off x="10994746" y="6124651"/>
            <a:ext cx="743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200" dirty="0"/>
          </a:p>
        </p:txBody>
      </p:sp>
      <p:sp>
        <p:nvSpPr>
          <p:cNvPr id="146" name="Shape 134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Text 136"/>
          <p:cNvSpPr txBox="1"/>
          <p:nvPr/>
        </p:nvSpPr>
        <p:spPr>
          <a:xfrm>
            <a:off x="11320272" y="6558077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19</a:t>
            </a:r>
            <a:endParaRPr lang="en-US" sz="900" dirty="0"/>
          </a:p>
        </p:txBody>
      </p:sp>
      <p:sp>
        <p:nvSpPr>
          <p:cNvPr id="149" name="Shape 137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Result Analysis</a:t>
            </a:r>
            <a:endParaRPr lang="en-US" dirty="0"/>
          </a:p>
        </p:txBody>
      </p:sp>
      <p:sp>
        <p:nvSpPr>
          <p:cNvPr id="150" name="Shape 138"/>
          <p:cNvSpPr/>
          <p:nvPr/>
        </p:nvSpPr>
        <p:spPr>
          <a:xfrm>
            <a:off x="504749" y="3228746"/>
            <a:ext cx="7172554" cy="31455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139"/>
          <p:cNvSpPr/>
          <p:nvPr/>
        </p:nvSpPr>
        <p:spPr>
          <a:xfrm>
            <a:off x="504749" y="3534156"/>
            <a:ext cx="717255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Text 140"/>
          <p:cNvSpPr txBox="1"/>
          <p:nvPr/>
        </p:nvSpPr>
        <p:spPr>
          <a:xfrm>
            <a:off x="580644" y="3305556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&amp; Info</a:t>
            </a:r>
            <a:endParaRPr lang="en-US" sz="900" dirty="0"/>
          </a:p>
        </p:txBody>
      </p:sp>
      <p:sp>
        <p:nvSpPr>
          <p:cNvPr id="153" name="Text 141"/>
          <p:cNvSpPr txBox="1"/>
          <p:nvPr/>
        </p:nvSpPr>
        <p:spPr>
          <a:xfrm>
            <a:off x="2014423" y="3305556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Balancing</a:t>
            </a:r>
            <a:endParaRPr lang="en-US" sz="900" dirty="0"/>
          </a:p>
        </p:txBody>
      </p:sp>
      <p:sp>
        <p:nvSpPr>
          <p:cNvPr id="154" name="Text 142"/>
          <p:cNvSpPr txBox="1"/>
          <p:nvPr/>
        </p:nvSpPr>
        <p:spPr>
          <a:xfrm>
            <a:off x="3728923" y="3305556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Reg.</a:t>
            </a:r>
            <a:endParaRPr lang="en-US" sz="900" dirty="0"/>
          </a:p>
        </p:txBody>
      </p:sp>
      <p:sp>
        <p:nvSpPr>
          <p:cNvPr id="155" name="Text 143"/>
          <p:cNvSpPr txBox="1"/>
          <p:nvPr/>
        </p:nvSpPr>
        <p:spPr>
          <a:xfrm>
            <a:off x="5104181" y="3305556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56" name="Text 144"/>
          <p:cNvSpPr txBox="1"/>
          <p:nvPr/>
        </p:nvSpPr>
        <p:spPr>
          <a:xfrm>
            <a:off x="6714439" y="3305556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0574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505749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39822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of Pipeline Approach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72100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81305" y="1218895"/>
            <a:ext cx="304495" cy="381305"/>
          </a:xfrm>
          <a:prstGeom prst="roundRect">
            <a:avLst>
              <a:gd name="adj" fmla="val 75075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333195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0100" y="1295705"/>
            <a:ext cx="3667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Drawbacks &amp; Critical Issues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81305" y="1828800"/>
            <a:ext cx="11430000" cy="4315054"/>
          </a:xfrm>
          <a:prstGeom prst="roundRect">
            <a:avLst>
              <a:gd name="adj" fmla="val 561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90449" y="2872130"/>
            <a:ext cx="114107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694944" y="2553005"/>
            <a:ext cx="105156" cy="1143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90449" y="2881274"/>
            <a:ext cx="11410798" cy="54315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90449" y="3415284"/>
            <a:ext cx="114107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390449" y="3958438"/>
            <a:ext cx="114107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90449" y="3967582"/>
            <a:ext cx="11410798" cy="54315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90449" y="4501591"/>
            <a:ext cx="114107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875995" y="2495398"/>
            <a:ext cx="972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Flow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57707" y="3038551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Quality Control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2825496" y="2523744"/>
            <a:ext cx="35295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 execution with no backtracking mechanism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7389266" y="2523744"/>
            <a:ext cx="3262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Can't refine early decisions based on later results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694944" y="3095244"/>
            <a:ext cx="85954" cy="1143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825496" y="3066898"/>
            <a:ext cx="29772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validation of intermediate outputs or steps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7389266" y="3066898"/>
            <a:ext cx="27486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 propagate downstream unchecked</a:t>
            </a:r>
            <a:endParaRPr lang="en-US" sz="1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694944" y="3638398"/>
            <a:ext cx="142646" cy="1143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4400" y="3581705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Context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2825496" y="3610051"/>
            <a:ext cx="35387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isolated; LLM unaware of full pipeline state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7389266" y="3610051"/>
            <a:ext cx="31866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don't consider holistic workflow goals</a:t>
            </a:r>
            <a:endParaRPr lang="en-US" sz="10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694944" y="4181551"/>
            <a:ext cx="142646" cy="11430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390449" y="5043830"/>
            <a:ext cx="114107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390449" y="5052974"/>
            <a:ext cx="11410798" cy="54315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390449" y="5586984"/>
            <a:ext cx="114107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914400" y="4123944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LLM Calls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914400" y="5210251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Brittle Parsing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2825496" y="4153205"/>
            <a:ext cx="29964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decision per stage; "fire and forget" logic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7389266" y="4153205"/>
            <a:ext cx="28629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iterative improvement or self-correction</a:t>
            </a:r>
            <a:endParaRPr lang="en-US" sz="10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694944" y="4724705"/>
            <a:ext cx="105156" cy="11430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75995" y="4667098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Research Phase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2825496" y="4695444"/>
            <a:ext cx="33485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literature review and hypothesis generation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7389266" y="4695444"/>
            <a:ext cx="2729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Lacks domain context and scientific rigor</a:t>
            </a:r>
            <a:endParaRPr lang="en-US" sz="10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694944" y="5266944"/>
            <a:ext cx="142646" cy="11430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2825496" y="5238598"/>
            <a:ext cx="32534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parsing failures crash entire pipeline stages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7389266" y="5238598"/>
            <a:ext cx="2910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fragility on unexpected LLM outputs</a:t>
            </a:r>
            <a:endParaRPr lang="en-US" sz="10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94944" y="5810098"/>
            <a:ext cx="114300" cy="1143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886054" y="5753405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Code Validation</a:t>
            </a:r>
            <a:endParaRPr lang="en-US" sz="1200" dirty="0"/>
          </a:p>
        </p:txBody>
      </p:sp>
      <p:sp>
        <p:nvSpPr>
          <p:cNvPr id="49" name="Text 38"/>
          <p:cNvSpPr txBox="1"/>
          <p:nvPr/>
        </p:nvSpPr>
        <p:spPr>
          <a:xfrm>
            <a:off x="2825496" y="5781751"/>
            <a:ext cx="3415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code not checked for logic/security flaws</a:t>
            </a:r>
            <a:endParaRPr lang="en-US" sz="1000" dirty="0"/>
          </a:p>
        </p:txBody>
      </p:sp>
      <p:sp>
        <p:nvSpPr>
          <p:cNvPr id="50" name="Text 39"/>
          <p:cNvSpPr txBox="1"/>
          <p:nvPr/>
        </p:nvSpPr>
        <p:spPr>
          <a:xfrm>
            <a:off x="7389266" y="5781751"/>
            <a:ext cx="2443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of subtle bugs and data leakage</a:t>
            </a:r>
            <a:endParaRPr lang="en-US" sz="1000" dirty="0"/>
          </a:p>
        </p:txBody>
      </p:sp>
      <p:sp>
        <p:nvSpPr>
          <p:cNvPr id="57" name="Shape 45"/>
          <p:cNvSpPr/>
          <p:nvPr/>
        </p:nvSpPr>
        <p:spPr>
          <a:xfrm>
            <a:off x="0" y="8048549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6"/>
          <p:cNvSpPr/>
          <p:nvPr/>
        </p:nvSpPr>
        <p:spPr>
          <a:xfrm>
            <a:off x="0" y="804854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47"/>
          <p:cNvSpPr txBox="1"/>
          <p:nvPr/>
        </p:nvSpPr>
        <p:spPr>
          <a:xfrm>
            <a:off x="457200" y="8205826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60" name="Text 48"/>
          <p:cNvSpPr txBox="1"/>
          <p:nvPr/>
        </p:nvSpPr>
        <p:spPr>
          <a:xfrm>
            <a:off x="11295583" y="8205826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20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Issues</a:t>
            </a:r>
            <a:endParaRPr lang="en-US" dirty="0"/>
          </a:p>
        </p:txBody>
      </p:sp>
      <p:sp>
        <p:nvSpPr>
          <p:cNvPr id="62" name="Shape 50"/>
          <p:cNvSpPr/>
          <p:nvPr/>
        </p:nvSpPr>
        <p:spPr>
          <a:xfrm>
            <a:off x="390449" y="1837944"/>
            <a:ext cx="11410798" cy="504749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51"/>
          <p:cNvSpPr/>
          <p:nvPr/>
        </p:nvSpPr>
        <p:spPr>
          <a:xfrm>
            <a:off x="390449" y="2333549"/>
            <a:ext cx="2286000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2"/>
          <p:cNvSpPr txBox="1"/>
          <p:nvPr/>
        </p:nvSpPr>
        <p:spPr>
          <a:xfrm>
            <a:off x="694944" y="2000707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</a:t>
            </a:r>
            <a:endParaRPr lang="en-US" sz="1000" dirty="0"/>
          </a:p>
        </p:txBody>
      </p:sp>
      <p:sp>
        <p:nvSpPr>
          <p:cNvPr id="65" name="Shape 53"/>
          <p:cNvSpPr/>
          <p:nvPr/>
        </p:nvSpPr>
        <p:spPr>
          <a:xfrm>
            <a:off x="2672791" y="2333549"/>
            <a:ext cx="4572000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54"/>
          <p:cNvSpPr txBox="1"/>
          <p:nvPr/>
        </p:nvSpPr>
        <p:spPr>
          <a:xfrm>
            <a:off x="2825496" y="2000707"/>
            <a:ext cx="10817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67" name="Shape 55"/>
          <p:cNvSpPr/>
          <p:nvPr/>
        </p:nvSpPr>
        <p:spPr>
          <a:xfrm>
            <a:off x="7236562" y="2333549"/>
            <a:ext cx="4572000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56"/>
          <p:cNvSpPr txBox="1"/>
          <p:nvPr/>
        </p:nvSpPr>
        <p:spPr>
          <a:xfrm>
            <a:off x="7389266" y="2000707"/>
            <a:ext cx="18150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ON WORKFLOW</a:t>
            </a:r>
            <a:endParaRPr lang="en-US" sz="1000" dirty="0"/>
          </a:p>
        </p:txBody>
      </p:sp>
      <p:pic>
        <p:nvPicPr>
          <p:cNvPr id="70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72" name="Text 59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73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11435" y="38405"/>
            <a:ext cx="3762756" cy="2210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4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400" dirty="0"/>
          </a:p>
        </p:txBody>
      </p:sp>
      <p:sp>
        <p:nvSpPr>
          <p:cNvPr id="6" name="Shape 4"/>
          <p:cNvSpPr/>
          <p:nvPr/>
        </p:nvSpPr>
        <p:spPr>
          <a:xfrm>
            <a:off x="0" y="2229307"/>
            <a:ext cx="914400" cy="18288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0" y="2572207"/>
            <a:ext cx="1218895" cy="2438705"/>
          </a:xfrm>
          <a:prstGeom prst="roundRect">
            <a:avLst>
              <a:gd name="adj" fmla="val 75019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523" y="286207"/>
            <a:ext cx="237744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90295" y="237744"/>
            <a:ext cx="3781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2: Multi-Agent Foundation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58307" y="1505102"/>
            <a:ext cx="875995" cy="761695"/>
          </a:xfrm>
          <a:prstGeom prst="roundRect">
            <a:avLst>
              <a:gd name="adj" fmla="val 12004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10098" y="1657807"/>
            <a:ext cx="5715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41625" y="2514600"/>
            <a:ext cx="6743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Foundation</a:t>
            </a:r>
            <a:endParaRPr lang="en-US" sz="4500" dirty="0"/>
          </a:p>
        </p:txBody>
      </p:sp>
      <p:sp>
        <p:nvSpPr>
          <p:cNvPr id="17" name="Shape 13"/>
          <p:cNvSpPr/>
          <p:nvPr/>
        </p:nvSpPr>
        <p:spPr>
          <a:xfrm>
            <a:off x="5486400" y="3448202"/>
            <a:ext cx="12188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382012" y="3952951"/>
            <a:ext cx="76014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from linear single-LLM pipelines to coordinated teams of specialized agents working in collaboration.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132734" y="5257800"/>
            <a:ext cx="1781251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3371393" y="5400446"/>
            <a:ext cx="171907" cy="19019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217566" y="5257800"/>
            <a:ext cx="1809598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3656686" y="5400446"/>
            <a:ext cx="11338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Specialization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55310" y="5400446"/>
            <a:ext cx="237744" cy="19019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323430" y="5257800"/>
            <a:ext cx="1742846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5808269" y="5400446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61174" y="5400446"/>
            <a:ext cx="142646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19034" y="5400446"/>
            <a:ext cx="1124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Loops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457200" y="655807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1321186" y="6558077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21</a:t>
            </a:r>
            <a:endParaRPr lang="en-US" sz="9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523" y="286207"/>
            <a:ext cx="237744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39346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Multi-Agent Systems?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143000"/>
            <a:ext cx="26481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1143000"/>
            <a:ext cx="38405" cy="12188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7395" y="132679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705002" y="1402690"/>
            <a:ext cx="190195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67105" y="1383487"/>
            <a:ext cx="1172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Specialization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47395" y="1707185"/>
            <a:ext cx="2371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agent masters a specific domain (e.g., code generation, search) rather than being a generalist.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333902" y="1143000"/>
            <a:ext cx="26481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333902" y="1143000"/>
            <a:ext cx="38405" cy="121889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524098" y="132679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3581705" y="1402690"/>
            <a:ext cx="190195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43807" y="1383487"/>
            <a:ext cx="1124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524098" y="1707185"/>
            <a:ext cx="2153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work together, sharing intermediate outputs to solve complex problems iteratively.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210605" y="1143000"/>
            <a:ext cx="26481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10605" y="1143000"/>
            <a:ext cx="38405" cy="121889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400800" y="140451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6467551" y="1481328"/>
            <a:ext cx="171907" cy="152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819595" y="1462126"/>
            <a:ext cx="1086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Coordination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0" y="1785823"/>
            <a:ext cx="23244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supervisor or router agent orchestrates workflow, ensuring tasks flow logically.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087307" y="1143000"/>
            <a:ext cx="26481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9087307" y="1143000"/>
            <a:ext cx="38405" cy="12188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9344254" y="1481328"/>
            <a:ext cx="171907" cy="152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96298" y="1462126"/>
            <a:ext cx="933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Modularity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277502" y="1785823"/>
            <a:ext cx="2391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add, modify, or replace individual agents without breaking the entire system.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 txBox="1"/>
          <p:nvPr/>
        </p:nvSpPr>
        <p:spPr>
          <a:xfrm>
            <a:off x="457200" y="655807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11297412" y="6558077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22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3074" name="Picture 2" descr="Agentic AI: Single vs Multi-Agent Systems | Towards Data Science">
            <a:extLst>
              <a:ext uri="{FF2B5EF4-FFF2-40B4-BE49-F238E27FC236}">
                <a16:creationId xmlns:a16="http://schemas.microsoft.com/office/drawing/2014/main" id="{44DF6D6E-D9DC-F398-1B7C-46F551902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264" y="2411430"/>
            <a:ext cx="7999479" cy="409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 8">
            <a:extLst>
              <a:ext uri="{FF2B5EF4-FFF2-40B4-BE49-F238E27FC236}">
                <a16:creationId xmlns:a16="http://schemas.microsoft.com/office/drawing/2014/main" id="{965869E3-A052-EAB8-EB05-9A9D317BDA3E}"/>
              </a:ext>
            </a:extLst>
          </p:cNvPr>
          <p:cNvSpPr txBox="1"/>
          <p:nvPr/>
        </p:nvSpPr>
        <p:spPr>
          <a:xfrm>
            <a:off x="990295" y="237744"/>
            <a:ext cx="3781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Multi Agentic System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31720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 Fundamentals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04495" y="1143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4749" y="1343254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647395" y="1476756"/>
            <a:ext cx="171907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14654" y="1371600"/>
            <a:ext cx="5769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14654" y="1666951"/>
            <a:ext cx="42437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data structure passed between agents. Maintains context, message history, and current artifacts across the entire workflow.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04495" y="2433218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04749" y="263347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4477" y="2766974"/>
            <a:ext cx="237744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14654" y="2661818"/>
            <a:ext cx="5769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114654" y="2957170"/>
            <a:ext cx="43964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unit representing an agent or function. Takes the current state as input and returns an updated state.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04495" y="3724351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04749" y="392460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47395" y="4058107"/>
            <a:ext cx="171907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14654" y="3952951"/>
            <a:ext cx="5577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114654" y="4248302"/>
            <a:ext cx="40626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Connections defining workflow transitions. Can be static (fixed sequence) or conditional (routing logic).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04495" y="501457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8251" y="5348326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14654" y="5243170"/>
            <a:ext cx="6912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114654" y="5538521"/>
            <a:ext cx="44631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logic that determines the next node based on LLM output or state conditions (e.g., "If error, go to Review").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63945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991483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13910767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1438534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5"/>
          <p:cNvSpPr/>
          <p:nvPr/>
        </p:nvSpPr>
        <p:spPr>
          <a:xfrm>
            <a:off x="1766072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 txBox="1"/>
          <p:nvPr/>
        </p:nvSpPr>
        <p:spPr>
          <a:xfrm>
            <a:off x="173461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17820742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18220334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State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18620842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(TypedDict):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1989551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1"/>
          <p:cNvSpPr txBox="1"/>
          <p:nvPr/>
        </p:nvSpPr>
        <p:spPr>
          <a:xfrm>
            <a:off x="195809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59" name="Text 52"/>
          <p:cNvSpPr txBox="1"/>
          <p:nvPr/>
        </p:nvSpPr>
        <p:spPr>
          <a:xfrm>
            <a:off x="20055535" y="1809598"/>
            <a:ext cx="2662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Conversation history &amp; context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2293132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 txBox="1"/>
          <p:nvPr/>
        </p:nvSpPr>
        <p:spPr>
          <a:xfrm>
            <a:off x="226167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2" name="Text 55"/>
          <p:cNvSpPr txBox="1"/>
          <p:nvPr/>
        </p:nvSpPr>
        <p:spPr>
          <a:xfrm>
            <a:off x="23090429" y="1809598"/>
            <a:ext cx="25868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messages: Sequence[BaseMessage]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2588575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7"/>
          <p:cNvSpPr txBox="1"/>
          <p:nvPr/>
        </p:nvSpPr>
        <p:spPr>
          <a:xfrm>
            <a:off x="2557119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65" name="Text 58"/>
          <p:cNvSpPr txBox="1"/>
          <p:nvPr/>
        </p:nvSpPr>
        <p:spPr>
          <a:xfrm>
            <a:off x="26045770" y="1809598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sender:</a:t>
            </a:r>
            <a:endParaRPr lang="en-US" sz="1000" dirty="0"/>
          </a:p>
        </p:txBody>
      </p:sp>
      <p:sp>
        <p:nvSpPr>
          <p:cNvPr id="66" name="Text 59"/>
          <p:cNvSpPr txBox="1"/>
          <p:nvPr/>
        </p:nvSpPr>
        <p:spPr>
          <a:xfrm>
            <a:off x="26606297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</a:t>
            </a:r>
            <a:endParaRPr lang="en-US" sz="1000" dirty="0"/>
          </a:p>
        </p:txBody>
      </p:sp>
      <p:sp>
        <p:nvSpPr>
          <p:cNvPr id="67" name="Shape 60"/>
          <p:cNvSpPr/>
          <p:nvPr/>
        </p:nvSpPr>
        <p:spPr>
          <a:xfrm>
            <a:off x="2716133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1"/>
          <p:cNvSpPr txBox="1"/>
          <p:nvPr/>
        </p:nvSpPr>
        <p:spPr>
          <a:xfrm>
            <a:off x="2684678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69" name="Shape 62"/>
          <p:cNvSpPr/>
          <p:nvPr/>
        </p:nvSpPr>
        <p:spPr>
          <a:xfrm>
            <a:off x="2763591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3"/>
          <p:cNvSpPr txBox="1"/>
          <p:nvPr/>
        </p:nvSpPr>
        <p:spPr>
          <a:xfrm>
            <a:off x="2732135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1" name="Text 64"/>
          <p:cNvSpPr txBox="1"/>
          <p:nvPr/>
        </p:nvSpPr>
        <p:spPr>
          <a:xfrm>
            <a:off x="27795017" y="1809598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Research artifacts</a:t>
            </a:r>
            <a:endParaRPr lang="en-US" sz="1000" dirty="0"/>
          </a:p>
        </p:txBody>
      </p:sp>
      <p:sp>
        <p:nvSpPr>
          <p:cNvPr id="72" name="Shape 65"/>
          <p:cNvSpPr/>
          <p:nvPr/>
        </p:nvSpPr>
        <p:spPr>
          <a:xfrm>
            <a:off x="2971068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6"/>
          <p:cNvSpPr txBox="1"/>
          <p:nvPr/>
        </p:nvSpPr>
        <p:spPr>
          <a:xfrm>
            <a:off x="2939613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74" name="Text 67"/>
          <p:cNvSpPr txBox="1"/>
          <p:nvPr/>
        </p:nvSpPr>
        <p:spPr>
          <a:xfrm>
            <a:off x="29870705" y="18095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hypothesis:</a:t>
            </a:r>
            <a:endParaRPr lang="en-US" sz="1000" dirty="0"/>
          </a:p>
        </p:txBody>
      </p:sp>
      <p:sp>
        <p:nvSpPr>
          <p:cNvPr id="75" name="Text 68"/>
          <p:cNvSpPr txBox="1"/>
          <p:nvPr/>
        </p:nvSpPr>
        <p:spPr>
          <a:xfrm>
            <a:off x="30750358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</a:t>
            </a:r>
            <a:endParaRPr lang="en-US" sz="1000" dirty="0"/>
          </a:p>
        </p:txBody>
      </p:sp>
      <p:sp>
        <p:nvSpPr>
          <p:cNvPr id="76" name="Shape 69"/>
          <p:cNvSpPr/>
          <p:nvPr/>
        </p:nvSpPr>
        <p:spPr>
          <a:xfrm>
            <a:off x="3130539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0"/>
          <p:cNvSpPr txBox="1"/>
          <p:nvPr/>
        </p:nvSpPr>
        <p:spPr>
          <a:xfrm>
            <a:off x="3099084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Text 71"/>
          <p:cNvSpPr txBox="1"/>
          <p:nvPr/>
        </p:nvSpPr>
        <p:spPr>
          <a:xfrm>
            <a:off x="31465418" y="18095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code_state:</a:t>
            </a:r>
            <a:endParaRPr lang="en-US" sz="1000" dirty="0"/>
          </a:p>
        </p:txBody>
      </p:sp>
      <p:sp>
        <p:nvSpPr>
          <p:cNvPr id="79" name="Text 72"/>
          <p:cNvSpPr txBox="1"/>
          <p:nvPr/>
        </p:nvSpPr>
        <p:spPr>
          <a:xfrm>
            <a:off x="3234598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</a:t>
            </a:r>
            <a:endParaRPr lang="en-US" sz="1000" dirty="0"/>
          </a:p>
        </p:txBody>
      </p:sp>
      <p:sp>
        <p:nvSpPr>
          <p:cNvPr id="80" name="Shape 73"/>
          <p:cNvSpPr/>
          <p:nvPr/>
        </p:nvSpPr>
        <p:spPr>
          <a:xfrm>
            <a:off x="3290011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4"/>
          <p:cNvSpPr txBox="1"/>
          <p:nvPr/>
        </p:nvSpPr>
        <p:spPr>
          <a:xfrm>
            <a:off x="3258555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82" name="Text 75"/>
          <p:cNvSpPr txBox="1"/>
          <p:nvPr/>
        </p:nvSpPr>
        <p:spPr>
          <a:xfrm>
            <a:off x="33060132" y="1809598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visualization_state:</a:t>
            </a:r>
            <a:endParaRPr lang="en-US" sz="1000" dirty="0"/>
          </a:p>
        </p:txBody>
      </p:sp>
      <p:sp>
        <p:nvSpPr>
          <p:cNvPr id="83" name="Text 76"/>
          <p:cNvSpPr txBox="1"/>
          <p:nvPr/>
        </p:nvSpPr>
        <p:spPr>
          <a:xfrm>
            <a:off x="3466124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</a:t>
            </a:r>
            <a:endParaRPr lang="en-US" sz="1000" dirty="0"/>
          </a:p>
        </p:txBody>
      </p:sp>
      <p:sp>
        <p:nvSpPr>
          <p:cNvPr id="84" name="Shape 77"/>
          <p:cNvSpPr/>
          <p:nvPr/>
        </p:nvSpPr>
        <p:spPr>
          <a:xfrm>
            <a:off x="3521537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78"/>
          <p:cNvSpPr txBox="1"/>
          <p:nvPr/>
        </p:nvSpPr>
        <p:spPr>
          <a:xfrm>
            <a:off x="3490081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86" name="Text 79"/>
          <p:cNvSpPr txBox="1"/>
          <p:nvPr/>
        </p:nvSpPr>
        <p:spPr>
          <a:xfrm>
            <a:off x="35375393" y="1809598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report_section:</a:t>
            </a:r>
            <a:endParaRPr lang="en-US" sz="1000" dirty="0"/>
          </a:p>
        </p:txBody>
      </p:sp>
      <p:sp>
        <p:nvSpPr>
          <p:cNvPr id="87" name="Text 80"/>
          <p:cNvSpPr txBox="1"/>
          <p:nvPr/>
        </p:nvSpPr>
        <p:spPr>
          <a:xfrm>
            <a:off x="36576000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</a:t>
            </a:r>
            <a:endParaRPr lang="en-US" sz="1000" dirty="0"/>
          </a:p>
        </p:txBody>
      </p:sp>
      <p:sp>
        <p:nvSpPr>
          <p:cNvPr id="88" name="Shape 81"/>
          <p:cNvSpPr/>
          <p:nvPr/>
        </p:nvSpPr>
        <p:spPr>
          <a:xfrm>
            <a:off x="3713104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2"/>
          <p:cNvSpPr txBox="1"/>
          <p:nvPr/>
        </p:nvSpPr>
        <p:spPr>
          <a:xfrm>
            <a:off x="3681648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90" name="Shape 83"/>
          <p:cNvSpPr/>
          <p:nvPr/>
        </p:nvSpPr>
        <p:spPr>
          <a:xfrm>
            <a:off x="376056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4"/>
          <p:cNvSpPr txBox="1"/>
          <p:nvPr/>
        </p:nvSpPr>
        <p:spPr>
          <a:xfrm>
            <a:off x="3729106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92" name="Text 85"/>
          <p:cNvSpPr txBox="1"/>
          <p:nvPr/>
        </p:nvSpPr>
        <p:spPr>
          <a:xfrm>
            <a:off x="37764720" y="1809598"/>
            <a:ext cx="19485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Quality control flags</a:t>
            </a:r>
            <a:endParaRPr lang="en-US" sz="1000" dirty="0"/>
          </a:p>
        </p:txBody>
      </p:sp>
      <p:sp>
        <p:nvSpPr>
          <p:cNvPr id="93" name="Shape 86"/>
          <p:cNvSpPr/>
          <p:nvPr/>
        </p:nvSpPr>
        <p:spPr>
          <a:xfrm>
            <a:off x="3991996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7"/>
          <p:cNvSpPr txBox="1"/>
          <p:nvPr/>
        </p:nvSpPr>
        <p:spPr>
          <a:xfrm>
            <a:off x="3960540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95" name="Text 88"/>
          <p:cNvSpPr txBox="1"/>
          <p:nvPr/>
        </p:nvSpPr>
        <p:spPr>
          <a:xfrm>
            <a:off x="40079981" y="1809598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needs_revision:</a:t>
            </a:r>
            <a:endParaRPr lang="en-US" sz="1000" dirty="0"/>
          </a:p>
        </p:txBody>
      </p:sp>
      <p:sp>
        <p:nvSpPr>
          <p:cNvPr id="96" name="Text 89"/>
          <p:cNvSpPr txBox="1"/>
          <p:nvPr/>
        </p:nvSpPr>
        <p:spPr>
          <a:xfrm>
            <a:off x="41280588" y="1809598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bool</a:t>
            </a:r>
            <a:endParaRPr lang="en-US" sz="1000" dirty="0"/>
          </a:p>
        </p:txBody>
      </p:sp>
      <p:sp>
        <p:nvSpPr>
          <p:cNvPr id="97" name="Shape 90"/>
          <p:cNvSpPr/>
          <p:nvPr/>
        </p:nvSpPr>
        <p:spPr>
          <a:xfrm>
            <a:off x="4191518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1"/>
          <p:cNvSpPr txBox="1"/>
          <p:nvPr/>
        </p:nvSpPr>
        <p:spPr>
          <a:xfrm>
            <a:off x="4160062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99" name="Text 92"/>
          <p:cNvSpPr txBox="1"/>
          <p:nvPr/>
        </p:nvSpPr>
        <p:spPr>
          <a:xfrm>
            <a:off x="42075202" y="1809598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feedback:</a:t>
            </a:r>
            <a:endParaRPr lang="en-US" sz="1000" dirty="0"/>
          </a:p>
        </p:txBody>
      </p:sp>
      <p:sp>
        <p:nvSpPr>
          <p:cNvPr id="100" name="Text 93"/>
          <p:cNvSpPr txBox="1"/>
          <p:nvPr/>
        </p:nvSpPr>
        <p:spPr>
          <a:xfrm>
            <a:off x="42795749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</a:t>
            </a:r>
            <a:endParaRPr lang="en-US" sz="1000" dirty="0"/>
          </a:p>
        </p:txBody>
      </p:sp>
      <p:sp>
        <p:nvSpPr>
          <p:cNvPr id="101" name="Shape 94"/>
          <p:cNvSpPr/>
          <p:nvPr/>
        </p:nvSpPr>
        <p:spPr>
          <a:xfrm>
            <a:off x="4334987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5"/>
          <p:cNvSpPr txBox="1"/>
          <p:nvPr/>
        </p:nvSpPr>
        <p:spPr>
          <a:xfrm>
            <a:off x="4303532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103" name="Shape 96"/>
          <p:cNvSpPr/>
          <p:nvPr/>
        </p:nvSpPr>
        <p:spPr>
          <a:xfrm>
            <a:off x="4382444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97"/>
          <p:cNvSpPr txBox="1"/>
          <p:nvPr/>
        </p:nvSpPr>
        <p:spPr>
          <a:xfrm>
            <a:off x="4350989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05" name="Text 98"/>
          <p:cNvSpPr txBox="1"/>
          <p:nvPr/>
        </p:nvSpPr>
        <p:spPr>
          <a:xfrm>
            <a:off x="43984469" y="1809598"/>
            <a:ext cx="19485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Node function example</a:t>
            </a:r>
            <a:endParaRPr lang="en-US" sz="1000" dirty="0"/>
          </a:p>
        </p:txBody>
      </p:sp>
      <p:sp>
        <p:nvSpPr>
          <p:cNvPr id="106" name="Shape 99"/>
          <p:cNvSpPr/>
          <p:nvPr/>
        </p:nvSpPr>
        <p:spPr>
          <a:xfrm>
            <a:off x="4613971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0"/>
          <p:cNvSpPr txBox="1"/>
          <p:nvPr/>
        </p:nvSpPr>
        <p:spPr>
          <a:xfrm>
            <a:off x="4582515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08" name="Text 101"/>
          <p:cNvSpPr txBox="1"/>
          <p:nvPr/>
        </p:nvSpPr>
        <p:spPr>
          <a:xfrm>
            <a:off x="46299730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endParaRPr lang="en-US" sz="1000" dirty="0"/>
          </a:p>
        </p:txBody>
      </p:sp>
      <p:sp>
        <p:nvSpPr>
          <p:cNvPr id="109" name="Text 102"/>
          <p:cNvSpPr txBox="1"/>
          <p:nvPr/>
        </p:nvSpPr>
        <p:spPr>
          <a:xfrm>
            <a:off x="46540217" y="1809598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hypothesis_node</a:t>
            </a:r>
            <a:endParaRPr lang="en-US" sz="1000" dirty="0"/>
          </a:p>
        </p:txBody>
      </p:sp>
      <p:sp>
        <p:nvSpPr>
          <p:cNvPr id="110" name="Text 103"/>
          <p:cNvSpPr txBox="1"/>
          <p:nvPr/>
        </p:nvSpPr>
        <p:spPr>
          <a:xfrm>
            <a:off x="47739910" y="1809598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(state: State) -&gt; State:</a:t>
            </a:r>
            <a:endParaRPr lang="en-US" sz="1000" dirty="0"/>
          </a:p>
        </p:txBody>
      </p:sp>
      <p:sp>
        <p:nvSpPr>
          <p:cNvPr id="111" name="Shape 104"/>
          <p:cNvSpPr/>
          <p:nvPr/>
        </p:nvSpPr>
        <p:spPr>
          <a:xfrm>
            <a:off x="4997561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05"/>
          <p:cNvSpPr txBox="1"/>
          <p:nvPr/>
        </p:nvSpPr>
        <p:spPr>
          <a:xfrm>
            <a:off x="4966106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13" name="Text 106"/>
          <p:cNvSpPr txBox="1"/>
          <p:nvPr/>
        </p:nvSpPr>
        <p:spPr>
          <a:xfrm>
            <a:off x="50135638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Agent logic here...</a:t>
            </a:r>
            <a:endParaRPr lang="en-US" sz="1000" dirty="0"/>
          </a:p>
        </p:txBody>
      </p:sp>
      <p:sp>
        <p:nvSpPr>
          <p:cNvPr id="114" name="Shape 107"/>
          <p:cNvSpPr/>
          <p:nvPr/>
        </p:nvSpPr>
        <p:spPr>
          <a:xfrm>
            <a:off x="5213085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8"/>
          <p:cNvSpPr txBox="1"/>
          <p:nvPr/>
        </p:nvSpPr>
        <p:spPr>
          <a:xfrm>
            <a:off x="5181630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16" name="Text 109"/>
          <p:cNvSpPr txBox="1"/>
          <p:nvPr/>
        </p:nvSpPr>
        <p:spPr>
          <a:xfrm>
            <a:off x="52290878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17" name="Text 110"/>
          <p:cNvSpPr txBox="1"/>
          <p:nvPr/>
        </p:nvSpPr>
        <p:spPr>
          <a:xfrm>
            <a:off x="5277093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000" dirty="0"/>
          </a:p>
        </p:txBody>
      </p:sp>
      <p:sp>
        <p:nvSpPr>
          <p:cNvPr id="118" name="Shape 111"/>
          <p:cNvSpPr/>
          <p:nvPr/>
        </p:nvSpPr>
        <p:spPr>
          <a:xfrm>
            <a:off x="5316504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2"/>
          <p:cNvSpPr txBox="1"/>
          <p:nvPr/>
        </p:nvSpPr>
        <p:spPr>
          <a:xfrm>
            <a:off x="5285049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20" name="Text 113"/>
          <p:cNvSpPr txBox="1"/>
          <p:nvPr/>
        </p:nvSpPr>
        <p:spPr>
          <a:xfrm>
            <a:off x="53325065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"hypothesis"</a:t>
            </a:r>
            <a:endParaRPr lang="en-US" sz="1000" dirty="0"/>
          </a:p>
        </p:txBody>
      </p:sp>
      <p:sp>
        <p:nvSpPr>
          <p:cNvPr id="121" name="Text 114"/>
          <p:cNvSpPr txBox="1"/>
          <p:nvPr/>
        </p:nvSpPr>
        <p:spPr>
          <a:xfrm>
            <a:off x="54286099" y="1809598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new_hypothesis,</a:t>
            </a:r>
            <a:endParaRPr lang="en-US" sz="1000" dirty="0"/>
          </a:p>
        </p:txBody>
      </p:sp>
      <p:sp>
        <p:nvSpPr>
          <p:cNvPr id="122" name="Shape 115"/>
          <p:cNvSpPr/>
          <p:nvPr/>
        </p:nvSpPr>
        <p:spPr>
          <a:xfrm>
            <a:off x="5596036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16"/>
          <p:cNvSpPr txBox="1"/>
          <p:nvPr/>
        </p:nvSpPr>
        <p:spPr>
          <a:xfrm>
            <a:off x="5564581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24" name="Text 117"/>
          <p:cNvSpPr txBox="1"/>
          <p:nvPr/>
        </p:nvSpPr>
        <p:spPr>
          <a:xfrm>
            <a:off x="56120386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"sender"</a:t>
            </a:r>
            <a:endParaRPr lang="en-US" sz="1000" dirty="0"/>
          </a:p>
        </p:txBody>
      </p:sp>
      <p:sp>
        <p:nvSpPr>
          <p:cNvPr id="125" name="Text 118"/>
          <p:cNvSpPr txBox="1"/>
          <p:nvPr/>
        </p:nvSpPr>
        <p:spPr>
          <a:xfrm>
            <a:off x="5676046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000" dirty="0"/>
          </a:p>
        </p:txBody>
      </p:sp>
      <p:sp>
        <p:nvSpPr>
          <p:cNvPr id="126" name="Text 119"/>
          <p:cNvSpPr txBox="1"/>
          <p:nvPr/>
        </p:nvSpPr>
        <p:spPr>
          <a:xfrm>
            <a:off x="56840933" y="1809598"/>
            <a:ext cx="15480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"hypothesis_agent"</a:t>
            </a:r>
            <a:endParaRPr lang="en-US" sz="1000" dirty="0"/>
          </a:p>
        </p:txBody>
      </p:sp>
      <p:sp>
        <p:nvSpPr>
          <p:cNvPr id="127" name="Shape 120"/>
          <p:cNvSpPr/>
          <p:nvPr/>
        </p:nvSpPr>
        <p:spPr>
          <a:xfrm>
            <a:off x="5859566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1"/>
          <p:cNvSpPr txBox="1"/>
          <p:nvPr/>
        </p:nvSpPr>
        <p:spPr>
          <a:xfrm>
            <a:off x="5828111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29" name="Text 122"/>
          <p:cNvSpPr txBox="1"/>
          <p:nvPr/>
        </p:nvSpPr>
        <p:spPr>
          <a:xfrm>
            <a:off x="5875568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00" dirty="0"/>
          </a:p>
        </p:txBody>
      </p:sp>
      <p:sp>
        <p:nvSpPr>
          <p:cNvPr id="130" name="Shape 123"/>
          <p:cNvSpPr/>
          <p:nvPr/>
        </p:nvSpPr>
        <p:spPr>
          <a:xfrm>
            <a:off x="6096305" y="4972507"/>
            <a:ext cx="5790895" cy="1123798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1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258154" y="5134356"/>
            <a:ext cx="171907" cy="152705"/>
          </a:xfrm>
          <a:prstGeom prst="rect">
            <a:avLst/>
          </a:prstGeom>
        </p:spPr>
      </p:pic>
      <p:sp>
        <p:nvSpPr>
          <p:cNvPr id="132" name="Text 124"/>
          <p:cNvSpPr txBox="1"/>
          <p:nvPr/>
        </p:nvSpPr>
        <p:spPr>
          <a:xfrm>
            <a:off x="6505956" y="5134356"/>
            <a:ext cx="1524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ARCHITECTURE</a:t>
            </a:r>
            <a:endParaRPr lang="en-US" sz="900" dirty="0"/>
          </a:p>
        </p:txBody>
      </p:sp>
      <p:sp>
        <p:nvSpPr>
          <p:cNvPr id="133" name="Shape 125"/>
          <p:cNvSpPr/>
          <p:nvPr/>
        </p:nvSpPr>
        <p:spPr>
          <a:xfrm>
            <a:off x="6409944" y="536295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Text 126"/>
          <p:cNvSpPr txBox="1"/>
          <p:nvPr/>
        </p:nvSpPr>
        <p:spPr>
          <a:xfrm>
            <a:off x="6452006" y="5477256"/>
            <a:ext cx="391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</a:t>
            </a:r>
            <a:endParaRPr lang="en-US" sz="900" dirty="0"/>
          </a:p>
        </p:txBody>
      </p:sp>
      <p:sp>
        <p:nvSpPr>
          <p:cNvPr id="135" name="Text 127"/>
          <p:cNvSpPr txBox="1"/>
          <p:nvPr/>
        </p:nvSpPr>
        <p:spPr>
          <a:xfrm>
            <a:off x="6440119" y="5781751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900" dirty="0"/>
          </a:p>
        </p:txBody>
      </p:sp>
      <p:sp>
        <p:nvSpPr>
          <p:cNvPr id="136" name="Shape 128"/>
          <p:cNvSpPr/>
          <p:nvPr/>
        </p:nvSpPr>
        <p:spPr>
          <a:xfrm>
            <a:off x="6867144" y="5639105"/>
            <a:ext cx="1857146" cy="1920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29"/>
          <p:cNvSpPr/>
          <p:nvPr/>
        </p:nvSpPr>
        <p:spPr>
          <a:xfrm>
            <a:off x="7548372" y="5562295"/>
            <a:ext cx="504749" cy="1527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Text 130"/>
          <p:cNvSpPr txBox="1"/>
          <p:nvPr/>
        </p:nvSpPr>
        <p:spPr>
          <a:xfrm>
            <a:off x="7624267" y="5572354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State</a:t>
            </a:r>
            <a:endParaRPr lang="en-US" sz="900" dirty="0"/>
          </a:p>
        </p:txBody>
      </p:sp>
      <p:sp>
        <p:nvSpPr>
          <p:cNvPr id="139" name="Shape 131"/>
          <p:cNvSpPr/>
          <p:nvPr/>
        </p:nvSpPr>
        <p:spPr>
          <a:xfrm>
            <a:off x="8648395" y="5581498"/>
            <a:ext cx="75895" cy="75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2"/>
          <p:cNvSpPr txBox="1"/>
          <p:nvPr/>
        </p:nvSpPr>
        <p:spPr>
          <a:xfrm>
            <a:off x="8806586" y="5477256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</a:t>
            </a:r>
            <a:endParaRPr lang="en-US" sz="900" dirty="0"/>
          </a:p>
        </p:txBody>
      </p:sp>
      <p:sp>
        <p:nvSpPr>
          <p:cNvPr id="141" name="Text 133"/>
          <p:cNvSpPr txBox="1"/>
          <p:nvPr/>
        </p:nvSpPr>
        <p:spPr>
          <a:xfrm>
            <a:off x="8843162" y="5781751"/>
            <a:ext cx="391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</a:t>
            </a:r>
            <a:endParaRPr lang="en-US" sz="900" dirty="0"/>
          </a:p>
        </p:txBody>
      </p:sp>
      <p:sp>
        <p:nvSpPr>
          <p:cNvPr id="142" name="Shape 134"/>
          <p:cNvSpPr/>
          <p:nvPr/>
        </p:nvSpPr>
        <p:spPr>
          <a:xfrm>
            <a:off x="9258300" y="5639105"/>
            <a:ext cx="1857146" cy="1920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35"/>
          <p:cNvSpPr/>
          <p:nvPr/>
        </p:nvSpPr>
        <p:spPr>
          <a:xfrm>
            <a:off x="9973361" y="5562295"/>
            <a:ext cx="428854" cy="1527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Text 136"/>
          <p:cNvSpPr txBox="1"/>
          <p:nvPr/>
        </p:nvSpPr>
        <p:spPr>
          <a:xfrm>
            <a:off x="10050170" y="5572354"/>
            <a:ext cx="362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Edge</a:t>
            </a:r>
            <a:endParaRPr lang="en-US" sz="900" dirty="0"/>
          </a:p>
        </p:txBody>
      </p:sp>
      <p:sp>
        <p:nvSpPr>
          <p:cNvPr id="145" name="Shape 137"/>
          <p:cNvSpPr/>
          <p:nvPr/>
        </p:nvSpPr>
        <p:spPr>
          <a:xfrm>
            <a:off x="11039551" y="5581498"/>
            <a:ext cx="75895" cy="75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38"/>
          <p:cNvSpPr/>
          <p:nvPr/>
        </p:nvSpPr>
        <p:spPr>
          <a:xfrm>
            <a:off x="11192256" y="536295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Text 139"/>
          <p:cNvSpPr txBox="1"/>
          <p:nvPr/>
        </p:nvSpPr>
        <p:spPr>
          <a:xfrm>
            <a:off x="11233404" y="5477256"/>
            <a:ext cx="391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</a:t>
            </a:r>
            <a:endParaRPr lang="en-US" sz="900" dirty="0"/>
          </a:p>
        </p:txBody>
      </p:sp>
      <p:sp>
        <p:nvSpPr>
          <p:cNvPr id="148" name="Text 140"/>
          <p:cNvSpPr txBox="1"/>
          <p:nvPr/>
        </p:nvSpPr>
        <p:spPr>
          <a:xfrm>
            <a:off x="11222431" y="5781751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900" dirty="0"/>
          </a:p>
        </p:txBody>
      </p:sp>
      <p:sp>
        <p:nvSpPr>
          <p:cNvPr id="149" name="Shape 14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2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Text 143"/>
          <p:cNvSpPr txBox="1"/>
          <p:nvPr/>
        </p:nvSpPr>
        <p:spPr>
          <a:xfrm>
            <a:off x="457200" y="655807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152" name="Text 144"/>
          <p:cNvSpPr txBox="1"/>
          <p:nvPr/>
        </p:nvSpPr>
        <p:spPr>
          <a:xfrm>
            <a:off x="11296498" y="6558077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23</a:t>
            </a:r>
            <a:endParaRPr lang="en-US" sz="900" dirty="0"/>
          </a:p>
        </p:txBody>
      </p:sp>
      <p:sp>
        <p:nvSpPr>
          <p:cNvPr id="153" name="Shape 145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57" name="Text 148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58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59" name="Text 149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4100" name="Picture 4" descr="LangGraph: A Simple Guide to Building Smart AI Workflows | by Vinod Rane |  Medium">
            <a:extLst>
              <a:ext uri="{FF2B5EF4-FFF2-40B4-BE49-F238E27FC236}">
                <a16:creationId xmlns:a16="http://schemas.microsoft.com/office/drawing/2014/main" id="{71195BCA-A1BB-4DF6-3039-54AFFD427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452" y="1697507"/>
            <a:ext cx="5968808" cy="21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508249D-1BD3-0331-33BC-5E2EA02F0EFF}"/>
              </a:ext>
            </a:extLst>
          </p:cNvPr>
          <p:cNvSpPr txBox="1"/>
          <p:nvPr/>
        </p:nvSpPr>
        <p:spPr>
          <a:xfrm>
            <a:off x="24877" y="-8080"/>
            <a:ext cx="29480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</a:t>
            </a:r>
            <a:r>
              <a:rPr lang="en-US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89FCF-ABAB-97DE-C3A9-16297614C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52DAF3-40F6-CAA5-181A-B50BD53231D1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100787-085F-B44D-E630-461E6774D33A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35B7C6-CBA7-B618-68FE-F11200F821B8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9A18ECA1-5015-B8A1-85FC-BD44FAE9C2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3496F6A-C788-0BB6-FE66-FD6636EEB9CE}"/>
              </a:ext>
            </a:extLst>
          </p:cNvPr>
          <p:cNvSpPr txBox="1"/>
          <p:nvPr/>
        </p:nvSpPr>
        <p:spPr>
          <a:xfrm>
            <a:off x="990295" y="237744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Stage 3: PCA Decision Logic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D696D66-DEE4-920B-E538-AF5061756790}"/>
              </a:ext>
            </a:extLst>
          </p:cNvPr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41556ED-4B07-2E77-38C6-1BCD91490AD0}"/>
              </a:ext>
            </a:extLst>
          </p:cNvPr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37F1D3F-5228-4147-8FA7-13BE41374BCD}"/>
              </a:ext>
            </a:extLst>
          </p:cNvPr>
          <p:cNvSpPr/>
          <p:nvPr/>
        </p:nvSpPr>
        <p:spPr>
          <a:xfrm>
            <a:off x="0" y="838505"/>
            <a:ext cx="12191695" cy="5772607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92AC2D81-B25B-C392-7686-0E8C7F1EF20A}"/>
              </a:ext>
            </a:extLst>
          </p:cNvPr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AD0B392C-BF09-62A5-05AD-FED000C01A82}"/>
              </a:ext>
            </a:extLst>
          </p:cNvPr>
          <p:cNvSpPr txBox="1"/>
          <p:nvPr/>
        </p:nvSpPr>
        <p:spPr>
          <a:xfrm>
            <a:off x="4869180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328819FD-6BAA-89E0-D3F3-65F299FB27DC}"/>
              </a:ext>
            </a:extLst>
          </p:cNvPr>
          <p:cNvSpPr txBox="1"/>
          <p:nvPr/>
        </p:nvSpPr>
        <p:spPr>
          <a:xfrm>
            <a:off x="903061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06A3E5B0-7D3B-10B3-958F-2567E57786CD}"/>
              </a:ext>
            </a:extLst>
          </p:cNvPr>
          <p:cNvSpPr/>
          <p:nvPr/>
        </p:nvSpPr>
        <p:spPr>
          <a:xfrm>
            <a:off x="94247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9C595603-32B2-C725-5098-B5C944CBE86A}"/>
              </a:ext>
            </a:extLst>
          </p:cNvPr>
          <p:cNvSpPr txBox="1"/>
          <p:nvPr/>
        </p:nvSpPr>
        <p:spPr>
          <a:xfrm>
            <a:off x="117454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000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8B97D409-9FE9-18AB-8036-6A32DA1ED60E}"/>
              </a:ext>
            </a:extLst>
          </p:cNvPr>
          <p:cNvSpPr/>
          <p:nvPr/>
        </p:nvSpPr>
        <p:spPr>
          <a:xfrm>
            <a:off x="12220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5">
            <a:extLst>
              <a:ext uri="{FF2B5EF4-FFF2-40B4-BE49-F238E27FC236}">
                <a16:creationId xmlns:a16="http://schemas.microsoft.com/office/drawing/2014/main" id="{69987535-65E3-6C58-D809-905340730393}"/>
              </a:ext>
            </a:extLst>
          </p:cNvPr>
          <p:cNvSpPr/>
          <p:nvPr/>
        </p:nvSpPr>
        <p:spPr>
          <a:xfrm>
            <a:off x="1589593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D7FCD3E0-93B5-AE0F-3D53-DCA03ED1AAF2}"/>
              </a:ext>
            </a:extLst>
          </p:cNvPr>
          <p:cNvSpPr txBox="1"/>
          <p:nvPr/>
        </p:nvSpPr>
        <p:spPr>
          <a:xfrm>
            <a:off x="1558137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C5C0E7BF-FBAD-8115-F252-450186BE70D4}"/>
              </a:ext>
            </a:extLst>
          </p:cNvPr>
          <p:cNvSpPr txBox="1"/>
          <p:nvPr/>
        </p:nvSpPr>
        <p:spPr>
          <a:xfrm>
            <a:off x="1605595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scaler =</a:t>
            </a:r>
            <a:endParaRPr lang="en-US" sz="1000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166CE472-5D9F-4EB6-8041-0B9932A59E85}"/>
              </a:ext>
            </a:extLst>
          </p:cNvPr>
          <p:cNvSpPr txBox="1"/>
          <p:nvPr/>
        </p:nvSpPr>
        <p:spPr>
          <a:xfrm>
            <a:off x="16696030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1E8F1D71-D33C-B650-1AFE-46BB17E1C8D1}"/>
              </a:ext>
            </a:extLst>
          </p:cNvPr>
          <p:cNvSpPr txBox="1"/>
          <p:nvPr/>
        </p:nvSpPr>
        <p:spPr>
          <a:xfrm>
            <a:off x="178161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55" name="Shape 50">
            <a:extLst>
              <a:ext uri="{FF2B5EF4-FFF2-40B4-BE49-F238E27FC236}">
                <a16:creationId xmlns:a16="http://schemas.microsoft.com/office/drawing/2014/main" id="{AE511546-50E3-E49A-E1AC-CCCE31367ADD}"/>
              </a:ext>
            </a:extLst>
          </p:cNvPr>
          <p:cNvSpPr/>
          <p:nvPr/>
        </p:nvSpPr>
        <p:spPr>
          <a:xfrm>
            <a:off x="1829074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543E6F01-5BDA-D061-2403-663CF77BEE67}"/>
              </a:ext>
            </a:extLst>
          </p:cNvPr>
          <p:cNvSpPr txBox="1"/>
          <p:nvPr/>
        </p:nvSpPr>
        <p:spPr>
          <a:xfrm>
            <a:off x="1797619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1A6293EC-E8FD-8CA5-D74B-211DCFB0C80B}"/>
              </a:ext>
            </a:extLst>
          </p:cNvPr>
          <p:cNvSpPr txBox="1"/>
          <p:nvPr/>
        </p:nvSpPr>
        <p:spPr>
          <a:xfrm>
            <a:off x="1845076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numeric_df = df.select_dtypes(include=[np.number])</a:t>
            </a:r>
            <a:endParaRPr lang="en-US" sz="1000" dirty="0"/>
          </a:p>
        </p:txBody>
      </p:sp>
      <p:sp>
        <p:nvSpPr>
          <p:cNvPr id="58" name="Shape 53">
            <a:extLst>
              <a:ext uri="{FF2B5EF4-FFF2-40B4-BE49-F238E27FC236}">
                <a16:creationId xmlns:a16="http://schemas.microsoft.com/office/drawing/2014/main" id="{FE1FD507-2B4D-4B1C-F6C8-7B3928D7262B}"/>
              </a:ext>
            </a:extLst>
          </p:cNvPr>
          <p:cNvSpPr/>
          <p:nvPr/>
        </p:nvSpPr>
        <p:spPr>
          <a:xfrm>
            <a:off x="2276673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E010F786-9545-CE75-85BE-45557DB6BE43}"/>
              </a:ext>
            </a:extLst>
          </p:cNvPr>
          <p:cNvSpPr txBox="1"/>
          <p:nvPr/>
        </p:nvSpPr>
        <p:spPr>
          <a:xfrm>
            <a:off x="224521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19929C87-3F1B-88E5-C25F-D1E52BE20D43}"/>
              </a:ext>
            </a:extLst>
          </p:cNvPr>
          <p:cNvSpPr txBox="1"/>
          <p:nvPr/>
        </p:nvSpPr>
        <p:spPr>
          <a:xfrm>
            <a:off x="22926751" y="1809598"/>
            <a:ext cx="37865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scaled_data = scaler.fit_transform(numeric_df)</a:t>
            </a:r>
            <a:endParaRPr lang="en-US" sz="1000" dirty="0"/>
          </a:p>
        </p:txBody>
      </p:sp>
      <p:sp>
        <p:nvSpPr>
          <p:cNvPr id="61" name="Shape 56">
            <a:extLst>
              <a:ext uri="{FF2B5EF4-FFF2-40B4-BE49-F238E27FC236}">
                <a16:creationId xmlns:a16="http://schemas.microsoft.com/office/drawing/2014/main" id="{E361F8A0-D55F-3DAD-D11C-051C15D183AA}"/>
              </a:ext>
            </a:extLst>
          </p:cNvPr>
          <p:cNvSpPr/>
          <p:nvPr/>
        </p:nvSpPr>
        <p:spPr>
          <a:xfrm>
            <a:off x="2692267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AB8D12A6-CBCE-93B2-CEBE-8C012D820D83}"/>
              </a:ext>
            </a:extLst>
          </p:cNvPr>
          <p:cNvSpPr txBox="1"/>
          <p:nvPr/>
        </p:nvSpPr>
        <p:spPr>
          <a:xfrm>
            <a:off x="2660812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3" name="Shape 58">
            <a:extLst>
              <a:ext uri="{FF2B5EF4-FFF2-40B4-BE49-F238E27FC236}">
                <a16:creationId xmlns:a16="http://schemas.microsoft.com/office/drawing/2014/main" id="{E1D503F9-EA48-6808-EDEE-E04CC3AEDC8F}"/>
              </a:ext>
            </a:extLst>
          </p:cNvPr>
          <p:cNvSpPr/>
          <p:nvPr/>
        </p:nvSpPr>
        <p:spPr>
          <a:xfrm>
            <a:off x="2739725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9558701B-DADA-FF27-DF3F-C4C46F75A46F}"/>
              </a:ext>
            </a:extLst>
          </p:cNvPr>
          <p:cNvSpPr txBox="1"/>
          <p:nvPr/>
        </p:nvSpPr>
        <p:spPr>
          <a:xfrm>
            <a:off x="2708269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65" name="Text 60">
            <a:extLst>
              <a:ext uri="{FF2B5EF4-FFF2-40B4-BE49-F238E27FC236}">
                <a16:creationId xmlns:a16="http://schemas.microsoft.com/office/drawing/2014/main" id="{672FE705-CB95-A537-D0AA-6C48A1FAD7F6}"/>
              </a:ext>
            </a:extLst>
          </p:cNvPr>
          <p:cNvSpPr txBox="1"/>
          <p:nvPr/>
        </p:nvSpPr>
        <p:spPr>
          <a:xfrm>
            <a:off x="27556358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Fit PCA to determine explained variance</a:t>
            </a:r>
            <a:endParaRPr lang="en-US" sz="1000" dirty="0"/>
          </a:p>
        </p:txBody>
      </p:sp>
      <p:sp>
        <p:nvSpPr>
          <p:cNvPr id="66" name="Shape 61">
            <a:extLst>
              <a:ext uri="{FF2B5EF4-FFF2-40B4-BE49-F238E27FC236}">
                <a16:creationId xmlns:a16="http://schemas.microsoft.com/office/drawing/2014/main" id="{EB939428-BFA9-3BF0-A74D-D303739AEA31}"/>
              </a:ext>
            </a:extLst>
          </p:cNvPr>
          <p:cNvSpPr/>
          <p:nvPr/>
        </p:nvSpPr>
        <p:spPr>
          <a:xfrm>
            <a:off x="3139226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2">
            <a:extLst>
              <a:ext uri="{FF2B5EF4-FFF2-40B4-BE49-F238E27FC236}">
                <a16:creationId xmlns:a16="http://schemas.microsoft.com/office/drawing/2014/main" id="{FD913196-AD57-D90C-B1CA-A34CB754F0C5}"/>
              </a:ext>
            </a:extLst>
          </p:cNvPr>
          <p:cNvSpPr txBox="1"/>
          <p:nvPr/>
        </p:nvSpPr>
        <p:spPr>
          <a:xfrm>
            <a:off x="3107771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68" name="Text 63">
            <a:extLst>
              <a:ext uri="{FF2B5EF4-FFF2-40B4-BE49-F238E27FC236}">
                <a16:creationId xmlns:a16="http://schemas.microsoft.com/office/drawing/2014/main" id="{FB72BDE0-D863-D34E-DB62-729D9A392F7E}"/>
              </a:ext>
            </a:extLst>
          </p:cNvPr>
          <p:cNvSpPr txBox="1"/>
          <p:nvPr/>
        </p:nvSpPr>
        <p:spPr>
          <a:xfrm>
            <a:off x="31552286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 =</a:t>
            </a:r>
            <a:endParaRPr lang="en-US" sz="1000" dirty="0"/>
          </a:p>
        </p:txBody>
      </p:sp>
      <p:sp>
        <p:nvSpPr>
          <p:cNvPr id="69" name="Text 64">
            <a:extLst>
              <a:ext uri="{FF2B5EF4-FFF2-40B4-BE49-F238E27FC236}">
                <a16:creationId xmlns:a16="http://schemas.microsoft.com/office/drawing/2014/main" id="{61C15B0D-C9B0-924F-F336-7D95D03B4328}"/>
              </a:ext>
            </a:extLst>
          </p:cNvPr>
          <p:cNvSpPr txBox="1"/>
          <p:nvPr/>
        </p:nvSpPr>
        <p:spPr>
          <a:xfrm>
            <a:off x="31952794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</a:t>
            </a:r>
            <a:endParaRPr lang="en-US" sz="1000" dirty="0"/>
          </a:p>
        </p:txBody>
      </p:sp>
      <p:sp>
        <p:nvSpPr>
          <p:cNvPr id="70" name="Text 65">
            <a:extLst>
              <a:ext uri="{FF2B5EF4-FFF2-40B4-BE49-F238E27FC236}">
                <a16:creationId xmlns:a16="http://schemas.microsoft.com/office/drawing/2014/main" id="{2D4B2EA4-5327-086A-233A-0C8D3838899E}"/>
              </a:ext>
            </a:extLst>
          </p:cNvPr>
          <p:cNvSpPr txBox="1"/>
          <p:nvPr/>
        </p:nvSpPr>
        <p:spPr>
          <a:xfrm>
            <a:off x="3219236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71" name="Shape 66">
            <a:extLst>
              <a:ext uri="{FF2B5EF4-FFF2-40B4-BE49-F238E27FC236}">
                <a16:creationId xmlns:a16="http://schemas.microsoft.com/office/drawing/2014/main" id="{0D383729-F410-E794-9931-335DD7EAC68B}"/>
              </a:ext>
            </a:extLst>
          </p:cNvPr>
          <p:cNvSpPr/>
          <p:nvPr/>
        </p:nvSpPr>
        <p:spPr>
          <a:xfrm>
            <a:off x="326678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7">
            <a:extLst>
              <a:ext uri="{FF2B5EF4-FFF2-40B4-BE49-F238E27FC236}">
                <a16:creationId xmlns:a16="http://schemas.microsoft.com/office/drawing/2014/main" id="{D3711CCD-5223-B3BB-5E4A-536D879CC8F4}"/>
              </a:ext>
            </a:extLst>
          </p:cNvPr>
          <p:cNvSpPr txBox="1"/>
          <p:nvPr/>
        </p:nvSpPr>
        <p:spPr>
          <a:xfrm>
            <a:off x="3235330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68">
            <a:extLst>
              <a:ext uri="{FF2B5EF4-FFF2-40B4-BE49-F238E27FC236}">
                <a16:creationId xmlns:a16="http://schemas.microsoft.com/office/drawing/2014/main" id="{5ABF1A8A-23EA-765D-1F5D-F1D3AD41DAD0}"/>
              </a:ext>
            </a:extLst>
          </p:cNvPr>
          <p:cNvSpPr txBox="1"/>
          <p:nvPr/>
        </p:nvSpPr>
        <p:spPr>
          <a:xfrm>
            <a:off x="32826960" y="1809598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pca.fit(scaled_data)</a:t>
            </a:r>
            <a:endParaRPr lang="en-US" sz="1000" dirty="0"/>
          </a:p>
        </p:txBody>
      </p:sp>
      <p:sp>
        <p:nvSpPr>
          <p:cNvPr id="74" name="Shape 69">
            <a:extLst>
              <a:ext uri="{FF2B5EF4-FFF2-40B4-BE49-F238E27FC236}">
                <a16:creationId xmlns:a16="http://schemas.microsoft.com/office/drawing/2014/main" id="{01C30E66-EF30-526B-C938-91989F2BEDF0}"/>
              </a:ext>
            </a:extLst>
          </p:cNvPr>
          <p:cNvSpPr/>
          <p:nvPr/>
        </p:nvSpPr>
        <p:spPr>
          <a:xfrm>
            <a:off x="3474262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0">
            <a:extLst>
              <a:ext uri="{FF2B5EF4-FFF2-40B4-BE49-F238E27FC236}">
                <a16:creationId xmlns:a16="http://schemas.microsoft.com/office/drawing/2014/main" id="{B46EE64D-18D5-17D8-8BD2-845FDFF8ED61}"/>
              </a:ext>
            </a:extLst>
          </p:cNvPr>
          <p:cNvSpPr txBox="1"/>
          <p:nvPr/>
        </p:nvSpPr>
        <p:spPr>
          <a:xfrm>
            <a:off x="344280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76" name="Shape 71">
            <a:extLst>
              <a:ext uri="{FF2B5EF4-FFF2-40B4-BE49-F238E27FC236}">
                <a16:creationId xmlns:a16="http://schemas.microsoft.com/office/drawing/2014/main" id="{61765D62-8524-B78C-B492-E9A0A54DF799}"/>
              </a:ext>
            </a:extLst>
          </p:cNvPr>
          <p:cNvSpPr/>
          <p:nvPr/>
        </p:nvSpPr>
        <p:spPr>
          <a:xfrm>
            <a:off x="3521720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>
            <a:extLst>
              <a:ext uri="{FF2B5EF4-FFF2-40B4-BE49-F238E27FC236}">
                <a16:creationId xmlns:a16="http://schemas.microsoft.com/office/drawing/2014/main" id="{F92D0BC0-7A45-F602-A346-FDC6609627C1}"/>
              </a:ext>
            </a:extLst>
          </p:cNvPr>
          <p:cNvSpPr txBox="1"/>
          <p:nvPr/>
        </p:nvSpPr>
        <p:spPr>
          <a:xfrm>
            <a:off x="3490264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Text 73">
            <a:extLst>
              <a:ext uri="{FF2B5EF4-FFF2-40B4-BE49-F238E27FC236}">
                <a16:creationId xmlns:a16="http://schemas.microsoft.com/office/drawing/2014/main" id="{CC7A90FD-A1D4-46EF-867F-637F85056002}"/>
              </a:ext>
            </a:extLst>
          </p:cNvPr>
          <p:cNvSpPr txBox="1"/>
          <p:nvPr/>
        </p:nvSpPr>
        <p:spPr>
          <a:xfrm>
            <a:off x="35376307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Find components needed for 95% variance</a:t>
            </a:r>
            <a:endParaRPr lang="en-US" sz="1000" dirty="0"/>
          </a:p>
        </p:txBody>
      </p:sp>
      <p:sp>
        <p:nvSpPr>
          <p:cNvPr id="79" name="Shape 74">
            <a:extLst>
              <a:ext uri="{FF2B5EF4-FFF2-40B4-BE49-F238E27FC236}">
                <a16:creationId xmlns:a16="http://schemas.microsoft.com/office/drawing/2014/main" id="{803DFB53-DF80-1927-DE1F-353FBECDDDD3}"/>
              </a:ext>
            </a:extLst>
          </p:cNvPr>
          <p:cNvSpPr/>
          <p:nvPr/>
        </p:nvSpPr>
        <p:spPr>
          <a:xfrm>
            <a:off x="3921221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>
            <a:extLst>
              <a:ext uri="{FF2B5EF4-FFF2-40B4-BE49-F238E27FC236}">
                <a16:creationId xmlns:a16="http://schemas.microsoft.com/office/drawing/2014/main" id="{80564BB6-1A98-39B4-0595-16144744E3EC}"/>
              </a:ext>
            </a:extLst>
          </p:cNvPr>
          <p:cNvSpPr txBox="1"/>
          <p:nvPr/>
        </p:nvSpPr>
        <p:spPr>
          <a:xfrm>
            <a:off x="388976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81" name="Text 76">
            <a:extLst>
              <a:ext uri="{FF2B5EF4-FFF2-40B4-BE49-F238E27FC236}">
                <a16:creationId xmlns:a16="http://schemas.microsoft.com/office/drawing/2014/main" id="{9E65DD3C-58EF-1F24-F865-A8319F9FA76E}"/>
              </a:ext>
            </a:extLst>
          </p:cNvPr>
          <p:cNvSpPr txBox="1"/>
          <p:nvPr/>
        </p:nvSpPr>
        <p:spPr>
          <a:xfrm>
            <a:off x="39372235" y="1809598"/>
            <a:ext cx="50630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cumulative_variance = np.cumsum(pca.explained_variance_ratio_)</a:t>
            </a:r>
            <a:endParaRPr lang="en-US" sz="1000" dirty="0"/>
          </a:p>
        </p:txBody>
      </p:sp>
      <p:sp>
        <p:nvSpPr>
          <p:cNvPr id="82" name="Shape 77">
            <a:extLst>
              <a:ext uri="{FF2B5EF4-FFF2-40B4-BE49-F238E27FC236}">
                <a16:creationId xmlns:a16="http://schemas.microsoft.com/office/drawing/2014/main" id="{F4E23B49-ACBC-5E56-93B4-B8B5255463F5}"/>
              </a:ext>
            </a:extLst>
          </p:cNvPr>
          <p:cNvSpPr/>
          <p:nvPr/>
        </p:nvSpPr>
        <p:spPr>
          <a:xfrm>
            <a:off x="4464832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8">
            <a:extLst>
              <a:ext uri="{FF2B5EF4-FFF2-40B4-BE49-F238E27FC236}">
                <a16:creationId xmlns:a16="http://schemas.microsoft.com/office/drawing/2014/main" id="{4967AA2D-9E9C-9A10-9140-BAB665B40517}"/>
              </a:ext>
            </a:extLst>
          </p:cNvPr>
          <p:cNvSpPr txBox="1"/>
          <p:nvPr/>
        </p:nvSpPr>
        <p:spPr>
          <a:xfrm>
            <a:off x="443337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84" name="Text 79">
            <a:extLst>
              <a:ext uri="{FF2B5EF4-FFF2-40B4-BE49-F238E27FC236}">
                <a16:creationId xmlns:a16="http://schemas.microsoft.com/office/drawing/2014/main" id="{4DD037C3-32D9-942A-DCA3-2368DAD464B8}"/>
              </a:ext>
            </a:extLst>
          </p:cNvPr>
          <p:cNvSpPr txBox="1"/>
          <p:nvPr/>
        </p:nvSpPr>
        <p:spPr>
          <a:xfrm>
            <a:off x="4480834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np.where returns indices where condition is true</a:t>
            </a:r>
            <a:endParaRPr lang="en-US" sz="1000" dirty="0"/>
          </a:p>
        </p:txBody>
      </p:sp>
      <p:sp>
        <p:nvSpPr>
          <p:cNvPr id="85" name="Shape 80">
            <a:extLst>
              <a:ext uri="{FF2B5EF4-FFF2-40B4-BE49-F238E27FC236}">
                <a16:creationId xmlns:a16="http://schemas.microsoft.com/office/drawing/2014/main" id="{8D5FD925-1676-E1A0-ABA4-28AD3C98D7E2}"/>
              </a:ext>
            </a:extLst>
          </p:cNvPr>
          <p:cNvSpPr/>
          <p:nvPr/>
        </p:nvSpPr>
        <p:spPr>
          <a:xfrm>
            <a:off x="4912431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1">
            <a:extLst>
              <a:ext uri="{FF2B5EF4-FFF2-40B4-BE49-F238E27FC236}">
                <a16:creationId xmlns:a16="http://schemas.microsoft.com/office/drawing/2014/main" id="{E2A30981-935C-F019-73AD-98BCDDB39427}"/>
              </a:ext>
            </a:extLst>
          </p:cNvPr>
          <p:cNvSpPr txBox="1"/>
          <p:nvPr/>
        </p:nvSpPr>
        <p:spPr>
          <a:xfrm>
            <a:off x="4880975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87" name="Text 82">
            <a:extLst>
              <a:ext uri="{FF2B5EF4-FFF2-40B4-BE49-F238E27FC236}">
                <a16:creationId xmlns:a16="http://schemas.microsoft.com/office/drawing/2014/main" id="{75C07179-14C8-A632-601E-B188AB67EE13}"/>
              </a:ext>
            </a:extLst>
          </p:cNvPr>
          <p:cNvSpPr txBox="1"/>
          <p:nvPr/>
        </p:nvSpPr>
        <p:spPr>
          <a:xfrm>
            <a:off x="49284331" y="1809598"/>
            <a:ext cx="63486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n_components = np.where(cumulative_variance &gt;= cumulative_variance_threshold)[</a:t>
            </a:r>
            <a:endParaRPr lang="en-US" sz="1000" dirty="0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A55B91BE-3E84-5805-0721-E9EAC0A6560D}"/>
              </a:ext>
            </a:extLst>
          </p:cNvPr>
          <p:cNvSpPr txBox="1"/>
          <p:nvPr/>
        </p:nvSpPr>
        <p:spPr>
          <a:xfrm>
            <a:off x="5552602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89" name="Text 84">
            <a:extLst>
              <a:ext uri="{FF2B5EF4-FFF2-40B4-BE49-F238E27FC236}">
                <a16:creationId xmlns:a16="http://schemas.microsoft.com/office/drawing/2014/main" id="{DA0D8CF2-8D7F-E42F-FE60-02C8373E0D2F}"/>
              </a:ext>
            </a:extLst>
          </p:cNvPr>
          <p:cNvSpPr txBox="1"/>
          <p:nvPr/>
        </p:nvSpPr>
        <p:spPr>
          <a:xfrm>
            <a:off x="556055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][</a:t>
            </a:r>
            <a:endParaRPr lang="en-US" sz="1000" dirty="0"/>
          </a:p>
        </p:txBody>
      </p:sp>
      <p:sp>
        <p:nvSpPr>
          <p:cNvPr id="90" name="Text 85">
            <a:extLst>
              <a:ext uri="{FF2B5EF4-FFF2-40B4-BE49-F238E27FC236}">
                <a16:creationId xmlns:a16="http://schemas.microsoft.com/office/drawing/2014/main" id="{DE6D24A7-98A7-BD1C-6A26-B3984DC5DD43}"/>
              </a:ext>
            </a:extLst>
          </p:cNvPr>
          <p:cNvSpPr txBox="1"/>
          <p:nvPr/>
        </p:nvSpPr>
        <p:spPr>
          <a:xfrm>
            <a:off x="5576559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91" name="Text 86">
            <a:extLst>
              <a:ext uri="{FF2B5EF4-FFF2-40B4-BE49-F238E27FC236}">
                <a16:creationId xmlns:a16="http://schemas.microsoft.com/office/drawing/2014/main" id="{B7A1A846-7BC7-2641-54E4-59329731B264}"/>
              </a:ext>
            </a:extLst>
          </p:cNvPr>
          <p:cNvSpPr txBox="1"/>
          <p:nvPr/>
        </p:nvSpPr>
        <p:spPr>
          <a:xfrm>
            <a:off x="5584606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+</a:t>
            </a:r>
            <a:endParaRPr lang="en-US" sz="1000" dirty="0"/>
          </a:p>
        </p:txBody>
      </p:sp>
      <p:sp>
        <p:nvSpPr>
          <p:cNvPr id="92" name="Text 87">
            <a:extLst>
              <a:ext uri="{FF2B5EF4-FFF2-40B4-BE49-F238E27FC236}">
                <a16:creationId xmlns:a16="http://schemas.microsoft.com/office/drawing/2014/main" id="{9402165C-3543-A235-1A01-EC2039B4A576}"/>
              </a:ext>
            </a:extLst>
          </p:cNvPr>
          <p:cNvSpPr txBox="1"/>
          <p:nvPr/>
        </p:nvSpPr>
        <p:spPr>
          <a:xfrm>
            <a:off x="56086553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Shape 88">
            <a:extLst>
              <a:ext uri="{FF2B5EF4-FFF2-40B4-BE49-F238E27FC236}">
                <a16:creationId xmlns:a16="http://schemas.microsoft.com/office/drawing/2014/main" id="{73D71DC9-1AC4-A67E-DD52-6E05FE32D951}"/>
              </a:ext>
            </a:extLst>
          </p:cNvPr>
          <p:cNvSpPr/>
          <p:nvPr/>
        </p:nvSpPr>
        <p:spPr>
          <a:xfrm>
            <a:off x="5648065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9">
            <a:extLst>
              <a:ext uri="{FF2B5EF4-FFF2-40B4-BE49-F238E27FC236}">
                <a16:creationId xmlns:a16="http://schemas.microsoft.com/office/drawing/2014/main" id="{80859029-884C-D290-C015-96BDDB660D5D}"/>
              </a:ext>
            </a:extLst>
          </p:cNvPr>
          <p:cNvSpPr txBox="1"/>
          <p:nvPr/>
        </p:nvSpPr>
        <p:spPr>
          <a:xfrm>
            <a:off x="5616610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95" name="Shape 90">
            <a:extLst>
              <a:ext uri="{FF2B5EF4-FFF2-40B4-BE49-F238E27FC236}">
                <a16:creationId xmlns:a16="http://schemas.microsoft.com/office/drawing/2014/main" id="{43DE1FB2-3872-91E8-09D8-0234F6B93025}"/>
              </a:ext>
            </a:extLst>
          </p:cNvPr>
          <p:cNvSpPr/>
          <p:nvPr/>
        </p:nvSpPr>
        <p:spPr>
          <a:xfrm>
            <a:off x="5695523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1">
            <a:extLst>
              <a:ext uri="{FF2B5EF4-FFF2-40B4-BE49-F238E27FC236}">
                <a16:creationId xmlns:a16="http://schemas.microsoft.com/office/drawing/2014/main" id="{D4C1E2BE-E144-3AB3-2AA6-18D48361717C}"/>
              </a:ext>
            </a:extLst>
          </p:cNvPr>
          <p:cNvSpPr txBox="1"/>
          <p:nvPr/>
        </p:nvSpPr>
        <p:spPr>
          <a:xfrm>
            <a:off x="5664067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97" name="Text 92">
            <a:extLst>
              <a:ext uri="{FF2B5EF4-FFF2-40B4-BE49-F238E27FC236}">
                <a16:creationId xmlns:a16="http://schemas.microsoft.com/office/drawing/2014/main" id="{15190D4B-2755-F89E-245F-0A77BFB7730E}"/>
              </a:ext>
            </a:extLst>
          </p:cNvPr>
          <p:cNvSpPr txBox="1"/>
          <p:nvPr/>
        </p:nvSpPr>
        <p:spPr>
          <a:xfrm>
            <a:off x="57115253" y="1809598"/>
            <a:ext cx="3710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Check if reduction is significant (&gt;10%)</a:t>
            </a:r>
            <a:endParaRPr lang="en-US" sz="1000" dirty="0"/>
          </a:p>
        </p:txBody>
      </p:sp>
      <p:sp>
        <p:nvSpPr>
          <p:cNvPr id="98" name="Shape 93">
            <a:extLst>
              <a:ext uri="{FF2B5EF4-FFF2-40B4-BE49-F238E27FC236}">
                <a16:creationId xmlns:a16="http://schemas.microsoft.com/office/drawing/2014/main" id="{C66A8691-6DAC-4529-63D4-C597728A793B}"/>
              </a:ext>
            </a:extLst>
          </p:cNvPr>
          <p:cNvSpPr/>
          <p:nvPr/>
        </p:nvSpPr>
        <p:spPr>
          <a:xfrm>
            <a:off x="610307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4">
            <a:extLst>
              <a:ext uri="{FF2B5EF4-FFF2-40B4-BE49-F238E27FC236}">
                <a16:creationId xmlns:a16="http://schemas.microsoft.com/office/drawing/2014/main" id="{07F24E85-C6F9-651C-042F-65AB3D24AF7D}"/>
              </a:ext>
            </a:extLst>
          </p:cNvPr>
          <p:cNvSpPr txBox="1"/>
          <p:nvPr/>
        </p:nvSpPr>
        <p:spPr>
          <a:xfrm>
            <a:off x="6071616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100" name="Text 95">
            <a:extLst>
              <a:ext uri="{FF2B5EF4-FFF2-40B4-BE49-F238E27FC236}">
                <a16:creationId xmlns:a16="http://schemas.microsoft.com/office/drawing/2014/main" id="{69CF5982-449E-FDD9-F32E-5C8EB1001908}"/>
              </a:ext>
            </a:extLst>
          </p:cNvPr>
          <p:cNvSpPr txBox="1"/>
          <p:nvPr/>
        </p:nvSpPr>
        <p:spPr>
          <a:xfrm>
            <a:off x="61190734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original_dims = df.shape[</a:t>
            </a:r>
            <a:endParaRPr lang="en-US" sz="1000" dirty="0"/>
          </a:p>
        </p:txBody>
      </p:sp>
      <p:sp>
        <p:nvSpPr>
          <p:cNvPr id="101" name="Text 96">
            <a:extLst>
              <a:ext uri="{FF2B5EF4-FFF2-40B4-BE49-F238E27FC236}">
                <a16:creationId xmlns:a16="http://schemas.microsoft.com/office/drawing/2014/main" id="{C0DD4B6B-D969-1B52-9176-4EA2EAD60B54}"/>
              </a:ext>
            </a:extLst>
          </p:cNvPr>
          <p:cNvSpPr txBox="1"/>
          <p:nvPr/>
        </p:nvSpPr>
        <p:spPr>
          <a:xfrm>
            <a:off x="63191441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97">
            <a:extLst>
              <a:ext uri="{FF2B5EF4-FFF2-40B4-BE49-F238E27FC236}">
                <a16:creationId xmlns:a16="http://schemas.microsoft.com/office/drawing/2014/main" id="{2A0330E7-D961-8221-2110-C682E554033D}"/>
              </a:ext>
            </a:extLst>
          </p:cNvPr>
          <p:cNvSpPr txBox="1"/>
          <p:nvPr/>
        </p:nvSpPr>
        <p:spPr>
          <a:xfrm>
            <a:off x="6327190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03" name="Shape 98">
            <a:extLst>
              <a:ext uri="{FF2B5EF4-FFF2-40B4-BE49-F238E27FC236}">
                <a16:creationId xmlns:a16="http://schemas.microsoft.com/office/drawing/2014/main" id="{BA23B52C-C671-5D4E-E1E7-CA3FA667C8A8}"/>
              </a:ext>
            </a:extLst>
          </p:cNvPr>
          <p:cNvSpPr/>
          <p:nvPr/>
        </p:nvSpPr>
        <p:spPr>
          <a:xfrm>
            <a:off x="636660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99">
            <a:extLst>
              <a:ext uri="{FF2B5EF4-FFF2-40B4-BE49-F238E27FC236}">
                <a16:creationId xmlns:a16="http://schemas.microsoft.com/office/drawing/2014/main" id="{665691F0-1F55-B2B1-12A2-941E7B374AD0}"/>
              </a:ext>
            </a:extLst>
          </p:cNvPr>
          <p:cNvSpPr txBox="1"/>
          <p:nvPr/>
        </p:nvSpPr>
        <p:spPr>
          <a:xfrm>
            <a:off x="6335146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105" name="Text 100">
            <a:extLst>
              <a:ext uri="{FF2B5EF4-FFF2-40B4-BE49-F238E27FC236}">
                <a16:creationId xmlns:a16="http://schemas.microsoft.com/office/drawing/2014/main" id="{58648336-8AA5-BC1C-D6A1-B22039EC1A17}"/>
              </a:ext>
            </a:extLst>
          </p:cNvPr>
          <p:cNvSpPr txBox="1"/>
          <p:nvPr/>
        </p:nvSpPr>
        <p:spPr>
          <a:xfrm>
            <a:off x="63826034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dim_reduction_ratio =</a:t>
            </a:r>
            <a:endParaRPr lang="en-US" sz="1000" dirty="0"/>
          </a:p>
        </p:txBody>
      </p:sp>
      <p:sp>
        <p:nvSpPr>
          <p:cNvPr id="106" name="Text 101">
            <a:extLst>
              <a:ext uri="{FF2B5EF4-FFF2-40B4-BE49-F238E27FC236}">
                <a16:creationId xmlns:a16="http://schemas.microsoft.com/office/drawing/2014/main" id="{61FE3344-D6FB-2AA1-B065-7C7E5E73B446}"/>
              </a:ext>
            </a:extLst>
          </p:cNvPr>
          <p:cNvSpPr txBox="1"/>
          <p:nvPr/>
        </p:nvSpPr>
        <p:spPr>
          <a:xfrm>
            <a:off x="65506702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7" name="Text 102">
            <a:extLst>
              <a:ext uri="{FF2B5EF4-FFF2-40B4-BE49-F238E27FC236}">
                <a16:creationId xmlns:a16="http://schemas.microsoft.com/office/drawing/2014/main" id="{09DF33F5-7002-EF07-BCC0-A06E8D791E57}"/>
              </a:ext>
            </a:extLst>
          </p:cNvPr>
          <p:cNvSpPr txBox="1"/>
          <p:nvPr/>
        </p:nvSpPr>
        <p:spPr>
          <a:xfrm>
            <a:off x="65587169" y="1809598"/>
            <a:ext cx="2662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(n_components / original_dims)</a:t>
            </a:r>
            <a:endParaRPr lang="en-US" sz="1000" dirty="0"/>
          </a:p>
        </p:txBody>
      </p:sp>
      <p:sp>
        <p:nvSpPr>
          <p:cNvPr id="108" name="Shape 103">
            <a:extLst>
              <a:ext uri="{FF2B5EF4-FFF2-40B4-BE49-F238E27FC236}">
                <a16:creationId xmlns:a16="http://schemas.microsoft.com/office/drawing/2014/main" id="{675DC8EF-695E-3886-D134-2839B47C73AC}"/>
              </a:ext>
            </a:extLst>
          </p:cNvPr>
          <p:cNvSpPr/>
          <p:nvPr/>
        </p:nvSpPr>
        <p:spPr>
          <a:xfrm>
            <a:off x="68462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4">
            <a:extLst>
              <a:ext uri="{FF2B5EF4-FFF2-40B4-BE49-F238E27FC236}">
                <a16:creationId xmlns:a16="http://schemas.microsoft.com/office/drawing/2014/main" id="{631C1998-F256-5E0D-E84A-7255D4002550}"/>
              </a:ext>
            </a:extLst>
          </p:cNvPr>
          <p:cNvSpPr txBox="1"/>
          <p:nvPr/>
        </p:nvSpPr>
        <p:spPr>
          <a:xfrm>
            <a:off x="681474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10" name="Shape 105">
            <a:extLst>
              <a:ext uri="{FF2B5EF4-FFF2-40B4-BE49-F238E27FC236}">
                <a16:creationId xmlns:a16="http://schemas.microsoft.com/office/drawing/2014/main" id="{0A16580F-340B-798E-9E5E-AB2C3EBC268F}"/>
              </a:ext>
            </a:extLst>
          </p:cNvPr>
          <p:cNvSpPr/>
          <p:nvPr/>
        </p:nvSpPr>
        <p:spPr>
          <a:xfrm>
            <a:off x="6893661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6">
            <a:extLst>
              <a:ext uri="{FF2B5EF4-FFF2-40B4-BE49-F238E27FC236}">
                <a16:creationId xmlns:a16="http://schemas.microsoft.com/office/drawing/2014/main" id="{A93498E1-E42F-7CDC-4DD1-A4EB50B94E1D}"/>
              </a:ext>
            </a:extLst>
          </p:cNvPr>
          <p:cNvSpPr txBox="1"/>
          <p:nvPr/>
        </p:nvSpPr>
        <p:spPr>
          <a:xfrm>
            <a:off x="686220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12" name="Text 107">
            <a:extLst>
              <a:ext uri="{FF2B5EF4-FFF2-40B4-BE49-F238E27FC236}">
                <a16:creationId xmlns:a16="http://schemas.microsoft.com/office/drawing/2014/main" id="{6954B58E-5DA2-8D75-9FF0-55E4E48D96F9}"/>
              </a:ext>
            </a:extLst>
          </p:cNvPr>
          <p:cNvSpPr txBox="1"/>
          <p:nvPr/>
        </p:nvSpPr>
        <p:spPr>
          <a:xfrm>
            <a:off x="69096636" y="1809598"/>
            <a:ext cx="49103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 = dim_reduction_ratio &gt;= min_dim_reduction_ratio</a:t>
            </a:r>
            <a:endParaRPr lang="en-US" sz="1000" dirty="0"/>
          </a:p>
        </p:txBody>
      </p:sp>
      <p:sp>
        <p:nvSpPr>
          <p:cNvPr id="113" name="Shape 108">
            <a:extLst>
              <a:ext uri="{FF2B5EF4-FFF2-40B4-BE49-F238E27FC236}">
                <a16:creationId xmlns:a16="http://schemas.microsoft.com/office/drawing/2014/main" id="{4978019F-1AEB-6530-28EC-3B13ACDAEFA6}"/>
              </a:ext>
            </a:extLst>
          </p:cNvPr>
          <p:cNvSpPr/>
          <p:nvPr/>
        </p:nvSpPr>
        <p:spPr>
          <a:xfrm>
            <a:off x="7421270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9">
            <a:extLst>
              <a:ext uri="{FF2B5EF4-FFF2-40B4-BE49-F238E27FC236}">
                <a16:creationId xmlns:a16="http://schemas.microsoft.com/office/drawing/2014/main" id="{5EC6ACE0-132F-9629-472E-841790849742}"/>
              </a:ext>
            </a:extLst>
          </p:cNvPr>
          <p:cNvSpPr txBox="1"/>
          <p:nvPr/>
        </p:nvSpPr>
        <p:spPr>
          <a:xfrm>
            <a:off x="7389815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15" name="Shape 110">
            <a:extLst>
              <a:ext uri="{FF2B5EF4-FFF2-40B4-BE49-F238E27FC236}">
                <a16:creationId xmlns:a16="http://schemas.microsoft.com/office/drawing/2014/main" id="{CB12CCAE-46EA-E70D-8357-A414EB5CE2B6}"/>
              </a:ext>
            </a:extLst>
          </p:cNvPr>
          <p:cNvSpPr/>
          <p:nvPr/>
        </p:nvSpPr>
        <p:spPr>
          <a:xfrm>
            <a:off x="7468727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1">
            <a:extLst>
              <a:ext uri="{FF2B5EF4-FFF2-40B4-BE49-F238E27FC236}">
                <a16:creationId xmlns:a16="http://schemas.microsoft.com/office/drawing/2014/main" id="{85F14447-238C-9498-8103-41CB639B2278}"/>
              </a:ext>
            </a:extLst>
          </p:cNvPr>
          <p:cNvSpPr txBox="1"/>
          <p:nvPr/>
        </p:nvSpPr>
        <p:spPr>
          <a:xfrm>
            <a:off x="7437272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17" name="Text 112">
            <a:extLst>
              <a:ext uri="{FF2B5EF4-FFF2-40B4-BE49-F238E27FC236}">
                <a16:creationId xmlns:a16="http://schemas.microsoft.com/office/drawing/2014/main" id="{0DC0ADB2-7B69-E19E-F73E-236EDC212B61}"/>
              </a:ext>
            </a:extLst>
          </p:cNvPr>
          <p:cNvSpPr txBox="1"/>
          <p:nvPr/>
        </p:nvSpPr>
        <p:spPr>
          <a:xfrm>
            <a:off x="74847298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18" name="Text 113">
            <a:extLst>
              <a:ext uri="{FF2B5EF4-FFF2-40B4-BE49-F238E27FC236}">
                <a16:creationId xmlns:a16="http://schemas.microsoft.com/office/drawing/2014/main" id="{92360102-6ED7-2C4E-77C9-A1380BDBF871}"/>
              </a:ext>
            </a:extLst>
          </p:cNvPr>
          <p:cNvSpPr txBox="1"/>
          <p:nvPr/>
        </p:nvSpPr>
        <p:spPr>
          <a:xfrm>
            <a:off x="75327358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perform_pca, n_components</a:t>
            </a:r>
            <a:endParaRPr lang="en-US" sz="1000" dirty="0"/>
          </a:p>
        </p:txBody>
      </p:sp>
      <p:sp>
        <p:nvSpPr>
          <p:cNvPr id="119" name="Shape 114">
            <a:extLst>
              <a:ext uri="{FF2B5EF4-FFF2-40B4-BE49-F238E27FC236}">
                <a16:creationId xmlns:a16="http://schemas.microsoft.com/office/drawing/2014/main" id="{D1BD8562-472E-FE78-3E99-BBFB41E01C99}"/>
              </a:ext>
            </a:extLst>
          </p:cNvPr>
          <p:cNvSpPr/>
          <p:nvPr/>
        </p:nvSpPr>
        <p:spPr>
          <a:xfrm>
            <a:off x="7764261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5">
            <a:extLst>
              <a:ext uri="{FF2B5EF4-FFF2-40B4-BE49-F238E27FC236}">
                <a16:creationId xmlns:a16="http://schemas.microsoft.com/office/drawing/2014/main" id="{F1A3C8DE-9E53-FA3E-D285-394C0257AD2C}"/>
              </a:ext>
            </a:extLst>
          </p:cNvPr>
          <p:cNvSpPr txBox="1"/>
          <p:nvPr/>
        </p:nvSpPr>
        <p:spPr>
          <a:xfrm>
            <a:off x="7732806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21" name="Shape 116">
            <a:extLst>
              <a:ext uri="{FF2B5EF4-FFF2-40B4-BE49-F238E27FC236}">
                <a16:creationId xmlns:a16="http://schemas.microsoft.com/office/drawing/2014/main" id="{B56B60D5-6FBF-EA53-1AF0-B128127A44AC}"/>
              </a:ext>
            </a:extLst>
          </p:cNvPr>
          <p:cNvSpPr/>
          <p:nvPr/>
        </p:nvSpPr>
        <p:spPr>
          <a:xfrm>
            <a:off x="7811719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7">
            <a:extLst>
              <a:ext uri="{FF2B5EF4-FFF2-40B4-BE49-F238E27FC236}">
                <a16:creationId xmlns:a16="http://schemas.microsoft.com/office/drawing/2014/main" id="{F65C6DF3-A518-1332-6634-88CF41611956}"/>
              </a:ext>
            </a:extLst>
          </p:cNvPr>
          <p:cNvSpPr txBox="1"/>
          <p:nvPr/>
        </p:nvSpPr>
        <p:spPr>
          <a:xfrm>
            <a:off x="778026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23" name="Text 118">
            <a:extLst>
              <a:ext uri="{FF2B5EF4-FFF2-40B4-BE49-F238E27FC236}">
                <a16:creationId xmlns:a16="http://schemas.microsoft.com/office/drawing/2014/main" id="{75B80114-07A2-8568-CB6D-643F1D974EC4}"/>
              </a:ext>
            </a:extLst>
          </p:cNvPr>
          <p:cNvSpPr txBox="1"/>
          <p:nvPr/>
        </p:nvSpPr>
        <p:spPr>
          <a:xfrm>
            <a:off x="78276298" y="1809598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Usage Example:</a:t>
            </a:r>
            <a:endParaRPr lang="en-US" sz="1000" dirty="0"/>
          </a:p>
        </p:txBody>
      </p:sp>
      <p:sp>
        <p:nvSpPr>
          <p:cNvPr id="124" name="Shape 119">
            <a:extLst>
              <a:ext uri="{FF2B5EF4-FFF2-40B4-BE49-F238E27FC236}">
                <a16:creationId xmlns:a16="http://schemas.microsoft.com/office/drawing/2014/main" id="{97842C60-4779-CA14-3C01-BA56C49ED378}"/>
              </a:ext>
            </a:extLst>
          </p:cNvPr>
          <p:cNvSpPr/>
          <p:nvPr/>
        </p:nvSpPr>
        <p:spPr>
          <a:xfrm>
            <a:off x="798719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0">
            <a:extLst>
              <a:ext uri="{FF2B5EF4-FFF2-40B4-BE49-F238E27FC236}">
                <a16:creationId xmlns:a16="http://schemas.microsoft.com/office/drawing/2014/main" id="{E701916F-C404-E44F-43F2-04DA14AF7F95}"/>
              </a:ext>
            </a:extLst>
          </p:cNvPr>
          <p:cNvSpPr txBox="1"/>
          <p:nvPr/>
        </p:nvSpPr>
        <p:spPr>
          <a:xfrm>
            <a:off x="7955737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26" name="Text 121">
            <a:extLst>
              <a:ext uri="{FF2B5EF4-FFF2-40B4-BE49-F238E27FC236}">
                <a16:creationId xmlns:a16="http://schemas.microsoft.com/office/drawing/2014/main" id="{6A3AAAAC-08EA-3351-5862-96AE9AF86DD9}"/>
              </a:ext>
            </a:extLst>
          </p:cNvPr>
          <p:cNvSpPr txBox="1"/>
          <p:nvPr/>
        </p:nvSpPr>
        <p:spPr>
          <a:xfrm>
            <a:off x="80031946" y="1809598"/>
            <a:ext cx="5462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needed=9 -&gt; ratio=0.1 -&gt; PCA=True</a:t>
            </a:r>
            <a:endParaRPr lang="en-US" sz="1000" dirty="0"/>
          </a:p>
        </p:txBody>
      </p:sp>
      <p:sp>
        <p:nvSpPr>
          <p:cNvPr id="127" name="Shape 122">
            <a:extLst>
              <a:ext uri="{FF2B5EF4-FFF2-40B4-BE49-F238E27FC236}">
                <a16:creationId xmlns:a16="http://schemas.microsoft.com/office/drawing/2014/main" id="{ACD097BA-0EF3-474A-9640-E0CBC86F73A9}"/>
              </a:ext>
            </a:extLst>
          </p:cNvPr>
          <p:cNvSpPr/>
          <p:nvPr/>
        </p:nvSpPr>
        <p:spPr>
          <a:xfrm>
            <a:off x="857076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3">
            <a:extLst>
              <a:ext uri="{FF2B5EF4-FFF2-40B4-BE49-F238E27FC236}">
                <a16:creationId xmlns:a16="http://schemas.microsoft.com/office/drawing/2014/main" id="{D4AD0517-684E-07BE-12E4-D6EC5EB065C6}"/>
              </a:ext>
            </a:extLst>
          </p:cNvPr>
          <p:cNvSpPr txBox="1"/>
          <p:nvPr/>
        </p:nvSpPr>
        <p:spPr>
          <a:xfrm>
            <a:off x="8539307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29" name="Text 124">
            <a:extLst>
              <a:ext uri="{FF2B5EF4-FFF2-40B4-BE49-F238E27FC236}">
                <a16:creationId xmlns:a16="http://schemas.microsoft.com/office/drawing/2014/main" id="{3C69E013-CE98-4B88-1D2C-3291CC61FD73}"/>
              </a:ext>
            </a:extLst>
          </p:cNvPr>
          <p:cNvSpPr txBox="1"/>
          <p:nvPr/>
        </p:nvSpPr>
        <p:spPr>
          <a:xfrm>
            <a:off x="85867646" y="1809598"/>
            <a:ext cx="5625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needed=10 -&gt; ratio=0.0 -&gt; PCA=False</a:t>
            </a:r>
            <a:endParaRPr lang="en-US" sz="1000" dirty="0"/>
          </a:p>
        </p:txBody>
      </p:sp>
      <p:sp>
        <p:nvSpPr>
          <p:cNvPr id="130" name="Shape 125">
            <a:extLst>
              <a:ext uri="{FF2B5EF4-FFF2-40B4-BE49-F238E27FC236}">
                <a16:creationId xmlns:a16="http://schemas.microsoft.com/office/drawing/2014/main" id="{5CABDC2A-0B7D-7EFC-0118-844C54710FE4}"/>
              </a:ext>
            </a:extLst>
          </p:cNvPr>
          <p:cNvSpPr/>
          <p:nvPr/>
        </p:nvSpPr>
        <p:spPr>
          <a:xfrm>
            <a:off x="0" y="6608369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6">
            <a:extLst>
              <a:ext uri="{FF2B5EF4-FFF2-40B4-BE49-F238E27FC236}">
                <a16:creationId xmlns:a16="http://schemas.microsoft.com/office/drawing/2014/main" id="{385E4490-1654-4750-1E42-D15636714096}"/>
              </a:ext>
            </a:extLst>
          </p:cNvPr>
          <p:cNvSpPr/>
          <p:nvPr/>
        </p:nvSpPr>
        <p:spPr>
          <a:xfrm>
            <a:off x="0" y="660836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29">
            <a:extLst>
              <a:ext uri="{FF2B5EF4-FFF2-40B4-BE49-F238E27FC236}">
                <a16:creationId xmlns:a16="http://schemas.microsoft.com/office/drawing/2014/main" id="{45DDA65A-1799-F569-1122-4285E64BAC99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Inspiration: MLE Star</a:t>
            </a:r>
            <a:endParaRPr lang="en-US" dirty="0"/>
          </a:p>
        </p:txBody>
      </p:sp>
      <p:pic>
        <p:nvPicPr>
          <p:cNvPr id="136" name="Image 3" descr="preencoded.png">
            <a:extLst>
              <a:ext uri="{FF2B5EF4-FFF2-40B4-BE49-F238E27FC236}">
                <a16:creationId xmlns:a16="http://schemas.microsoft.com/office/drawing/2014/main" id="{452C64DE-0587-0791-954D-3A6237032D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38" name="Text 132">
            <a:extLst>
              <a:ext uri="{FF2B5EF4-FFF2-40B4-BE49-F238E27FC236}">
                <a16:creationId xmlns:a16="http://schemas.microsoft.com/office/drawing/2014/main" id="{DB67C5A3-8C28-541C-2FC9-CFA0E9FC2F8E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40" name="Text 133">
            <a:extLst>
              <a:ext uri="{FF2B5EF4-FFF2-40B4-BE49-F238E27FC236}">
                <a16:creationId xmlns:a16="http://schemas.microsoft.com/office/drawing/2014/main" id="{F28B9609-62E2-C363-550F-A4B94C185969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276D28-8FBC-00AB-4BA2-D532D64891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9965" y="996747"/>
            <a:ext cx="7987766" cy="52695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6E4400-EEF1-74E1-B21A-242602203EC9}"/>
              </a:ext>
            </a:extLst>
          </p:cNvPr>
          <p:cNvSpPr txBox="1"/>
          <p:nvPr/>
        </p:nvSpPr>
        <p:spPr>
          <a:xfrm>
            <a:off x="2668555" y="6270171"/>
            <a:ext cx="687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https://arxiv.org/abs/2506.15692</a:t>
            </a:r>
          </a:p>
        </p:txBody>
      </p:sp>
    </p:spTree>
    <p:extLst>
      <p:ext uri="{BB962C8B-B14F-4D97-AF65-F5344CB8AC3E}">
        <p14:creationId xmlns:p14="http://schemas.microsoft.com/office/powerpoint/2010/main" val="2683396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83089" y="38405"/>
            <a:ext cx="3791102" cy="2210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4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400" dirty="0"/>
          </a:p>
        </p:txBody>
      </p:sp>
      <p:sp>
        <p:nvSpPr>
          <p:cNvPr id="6" name="Shape 4"/>
          <p:cNvSpPr/>
          <p:nvPr/>
        </p:nvSpPr>
        <p:spPr>
          <a:xfrm>
            <a:off x="0" y="2229307"/>
            <a:ext cx="914400" cy="18288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0" y="2572207"/>
            <a:ext cx="1218895" cy="2438705"/>
          </a:xfrm>
          <a:prstGeom prst="roundRect">
            <a:avLst>
              <a:gd name="adj" fmla="val 75019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523" y="286207"/>
            <a:ext cx="237744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90295" y="237744"/>
            <a:ext cx="33531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3: Multi-Agent System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58307" y="1505102"/>
            <a:ext cx="875995" cy="761695"/>
          </a:xfrm>
          <a:prstGeom prst="roundRect">
            <a:avLst>
              <a:gd name="adj" fmla="val 12004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10098" y="1657807"/>
            <a:ext cx="5715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32658" y="2514600"/>
            <a:ext cx="57634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Multi-Agent System</a:t>
            </a:r>
            <a:endParaRPr lang="en-US" sz="4500" dirty="0"/>
          </a:p>
        </p:txBody>
      </p:sp>
      <p:sp>
        <p:nvSpPr>
          <p:cNvPr id="17" name="Shape 13"/>
          <p:cNvSpPr/>
          <p:nvPr/>
        </p:nvSpPr>
        <p:spPr>
          <a:xfrm>
            <a:off x="5486400" y="3448202"/>
            <a:ext cx="12188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444191" y="3952951"/>
            <a:ext cx="74779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intelligent orchestration with 9 specialized agents and automated quality control loops.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2521915" y="5257800"/>
            <a:ext cx="2266798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59659" y="5400446"/>
            <a:ext cx="237744" cy="19019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088636" y="5257800"/>
            <a:ext cx="2247595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3112618" y="5400446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Experts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27294" y="5400446"/>
            <a:ext cx="190195" cy="19019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640726" y="5257800"/>
            <a:ext cx="2038198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5631790" y="5400446"/>
            <a:ext cx="1581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Refinement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879385" y="5400446"/>
            <a:ext cx="171907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164678" y="5400446"/>
            <a:ext cx="1390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Validation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457200" y="655807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1296498" y="6558077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26</a:t>
            </a:r>
            <a:endParaRPr lang="en-US" sz="9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ACF8-8752-D47B-AA9B-DB52BBBD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DAE782-4A0F-82C2-3860-3DFF4BF857BF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518B3F-ED93-C7EB-24A9-B4F1AEB06346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9E5C19E-6400-A5AC-9770-3890A0186E5F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B6A6514-E438-FB82-981C-733FAD95B2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863E322-FF42-37F2-C864-7609FF89340E}"/>
              </a:ext>
            </a:extLst>
          </p:cNvPr>
          <p:cNvSpPr txBox="1"/>
          <p:nvPr/>
        </p:nvSpPr>
        <p:spPr>
          <a:xfrm>
            <a:off x="990295" y="237744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Stage 3: PCA Decision Logic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C9E8372-76EA-CADF-D1D0-9B4256C9B16C}"/>
              </a:ext>
            </a:extLst>
          </p:cNvPr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4459834-5725-FA74-F1FC-10EEF39D317C}"/>
              </a:ext>
            </a:extLst>
          </p:cNvPr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EFD9E70-49A6-83AD-F5FF-E60F6B9BEF7D}"/>
              </a:ext>
            </a:extLst>
          </p:cNvPr>
          <p:cNvSpPr/>
          <p:nvPr/>
        </p:nvSpPr>
        <p:spPr>
          <a:xfrm>
            <a:off x="0" y="838505"/>
            <a:ext cx="12191695" cy="5772607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EF34366D-092C-86A0-CE3E-A1FFAB45D57F}"/>
              </a:ext>
            </a:extLst>
          </p:cNvPr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5A051643-A0D1-8AD4-8336-0A40855D2CB9}"/>
              </a:ext>
            </a:extLst>
          </p:cNvPr>
          <p:cNvSpPr txBox="1"/>
          <p:nvPr/>
        </p:nvSpPr>
        <p:spPr>
          <a:xfrm>
            <a:off x="4869180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872F7C97-ECFF-6349-57B7-3B43EEB68494}"/>
              </a:ext>
            </a:extLst>
          </p:cNvPr>
          <p:cNvSpPr txBox="1"/>
          <p:nvPr/>
        </p:nvSpPr>
        <p:spPr>
          <a:xfrm>
            <a:off x="903061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3B19B981-4445-CDF9-015A-F64B58128202}"/>
              </a:ext>
            </a:extLst>
          </p:cNvPr>
          <p:cNvSpPr/>
          <p:nvPr/>
        </p:nvSpPr>
        <p:spPr>
          <a:xfrm>
            <a:off x="94247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2238DC6D-B118-8C49-B855-A9E03F3D0AC8}"/>
              </a:ext>
            </a:extLst>
          </p:cNvPr>
          <p:cNvSpPr txBox="1"/>
          <p:nvPr/>
        </p:nvSpPr>
        <p:spPr>
          <a:xfrm>
            <a:off x="117454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000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4017B2CC-9D1E-6A86-53A1-7C5B6DCFD318}"/>
              </a:ext>
            </a:extLst>
          </p:cNvPr>
          <p:cNvSpPr/>
          <p:nvPr/>
        </p:nvSpPr>
        <p:spPr>
          <a:xfrm>
            <a:off x="12220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5">
            <a:extLst>
              <a:ext uri="{FF2B5EF4-FFF2-40B4-BE49-F238E27FC236}">
                <a16:creationId xmlns:a16="http://schemas.microsoft.com/office/drawing/2014/main" id="{8A38B52E-1E74-CB97-D594-CBBFD7E446B2}"/>
              </a:ext>
            </a:extLst>
          </p:cNvPr>
          <p:cNvSpPr/>
          <p:nvPr/>
        </p:nvSpPr>
        <p:spPr>
          <a:xfrm>
            <a:off x="1589593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B2979894-78FA-5048-BE7B-6702CF705B6D}"/>
              </a:ext>
            </a:extLst>
          </p:cNvPr>
          <p:cNvSpPr txBox="1"/>
          <p:nvPr/>
        </p:nvSpPr>
        <p:spPr>
          <a:xfrm>
            <a:off x="1558137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00C53867-B766-4DCA-0A51-B3EE57E30643}"/>
              </a:ext>
            </a:extLst>
          </p:cNvPr>
          <p:cNvSpPr txBox="1"/>
          <p:nvPr/>
        </p:nvSpPr>
        <p:spPr>
          <a:xfrm>
            <a:off x="1605595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scaler =</a:t>
            </a:r>
            <a:endParaRPr lang="en-US" sz="1000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5C67F377-39A6-38B0-6387-F2FFB7CCB8BF}"/>
              </a:ext>
            </a:extLst>
          </p:cNvPr>
          <p:cNvSpPr txBox="1"/>
          <p:nvPr/>
        </p:nvSpPr>
        <p:spPr>
          <a:xfrm>
            <a:off x="16696030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C2CA5BD2-1C5D-0B73-D232-690625194F6D}"/>
              </a:ext>
            </a:extLst>
          </p:cNvPr>
          <p:cNvSpPr txBox="1"/>
          <p:nvPr/>
        </p:nvSpPr>
        <p:spPr>
          <a:xfrm>
            <a:off x="178161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55" name="Shape 50">
            <a:extLst>
              <a:ext uri="{FF2B5EF4-FFF2-40B4-BE49-F238E27FC236}">
                <a16:creationId xmlns:a16="http://schemas.microsoft.com/office/drawing/2014/main" id="{95074641-0805-6350-73FB-55A8233A1FC2}"/>
              </a:ext>
            </a:extLst>
          </p:cNvPr>
          <p:cNvSpPr/>
          <p:nvPr/>
        </p:nvSpPr>
        <p:spPr>
          <a:xfrm>
            <a:off x="1829074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1342078D-C218-8D9C-B55B-E02441EFEC2F}"/>
              </a:ext>
            </a:extLst>
          </p:cNvPr>
          <p:cNvSpPr txBox="1"/>
          <p:nvPr/>
        </p:nvSpPr>
        <p:spPr>
          <a:xfrm>
            <a:off x="1797619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FEF385AD-62FB-C518-F9F7-075A10C213BB}"/>
              </a:ext>
            </a:extLst>
          </p:cNvPr>
          <p:cNvSpPr txBox="1"/>
          <p:nvPr/>
        </p:nvSpPr>
        <p:spPr>
          <a:xfrm>
            <a:off x="1845076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numeric_df = df.select_dtypes(include=[np.number])</a:t>
            </a:r>
            <a:endParaRPr lang="en-US" sz="1000" dirty="0"/>
          </a:p>
        </p:txBody>
      </p:sp>
      <p:sp>
        <p:nvSpPr>
          <p:cNvPr id="58" name="Shape 53">
            <a:extLst>
              <a:ext uri="{FF2B5EF4-FFF2-40B4-BE49-F238E27FC236}">
                <a16:creationId xmlns:a16="http://schemas.microsoft.com/office/drawing/2014/main" id="{2E46D075-6283-D4CE-D171-E24A95B6BD3A}"/>
              </a:ext>
            </a:extLst>
          </p:cNvPr>
          <p:cNvSpPr/>
          <p:nvPr/>
        </p:nvSpPr>
        <p:spPr>
          <a:xfrm>
            <a:off x="2276673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4EBBE792-E09E-3740-ADC4-527E31D6EDF1}"/>
              </a:ext>
            </a:extLst>
          </p:cNvPr>
          <p:cNvSpPr txBox="1"/>
          <p:nvPr/>
        </p:nvSpPr>
        <p:spPr>
          <a:xfrm>
            <a:off x="224521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9BA0247C-A3E7-B067-B7DF-DABCB6C3AF22}"/>
              </a:ext>
            </a:extLst>
          </p:cNvPr>
          <p:cNvSpPr txBox="1"/>
          <p:nvPr/>
        </p:nvSpPr>
        <p:spPr>
          <a:xfrm>
            <a:off x="22926751" y="1809598"/>
            <a:ext cx="37865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scaled_data = scaler.fit_transform(numeric_df)</a:t>
            </a:r>
            <a:endParaRPr lang="en-US" sz="1000" dirty="0"/>
          </a:p>
        </p:txBody>
      </p:sp>
      <p:sp>
        <p:nvSpPr>
          <p:cNvPr id="61" name="Shape 56">
            <a:extLst>
              <a:ext uri="{FF2B5EF4-FFF2-40B4-BE49-F238E27FC236}">
                <a16:creationId xmlns:a16="http://schemas.microsoft.com/office/drawing/2014/main" id="{C45C7775-7342-3606-7E21-B7EE071F7AA3}"/>
              </a:ext>
            </a:extLst>
          </p:cNvPr>
          <p:cNvSpPr/>
          <p:nvPr/>
        </p:nvSpPr>
        <p:spPr>
          <a:xfrm>
            <a:off x="2692267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C4FADFC0-42D8-FF00-3DC1-2DD059254BE8}"/>
              </a:ext>
            </a:extLst>
          </p:cNvPr>
          <p:cNvSpPr txBox="1"/>
          <p:nvPr/>
        </p:nvSpPr>
        <p:spPr>
          <a:xfrm>
            <a:off x="2660812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3" name="Shape 58">
            <a:extLst>
              <a:ext uri="{FF2B5EF4-FFF2-40B4-BE49-F238E27FC236}">
                <a16:creationId xmlns:a16="http://schemas.microsoft.com/office/drawing/2014/main" id="{D64DEE74-455D-64EE-BC47-3D3ACDD3FE58}"/>
              </a:ext>
            </a:extLst>
          </p:cNvPr>
          <p:cNvSpPr/>
          <p:nvPr/>
        </p:nvSpPr>
        <p:spPr>
          <a:xfrm>
            <a:off x="2739725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E0475DEE-A41B-9F6C-38C3-5B38D67E3F88}"/>
              </a:ext>
            </a:extLst>
          </p:cNvPr>
          <p:cNvSpPr txBox="1"/>
          <p:nvPr/>
        </p:nvSpPr>
        <p:spPr>
          <a:xfrm>
            <a:off x="2708269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65" name="Text 60">
            <a:extLst>
              <a:ext uri="{FF2B5EF4-FFF2-40B4-BE49-F238E27FC236}">
                <a16:creationId xmlns:a16="http://schemas.microsoft.com/office/drawing/2014/main" id="{A76263D3-F366-90DF-1BFD-16CA52960B49}"/>
              </a:ext>
            </a:extLst>
          </p:cNvPr>
          <p:cNvSpPr txBox="1"/>
          <p:nvPr/>
        </p:nvSpPr>
        <p:spPr>
          <a:xfrm>
            <a:off x="27556358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Fit PCA to determine explained variance</a:t>
            </a:r>
            <a:endParaRPr lang="en-US" sz="1000" dirty="0"/>
          </a:p>
        </p:txBody>
      </p:sp>
      <p:sp>
        <p:nvSpPr>
          <p:cNvPr id="66" name="Shape 61">
            <a:extLst>
              <a:ext uri="{FF2B5EF4-FFF2-40B4-BE49-F238E27FC236}">
                <a16:creationId xmlns:a16="http://schemas.microsoft.com/office/drawing/2014/main" id="{95367D11-9416-1635-FAA1-931B763D632D}"/>
              </a:ext>
            </a:extLst>
          </p:cNvPr>
          <p:cNvSpPr/>
          <p:nvPr/>
        </p:nvSpPr>
        <p:spPr>
          <a:xfrm>
            <a:off x="3139226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2">
            <a:extLst>
              <a:ext uri="{FF2B5EF4-FFF2-40B4-BE49-F238E27FC236}">
                <a16:creationId xmlns:a16="http://schemas.microsoft.com/office/drawing/2014/main" id="{38DDA437-D99B-C320-EC99-29B0F085EF83}"/>
              </a:ext>
            </a:extLst>
          </p:cNvPr>
          <p:cNvSpPr txBox="1"/>
          <p:nvPr/>
        </p:nvSpPr>
        <p:spPr>
          <a:xfrm>
            <a:off x="3107771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68" name="Text 63">
            <a:extLst>
              <a:ext uri="{FF2B5EF4-FFF2-40B4-BE49-F238E27FC236}">
                <a16:creationId xmlns:a16="http://schemas.microsoft.com/office/drawing/2014/main" id="{C1705DF1-FEEE-1BF6-1A0F-DC97836D12E4}"/>
              </a:ext>
            </a:extLst>
          </p:cNvPr>
          <p:cNvSpPr txBox="1"/>
          <p:nvPr/>
        </p:nvSpPr>
        <p:spPr>
          <a:xfrm>
            <a:off x="31552286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 =</a:t>
            </a:r>
            <a:endParaRPr lang="en-US" sz="1000" dirty="0"/>
          </a:p>
        </p:txBody>
      </p:sp>
      <p:sp>
        <p:nvSpPr>
          <p:cNvPr id="69" name="Text 64">
            <a:extLst>
              <a:ext uri="{FF2B5EF4-FFF2-40B4-BE49-F238E27FC236}">
                <a16:creationId xmlns:a16="http://schemas.microsoft.com/office/drawing/2014/main" id="{5F207C26-35FC-930C-C62B-9EB9D2E51E00}"/>
              </a:ext>
            </a:extLst>
          </p:cNvPr>
          <p:cNvSpPr txBox="1"/>
          <p:nvPr/>
        </p:nvSpPr>
        <p:spPr>
          <a:xfrm>
            <a:off x="31952794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</a:t>
            </a:r>
            <a:endParaRPr lang="en-US" sz="1000" dirty="0"/>
          </a:p>
        </p:txBody>
      </p:sp>
      <p:sp>
        <p:nvSpPr>
          <p:cNvPr id="70" name="Text 65">
            <a:extLst>
              <a:ext uri="{FF2B5EF4-FFF2-40B4-BE49-F238E27FC236}">
                <a16:creationId xmlns:a16="http://schemas.microsoft.com/office/drawing/2014/main" id="{9169BDCF-3D4C-7C0A-61C4-51BF0BC72280}"/>
              </a:ext>
            </a:extLst>
          </p:cNvPr>
          <p:cNvSpPr txBox="1"/>
          <p:nvPr/>
        </p:nvSpPr>
        <p:spPr>
          <a:xfrm>
            <a:off x="3219236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71" name="Shape 66">
            <a:extLst>
              <a:ext uri="{FF2B5EF4-FFF2-40B4-BE49-F238E27FC236}">
                <a16:creationId xmlns:a16="http://schemas.microsoft.com/office/drawing/2014/main" id="{9161F40D-EFB5-C251-DEEA-D0EAEF59AB4E}"/>
              </a:ext>
            </a:extLst>
          </p:cNvPr>
          <p:cNvSpPr/>
          <p:nvPr/>
        </p:nvSpPr>
        <p:spPr>
          <a:xfrm>
            <a:off x="326678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7">
            <a:extLst>
              <a:ext uri="{FF2B5EF4-FFF2-40B4-BE49-F238E27FC236}">
                <a16:creationId xmlns:a16="http://schemas.microsoft.com/office/drawing/2014/main" id="{3BDE17BB-B0EA-FE6E-5B40-B33C37A2E5AE}"/>
              </a:ext>
            </a:extLst>
          </p:cNvPr>
          <p:cNvSpPr txBox="1"/>
          <p:nvPr/>
        </p:nvSpPr>
        <p:spPr>
          <a:xfrm>
            <a:off x="3235330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68">
            <a:extLst>
              <a:ext uri="{FF2B5EF4-FFF2-40B4-BE49-F238E27FC236}">
                <a16:creationId xmlns:a16="http://schemas.microsoft.com/office/drawing/2014/main" id="{ECB77653-F076-3E56-CACE-DBF25041B09C}"/>
              </a:ext>
            </a:extLst>
          </p:cNvPr>
          <p:cNvSpPr txBox="1"/>
          <p:nvPr/>
        </p:nvSpPr>
        <p:spPr>
          <a:xfrm>
            <a:off x="32826960" y="1809598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pca.fit(scaled_data)</a:t>
            </a:r>
            <a:endParaRPr lang="en-US" sz="1000" dirty="0"/>
          </a:p>
        </p:txBody>
      </p:sp>
      <p:sp>
        <p:nvSpPr>
          <p:cNvPr id="74" name="Shape 69">
            <a:extLst>
              <a:ext uri="{FF2B5EF4-FFF2-40B4-BE49-F238E27FC236}">
                <a16:creationId xmlns:a16="http://schemas.microsoft.com/office/drawing/2014/main" id="{1C73FA96-19F3-D3A8-970A-1B4AD779AD76}"/>
              </a:ext>
            </a:extLst>
          </p:cNvPr>
          <p:cNvSpPr/>
          <p:nvPr/>
        </p:nvSpPr>
        <p:spPr>
          <a:xfrm>
            <a:off x="3474262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0">
            <a:extLst>
              <a:ext uri="{FF2B5EF4-FFF2-40B4-BE49-F238E27FC236}">
                <a16:creationId xmlns:a16="http://schemas.microsoft.com/office/drawing/2014/main" id="{FAB1BE07-E835-4876-226A-68B082D6FD4E}"/>
              </a:ext>
            </a:extLst>
          </p:cNvPr>
          <p:cNvSpPr txBox="1"/>
          <p:nvPr/>
        </p:nvSpPr>
        <p:spPr>
          <a:xfrm>
            <a:off x="344280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76" name="Shape 71">
            <a:extLst>
              <a:ext uri="{FF2B5EF4-FFF2-40B4-BE49-F238E27FC236}">
                <a16:creationId xmlns:a16="http://schemas.microsoft.com/office/drawing/2014/main" id="{14E081CA-CC14-CA66-14CE-B069C3F0887F}"/>
              </a:ext>
            </a:extLst>
          </p:cNvPr>
          <p:cNvSpPr/>
          <p:nvPr/>
        </p:nvSpPr>
        <p:spPr>
          <a:xfrm>
            <a:off x="3521720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>
            <a:extLst>
              <a:ext uri="{FF2B5EF4-FFF2-40B4-BE49-F238E27FC236}">
                <a16:creationId xmlns:a16="http://schemas.microsoft.com/office/drawing/2014/main" id="{2F052CA6-CF3D-70CC-7D3D-BE183C2149A0}"/>
              </a:ext>
            </a:extLst>
          </p:cNvPr>
          <p:cNvSpPr txBox="1"/>
          <p:nvPr/>
        </p:nvSpPr>
        <p:spPr>
          <a:xfrm>
            <a:off x="3490264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Text 73">
            <a:extLst>
              <a:ext uri="{FF2B5EF4-FFF2-40B4-BE49-F238E27FC236}">
                <a16:creationId xmlns:a16="http://schemas.microsoft.com/office/drawing/2014/main" id="{AE8BEAB5-A1B9-8F6E-4CE1-25774BEEDC43}"/>
              </a:ext>
            </a:extLst>
          </p:cNvPr>
          <p:cNvSpPr txBox="1"/>
          <p:nvPr/>
        </p:nvSpPr>
        <p:spPr>
          <a:xfrm>
            <a:off x="35376307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Find components needed for 95% variance</a:t>
            </a:r>
            <a:endParaRPr lang="en-US" sz="1000" dirty="0"/>
          </a:p>
        </p:txBody>
      </p:sp>
      <p:sp>
        <p:nvSpPr>
          <p:cNvPr id="79" name="Shape 74">
            <a:extLst>
              <a:ext uri="{FF2B5EF4-FFF2-40B4-BE49-F238E27FC236}">
                <a16:creationId xmlns:a16="http://schemas.microsoft.com/office/drawing/2014/main" id="{F5BCFE5E-1CB2-C887-C380-666233CFE7AF}"/>
              </a:ext>
            </a:extLst>
          </p:cNvPr>
          <p:cNvSpPr/>
          <p:nvPr/>
        </p:nvSpPr>
        <p:spPr>
          <a:xfrm>
            <a:off x="3921221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>
            <a:extLst>
              <a:ext uri="{FF2B5EF4-FFF2-40B4-BE49-F238E27FC236}">
                <a16:creationId xmlns:a16="http://schemas.microsoft.com/office/drawing/2014/main" id="{38F7C44F-FAA1-6FDF-3148-9F8C288898D8}"/>
              </a:ext>
            </a:extLst>
          </p:cNvPr>
          <p:cNvSpPr txBox="1"/>
          <p:nvPr/>
        </p:nvSpPr>
        <p:spPr>
          <a:xfrm>
            <a:off x="388976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81" name="Text 76">
            <a:extLst>
              <a:ext uri="{FF2B5EF4-FFF2-40B4-BE49-F238E27FC236}">
                <a16:creationId xmlns:a16="http://schemas.microsoft.com/office/drawing/2014/main" id="{96F476A7-81A4-3689-278E-3B9E9B2D3375}"/>
              </a:ext>
            </a:extLst>
          </p:cNvPr>
          <p:cNvSpPr txBox="1"/>
          <p:nvPr/>
        </p:nvSpPr>
        <p:spPr>
          <a:xfrm>
            <a:off x="39372235" y="1809598"/>
            <a:ext cx="50630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cumulative_variance = np.cumsum(pca.explained_variance_ratio_)</a:t>
            </a:r>
            <a:endParaRPr lang="en-US" sz="1000" dirty="0"/>
          </a:p>
        </p:txBody>
      </p:sp>
      <p:sp>
        <p:nvSpPr>
          <p:cNvPr id="82" name="Shape 77">
            <a:extLst>
              <a:ext uri="{FF2B5EF4-FFF2-40B4-BE49-F238E27FC236}">
                <a16:creationId xmlns:a16="http://schemas.microsoft.com/office/drawing/2014/main" id="{C57D414A-C39D-7F5F-48D8-3C81758A86C8}"/>
              </a:ext>
            </a:extLst>
          </p:cNvPr>
          <p:cNvSpPr/>
          <p:nvPr/>
        </p:nvSpPr>
        <p:spPr>
          <a:xfrm>
            <a:off x="4464832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8">
            <a:extLst>
              <a:ext uri="{FF2B5EF4-FFF2-40B4-BE49-F238E27FC236}">
                <a16:creationId xmlns:a16="http://schemas.microsoft.com/office/drawing/2014/main" id="{ACB4CD6E-B214-90D2-5223-0AA238185BD9}"/>
              </a:ext>
            </a:extLst>
          </p:cNvPr>
          <p:cNvSpPr txBox="1"/>
          <p:nvPr/>
        </p:nvSpPr>
        <p:spPr>
          <a:xfrm>
            <a:off x="443337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84" name="Text 79">
            <a:extLst>
              <a:ext uri="{FF2B5EF4-FFF2-40B4-BE49-F238E27FC236}">
                <a16:creationId xmlns:a16="http://schemas.microsoft.com/office/drawing/2014/main" id="{F88C6B9A-BB79-DCF2-8900-5932C3476495}"/>
              </a:ext>
            </a:extLst>
          </p:cNvPr>
          <p:cNvSpPr txBox="1"/>
          <p:nvPr/>
        </p:nvSpPr>
        <p:spPr>
          <a:xfrm>
            <a:off x="4480834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np.where returns indices where condition is true</a:t>
            </a:r>
            <a:endParaRPr lang="en-US" sz="1000" dirty="0"/>
          </a:p>
        </p:txBody>
      </p:sp>
      <p:sp>
        <p:nvSpPr>
          <p:cNvPr id="85" name="Shape 80">
            <a:extLst>
              <a:ext uri="{FF2B5EF4-FFF2-40B4-BE49-F238E27FC236}">
                <a16:creationId xmlns:a16="http://schemas.microsoft.com/office/drawing/2014/main" id="{9EDC9438-713B-60EF-2A26-6D5C81394182}"/>
              </a:ext>
            </a:extLst>
          </p:cNvPr>
          <p:cNvSpPr/>
          <p:nvPr/>
        </p:nvSpPr>
        <p:spPr>
          <a:xfrm>
            <a:off x="4912431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1">
            <a:extLst>
              <a:ext uri="{FF2B5EF4-FFF2-40B4-BE49-F238E27FC236}">
                <a16:creationId xmlns:a16="http://schemas.microsoft.com/office/drawing/2014/main" id="{ECE45948-4B3A-BA36-0089-D388F24202D2}"/>
              </a:ext>
            </a:extLst>
          </p:cNvPr>
          <p:cNvSpPr txBox="1"/>
          <p:nvPr/>
        </p:nvSpPr>
        <p:spPr>
          <a:xfrm>
            <a:off x="4880975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87" name="Text 82">
            <a:extLst>
              <a:ext uri="{FF2B5EF4-FFF2-40B4-BE49-F238E27FC236}">
                <a16:creationId xmlns:a16="http://schemas.microsoft.com/office/drawing/2014/main" id="{E6B4438A-7E9E-6950-B6B9-D4F72A52691A}"/>
              </a:ext>
            </a:extLst>
          </p:cNvPr>
          <p:cNvSpPr txBox="1"/>
          <p:nvPr/>
        </p:nvSpPr>
        <p:spPr>
          <a:xfrm>
            <a:off x="49284331" y="1809598"/>
            <a:ext cx="63486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n_components = np.where(cumulative_variance &gt;= cumulative_variance_threshold)[</a:t>
            </a:r>
            <a:endParaRPr lang="en-US" sz="1000" dirty="0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1B0E015A-811F-4BF0-733A-065F21B5668E}"/>
              </a:ext>
            </a:extLst>
          </p:cNvPr>
          <p:cNvSpPr txBox="1"/>
          <p:nvPr/>
        </p:nvSpPr>
        <p:spPr>
          <a:xfrm>
            <a:off x="5552602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89" name="Text 84">
            <a:extLst>
              <a:ext uri="{FF2B5EF4-FFF2-40B4-BE49-F238E27FC236}">
                <a16:creationId xmlns:a16="http://schemas.microsoft.com/office/drawing/2014/main" id="{4A1D8641-90F1-B672-5F4A-E75A9B8B7B99}"/>
              </a:ext>
            </a:extLst>
          </p:cNvPr>
          <p:cNvSpPr txBox="1"/>
          <p:nvPr/>
        </p:nvSpPr>
        <p:spPr>
          <a:xfrm>
            <a:off x="556055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][</a:t>
            </a:r>
            <a:endParaRPr lang="en-US" sz="1000" dirty="0"/>
          </a:p>
        </p:txBody>
      </p:sp>
      <p:sp>
        <p:nvSpPr>
          <p:cNvPr id="90" name="Text 85">
            <a:extLst>
              <a:ext uri="{FF2B5EF4-FFF2-40B4-BE49-F238E27FC236}">
                <a16:creationId xmlns:a16="http://schemas.microsoft.com/office/drawing/2014/main" id="{36544EB2-6E27-8685-538B-C76CACD518AF}"/>
              </a:ext>
            </a:extLst>
          </p:cNvPr>
          <p:cNvSpPr txBox="1"/>
          <p:nvPr/>
        </p:nvSpPr>
        <p:spPr>
          <a:xfrm>
            <a:off x="5576559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91" name="Text 86">
            <a:extLst>
              <a:ext uri="{FF2B5EF4-FFF2-40B4-BE49-F238E27FC236}">
                <a16:creationId xmlns:a16="http://schemas.microsoft.com/office/drawing/2014/main" id="{3E4D2E16-175F-FE92-B133-A03A63FEC457}"/>
              </a:ext>
            </a:extLst>
          </p:cNvPr>
          <p:cNvSpPr txBox="1"/>
          <p:nvPr/>
        </p:nvSpPr>
        <p:spPr>
          <a:xfrm>
            <a:off x="5584606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+</a:t>
            </a:r>
            <a:endParaRPr lang="en-US" sz="1000" dirty="0"/>
          </a:p>
        </p:txBody>
      </p:sp>
      <p:sp>
        <p:nvSpPr>
          <p:cNvPr id="92" name="Text 87">
            <a:extLst>
              <a:ext uri="{FF2B5EF4-FFF2-40B4-BE49-F238E27FC236}">
                <a16:creationId xmlns:a16="http://schemas.microsoft.com/office/drawing/2014/main" id="{B9FC7A5D-F170-942F-4146-E8129A707077}"/>
              </a:ext>
            </a:extLst>
          </p:cNvPr>
          <p:cNvSpPr txBox="1"/>
          <p:nvPr/>
        </p:nvSpPr>
        <p:spPr>
          <a:xfrm>
            <a:off x="56086553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Shape 88">
            <a:extLst>
              <a:ext uri="{FF2B5EF4-FFF2-40B4-BE49-F238E27FC236}">
                <a16:creationId xmlns:a16="http://schemas.microsoft.com/office/drawing/2014/main" id="{B9C6E8BA-E75C-B4E1-35B4-183A2A4C9AFA}"/>
              </a:ext>
            </a:extLst>
          </p:cNvPr>
          <p:cNvSpPr/>
          <p:nvPr/>
        </p:nvSpPr>
        <p:spPr>
          <a:xfrm>
            <a:off x="5648065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9">
            <a:extLst>
              <a:ext uri="{FF2B5EF4-FFF2-40B4-BE49-F238E27FC236}">
                <a16:creationId xmlns:a16="http://schemas.microsoft.com/office/drawing/2014/main" id="{37302788-0994-A769-3FEE-3F5D6834A003}"/>
              </a:ext>
            </a:extLst>
          </p:cNvPr>
          <p:cNvSpPr txBox="1"/>
          <p:nvPr/>
        </p:nvSpPr>
        <p:spPr>
          <a:xfrm>
            <a:off x="5616610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95" name="Shape 90">
            <a:extLst>
              <a:ext uri="{FF2B5EF4-FFF2-40B4-BE49-F238E27FC236}">
                <a16:creationId xmlns:a16="http://schemas.microsoft.com/office/drawing/2014/main" id="{5E7BF92B-A1D0-B5D0-FB09-ADA38BC4DF3F}"/>
              </a:ext>
            </a:extLst>
          </p:cNvPr>
          <p:cNvSpPr/>
          <p:nvPr/>
        </p:nvSpPr>
        <p:spPr>
          <a:xfrm>
            <a:off x="5695523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1">
            <a:extLst>
              <a:ext uri="{FF2B5EF4-FFF2-40B4-BE49-F238E27FC236}">
                <a16:creationId xmlns:a16="http://schemas.microsoft.com/office/drawing/2014/main" id="{9FE9ABF8-9EDC-3D98-52A4-BBD594A07551}"/>
              </a:ext>
            </a:extLst>
          </p:cNvPr>
          <p:cNvSpPr txBox="1"/>
          <p:nvPr/>
        </p:nvSpPr>
        <p:spPr>
          <a:xfrm>
            <a:off x="5664067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97" name="Text 92">
            <a:extLst>
              <a:ext uri="{FF2B5EF4-FFF2-40B4-BE49-F238E27FC236}">
                <a16:creationId xmlns:a16="http://schemas.microsoft.com/office/drawing/2014/main" id="{AF79D4AF-AD16-B621-4060-AD0A03AD14B3}"/>
              </a:ext>
            </a:extLst>
          </p:cNvPr>
          <p:cNvSpPr txBox="1"/>
          <p:nvPr/>
        </p:nvSpPr>
        <p:spPr>
          <a:xfrm>
            <a:off x="57115253" y="1809598"/>
            <a:ext cx="3710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Check if reduction is significant (&gt;10%)</a:t>
            </a:r>
            <a:endParaRPr lang="en-US" sz="1000" dirty="0"/>
          </a:p>
        </p:txBody>
      </p:sp>
      <p:sp>
        <p:nvSpPr>
          <p:cNvPr id="98" name="Shape 93">
            <a:extLst>
              <a:ext uri="{FF2B5EF4-FFF2-40B4-BE49-F238E27FC236}">
                <a16:creationId xmlns:a16="http://schemas.microsoft.com/office/drawing/2014/main" id="{ABF24BEC-8EA7-6D9F-69D0-F20E11DB901E}"/>
              </a:ext>
            </a:extLst>
          </p:cNvPr>
          <p:cNvSpPr/>
          <p:nvPr/>
        </p:nvSpPr>
        <p:spPr>
          <a:xfrm>
            <a:off x="610307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4">
            <a:extLst>
              <a:ext uri="{FF2B5EF4-FFF2-40B4-BE49-F238E27FC236}">
                <a16:creationId xmlns:a16="http://schemas.microsoft.com/office/drawing/2014/main" id="{393B9734-3135-AD81-FEC1-DCF071B8BC64}"/>
              </a:ext>
            </a:extLst>
          </p:cNvPr>
          <p:cNvSpPr txBox="1"/>
          <p:nvPr/>
        </p:nvSpPr>
        <p:spPr>
          <a:xfrm>
            <a:off x="6071616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100" name="Text 95">
            <a:extLst>
              <a:ext uri="{FF2B5EF4-FFF2-40B4-BE49-F238E27FC236}">
                <a16:creationId xmlns:a16="http://schemas.microsoft.com/office/drawing/2014/main" id="{B339DE22-3AAA-EF49-2B19-7FE4A1BD5BDB}"/>
              </a:ext>
            </a:extLst>
          </p:cNvPr>
          <p:cNvSpPr txBox="1"/>
          <p:nvPr/>
        </p:nvSpPr>
        <p:spPr>
          <a:xfrm>
            <a:off x="61190734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original_dims = df.shape[</a:t>
            </a:r>
            <a:endParaRPr lang="en-US" sz="1000" dirty="0"/>
          </a:p>
        </p:txBody>
      </p:sp>
      <p:sp>
        <p:nvSpPr>
          <p:cNvPr id="101" name="Text 96">
            <a:extLst>
              <a:ext uri="{FF2B5EF4-FFF2-40B4-BE49-F238E27FC236}">
                <a16:creationId xmlns:a16="http://schemas.microsoft.com/office/drawing/2014/main" id="{31A2AE72-5473-DB4E-8E86-1845588523BE}"/>
              </a:ext>
            </a:extLst>
          </p:cNvPr>
          <p:cNvSpPr txBox="1"/>
          <p:nvPr/>
        </p:nvSpPr>
        <p:spPr>
          <a:xfrm>
            <a:off x="63191441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97">
            <a:extLst>
              <a:ext uri="{FF2B5EF4-FFF2-40B4-BE49-F238E27FC236}">
                <a16:creationId xmlns:a16="http://schemas.microsoft.com/office/drawing/2014/main" id="{34D7BCF9-EEE3-203C-C099-62D29FBFE14F}"/>
              </a:ext>
            </a:extLst>
          </p:cNvPr>
          <p:cNvSpPr txBox="1"/>
          <p:nvPr/>
        </p:nvSpPr>
        <p:spPr>
          <a:xfrm>
            <a:off x="6327190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03" name="Shape 98">
            <a:extLst>
              <a:ext uri="{FF2B5EF4-FFF2-40B4-BE49-F238E27FC236}">
                <a16:creationId xmlns:a16="http://schemas.microsoft.com/office/drawing/2014/main" id="{9DC5D15C-3712-1A30-52BF-1937272B10C0}"/>
              </a:ext>
            </a:extLst>
          </p:cNvPr>
          <p:cNvSpPr/>
          <p:nvPr/>
        </p:nvSpPr>
        <p:spPr>
          <a:xfrm>
            <a:off x="636660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99">
            <a:extLst>
              <a:ext uri="{FF2B5EF4-FFF2-40B4-BE49-F238E27FC236}">
                <a16:creationId xmlns:a16="http://schemas.microsoft.com/office/drawing/2014/main" id="{F4350AFC-84AC-401E-0F16-ABA856DD641D}"/>
              </a:ext>
            </a:extLst>
          </p:cNvPr>
          <p:cNvSpPr txBox="1"/>
          <p:nvPr/>
        </p:nvSpPr>
        <p:spPr>
          <a:xfrm>
            <a:off x="6335146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105" name="Text 100">
            <a:extLst>
              <a:ext uri="{FF2B5EF4-FFF2-40B4-BE49-F238E27FC236}">
                <a16:creationId xmlns:a16="http://schemas.microsoft.com/office/drawing/2014/main" id="{F6EBC6FB-438D-DE67-4323-841202F662BB}"/>
              </a:ext>
            </a:extLst>
          </p:cNvPr>
          <p:cNvSpPr txBox="1"/>
          <p:nvPr/>
        </p:nvSpPr>
        <p:spPr>
          <a:xfrm>
            <a:off x="63826034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dim_reduction_ratio =</a:t>
            </a:r>
            <a:endParaRPr lang="en-US" sz="1000" dirty="0"/>
          </a:p>
        </p:txBody>
      </p:sp>
      <p:sp>
        <p:nvSpPr>
          <p:cNvPr id="106" name="Text 101">
            <a:extLst>
              <a:ext uri="{FF2B5EF4-FFF2-40B4-BE49-F238E27FC236}">
                <a16:creationId xmlns:a16="http://schemas.microsoft.com/office/drawing/2014/main" id="{1435D806-5F7A-6803-EB9B-37DF76EC325E}"/>
              </a:ext>
            </a:extLst>
          </p:cNvPr>
          <p:cNvSpPr txBox="1"/>
          <p:nvPr/>
        </p:nvSpPr>
        <p:spPr>
          <a:xfrm>
            <a:off x="65506702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7" name="Text 102">
            <a:extLst>
              <a:ext uri="{FF2B5EF4-FFF2-40B4-BE49-F238E27FC236}">
                <a16:creationId xmlns:a16="http://schemas.microsoft.com/office/drawing/2014/main" id="{BCC85461-55F6-5A86-4E25-920A291A91C1}"/>
              </a:ext>
            </a:extLst>
          </p:cNvPr>
          <p:cNvSpPr txBox="1"/>
          <p:nvPr/>
        </p:nvSpPr>
        <p:spPr>
          <a:xfrm>
            <a:off x="65587169" y="1809598"/>
            <a:ext cx="2662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(n_components / original_dims)</a:t>
            </a:r>
            <a:endParaRPr lang="en-US" sz="1000" dirty="0"/>
          </a:p>
        </p:txBody>
      </p:sp>
      <p:sp>
        <p:nvSpPr>
          <p:cNvPr id="108" name="Shape 103">
            <a:extLst>
              <a:ext uri="{FF2B5EF4-FFF2-40B4-BE49-F238E27FC236}">
                <a16:creationId xmlns:a16="http://schemas.microsoft.com/office/drawing/2014/main" id="{5D12D9FE-4E8B-3BA3-EBE9-86F91D284AED}"/>
              </a:ext>
            </a:extLst>
          </p:cNvPr>
          <p:cNvSpPr/>
          <p:nvPr/>
        </p:nvSpPr>
        <p:spPr>
          <a:xfrm>
            <a:off x="68462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4">
            <a:extLst>
              <a:ext uri="{FF2B5EF4-FFF2-40B4-BE49-F238E27FC236}">
                <a16:creationId xmlns:a16="http://schemas.microsoft.com/office/drawing/2014/main" id="{91AA889F-001B-13BE-01EB-81C1ADB3ABD4}"/>
              </a:ext>
            </a:extLst>
          </p:cNvPr>
          <p:cNvSpPr txBox="1"/>
          <p:nvPr/>
        </p:nvSpPr>
        <p:spPr>
          <a:xfrm>
            <a:off x="681474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10" name="Shape 105">
            <a:extLst>
              <a:ext uri="{FF2B5EF4-FFF2-40B4-BE49-F238E27FC236}">
                <a16:creationId xmlns:a16="http://schemas.microsoft.com/office/drawing/2014/main" id="{A8C20685-A46B-18A9-7AB9-56C701E14658}"/>
              </a:ext>
            </a:extLst>
          </p:cNvPr>
          <p:cNvSpPr/>
          <p:nvPr/>
        </p:nvSpPr>
        <p:spPr>
          <a:xfrm>
            <a:off x="6893661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6">
            <a:extLst>
              <a:ext uri="{FF2B5EF4-FFF2-40B4-BE49-F238E27FC236}">
                <a16:creationId xmlns:a16="http://schemas.microsoft.com/office/drawing/2014/main" id="{D701C05B-6CA6-C063-0830-968CCD844641}"/>
              </a:ext>
            </a:extLst>
          </p:cNvPr>
          <p:cNvSpPr txBox="1"/>
          <p:nvPr/>
        </p:nvSpPr>
        <p:spPr>
          <a:xfrm>
            <a:off x="686220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12" name="Text 107">
            <a:extLst>
              <a:ext uri="{FF2B5EF4-FFF2-40B4-BE49-F238E27FC236}">
                <a16:creationId xmlns:a16="http://schemas.microsoft.com/office/drawing/2014/main" id="{CEDA2768-FA83-47FE-0C7C-672EBF08F5C9}"/>
              </a:ext>
            </a:extLst>
          </p:cNvPr>
          <p:cNvSpPr txBox="1"/>
          <p:nvPr/>
        </p:nvSpPr>
        <p:spPr>
          <a:xfrm>
            <a:off x="69096636" y="1809598"/>
            <a:ext cx="49103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 = dim_reduction_ratio &gt;= min_dim_reduction_ratio</a:t>
            </a:r>
            <a:endParaRPr lang="en-US" sz="1000" dirty="0"/>
          </a:p>
        </p:txBody>
      </p:sp>
      <p:sp>
        <p:nvSpPr>
          <p:cNvPr id="113" name="Shape 108">
            <a:extLst>
              <a:ext uri="{FF2B5EF4-FFF2-40B4-BE49-F238E27FC236}">
                <a16:creationId xmlns:a16="http://schemas.microsoft.com/office/drawing/2014/main" id="{4B2AE2D5-AF92-6D48-1F37-767AE57F2EAB}"/>
              </a:ext>
            </a:extLst>
          </p:cNvPr>
          <p:cNvSpPr/>
          <p:nvPr/>
        </p:nvSpPr>
        <p:spPr>
          <a:xfrm>
            <a:off x="7421270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9">
            <a:extLst>
              <a:ext uri="{FF2B5EF4-FFF2-40B4-BE49-F238E27FC236}">
                <a16:creationId xmlns:a16="http://schemas.microsoft.com/office/drawing/2014/main" id="{D1FF5C09-E8D8-857E-B75D-4AA03C338015}"/>
              </a:ext>
            </a:extLst>
          </p:cNvPr>
          <p:cNvSpPr txBox="1"/>
          <p:nvPr/>
        </p:nvSpPr>
        <p:spPr>
          <a:xfrm>
            <a:off x="7389815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15" name="Shape 110">
            <a:extLst>
              <a:ext uri="{FF2B5EF4-FFF2-40B4-BE49-F238E27FC236}">
                <a16:creationId xmlns:a16="http://schemas.microsoft.com/office/drawing/2014/main" id="{814C074C-00EF-F105-60D2-7DE8F58C4BB0}"/>
              </a:ext>
            </a:extLst>
          </p:cNvPr>
          <p:cNvSpPr/>
          <p:nvPr/>
        </p:nvSpPr>
        <p:spPr>
          <a:xfrm>
            <a:off x="7468727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1">
            <a:extLst>
              <a:ext uri="{FF2B5EF4-FFF2-40B4-BE49-F238E27FC236}">
                <a16:creationId xmlns:a16="http://schemas.microsoft.com/office/drawing/2014/main" id="{75BBF353-072D-DAD9-38F3-505F15BC9B96}"/>
              </a:ext>
            </a:extLst>
          </p:cNvPr>
          <p:cNvSpPr txBox="1"/>
          <p:nvPr/>
        </p:nvSpPr>
        <p:spPr>
          <a:xfrm>
            <a:off x="7437272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17" name="Text 112">
            <a:extLst>
              <a:ext uri="{FF2B5EF4-FFF2-40B4-BE49-F238E27FC236}">
                <a16:creationId xmlns:a16="http://schemas.microsoft.com/office/drawing/2014/main" id="{EBA59503-7984-8488-4BD8-CBF0D2F39763}"/>
              </a:ext>
            </a:extLst>
          </p:cNvPr>
          <p:cNvSpPr txBox="1"/>
          <p:nvPr/>
        </p:nvSpPr>
        <p:spPr>
          <a:xfrm>
            <a:off x="74847298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18" name="Text 113">
            <a:extLst>
              <a:ext uri="{FF2B5EF4-FFF2-40B4-BE49-F238E27FC236}">
                <a16:creationId xmlns:a16="http://schemas.microsoft.com/office/drawing/2014/main" id="{7AA02575-5C04-3C1B-FBC0-8F4AA74125A7}"/>
              </a:ext>
            </a:extLst>
          </p:cNvPr>
          <p:cNvSpPr txBox="1"/>
          <p:nvPr/>
        </p:nvSpPr>
        <p:spPr>
          <a:xfrm>
            <a:off x="75327358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perform_pca, n_components</a:t>
            </a:r>
            <a:endParaRPr lang="en-US" sz="1000" dirty="0"/>
          </a:p>
        </p:txBody>
      </p:sp>
      <p:sp>
        <p:nvSpPr>
          <p:cNvPr id="119" name="Shape 114">
            <a:extLst>
              <a:ext uri="{FF2B5EF4-FFF2-40B4-BE49-F238E27FC236}">
                <a16:creationId xmlns:a16="http://schemas.microsoft.com/office/drawing/2014/main" id="{5C39810A-5613-20D4-2ABF-600C8E10A9BA}"/>
              </a:ext>
            </a:extLst>
          </p:cNvPr>
          <p:cNvSpPr/>
          <p:nvPr/>
        </p:nvSpPr>
        <p:spPr>
          <a:xfrm>
            <a:off x="7764261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5">
            <a:extLst>
              <a:ext uri="{FF2B5EF4-FFF2-40B4-BE49-F238E27FC236}">
                <a16:creationId xmlns:a16="http://schemas.microsoft.com/office/drawing/2014/main" id="{768D116A-C5C8-9844-352F-378F56B90943}"/>
              </a:ext>
            </a:extLst>
          </p:cNvPr>
          <p:cNvSpPr txBox="1"/>
          <p:nvPr/>
        </p:nvSpPr>
        <p:spPr>
          <a:xfrm>
            <a:off x="7732806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21" name="Shape 116">
            <a:extLst>
              <a:ext uri="{FF2B5EF4-FFF2-40B4-BE49-F238E27FC236}">
                <a16:creationId xmlns:a16="http://schemas.microsoft.com/office/drawing/2014/main" id="{90DB4C09-9377-6B66-F54A-0753DB648AAF}"/>
              </a:ext>
            </a:extLst>
          </p:cNvPr>
          <p:cNvSpPr/>
          <p:nvPr/>
        </p:nvSpPr>
        <p:spPr>
          <a:xfrm>
            <a:off x="7811719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7">
            <a:extLst>
              <a:ext uri="{FF2B5EF4-FFF2-40B4-BE49-F238E27FC236}">
                <a16:creationId xmlns:a16="http://schemas.microsoft.com/office/drawing/2014/main" id="{4600D2FF-2C49-FBAE-82DF-9C71E1AE8756}"/>
              </a:ext>
            </a:extLst>
          </p:cNvPr>
          <p:cNvSpPr txBox="1"/>
          <p:nvPr/>
        </p:nvSpPr>
        <p:spPr>
          <a:xfrm>
            <a:off x="778026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23" name="Text 118">
            <a:extLst>
              <a:ext uri="{FF2B5EF4-FFF2-40B4-BE49-F238E27FC236}">
                <a16:creationId xmlns:a16="http://schemas.microsoft.com/office/drawing/2014/main" id="{8E99C5E4-0C6A-9415-C016-24E4A5E88B1D}"/>
              </a:ext>
            </a:extLst>
          </p:cNvPr>
          <p:cNvSpPr txBox="1"/>
          <p:nvPr/>
        </p:nvSpPr>
        <p:spPr>
          <a:xfrm>
            <a:off x="78276298" y="1809598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Usage Example:</a:t>
            </a:r>
            <a:endParaRPr lang="en-US" sz="1000" dirty="0"/>
          </a:p>
        </p:txBody>
      </p:sp>
      <p:sp>
        <p:nvSpPr>
          <p:cNvPr id="124" name="Shape 119">
            <a:extLst>
              <a:ext uri="{FF2B5EF4-FFF2-40B4-BE49-F238E27FC236}">
                <a16:creationId xmlns:a16="http://schemas.microsoft.com/office/drawing/2014/main" id="{860CD1DA-1C2C-C5F3-57C3-B115C1B9E6A3}"/>
              </a:ext>
            </a:extLst>
          </p:cNvPr>
          <p:cNvSpPr/>
          <p:nvPr/>
        </p:nvSpPr>
        <p:spPr>
          <a:xfrm>
            <a:off x="798719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0">
            <a:extLst>
              <a:ext uri="{FF2B5EF4-FFF2-40B4-BE49-F238E27FC236}">
                <a16:creationId xmlns:a16="http://schemas.microsoft.com/office/drawing/2014/main" id="{7E150032-E6D7-4342-46EF-539ED3161B04}"/>
              </a:ext>
            </a:extLst>
          </p:cNvPr>
          <p:cNvSpPr txBox="1"/>
          <p:nvPr/>
        </p:nvSpPr>
        <p:spPr>
          <a:xfrm>
            <a:off x="7955737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26" name="Text 121">
            <a:extLst>
              <a:ext uri="{FF2B5EF4-FFF2-40B4-BE49-F238E27FC236}">
                <a16:creationId xmlns:a16="http://schemas.microsoft.com/office/drawing/2014/main" id="{B21532B7-ED59-0732-6A23-359D8B360C7F}"/>
              </a:ext>
            </a:extLst>
          </p:cNvPr>
          <p:cNvSpPr txBox="1"/>
          <p:nvPr/>
        </p:nvSpPr>
        <p:spPr>
          <a:xfrm>
            <a:off x="80031946" y="1809598"/>
            <a:ext cx="5462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needed=9 -&gt; ratio=0.1 -&gt; PCA=True</a:t>
            </a:r>
            <a:endParaRPr lang="en-US" sz="1000" dirty="0"/>
          </a:p>
        </p:txBody>
      </p:sp>
      <p:sp>
        <p:nvSpPr>
          <p:cNvPr id="127" name="Shape 122">
            <a:extLst>
              <a:ext uri="{FF2B5EF4-FFF2-40B4-BE49-F238E27FC236}">
                <a16:creationId xmlns:a16="http://schemas.microsoft.com/office/drawing/2014/main" id="{565EEF71-193C-3F51-9C9A-736AD5F76A11}"/>
              </a:ext>
            </a:extLst>
          </p:cNvPr>
          <p:cNvSpPr/>
          <p:nvPr/>
        </p:nvSpPr>
        <p:spPr>
          <a:xfrm>
            <a:off x="857076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3">
            <a:extLst>
              <a:ext uri="{FF2B5EF4-FFF2-40B4-BE49-F238E27FC236}">
                <a16:creationId xmlns:a16="http://schemas.microsoft.com/office/drawing/2014/main" id="{5C17D084-D7F3-D845-C83F-0AF0F30C3426}"/>
              </a:ext>
            </a:extLst>
          </p:cNvPr>
          <p:cNvSpPr txBox="1"/>
          <p:nvPr/>
        </p:nvSpPr>
        <p:spPr>
          <a:xfrm>
            <a:off x="8539307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29" name="Text 124">
            <a:extLst>
              <a:ext uri="{FF2B5EF4-FFF2-40B4-BE49-F238E27FC236}">
                <a16:creationId xmlns:a16="http://schemas.microsoft.com/office/drawing/2014/main" id="{C6D81FAB-3B39-56FE-51A4-BEBC9EAB9313}"/>
              </a:ext>
            </a:extLst>
          </p:cNvPr>
          <p:cNvSpPr txBox="1"/>
          <p:nvPr/>
        </p:nvSpPr>
        <p:spPr>
          <a:xfrm>
            <a:off x="85867646" y="1809598"/>
            <a:ext cx="5625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needed=10 -&gt; ratio=0.0 -&gt; PCA=False</a:t>
            </a:r>
            <a:endParaRPr lang="en-US" sz="1000" dirty="0"/>
          </a:p>
        </p:txBody>
      </p:sp>
      <p:sp>
        <p:nvSpPr>
          <p:cNvPr id="130" name="Shape 125">
            <a:extLst>
              <a:ext uri="{FF2B5EF4-FFF2-40B4-BE49-F238E27FC236}">
                <a16:creationId xmlns:a16="http://schemas.microsoft.com/office/drawing/2014/main" id="{BDF27EAC-185E-165F-B4CF-C3FE39EF6666}"/>
              </a:ext>
            </a:extLst>
          </p:cNvPr>
          <p:cNvSpPr/>
          <p:nvPr/>
        </p:nvSpPr>
        <p:spPr>
          <a:xfrm>
            <a:off x="0" y="6608369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6">
            <a:extLst>
              <a:ext uri="{FF2B5EF4-FFF2-40B4-BE49-F238E27FC236}">
                <a16:creationId xmlns:a16="http://schemas.microsoft.com/office/drawing/2014/main" id="{3A325128-9962-DF3F-4E9D-D951AD88666F}"/>
              </a:ext>
            </a:extLst>
          </p:cNvPr>
          <p:cNvSpPr/>
          <p:nvPr/>
        </p:nvSpPr>
        <p:spPr>
          <a:xfrm>
            <a:off x="0" y="660836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29">
            <a:extLst>
              <a:ext uri="{FF2B5EF4-FFF2-40B4-BE49-F238E27FC236}">
                <a16:creationId xmlns:a16="http://schemas.microsoft.com/office/drawing/2014/main" id="{0EA3C333-972C-D2F7-8A03-A4F0A7FC9320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Architecture</a:t>
            </a:r>
            <a:endParaRPr lang="en-US" dirty="0"/>
          </a:p>
        </p:txBody>
      </p:sp>
      <p:pic>
        <p:nvPicPr>
          <p:cNvPr id="136" name="Image 3" descr="preencoded.png">
            <a:extLst>
              <a:ext uri="{FF2B5EF4-FFF2-40B4-BE49-F238E27FC236}">
                <a16:creationId xmlns:a16="http://schemas.microsoft.com/office/drawing/2014/main" id="{4BF77101-675A-4F32-178B-775D8031EF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38" name="Text 132">
            <a:extLst>
              <a:ext uri="{FF2B5EF4-FFF2-40B4-BE49-F238E27FC236}">
                <a16:creationId xmlns:a16="http://schemas.microsoft.com/office/drawing/2014/main" id="{6D2ABB22-3A21-D0A2-6A09-AF5D1285D87D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40" name="Text 133">
            <a:extLst>
              <a:ext uri="{FF2B5EF4-FFF2-40B4-BE49-F238E27FC236}">
                <a16:creationId xmlns:a16="http://schemas.microsoft.com/office/drawing/2014/main" id="{89E4DFAB-3346-3FF7-D35A-1B1A59725AB3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C68FC3-AC3B-CF30-C21C-2BBC194D8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757" y="891697"/>
            <a:ext cx="7417024" cy="571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14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57305-1D09-BC16-A086-541216EE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EB6581-557A-5D56-6DE3-229CF888FE1A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CA950B-9AF5-1AB0-9D19-379D2BFD6376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FFD55F-77F3-6051-8514-53DACF418D35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BC9D3AC-7B5F-BD40-2E66-C5987E876F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5BEA173-B288-F5C6-08D8-DDADE69A8329}"/>
              </a:ext>
            </a:extLst>
          </p:cNvPr>
          <p:cNvSpPr txBox="1"/>
          <p:nvPr/>
        </p:nvSpPr>
        <p:spPr>
          <a:xfrm>
            <a:off x="990295" y="237744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Stage 3: PCA Decision Logic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69824CE-05F4-65FB-03AB-30F944E4C555}"/>
              </a:ext>
            </a:extLst>
          </p:cNvPr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C6B3EF1-92F0-9A96-14DA-6155DD1386B6}"/>
              </a:ext>
            </a:extLst>
          </p:cNvPr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C6C0A79-3C3D-DA72-D7D8-8260E2DF8B35}"/>
              </a:ext>
            </a:extLst>
          </p:cNvPr>
          <p:cNvSpPr/>
          <p:nvPr/>
        </p:nvSpPr>
        <p:spPr>
          <a:xfrm>
            <a:off x="0" y="838505"/>
            <a:ext cx="12191695" cy="5772607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A882E1AD-62E2-D5A6-11EC-8C67DAAF0457}"/>
              </a:ext>
            </a:extLst>
          </p:cNvPr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91D5F68E-1FC2-0313-1E7F-44FE8DD38C71}"/>
              </a:ext>
            </a:extLst>
          </p:cNvPr>
          <p:cNvSpPr txBox="1"/>
          <p:nvPr/>
        </p:nvSpPr>
        <p:spPr>
          <a:xfrm>
            <a:off x="4869180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35931ADB-5465-C13C-7285-4D66344E7042}"/>
              </a:ext>
            </a:extLst>
          </p:cNvPr>
          <p:cNvSpPr txBox="1"/>
          <p:nvPr/>
        </p:nvSpPr>
        <p:spPr>
          <a:xfrm>
            <a:off x="903061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655612FF-1FD5-4A32-898A-2BCD89C88155}"/>
              </a:ext>
            </a:extLst>
          </p:cNvPr>
          <p:cNvSpPr/>
          <p:nvPr/>
        </p:nvSpPr>
        <p:spPr>
          <a:xfrm>
            <a:off x="94247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A8B48885-2656-4FEA-2951-D6DC518A4B3A}"/>
              </a:ext>
            </a:extLst>
          </p:cNvPr>
          <p:cNvSpPr txBox="1"/>
          <p:nvPr/>
        </p:nvSpPr>
        <p:spPr>
          <a:xfrm>
            <a:off x="117454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000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B3A92141-F446-2C96-A67C-2269FF78EA11}"/>
              </a:ext>
            </a:extLst>
          </p:cNvPr>
          <p:cNvSpPr/>
          <p:nvPr/>
        </p:nvSpPr>
        <p:spPr>
          <a:xfrm>
            <a:off x="12220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5">
            <a:extLst>
              <a:ext uri="{FF2B5EF4-FFF2-40B4-BE49-F238E27FC236}">
                <a16:creationId xmlns:a16="http://schemas.microsoft.com/office/drawing/2014/main" id="{BDD5A0CC-4A6E-A50B-F528-B0F2EC06E8D5}"/>
              </a:ext>
            </a:extLst>
          </p:cNvPr>
          <p:cNvSpPr/>
          <p:nvPr/>
        </p:nvSpPr>
        <p:spPr>
          <a:xfrm>
            <a:off x="1589593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A8F194D3-778A-84CD-FC4E-B183050827A3}"/>
              </a:ext>
            </a:extLst>
          </p:cNvPr>
          <p:cNvSpPr txBox="1"/>
          <p:nvPr/>
        </p:nvSpPr>
        <p:spPr>
          <a:xfrm>
            <a:off x="1558137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E68539B2-5533-DFD3-E017-DC4E14869FEC}"/>
              </a:ext>
            </a:extLst>
          </p:cNvPr>
          <p:cNvSpPr txBox="1"/>
          <p:nvPr/>
        </p:nvSpPr>
        <p:spPr>
          <a:xfrm>
            <a:off x="1605595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scaler =</a:t>
            </a:r>
            <a:endParaRPr lang="en-US" sz="1000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E15AC88C-6B75-1026-7815-B8ABFF192CB8}"/>
              </a:ext>
            </a:extLst>
          </p:cNvPr>
          <p:cNvSpPr txBox="1"/>
          <p:nvPr/>
        </p:nvSpPr>
        <p:spPr>
          <a:xfrm>
            <a:off x="16696030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208EC82B-C1C5-5868-8AFD-27276B52A650}"/>
              </a:ext>
            </a:extLst>
          </p:cNvPr>
          <p:cNvSpPr txBox="1"/>
          <p:nvPr/>
        </p:nvSpPr>
        <p:spPr>
          <a:xfrm>
            <a:off x="178161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55" name="Shape 50">
            <a:extLst>
              <a:ext uri="{FF2B5EF4-FFF2-40B4-BE49-F238E27FC236}">
                <a16:creationId xmlns:a16="http://schemas.microsoft.com/office/drawing/2014/main" id="{6ACF8D4C-3DB1-B2E5-035A-47AA2C06767A}"/>
              </a:ext>
            </a:extLst>
          </p:cNvPr>
          <p:cNvSpPr/>
          <p:nvPr/>
        </p:nvSpPr>
        <p:spPr>
          <a:xfrm>
            <a:off x="1829074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EB8D9DAA-177B-16F1-04D3-1969B116B7A8}"/>
              </a:ext>
            </a:extLst>
          </p:cNvPr>
          <p:cNvSpPr txBox="1"/>
          <p:nvPr/>
        </p:nvSpPr>
        <p:spPr>
          <a:xfrm>
            <a:off x="1797619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A81610BE-FC70-282F-A565-D85D4E3CFA80}"/>
              </a:ext>
            </a:extLst>
          </p:cNvPr>
          <p:cNvSpPr txBox="1"/>
          <p:nvPr/>
        </p:nvSpPr>
        <p:spPr>
          <a:xfrm>
            <a:off x="1845076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numeric_df = df.select_dtypes(include=[np.number])</a:t>
            </a:r>
            <a:endParaRPr lang="en-US" sz="1000" dirty="0"/>
          </a:p>
        </p:txBody>
      </p:sp>
      <p:sp>
        <p:nvSpPr>
          <p:cNvPr id="58" name="Shape 53">
            <a:extLst>
              <a:ext uri="{FF2B5EF4-FFF2-40B4-BE49-F238E27FC236}">
                <a16:creationId xmlns:a16="http://schemas.microsoft.com/office/drawing/2014/main" id="{175F42A4-8174-F9BA-3923-F5F692F6FAD8}"/>
              </a:ext>
            </a:extLst>
          </p:cNvPr>
          <p:cNvSpPr/>
          <p:nvPr/>
        </p:nvSpPr>
        <p:spPr>
          <a:xfrm>
            <a:off x="2276673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EDD8D916-A027-4718-F550-DB50489A24D0}"/>
              </a:ext>
            </a:extLst>
          </p:cNvPr>
          <p:cNvSpPr txBox="1"/>
          <p:nvPr/>
        </p:nvSpPr>
        <p:spPr>
          <a:xfrm>
            <a:off x="224521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69936CAE-8916-23A0-4224-958AA2333AF2}"/>
              </a:ext>
            </a:extLst>
          </p:cNvPr>
          <p:cNvSpPr txBox="1"/>
          <p:nvPr/>
        </p:nvSpPr>
        <p:spPr>
          <a:xfrm>
            <a:off x="22926751" y="1809598"/>
            <a:ext cx="37865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scaled_data = scaler.fit_transform(numeric_df)</a:t>
            </a:r>
            <a:endParaRPr lang="en-US" sz="1000" dirty="0"/>
          </a:p>
        </p:txBody>
      </p:sp>
      <p:sp>
        <p:nvSpPr>
          <p:cNvPr id="61" name="Shape 56">
            <a:extLst>
              <a:ext uri="{FF2B5EF4-FFF2-40B4-BE49-F238E27FC236}">
                <a16:creationId xmlns:a16="http://schemas.microsoft.com/office/drawing/2014/main" id="{FF2ECBEA-FBFC-70CC-C377-CD76623E9A53}"/>
              </a:ext>
            </a:extLst>
          </p:cNvPr>
          <p:cNvSpPr/>
          <p:nvPr/>
        </p:nvSpPr>
        <p:spPr>
          <a:xfrm>
            <a:off x="2692267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03CD1407-B1ED-7211-5C22-5F5E6F70BF7F}"/>
              </a:ext>
            </a:extLst>
          </p:cNvPr>
          <p:cNvSpPr txBox="1"/>
          <p:nvPr/>
        </p:nvSpPr>
        <p:spPr>
          <a:xfrm>
            <a:off x="2660812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3" name="Shape 58">
            <a:extLst>
              <a:ext uri="{FF2B5EF4-FFF2-40B4-BE49-F238E27FC236}">
                <a16:creationId xmlns:a16="http://schemas.microsoft.com/office/drawing/2014/main" id="{5B677997-648F-804B-7C7E-05DE4AAFD5A9}"/>
              </a:ext>
            </a:extLst>
          </p:cNvPr>
          <p:cNvSpPr/>
          <p:nvPr/>
        </p:nvSpPr>
        <p:spPr>
          <a:xfrm>
            <a:off x="2739725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C2AC0CCE-E50C-B64F-15B3-F8C4D4C4FF67}"/>
              </a:ext>
            </a:extLst>
          </p:cNvPr>
          <p:cNvSpPr txBox="1"/>
          <p:nvPr/>
        </p:nvSpPr>
        <p:spPr>
          <a:xfrm>
            <a:off x="2708269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65" name="Text 60">
            <a:extLst>
              <a:ext uri="{FF2B5EF4-FFF2-40B4-BE49-F238E27FC236}">
                <a16:creationId xmlns:a16="http://schemas.microsoft.com/office/drawing/2014/main" id="{AE84B124-B3E4-999C-9189-5DF95EF9BE59}"/>
              </a:ext>
            </a:extLst>
          </p:cNvPr>
          <p:cNvSpPr txBox="1"/>
          <p:nvPr/>
        </p:nvSpPr>
        <p:spPr>
          <a:xfrm>
            <a:off x="27556358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Fit PCA to determine explained variance</a:t>
            </a:r>
            <a:endParaRPr lang="en-US" sz="1000" dirty="0"/>
          </a:p>
        </p:txBody>
      </p:sp>
      <p:sp>
        <p:nvSpPr>
          <p:cNvPr id="66" name="Shape 61">
            <a:extLst>
              <a:ext uri="{FF2B5EF4-FFF2-40B4-BE49-F238E27FC236}">
                <a16:creationId xmlns:a16="http://schemas.microsoft.com/office/drawing/2014/main" id="{5ED39456-2277-6DDB-9315-312DD36C1720}"/>
              </a:ext>
            </a:extLst>
          </p:cNvPr>
          <p:cNvSpPr/>
          <p:nvPr/>
        </p:nvSpPr>
        <p:spPr>
          <a:xfrm>
            <a:off x="3139226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2">
            <a:extLst>
              <a:ext uri="{FF2B5EF4-FFF2-40B4-BE49-F238E27FC236}">
                <a16:creationId xmlns:a16="http://schemas.microsoft.com/office/drawing/2014/main" id="{23ABAB67-C4BC-4BEA-0D81-B18BF110F0FE}"/>
              </a:ext>
            </a:extLst>
          </p:cNvPr>
          <p:cNvSpPr txBox="1"/>
          <p:nvPr/>
        </p:nvSpPr>
        <p:spPr>
          <a:xfrm>
            <a:off x="3107771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68" name="Text 63">
            <a:extLst>
              <a:ext uri="{FF2B5EF4-FFF2-40B4-BE49-F238E27FC236}">
                <a16:creationId xmlns:a16="http://schemas.microsoft.com/office/drawing/2014/main" id="{505F63E2-6112-7449-2AFD-946290FB8965}"/>
              </a:ext>
            </a:extLst>
          </p:cNvPr>
          <p:cNvSpPr txBox="1"/>
          <p:nvPr/>
        </p:nvSpPr>
        <p:spPr>
          <a:xfrm>
            <a:off x="31552286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 =</a:t>
            </a:r>
            <a:endParaRPr lang="en-US" sz="1000" dirty="0"/>
          </a:p>
        </p:txBody>
      </p:sp>
      <p:sp>
        <p:nvSpPr>
          <p:cNvPr id="69" name="Text 64">
            <a:extLst>
              <a:ext uri="{FF2B5EF4-FFF2-40B4-BE49-F238E27FC236}">
                <a16:creationId xmlns:a16="http://schemas.microsoft.com/office/drawing/2014/main" id="{FDACB44B-26EA-E6A4-093A-341ED35999CE}"/>
              </a:ext>
            </a:extLst>
          </p:cNvPr>
          <p:cNvSpPr txBox="1"/>
          <p:nvPr/>
        </p:nvSpPr>
        <p:spPr>
          <a:xfrm>
            <a:off x="31952794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</a:t>
            </a:r>
            <a:endParaRPr lang="en-US" sz="1000" dirty="0"/>
          </a:p>
        </p:txBody>
      </p:sp>
      <p:sp>
        <p:nvSpPr>
          <p:cNvPr id="70" name="Text 65">
            <a:extLst>
              <a:ext uri="{FF2B5EF4-FFF2-40B4-BE49-F238E27FC236}">
                <a16:creationId xmlns:a16="http://schemas.microsoft.com/office/drawing/2014/main" id="{BFF41B57-1319-C841-C130-C8246E4EC7F4}"/>
              </a:ext>
            </a:extLst>
          </p:cNvPr>
          <p:cNvSpPr txBox="1"/>
          <p:nvPr/>
        </p:nvSpPr>
        <p:spPr>
          <a:xfrm>
            <a:off x="3219236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71" name="Shape 66">
            <a:extLst>
              <a:ext uri="{FF2B5EF4-FFF2-40B4-BE49-F238E27FC236}">
                <a16:creationId xmlns:a16="http://schemas.microsoft.com/office/drawing/2014/main" id="{7619C514-F505-7754-1DD5-4EB2831FCC14}"/>
              </a:ext>
            </a:extLst>
          </p:cNvPr>
          <p:cNvSpPr/>
          <p:nvPr/>
        </p:nvSpPr>
        <p:spPr>
          <a:xfrm>
            <a:off x="326678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7">
            <a:extLst>
              <a:ext uri="{FF2B5EF4-FFF2-40B4-BE49-F238E27FC236}">
                <a16:creationId xmlns:a16="http://schemas.microsoft.com/office/drawing/2014/main" id="{395D7AF9-DD47-8E07-1C83-C1C99C498129}"/>
              </a:ext>
            </a:extLst>
          </p:cNvPr>
          <p:cNvSpPr txBox="1"/>
          <p:nvPr/>
        </p:nvSpPr>
        <p:spPr>
          <a:xfrm>
            <a:off x="3235330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68">
            <a:extLst>
              <a:ext uri="{FF2B5EF4-FFF2-40B4-BE49-F238E27FC236}">
                <a16:creationId xmlns:a16="http://schemas.microsoft.com/office/drawing/2014/main" id="{34B8E363-BBBB-36D9-7A44-8C358FC7117C}"/>
              </a:ext>
            </a:extLst>
          </p:cNvPr>
          <p:cNvSpPr txBox="1"/>
          <p:nvPr/>
        </p:nvSpPr>
        <p:spPr>
          <a:xfrm>
            <a:off x="32826960" y="1809598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pca.fit(scaled_data)</a:t>
            </a:r>
            <a:endParaRPr lang="en-US" sz="1000" dirty="0"/>
          </a:p>
        </p:txBody>
      </p:sp>
      <p:sp>
        <p:nvSpPr>
          <p:cNvPr id="74" name="Shape 69">
            <a:extLst>
              <a:ext uri="{FF2B5EF4-FFF2-40B4-BE49-F238E27FC236}">
                <a16:creationId xmlns:a16="http://schemas.microsoft.com/office/drawing/2014/main" id="{13DBAC34-B951-267B-B85F-A3D0460FB4B1}"/>
              </a:ext>
            </a:extLst>
          </p:cNvPr>
          <p:cNvSpPr/>
          <p:nvPr/>
        </p:nvSpPr>
        <p:spPr>
          <a:xfrm>
            <a:off x="3474262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0">
            <a:extLst>
              <a:ext uri="{FF2B5EF4-FFF2-40B4-BE49-F238E27FC236}">
                <a16:creationId xmlns:a16="http://schemas.microsoft.com/office/drawing/2014/main" id="{42AD1AC2-B033-1E22-00E5-16F26AB9124C}"/>
              </a:ext>
            </a:extLst>
          </p:cNvPr>
          <p:cNvSpPr txBox="1"/>
          <p:nvPr/>
        </p:nvSpPr>
        <p:spPr>
          <a:xfrm>
            <a:off x="344280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76" name="Shape 71">
            <a:extLst>
              <a:ext uri="{FF2B5EF4-FFF2-40B4-BE49-F238E27FC236}">
                <a16:creationId xmlns:a16="http://schemas.microsoft.com/office/drawing/2014/main" id="{46FBF0D7-EB31-31F7-36BE-B69EF220E487}"/>
              </a:ext>
            </a:extLst>
          </p:cNvPr>
          <p:cNvSpPr/>
          <p:nvPr/>
        </p:nvSpPr>
        <p:spPr>
          <a:xfrm>
            <a:off x="3521720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>
            <a:extLst>
              <a:ext uri="{FF2B5EF4-FFF2-40B4-BE49-F238E27FC236}">
                <a16:creationId xmlns:a16="http://schemas.microsoft.com/office/drawing/2014/main" id="{E2CC157E-461B-098A-5F4C-DF2F057D0093}"/>
              </a:ext>
            </a:extLst>
          </p:cNvPr>
          <p:cNvSpPr txBox="1"/>
          <p:nvPr/>
        </p:nvSpPr>
        <p:spPr>
          <a:xfrm>
            <a:off x="3490264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Text 73">
            <a:extLst>
              <a:ext uri="{FF2B5EF4-FFF2-40B4-BE49-F238E27FC236}">
                <a16:creationId xmlns:a16="http://schemas.microsoft.com/office/drawing/2014/main" id="{182204BF-5C6E-79E9-C892-38CBF4F59417}"/>
              </a:ext>
            </a:extLst>
          </p:cNvPr>
          <p:cNvSpPr txBox="1"/>
          <p:nvPr/>
        </p:nvSpPr>
        <p:spPr>
          <a:xfrm>
            <a:off x="35376307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Find components needed for 95% variance</a:t>
            </a:r>
            <a:endParaRPr lang="en-US" sz="1000" dirty="0"/>
          </a:p>
        </p:txBody>
      </p:sp>
      <p:sp>
        <p:nvSpPr>
          <p:cNvPr id="79" name="Shape 74">
            <a:extLst>
              <a:ext uri="{FF2B5EF4-FFF2-40B4-BE49-F238E27FC236}">
                <a16:creationId xmlns:a16="http://schemas.microsoft.com/office/drawing/2014/main" id="{17B159F8-A83D-FCBA-46F6-22AF2209390D}"/>
              </a:ext>
            </a:extLst>
          </p:cNvPr>
          <p:cNvSpPr/>
          <p:nvPr/>
        </p:nvSpPr>
        <p:spPr>
          <a:xfrm>
            <a:off x="3921221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>
            <a:extLst>
              <a:ext uri="{FF2B5EF4-FFF2-40B4-BE49-F238E27FC236}">
                <a16:creationId xmlns:a16="http://schemas.microsoft.com/office/drawing/2014/main" id="{15755260-B76D-64B5-ED53-64EC3ED68873}"/>
              </a:ext>
            </a:extLst>
          </p:cNvPr>
          <p:cNvSpPr txBox="1"/>
          <p:nvPr/>
        </p:nvSpPr>
        <p:spPr>
          <a:xfrm>
            <a:off x="388976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81" name="Text 76">
            <a:extLst>
              <a:ext uri="{FF2B5EF4-FFF2-40B4-BE49-F238E27FC236}">
                <a16:creationId xmlns:a16="http://schemas.microsoft.com/office/drawing/2014/main" id="{55842A48-7413-DB20-0E39-F91A0CDACEC5}"/>
              </a:ext>
            </a:extLst>
          </p:cNvPr>
          <p:cNvSpPr txBox="1"/>
          <p:nvPr/>
        </p:nvSpPr>
        <p:spPr>
          <a:xfrm>
            <a:off x="39372235" y="1809598"/>
            <a:ext cx="50630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cumulative_variance = np.cumsum(pca.explained_variance_ratio_)</a:t>
            </a:r>
            <a:endParaRPr lang="en-US" sz="1000" dirty="0"/>
          </a:p>
        </p:txBody>
      </p:sp>
      <p:sp>
        <p:nvSpPr>
          <p:cNvPr id="82" name="Shape 77">
            <a:extLst>
              <a:ext uri="{FF2B5EF4-FFF2-40B4-BE49-F238E27FC236}">
                <a16:creationId xmlns:a16="http://schemas.microsoft.com/office/drawing/2014/main" id="{0B34F569-29F7-0592-1EA9-20DBB5DE5CB6}"/>
              </a:ext>
            </a:extLst>
          </p:cNvPr>
          <p:cNvSpPr/>
          <p:nvPr/>
        </p:nvSpPr>
        <p:spPr>
          <a:xfrm>
            <a:off x="4464832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8">
            <a:extLst>
              <a:ext uri="{FF2B5EF4-FFF2-40B4-BE49-F238E27FC236}">
                <a16:creationId xmlns:a16="http://schemas.microsoft.com/office/drawing/2014/main" id="{4F4C17B3-3244-A8B9-FDD5-096B8B895E6D}"/>
              </a:ext>
            </a:extLst>
          </p:cNvPr>
          <p:cNvSpPr txBox="1"/>
          <p:nvPr/>
        </p:nvSpPr>
        <p:spPr>
          <a:xfrm>
            <a:off x="443337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84" name="Text 79">
            <a:extLst>
              <a:ext uri="{FF2B5EF4-FFF2-40B4-BE49-F238E27FC236}">
                <a16:creationId xmlns:a16="http://schemas.microsoft.com/office/drawing/2014/main" id="{5B3D5E35-66B8-D8AC-4C41-E8A70F0D3AEF}"/>
              </a:ext>
            </a:extLst>
          </p:cNvPr>
          <p:cNvSpPr txBox="1"/>
          <p:nvPr/>
        </p:nvSpPr>
        <p:spPr>
          <a:xfrm>
            <a:off x="4480834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np.where returns indices where condition is true</a:t>
            </a:r>
            <a:endParaRPr lang="en-US" sz="1000" dirty="0"/>
          </a:p>
        </p:txBody>
      </p:sp>
      <p:sp>
        <p:nvSpPr>
          <p:cNvPr id="85" name="Shape 80">
            <a:extLst>
              <a:ext uri="{FF2B5EF4-FFF2-40B4-BE49-F238E27FC236}">
                <a16:creationId xmlns:a16="http://schemas.microsoft.com/office/drawing/2014/main" id="{77BA0F93-2BE4-A1AA-D1A6-1FCB00A50097}"/>
              </a:ext>
            </a:extLst>
          </p:cNvPr>
          <p:cNvSpPr/>
          <p:nvPr/>
        </p:nvSpPr>
        <p:spPr>
          <a:xfrm>
            <a:off x="4912431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1">
            <a:extLst>
              <a:ext uri="{FF2B5EF4-FFF2-40B4-BE49-F238E27FC236}">
                <a16:creationId xmlns:a16="http://schemas.microsoft.com/office/drawing/2014/main" id="{A9CA5A8B-8812-F787-55EC-C391DD2C459E}"/>
              </a:ext>
            </a:extLst>
          </p:cNvPr>
          <p:cNvSpPr txBox="1"/>
          <p:nvPr/>
        </p:nvSpPr>
        <p:spPr>
          <a:xfrm>
            <a:off x="4880975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87" name="Text 82">
            <a:extLst>
              <a:ext uri="{FF2B5EF4-FFF2-40B4-BE49-F238E27FC236}">
                <a16:creationId xmlns:a16="http://schemas.microsoft.com/office/drawing/2014/main" id="{98725FCE-9C3F-3709-7050-FCF227E29D09}"/>
              </a:ext>
            </a:extLst>
          </p:cNvPr>
          <p:cNvSpPr txBox="1"/>
          <p:nvPr/>
        </p:nvSpPr>
        <p:spPr>
          <a:xfrm>
            <a:off x="49284331" y="1809598"/>
            <a:ext cx="63486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n_components = np.where(cumulative_variance &gt;= cumulative_variance_threshold)[</a:t>
            </a:r>
            <a:endParaRPr lang="en-US" sz="1000" dirty="0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8747C45F-2F42-7256-66F7-00B82377B72B}"/>
              </a:ext>
            </a:extLst>
          </p:cNvPr>
          <p:cNvSpPr txBox="1"/>
          <p:nvPr/>
        </p:nvSpPr>
        <p:spPr>
          <a:xfrm>
            <a:off x="5552602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89" name="Text 84">
            <a:extLst>
              <a:ext uri="{FF2B5EF4-FFF2-40B4-BE49-F238E27FC236}">
                <a16:creationId xmlns:a16="http://schemas.microsoft.com/office/drawing/2014/main" id="{2B62BEC7-D67E-A99C-A1E1-88C4B699396B}"/>
              </a:ext>
            </a:extLst>
          </p:cNvPr>
          <p:cNvSpPr txBox="1"/>
          <p:nvPr/>
        </p:nvSpPr>
        <p:spPr>
          <a:xfrm>
            <a:off x="556055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][</a:t>
            </a:r>
            <a:endParaRPr lang="en-US" sz="1000" dirty="0"/>
          </a:p>
        </p:txBody>
      </p:sp>
      <p:sp>
        <p:nvSpPr>
          <p:cNvPr id="90" name="Text 85">
            <a:extLst>
              <a:ext uri="{FF2B5EF4-FFF2-40B4-BE49-F238E27FC236}">
                <a16:creationId xmlns:a16="http://schemas.microsoft.com/office/drawing/2014/main" id="{385A050E-1552-DF49-C4FA-BA492ED032E4}"/>
              </a:ext>
            </a:extLst>
          </p:cNvPr>
          <p:cNvSpPr txBox="1"/>
          <p:nvPr/>
        </p:nvSpPr>
        <p:spPr>
          <a:xfrm>
            <a:off x="5576559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91" name="Text 86">
            <a:extLst>
              <a:ext uri="{FF2B5EF4-FFF2-40B4-BE49-F238E27FC236}">
                <a16:creationId xmlns:a16="http://schemas.microsoft.com/office/drawing/2014/main" id="{ED46F147-08EE-2896-1804-57EB1988E5A2}"/>
              </a:ext>
            </a:extLst>
          </p:cNvPr>
          <p:cNvSpPr txBox="1"/>
          <p:nvPr/>
        </p:nvSpPr>
        <p:spPr>
          <a:xfrm>
            <a:off x="5584606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+</a:t>
            </a:r>
            <a:endParaRPr lang="en-US" sz="1000" dirty="0"/>
          </a:p>
        </p:txBody>
      </p:sp>
      <p:sp>
        <p:nvSpPr>
          <p:cNvPr id="92" name="Text 87">
            <a:extLst>
              <a:ext uri="{FF2B5EF4-FFF2-40B4-BE49-F238E27FC236}">
                <a16:creationId xmlns:a16="http://schemas.microsoft.com/office/drawing/2014/main" id="{31E9E2B2-AF49-BB19-4C24-BBA85F47E24D}"/>
              </a:ext>
            </a:extLst>
          </p:cNvPr>
          <p:cNvSpPr txBox="1"/>
          <p:nvPr/>
        </p:nvSpPr>
        <p:spPr>
          <a:xfrm>
            <a:off x="56086553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Shape 88">
            <a:extLst>
              <a:ext uri="{FF2B5EF4-FFF2-40B4-BE49-F238E27FC236}">
                <a16:creationId xmlns:a16="http://schemas.microsoft.com/office/drawing/2014/main" id="{6D4B864A-3F24-FE65-4578-454D3424DFDA}"/>
              </a:ext>
            </a:extLst>
          </p:cNvPr>
          <p:cNvSpPr/>
          <p:nvPr/>
        </p:nvSpPr>
        <p:spPr>
          <a:xfrm>
            <a:off x="5648065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9">
            <a:extLst>
              <a:ext uri="{FF2B5EF4-FFF2-40B4-BE49-F238E27FC236}">
                <a16:creationId xmlns:a16="http://schemas.microsoft.com/office/drawing/2014/main" id="{8096375B-43BD-02BA-5A4C-A5C669CEC9F5}"/>
              </a:ext>
            </a:extLst>
          </p:cNvPr>
          <p:cNvSpPr txBox="1"/>
          <p:nvPr/>
        </p:nvSpPr>
        <p:spPr>
          <a:xfrm>
            <a:off x="5616610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95" name="Shape 90">
            <a:extLst>
              <a:ext uri="{FF2B5EF4-FFF2-40B4-BE49-F238E27FC236}">
                <a16:creationId xmlns:a16="http://schemas.microsoft.com/office/drawing/2014/main" id="{48E304AF-884B-C96B-40F8-E8D6D14E147B}"/>
              </a:ext>
            </a:extLst>
          </p:cNvPr>
          <p:cNvSpPr/>
          <p:nvPr/>
        </p:nvSpPr>
        <p:spPr>
          <a:xfrm>
            <a:off x="5695523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1">
            <a:extLst>
              <a:ext uri="{FF2B5EF4-FFF2-40B4-BE49-F238E27FC236}">
                <a16:creationId xmlns:a16="http://schemas.microsoft.com/office/drawing/2014/main" id="{B33D95D9-4D98-E72D-ACD1-6409FD2E1613}"/>
              </a:ext>
            </a:extLst>
          </p:cNvPr>
          <p:cNvSpPr txBox="1"/>
          <p:nvPr/>
        </p:nvSpPr>
        <p:spPr>
          <a:xfrm>
            <a:off x="5664067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97" name="Text 92">
            <a:extLst>
              <a:ext uri="{FF2B5EF4-FFF2-40B4-BE49-F238E27FC236}">
                <a16:creationId xmlns:a16="http://schemas.microsoft.com/office/drawing/2014/main" id="{EBABD495-437C-39C5-9C97-A9705781E8B1}"/>
              </a:ext>
            </a:extLst>
          </p:cNvPr>
          <p:cNvSpPr txBox="1"/>
          <p:nvPr/>
        </p:nvSpPr>
        <p:spPr>
          <a:xfrm>
            <a:off x="57115253" y="1809598"/>
            <a:ext cx="3710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Check if reduction is significant (&gt;10%)</a:t>
            </a:r>
            <a:endParaRPr lang="en-US" sz="1000" dirty="0"/>
          </a:p>
        </p:txBody>
      </p:sp>
      <p:sp>
        <p:nvSpPr>
          <p:cNvPr id="98" name="Shape 93">
            <a:extLst>
              <a:ext uri="{FF2B5EF4-FFF2-40B4-BE49-F238E27FC236}">
                <a16:creationId xmlns:a16="http://schemas.microsoft.com/office/drawing/2014/main" id="{1DF7B786-93F5-29EF-4E10-A2723A6A595D}"/>
              </a:ext>
            </a:extLst>
          </p:cNvPr>
          <p:cNvSpPr/>
          <p:nvPr/>
        </p:nvSpPr>
        <p:spPr>
          <a:xfrm>
            <a:off x="610307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4">
            <a:extLst>
              <a:ext uri="{FF2B5EF4-FFF2-40B4-BE49-F238E27FC236}">
                <a16:creationId xmlns:a16="http://schemas.microsoft.com/office/drawing/2014/main" id="{856F1127-16F8-CD0B-6F99-722319E96EE8}"/>
              </a:ext>
            </a:extLst>
          </p:cNvPr>
          <p:cNvSpPr txBox="1"/>
          <p:nvPr/>
        </p:nvSpPr>
        <p:spPr>
          <a:xfrm>
            <a:off x="6071616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100" name="Text 95">
            <a:extLst>
              <a:ext uri="{FF2B5EF4-FFF2-40B4-BE49-F238E27FC236}">
                <a16:creationId xmlns:a16="http://schemas.microsoft.com/office/drawing/2014/main" id="{98844865-B10E-1CDC-54CE-CCB9DED675B2}"/>
              </a:ext>
            </a:extLst>
          </p:cNvPr>
          <p:cNvSpPr txBox="1"/>
          <p:nvPr/>
        </p:nvSpPr>
        <p:spPr>
          <a:xfrm>
            <a:off x="61190734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original_dims = df.shape[</a:t>
            </a:r>
            <a:endParaRPr lang="en-US" sz="1000" dirty="0"/>
          </a:p>
        </p:txBody>
      </p:sp>
      <p:sp>
        <p:nvSpPr>
          <p:cNvPr id="101" name="Text 96">
            <a:extLst>
              <a:ext uri="{FF2B5EF4-FFF2-40B4-BE49-F238E27FC236}">
                <a16:creationId xmlns:a16="http://schemas.microsoft.com/office/drawing/2014/main" id="{A67587E7-DDB2-8CB2-E89F-BD4CB1434B5F}"/>
              </a:ext>
            </a:extLst>
          </p:cNvPr>
          <p:cNvSpPr txBox="1"/>
          <p:nvPr/>
        </p:nvSpPr>
        <p:spPr>
          <a:xfrm>
            <a:off x="63191441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97">
            <a:extLst>
              <a:ext uri="{FF2B5EF4-FFF2-40B4-BE49-F238E27FC236}">
                <a16:creationId xmlns:a16="http://schemas.microsoft.com/office/drawing/2014/main" id="{DB71F85D-46F3-3862-FC4A-ABE5E293DA28}"/>
              </a:ext>
            </a:extLst>
          </p:cNvPr>
          <p:cNvSpPr txBox="1"/>
          <p:nvPr/>
        </p:nvSpPr>
        <p:spPr>
          <a:xfrm>
            <a:off x="6327190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03" name="Shape 98">
            <a:extLst>
              <a:ext uri="{FF2B5EF4-FFF2-40B4-BE49-F238E27FC236}">
                <a16:creationId xmlns:a16="http://schemas.microsoft.com/office/drawing/2014/main" id="{59345A61-8F43-FF6A-24E6-691EAB27E975}"/>
              </a:ext>
            </a:extLst>
          </p:cNvPr>
          <p:cNvSpPr/>
          <p:nvPr/>
        </p:nvSpPr>
        <p:spPr>
          <a:xfrm>
            <a:off x="636660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99">
            <a:extLst>
              <a:ext uri="{FF2B5EF4-FFF2-40B4-BE49-F238E27FC236}">
                <a16:creationId xmlns:a16="http://schemas.microsoft.com/office/drawing/2014/main" id="{21E02BB2-2989-CB42-30CE-852BCC66EDCC}"/>
              </a:ext>
            </a:extLst>
          </p:cNvPr>
          <p:cNvSpPr txBox="1"/>
          <p:nvPr/>
        </p:nvSpPr>
        <p:spPr>
          <a:xfrm>
            <a:off x="6335146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105" name="Text 100">
            <a:extLst>
              <a:ext uri="{FF2B5EF4-FFF2-40B4-BE49-F238E27FC236}">
                <a16:creationId xmlns:a16="http://schemas.microsoft.com/office/drawing/2014/main" id="{4257A4B4-A4D5-3380-F681-B394273B26FD}"/>
              </a:ext>
            </a:extLst>
          </p:cNvPr>
          <p:cNvSpPr txBox="1"/>
          <p:nvPr/>
        </p:nvSpPr>
        <p:spPr>
          <a:xfrm>
            <a:off x="63826034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dim_reduction_ratio =</a:t>
            </a:r>
            <a:endParaRPr lang="en-US" sz="1000" dirty="0"/>
          </a:p>
        </p:txBody>
      </p:sp>
      <p:sp>
        <p:nvSpPr>
          <p:cNvPr id="106" name="Text 101">
            <a:extLst>
              <a:ext uri="{FF2B5EF4-FFF2-40B4-BE49-F238E27FC236}">
                <a16:creationId xmlns:a16="http://schemas.microsoft.com/office/drawing/2014/main" id="{999678FE-314E-1A96-AC26-064C42B2B0A8}"/>
              </a:ext>
            </a:extLst>
          </p:cNvPr>
          <p:cNvSpPr txBox="1"/>
          <p:nvPr/>
        </p:nvSpPr>
        <p:spPr>
          <a:xfrm>
            <a:off x="65506702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7" name="Text 102">
            <a:extLst>
              <a:ext uri="{FF2B5EF4-FFF2-40B4-BE49-F238E27FC236}">
                <a16:creationId xmlns:a16="http://schemas.microsoft.com/office/drawing/2014/main" id="{C8F4357C-9A65-A973-0AC5-4FA6A1AA4600}"/>
              </a:ext>
            </a:extLst>
          </p:cNvPr>
          <p:cNvSpPr txBox="1"/>
          <p:nvPr/>
        </p:nvSpPr>
        <p:spPr>
          <a:xfrm>
            <a:off x="65587169" y="1809598"/>
            <a:ext cx="2662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(n_components / original_dims)</a:t>
            </a:r>
            <a:endParaRPr lang="en-US" sz="1000" dirty="0"/>
          </a:p>
        </p:txBody>
      </p:sp>
      <p:sp>
        <p:nvSpPr>
          <p:cNvPr id="108" name="Shape 103">
            <a:extLst>
              <a:ext uri="{FF2B5EF4-FFF2-40B4-BE49-F238E27FC236}">
                <a16:creationId xmlns:a16="http://schemas.microsoft.com/office/drawing/2014/main" id="{94B76217-D89A-6643-D25E-C31840297FF1}"/>
              </a:ext>
            </a:extLst>
          </p:cNvPr>
          <p:cNvSpPr/>
          <p:nvPr/>
        </p:nvSpPr>
        <p:spPr>
          <a:xfrm>
            <a:off x="68462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4">
            <a:extLst>
              <a:ext uri="{FF2B5EF4-FFF2-40B4-BE49-F238E27FC236}">
                <a16:creationId xmlns:a16="http://schemas.microsoft.com/office/drawing/2014/main" id="{5FCE8E6F-1259-B645-93A5-E3F4C9A00638}"/>
              </a:ext>
            </a:extLst>
          </p:cNvPr>
          <p:cNvSpPr txBox="1"/>
          <p:nvPr/>
        </p:nvSpPr>
        <p:spPr>
          <a:xfrm>
            <a:off x="681474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10" name="Shape 105">
            <a:extLst>
              <a:ext uri="{FF2B5EF4-FFF2-40B4-BE49-F238E27FC236}">
                <a16:creationId xmlns:a16="http://schemas.microsoft.com/office/drawing/2014/main" id="{51F24637-55C7-7B65-31DA-9D7A0FA26C47}"/>
              </a:ext>
            </a:extLst>
          </p:cNvPr>
          <p:cNvSpPr/>
          <p:nvPr/>
        </p:nvSpPr>
        <p:spPr>
          <a:xfrm>
            <a:off x="6893661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6">
            <a:extLst>
              <a:ext uri="{FF2B5EF4-FFF2-40B4-BE49-F238E27FC236}">
                <a16:creationId xmlns:a16="http://schemas.microsoft.com/office/drawing/2014/main" id="{95520B4D-8213-9857-5178-97E2F16FC4AC}"/>
              </a:ext>
            </a:extLst>
          </p:cNvPr>
          <p:cNvSpPr txBox="1"/>
          <p:nvPr/>
        </p:nvSpPr>
        <p:spPr>
          <a:xfrm>
            <a:off x="686220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12" name="Text 107">
            <a:extLst>
              <a:ext uri="{FF2B5EF4-FFF2-40B4-BE49-F238E27FC236}">
                <a16:creationId xmlns:a16="http://schemas.microsoft.com/office/drawing/2014/main" id="{E6927A88-69B7-26C6-9085-BF3B045C9BD4}"/>
              </a:ext>
            </a:extLst>
          </p:cNvPr>
          <p:cNvSpPr txBox="1"/>
          <p:nvPr/>
        </p:nvSpPr>
        <p:spPr>
          <a:xfrm>
            <a:off x="69096636" y="1809598"/>
            <a:ext cx="49103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 = dim_reduction_ratio &gt;= min_dim_reduction_ratio</a:t>
            </a:r>
            <a:endParaRPr lang="en-US" sz="1000" dirty="0"/>
          </a:p>
        </p:txBody>
      </p:sp>
      <p:sp>
        <p:nvSpPr>
          <p:cNvPr id="113" name="Shape 108">
            <a:extLst>
              <a:ext uri="{FF2B5EF4-FFF2-40B4-BE49-F238E27FC236}">
                <a16:creationId xmlns:a16="http://schemas.microsoft.com/office/drawing/2014/main" id="{EA0FE20C-CCD3-8453-E224-8BD862763C86}"/>
              </a:ext>
            </a:extLst>
          </p:cNvPr>
          <p:cNvSpPr/>
          <p:nvPr/>
        </p:nvSpPr>
        <p:spPr>
          <a:xfrm>
            <a:off x="7421270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9">
            <a:extLst>
              <a:ext uri="{FF2B5EF4-FFF2-40B4-BE49-F238E27FC236}">
                <a16:creationId xmlns:a16="http://schemas.microsoft.com/office/drawing/2014/main" id="{D59B365A-AAFE-CE4D-3D0E-5603E0C4ED7A}"/>
              </a:ext>
            </a:extLst>
          </p:cNvPr>
          <p:cNvSpPr txBox="1"/>
          <p:nvPr/>
        </p:nvSpPr>
        <p:spPr>
          <a:xfrm>
            <a:off x="7389815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15" name="Shape 110">
            <a:extLst>
              <a:ext uri="{FF2B5EF4-FFF2-40B4-BE49-F238E27FC236}">
                <a16:creationId xmlns:a16="http://schemas.microsoft.com/office/drawing/2014/main" id="{EFECD061-8450-92C2-FD4C-0072226605ED}"/>
              </a:ext>
            </a:extLst>
          </p:cNvPr>
          <p:cNvSpPr/>
          <p:nvPr/>
        </p:nvSpPr>
        <p:spPr>
          <a:xfrm>
            <a:off x="7468727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1">
            <a:extLst>
              <a:ext uri="{FF2B5EF4-FFF2-40B4-BE49-F238E27FC236}">
                <a16:creationId xmlns:a16="http://schemas.microsoft.com/office/drawing/2014/main" id="{B8A1038F-A774-4760-4D47-76752D80A45E}"/>
              </a:ext>
            </a:extLst>
          </p:cNvPr>
          <p:cNvSpPr txBox="1"/>
          <p:nvPr/>
        </p:nvSpPr>
        <p:spPr>
          <a:xfrm>
            <a:off x="7437272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17" name="Text 112">
            <a:extLst>
              <a:ext uri="{FF2B5EF4-FFF2-40B4-BE49-F238E27FC236}">
                <a16:creationId xmlns:a16="http://schemas.microsoft.com/office/drawing/2014/main" id="{0667BCA3-53CA-D13B-D68C-7B6291748558}"/>
              </a:ext>
            </a:extLst>
          </p:cNvPr>
          <p:cNvSpPr txBox="1"/>
          <p:nvPr/>
        </p:nvSpPr>
        <p:spPr>
          <a:xfrm>
            <a:off x="74847298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18" name="Text 113">
            <a:extLst>
              <a:ext uri="{FF2B5EF4-FFF2-40B4-BE49-F238E27FC236}">
                <a16:creationId xmlns:a16="http://schemas.microsoft.com/office/drawing/2014/main" id="{5EA14BF4-4561-2146-5A39-2CE1024F9F50}"/>
              </a:ext>
            </a:extLst>
          </p:cNvPr>
          <p:cNvSpPr txBox="1"/>
          <p:nvPr/>
        </p:nvSpPr>
        <p:spPr>
          <a:xfrm>
            <a:off x="75327358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perform_pca, n_components</a:t>
            </a:r>
            <a:endParaRPr lang="en-US" sz="1000" dirty="0"/>
          </a:p>
        </p:txBody>
      </p:sp>
      <p:sp>
        <p:nvSpPr>
          <p:cNvPr id="119" name="Shape 114">
            <a:extLst>
              <a:ext uri="{FF2B5EF4-FFF2-40B4-BE49-F238E27FC236}">
                <a16:creationId xmlns:a16="http://schemas.microsoft.com/office/drawing/2014/main" id="{FDEEF05B-790A-2D1B-ADE0-1657A8DB146E}"/>
              </a:ext>
            </a:extLst>
          </p:cNvPr>
          <p:cNvSpPr/>
          <p:nvPr/>
        </p:nvSpPr>
        <p:spPr>
          <a:xfrm>
            <a:off x="7764261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5">
            <a:extLst>
              <a:ext uri="{FF2B5EF4-FFF2-40B4-BE49-F238E27FC236}">
                <a16:creationId xmlns:a16="http://schemas.microsoft.com/office/drawing/2014/main" id="{CB20C3F2-E732-8362-13A9-013C803CA4E9}"/>
              </a:ext>
            </a:extLst>
          </p:cNvPr>
          <p:cNvSpPr txBox="1"/>
          <p:nvPr/>
        </p:nvSpPr>
        <p:spPr>
          <a:xfrm>
            <a:off x="7732806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21" name="Shape 116">
            <a:extLst>
              <a:ext uri="{FF2B5EF4-FFF2-40B4-BE49-F238E27FC236}">
                <a16:creationId xmlns:a16="http://schemas.microsoft.com/office/drawing/2014/main" id="{BDB56701-F329-C7B5-2EBD-35DD90956BAE}"/>
              </a:ext>
            </a:extLst>
          </p:cNvPr>
          <p:cNvSpPr/>
          <p:nvPr/>
        </p:nvSpPr>
        <p:spPr>
          <a:xfrm>
            <a:off x="7811719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7">
            <a:extLst>
              <a:ext uri="{FF2B5EF4-FFF2-40B4-BE49-F238E27FC236}">
                <a16:creationId xmlns:a16="http://schemas.microsoft.com/office/drawing/2014/main" id="{03CE0438-D16A-2D2E-414F-3F15BBAB650F}"/>
              </a:ext>
            </a:extLst>
          </p:cNvPr>
          <p:cNvSpPr txBox="1"/>
          <p:nvPr/>
        </p:nvSpPr>
        <p:spPr>
          <a:xfrm>
            <a:off x="778026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23" name="Text 118">
            <a:extLst>
              <a:ext uri="{FF2B5EF4-FFF2-40B4-BE49-F238E27FC236}">
                <a16:creationId xmlns:a16="http://schemas.microsoft.com/office/drawing/2014/main" id="{E2497AA4-0069-081F-BD3F-55F23FFADBAF}"/>
              </a:ext>
            </a:extLst>
          </p:cNvPr>
          <p:cNvSpPr txBox="1"/>
          <p:nvPr/>
        </p:nvSpPr>
        <p:spPr>
          <a:xfrm>
            <a:off x="78276298" y="1809598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Usage Example:</a:t>
            </a:r>
            <a:endParaRPr lang="en-US" sz="1000" dirty="0"/>
          </a:p>
        </p:txBody>
      </p:sp>
      <p:sp>
        <p:nvSpPr>
          <p:cNvPr id="124" name="Shape 119">
            <a:extLst>
              <a:ext uri="{FF2B5EF4-FFF2-40B4-BE49-F238E27FC236}">
                <a16:creationId xmlns:a16="http://schemas.microsoft.com/office/drawing/2014/main" id="{C91C5209-064E-4760-56CC-D31AF5035C0E}"/>
              </a:ext>
            </a:extLst>
          </p:cNvPr>
          <p:cNvSpPr/>
          <p:nvPr/>
        </p:nvSpPr>
        <p:spPr>
          <a:xfrm>
            <a:off x="798719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0">
            <a:extLst>
              <a:ext uri="{FF2B5EF4-FFF2-40B4-BE49-F238E27FC236}">
                <a16:creationId xmlns:a16="http://schemas.microsoft.com/office/drawing/2014/main" id="{6840CB06-E13E-170F-FD9D-1AAFEA3B299D}"/>
              </a:ext>
            </a:extLst>
          </p:cNvPr>
          <p:cNvSpPr txBox="1"/>
          <p:nvPr/>
        </p:nvSpPr>
        <p:spPr>
          <a:xfrm>
            <a:off x="7955737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26" name="Text 121">
            <a:extLst>
              <a:ext uri="{FF2B5EF4-FFF2-40B4-BE49-F238E27FC236}">
                <a16:creationId xmlns:a16="http://schemas.microsoft.com/office/drawing/2014/main" id="{54BA0191-C6FA-484A-81D1-F6F50BEB9F22}"/>
              </a:ext>
            </a:extLst>
          </p:cNvPr>
          <p:cNvSpPr txBox="1"/>
          <p:nvPr/>
        </p:nvSpPr>
        <p:spPr>
          <a:xfrm>
            <a:off x="80031946" y="1809598"/>
            <a:ext cx="5462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needed=9 -&gt; ratio=0.1 -&gt; PCA=True</a:t>
            </a:r>
            <a:endParaRPr lang="en-US" sz="1000" dirty="0"/>
          </a:p>
        </p:txBody>
      </p:sp>
      <p:sp>
        <p:nvSpPr>
          <p:cNvPr id="127" name="Shape 122">
            <a:extLst>
              <a:ext uri="{FF2B5EF4-FFF2-40B4-BE49-F238E27FC236}">
                <a16:creationId xmlns:a16="http://schemas.microsoft.com/office/drawing/2014/main" id="{5C0C11FE-B685-37CC-99BB-31D36B80321E}"/>
              </a:ext>
            </a:extLst>
          </p:cNvPr>
          <p:cNvSpPr/>
          <p:nvPr/>
        </p:nvSpPr>
        <p:spPr>
          <a:xfrm>
            <a:off x="857076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3">
            <a:extLst>
              <a:ext uri="{FF2B5EF4-FFF2-40B4-BE49-F238E27FC236}">
                <a16:creationId xmlns:a16="http://schemas.microsoft.com/office/drawing/2014/main" id="{6A14627C-A11D-3716-EB24-73281E1A130A}"/>
              </a:ext>
            </a:extLst>
          </p:cNvPr>
          <p:cNvSpPr txBox="1"/>
          <p:nvPr/>
        </p:nvSpPr>
        <p:spPr>
          <a:xfrm>
            <a:off x="8539307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29" name="Text 124">
            <a:extLst>
              <a:ext uri="{FF2B5EF4-FFF2-40B4-BE49-F238E27FC236}">
                <a16:creationId xmlns:a16="http://schemas.microsoft.com/office/drawing/2014/main" id="{34D881A8-945E-30CE-017B-4146068DB6C7}"/>
              </a:ext>
            </a:extLst>
          </p:cNvPr>
          <p:cNvSpPr txBox="1"/>
          <p:nvPr/>
        </p:nvSpPr>
        <p:spPr>
          <a:xfrm>
            <a:off x="85867646" y="1809598"/>
            <a:ext cx="5625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needed=10 -&gt; ratio=0.0 -&gt; PCA=False</a:t>
            </a:r>
            <a:endParaRPr lang="en-US" sz="1000" dirty="0"/>
          </a:p>
        </p:txBody>
      </p:sp>
      <p:sp>
        <p:nvSpPr>
          <p:cNvPr id="130" name="Shape 125">
            <a:extLst>
              <a:ext uri="{FF2B5EF4-FFF2-40B4-BE49-F238E27FC236}">
                <a16:creationId xmlns:a16="http://schemas.microsoft.com/office/drawing/2014/main" id="{96532ABC-EDB4-BC83-0207-A3D5937669C8}"/>
              </a:ext>
            </a:extLst>
          </p:cNvPr>
          <p:cNvSpPr/>
          <p:nvPr/>
        </p:nvSpPr>
        <p:spPr>
          <a:xfrm>
            <a:off x="0" y="6608369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6">
            <a:extLst>
              <a:ext uri="{FF2B5EF4-FFF2-40B4-BE49-F238E27FC236}">
                <a16:creationId xmlns:a16="http://schemas.microsoft.com/office/drawing/2014/main" id="{61D98B16-4545-AA92-475D-62BB88EA42C1}"/>
              </a:ext>
            </a:extLst>
          </p:cNvPr>
          <p:cNvSpPr/>
          <p:nvPr/>
        </p:nvSpPr>
        <p:spPr>
          <a:xfrm>
            <a:off x="0" y="660836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29">
            <a:extLst>
              <a:ext uri="{FF2B5EF4-FFF2-40B4-BE49-F238E27FC236}">
                <a16:creationId xmlns:a16="http://schemas.microsoft.com/office/drawing/2014/main" id="{1E8843CF-3381-2D53-FA7A-200798B13E8E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Agent Profiles: Specialists(1/2)</a:t>
            </a:r>
            <a:endParaRPr lang="en-US" dirty="0"/>
          </a:p>
        </p:txBody>
      </p:sp>
      <p:pic>
        <p:nvPicPr>
          <p:cNvPr id="136" name="Image 3" descr="preencoded.png">
            <a:extLst>
              <a:ext uri="{FF2B5EF4-FFF2-40B4-BE49-F238E27FC236}">
                <a16:creationId xmlns:a16="http://schemas.microsoft.com/office/drawing/2014/main" id="{D43524CE-64E2-8886-F95A-5366347C3B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38" name="Text 132">
            <a:extLst>
              <a:ext uri="{FF2B5EF4-FFF2-40B4-BE49-F238E27FC236}">
                <a16:creationId xmlns:a16="http://schemas.microsoft.com/office/drawing/2014/main" id="{AD9A8CF6-2B12-A5C4-040F-17258D5B01BB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40" name="Text 133">
            <a:extLst>
              <a:ext uri="{FF2B5EF4-FFF2-40B4-BE49-F238E27FC236}">
                <a16:creationId xmlns:a16="http://schemas.microsoft.com/office/drawing/2014/main" id="{FED08FB2-70DA-3F76-EDF8-3950AF2B0995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6D931F-5ACB-6712-B811-DF9C37095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97" y="1195075"/>
            <a:ext cx="10964805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06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3A535-E1F8-ECE2-6AC8-249A4F51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4BA2C3-1663-5BA0-F710-F006B6D4886C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CB9E29-92BA-8282-96A5-695ACAF20435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943376B-8B91-7A15-3658-5E6092B27B07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8388D88-435E-905E-BBDC-1AEE87B6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332011F-0308-880D-B158-27CA7F6B42DE}"/>
              </a:ext>
            </a:extLst>
          </p:cNvPr>
          <p:cNvSpPr txBox="1"/>
          <p:nvPr/>
        </p:nvSpPr>
        <p:spPr>
          <a:xfrm>
            <a:off x="990295" y="237744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Stage 3: PCA Decision Logic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2A295DA-0064-3890-358F-F574FD58E715}"/>
              </a:ext>
            </a:extLst>
          </p:cNvPr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D1CBF65-44BF-61E2-BCC2-B5FE9FEEEDE7}"/>
              </a:ext>
            </a:extLst>
          </p:cNvPr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B18E1D6-BDD1-6835-9D12-4AE215CFE4AD}"/>
              </a:ext>
            </a:extLst>
          </p:cNvPr>
          <p:cNvSpPr/>
          <p:nvPr/>
        </p:nvSpPr>
        <p:spPr>
          <a:xfrm>
            <a:off x="0" y="838505"/>
            <a:ext cx="12191695" cy="5772607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F80A87D3-A6BE-CE98-A4D6-C478C96BE8A9}"/>
              </a:ext>
            </a:extLst>
          </p:cNvPr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03A6A985-F6AE-9444-63A9-6A323E4E33DE}"/>
              </a:ext>
            </a:extLst>
          </p:cNvPr>
          <p:cNvSpPr txBox="1"/>
          <p:nvPr/>
        </p:nvSpPr>
        <p:spPr>
          <a:xfrm>
            <a:off x="4869180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F22961EF-12FE-31EA-DC7B-450DAD787F99}"/>
              </a:ext>
            </a:extLst>
          </p:cNvPr>
          <p:cNvSpPr txBox="1"/>
          <p:nvPr/>
        </p:nvSpPr>
        <p:spPr>
          <a:xfrm>
            <a:off x="903061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EF878B45-7D56-E2CA-E861-EE70FB9365D1}"/>
              </a:ext>
            </a:extLst>
          </p:cNvPr>
          <p:cNvSpPr/>
          <p:nvPr/>
        </p:nvSpPr>
        <p:spPr>
          <a:xfrm>
            <a:off x="94247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BDA09F09-E882-17B0-877D-7666BC2E1C0C}"/>
              </a:ext>
            </a:extLst>
          </p:cNvPr>
          <p:cNvSpPr txBox="1"/>
          <p:nvPr/>
        </p:nvSpPr>
        <p:spPr>
          <a:xfrm>
            <a:off x="117454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000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BE623694-C0DA-E7AB-3135-6482363B5559}"/>
              </a:ext>
            </a:extLst>
          </p:cNvPr>
          <p:cNvSpPr/>
          <p:nvPr/>
        </p:nvSpPr>
        <p:spPr>
          <a:xfrm>
            <a:off x="12220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5">
            <a:extLst>
              <a:ext uri="{FF2B5EF4-FFF2-40B4-BE49-F238E27FC236}">
                <a16:creationId xmlns:a16="http://schemas.microsoft.com/office/drawing/2014/main" id="{B44F9B91-A853-D8F5-0778-86420FADE84F}"/>
              </a:ext>
            </a:extLst>
          </p:cNvPr>
          <p:cNvSpPr/>
          <p:nvPr/>
        </p:nvSpPr>
        <p:spPr>
          <a:xfrm>
            <a:off x="1589593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CDC73BB6-A180-122A-DE6E-53B118EB6ADA}"/>
              </a:ext>
            </a:extLst>
          </p:cNvPr>
          <p:cNvSpPr txBox="1"/>
          <p:nvPr/>
        </p:nvSpPr>
        <p:spPr>
          <a:xfrm>
            <a:off x="1558137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BAB0A8A5-F6AE-1CB8-4376-38AEE57716A1}"/>
              </a:ext>
            </a:extLst>
          </p:cNvPr>
          <p:cNvSpPr txBox="1"/>
          <p:nvPr/>
        </p:nvSpPr>
        <p:spPr>
          <a:xfrm>
            <a:off x="1605595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scaler =</a:t>
            </a:r>
            <a:endParaRPr lang="en-US" sz="1000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8EB6976D-1CC6-1CEF-8183-FBD39CF748DE}"/>
              </a:ext>
            </a:extLst>
          </p:cNvPr>
          <p:cNvSpPr txBox="1"/>
          <p:nvPr/>
        </p:nvSpPr>
        <p:spPr>
          <a:xfrm>
            <a:off x="16696030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2E327531-C489-DCDE-0BBA-A7CED75A48C7}"/>
              </a:ext>
            </a:extLst>
          </p:cNvPr>
          <p:cNvSpPr txBox="1"/>
          <p:nvPr/>
        </p:nvSpPr>
        <p:spPr>
          <a:xfrm>
            <a:off x="178161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55" name="Shape 50">
            <a:extLst>
              <a:ext uri="{FF2B5EF4-FFF2-40B4-BE49-F238E27FC236}">
                <a16:creationId xmlns:a16="http://schemas.microsoft.com/office/drawing/2014/main" id="{FB52F86D-A6F3-FE65-CE11-79E1AD3AB60F}"/>
              </a:ext>
            </a:extLst>
          </p:cNvPr>
          <p:cNvSpPr/>
          <p:nvPr/>
        </p:nvSpPr>
        <p:spPr>
          <a:xfrm>
            <a:off x="1829074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075DF69F-9CBB-249F-C632-8E366DCC33B1}"/>
              </a:ext>
            </a:extLst>
          </p:cNvPr>
          <p:cNvSpPr txBox="1"/>
          <p:nvPr/>
        </p:nvSpPr>
        <p:spPr>
          <a:xfrm>
            <a:off x="1797619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B36A538C-66F4-A0D4-BA95-BF3D988056C3}"/>
              </a:ext>
            </a:extLst>
          </p:cNvPr>
          <p:cNvSpPr txBox="1"/>
          <p:nvPr/>
        </p:nvSpPr>
        <p:spPr>
          <a:xfrm>
            <a:off x="1845076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numeric_df = df.select_dtypes(include=[np.number])</a:t>
            </a:r>
            <a:endParaRPr lang="en-US" sz="1000" dirty="0"/>
          </a:p>
        </p:txBody>
      </p:sp>
      <p:sp>
        <p:nvSpPr>
          <p:cNvPr id="58" name="Shape 53">
            <a:extLst>
              <a:ext uri="{FF2B5EF4-FFF2-40B4-BE49-F238E27FC236}">
                <a16:creationId xmlns:a16="http://schemas.microsoft.com/office/drawing/2014/main" id="{EDB69D2C-FCD5-B4B5-F5B7-06D7487CB592}"/>
              </a:ext>
            </a:extLst>
          </p:cNvPr>
          <p:cNvSpPr/>
          <p:nvPr/>
        </p:nvSpPr>
        <p:spPr>
          <a:xfrm>
            <a:off x="2276673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9D0EC1F7-997D-BAA5-C400-A381A9F381D8}"/>
              </a:ext>
            </a:extLst>
          </p:cNvPr>
          <p:cNvSpPr txBox="1"/>
          <p:nvPr/>
        </p:nvSpPr>
        <p:spPr>
          <a:xfrm>
            <a:off x="224521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635ABB45-87F6-1057-6AA5-B4C2BC738DA1}"/>
              </a:ext>
            </a:extLst>
          </p:cNvPr>
          <p:cNvSpPr txBox="1"/>
          <p:nvPr/>
        </p:nvSpPr>
        <p:spPr>
          <a:xfrm>
            <a:off x="22926751" y="1809598"/>
            <a:ext cx="37865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scaled_data = scaler.fit_transform(numeric_df)</a:t>
            </a:r>
            <a:endParaRPr lang="en-US" sz="1000" dirty="0"/>
          </a:p>
        </p:txBody>
      </p:sp>
      <p:sp>
        <p:nvSpPr>
          <p:cNvPr id="61" name="Shape 56">
            <a:extLst>
              <a:ext uri="{FF2B5EF4-FFF2-40B4-BE49-F238E27FC236}">
                <a16:creationId xmlns:a16="http://schemas.microsoft.com/office/drawing/2014/main" id="{62FDE525-83A9-1437-177A-865CDB294D28}"/>
              </a:ext>
            </a:extLst>
          </p:cNvPr>
          <p:cNvSpPr/>
          <p:nvPr/>
        </p:nvSpPr>
        <p:spPr>
          <a:xfrm>
            <a:off x="2692267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9B6BBC7E-2009-5CDD-5449-DEA98BDFB76F}"/>
              </a:ext>
            </a:extLst>
          </p:cNvPr>
          <p:cNvSpPr txBox="1"/>
          <p:nvPr/>
        </p:nvSpPr>
        <p:spPr>
          <a:xfrm>
            <a:off x="2660812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3" name="Shape 58">
            <a:extLst>
              <a:ext uri="{FF2B5EF4-FFF2-40B4-BE49-F238E27FC236}">
                <a16:creationId xmlns:a16="http://schemas.microsoft.com/office/drawing/2014/main" id="{9A4186CC-1DF1-60B1-B08E-DAEDB10C9962}"/>
              </a:ext>
            </a:extLst>
          </p:cNvPr>
          <p:cNvSpPr/>
          <p:nvPr/>
        </p:nvSpPr>
        <p:spPr>
          <a:xfrm>
            <a:off x="2739725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48580F23-7EDE-EA09-BE1C-D66289E1EF28}"/>
              </a:ext>
            </a:extLst>
          </p:cNvPr>
          <p:cNvSpPr txBox="1"/>
          <p:nvPr/>
        </p:nvSpPr>
        <p:spPr>
          <a:xfrm>
            <a:off x="2708269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65" name="Text 60">
            <a:extLst>
              <a:ext uri="{FF2B5EF4-FFF2-40B4-BE49-F238E27FC236}">
                <a16:creationId xmlns:a16="http://schemas.microsoft.com/office/drawing/2014/main" id="{CCD2BB8F-8525-E0C2-D57B-ED7F486A5F13}"/>
              </a:ext>
            </a:extLst>
          </p:cNvPr>
          <p:cNvSpPr txBox="1"/>
          <p:nvPr/>
        </p:nvSpPr>
        <p:spPr>
          <a:xfrm>
            <a:off x="27556358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Fit PCA to determine explained variance</a:t>
            </a:r>
            <a:endParaRPr lang="en-US" sz="1000" dirty="0"/>
          </a:p>
        </p:txBody>
      </p:sp>
      <p:sp>
        <p:nvSpPr>
          <p:cNvPr id="66" name="Shape 61">
            <a:extLst>
              <a:ext uri="{FF2B5EF4-FFF2-40B4-BE49-F238E27FC236}">
                <a16:creationId xmlns:a16="http://schemas.microsoft.com/office/drawing/2014/main" id="{2BBC33F2-7154-6F5C-3DFC-5B7C102DF0D3}"/>
              </a:ext>
            </a:extLst>
          </p:cNvPr>
          <p:cNvSpPr/>
          <p:nvPr/>
        </p:nvSpPr>
        <p:spPr>
          <a:xfrm>
            <a:off x="3139226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2">
            <a:extLst>
              <a:ext uri="{FF2B5EF4-FFF2-40B4-BE49-F238E27FC236}">
                <a16:creationId xmlns:a16="http://schemas.microsoft.com/office/drawing/2014/main" id="{A0E3F5E7-DB8E-A9DE-7CAC-570A87AADAAC}"/>
              </a:ext>
            </a:extLst>
          </p:cNvPr>
          <p:cNvSpPr txBox="1"/>
          <p:nvPr/>
        </p:nvSpPr>
        <p:spPr>
          <a:xfrm>
            <a:off x="3107771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68" name="Text 63">
            <a:extLst>
              <a:ext uri="{FF2B5EF4-FFF2-40B4-BE49-F238E27FC236}">
                <a16:creationId xmlns:a16="http://schemas.microsoft.com/office/drawing/2014/main" id="{5F893929-DDFC-9A19-9370-606696D40252}"/>
              </a:ext>
            </a:extLst>
          </p:cNvPr>
          <p:cNvSpPr txBox="1"/>
          <p:nvPr/>
        </p:nvSpPr>
        <p:spPr>
          <a:xfrm>
            <a:off x="31552286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 =</a:t>
            </a:r>
            <a:endParaRPr lang="en-US" sz="1000" dirty="0"/>
          </a:p>
        </p:txBody>
      </p:sp>
      <p:sp>
        <p:nvSpPr>
          <p:cNvPr id="69" name="Text 64">
            <a:extLst>
              <a:ext uri="{FF2B5EF4-FFF2-40B4-BE49-F238E27FC236}">
                <a16:creationId xmlns:a16="http://schemas.microsoft.com/office/drawing/2014/main" id="{EBD900A6-FCCF-490D-0439-2C7418ABFC93}"/>
              </a:ext>
            </a:extLst>
          </p:cNvPr>
          <p:cNvSpPr txBox="1"/>
          <p:nvPr/>
        </p:nvSpPr>
        <p:spPr>
          <a:xfrm>
            <a:off x="31952794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</a:t>
            </a:r>
            <a:endParaRPr lang="en-US" sz="1000" dirty="0"/>
          </a:p>
        </p:txBody>
      </p:sp>
      <p:sp>
        <p:nvSpPr>
          <p:cNvPr id="70" name="Text 65">
            <a:extLst>
              <a:ext uri="{FF2B5EF4-FFF2-40B4-BE49-F238E27FC236}">
                <a16:creationId xmlns:a16="http://schemas.microsoft.com/office/drawing/2014/main" id="{C67BFDA8-E6B8-B04F-C11C-441C38BD8037}"/>
              </a:ext>
            </a:extLst>
          </p:cNvPr>
          <p:cNvSpPr txBox="1"/>
          <p:nvPr/>
        </p:nvSpPr>
        <p:spPr>
          <a:xfrm>
            <a:off x="3219236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71" name="Shape 66">
            <a:extLst>
              <a:ext uri="{FF2B5EF4-FFF2-40B4-BE49-F238E27FC236}">
                <a16:creationId xmlns:a16="http://schemas.microsoft.com/office/drawing/2014/main" id="{650ABB53-F28B-8043-696A-78D7117C24B5}"/>
              </a:ext>
            </a:extLst>
          </p:cNvPr>
          <p:cNvSpPr/>
          <p:nvPr/>
        </p:nvSpPr>
        <p:spPr>
          <a:xfrm>
            <a:off x="326678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7">
            <a:extLst>
              <a:ext uri="{FF2B5EF4-FFF2-40B4-BE49-F238E27FC236}">
                <a16:creationId xmlns:a16="http://schemas.microsoft.com/office/drawing/2014/main" id="{E69461B8-7CA8-513B-322D-258113255433}"/>
              </a:ext>
            </a:extLst>
          </p:cNvPr>
          <p:cNvSpPr txBox="1"/>
          <p:nvPr/>
        </p:nvSpPr>
        <p:spPr>
          <a:xfrm>
            <a:off x="3235330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68">
            <a:extLst>
              <a:ext uri="{FF2B5EF4-FFF2-40B4-BE49-F238E27FC236}">
                <a16:creationId xmlns:a16="http://schemas.microsoft.com/office/drawing/2014/main" id="{C36A0B88-3276-053B-6C4A-9A80F474E8FA}"/>
              </a:ext>
            </a:extLst>
          </p:cNvPr>
          <p:cNvSpPr txBox="1"/>
          <p:nvPr/>
        </p:nvSpPr>
        <p:spPr>
          <a:xfrm>
            <a:off x="32826960" y="1809598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pca.fit(scaled_data)</a:t>
            </a:r>
            <a:endParaRPr lang="en-US" sz="1000" dirty="0"/>
          </a:p>
        </p:txBody>
      </p:sp>
      <p:sp>
        <p:nvSpPr>
          <p:cNvPr id="74" name="Shape 69">
            <a:extLst>
              <a:ext uri="{FF2B5EF4-FFF2-40B4-BE49-F238E27FC236}">
                <a16:creationId xmlns:a16="http://schemas.microsoft.com/office/drawing/2014/main" id="{15BB33D8-0EA7-48A2-3D05-C29B58BAF033}"/>
              </a:ext>
            </a:extLst>
          </p:cNvPr>
          <p:cNvSpPr/>
          <p:nvPr/>
        </p:nvSpPr>
        <p:spPr>
          <a:xfrm>
            <a:off x="3474262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0">
            <a:extLst>
              <a:ext uri="{FF2B5EF4-FFF2-40B4-BE49-F238E27FC236}">
                <a16:creationId xmlns:a16="http://schemas.microsoft.com/office/drawing/2014/main" id="{8511E8C3-D170-8105-B7EF-D04CEAEAF42C}"/>
              </a:ext>
            </a:extLst>
          </p:cNvPr>
          <p:cNvSpPr txBox="1"/>
          <p:nvPr/>
        </p:nvSpPr>
        <p:spPr>
          <a:xfrm>
            <a:off x="344280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76" name="Shape 71">
            <a:extLst>
              <a:ext uri="{FF2B5EF4-FFF2-40B4-BE49-F238E27FC236}">
                <a16:creationId xmlns:a16="http://schemas.microsoft.com/office/drawing/2014/main" id="{8C182C52-4A05-DAA4-CB29-D3443B39CDA3}"/>
              </a:ext>
            </a:extLst>
          </p:cNvPr>
          <p:cNvSpPr/>
          <p:nvPr/>
        </p:nvSpPr>
        <p:spPr>
          <a:xfrm>
            <a:off x="3521720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>
            <a:extLst>
              <a:ext uri="{FF2B5EF4-FFF2-40B4-BE49-F238E27FC236}">
                <a16:creationId xmlns:a16="http://schemas.microsoft.com/office/drawing/2014/main" id="{453B67B0-60C5-87CB-073B-23D2CFF65CE9}"/>
              </a:ext>
            </a:extLst>
          </p:cNvPr>
          <p:cNvSpPr txBox="1"/>
          <p:nvPr/>
        </p:nvSpPr>
        <p:spPr>
          <a:xfrm>
            <a:off x="3490264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Text 73">
            <a:extLst>
              <a:ext uri="{FF2B5EF4-FFF2-40B4-BE49-F238E27FC236}">
                <a16:creationId xmlns:a16="http://schemas.microsoft.com/office/drawing/2014/main" id="{75DAFB84-59E0-728A-5CE9-DBA5E6ABB961}"/>
              </a:ext>
            </a:extLst>
          </p:cNvPr>
          <p:cNvSpPr txBox="1"/>
          <p:nvPr/>
        </p:nvSpPr>
        <p:spPr>
          <a:xfrm>
            <a:off x="35376307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Find components needed for 95% variance</a:t>
            </a:r>
            <a:endParaRPr lang="en-US" sz="1000" dirty="0"/>
          </a:p>
        </p:txBody>
      </p:sp>
      <p:sp>
        <p:nvSpPr>
          <p:cNvPr id="79" name="Shape 74">
            <a:extLst>
              <a:ext uri="{FF2B5EF4-FFF2-40B4-BE49-F238E27FC236}">
                <a16:creationId xmlns:a16="http://schemas.microsoft.com/office/drawing/2014/main" id="{E48D5373-56FD-CA8F-8D6B-38E977808CDE}"/>
              </a:ext>
            </a:extLst>
          </p:cNvPr>
          <p:cNvSpPr/>
          <p:nvPr/>
        </p:nvSpPr>
        <p:spPr>
          <a:xfrm>
            <a:off x="3921221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>
            <a:extLst>
              <a:ext uri="{FF2B5EF4-FFF2-40B4-BE49-F238E27FC236}">
                <a16:creationId xmlns:a16="http://schemas.microsoft.com/office/drawing/2014/main" id="{55C3F267-AEB5-ED4A-78E1-F7AC769D066B}"/>
              </a:ext>
            </a:extLst>
          </p:cNvPr>
          <p:cNvSpPr txBox="1"/>
          <p:nvPr/>
        </p:nvSpPr>
        <p:spPr>
          <a:xfrm>
            <a:off x="388976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81" name="Text 76">
            <a:extLst>
              <a:ext uri="{FF2B5EF4-FFF2-40B4-BE49-F238E27FC236}">
                <a16:creationId xmlns:a16="http://schemas.microsoft.com/office/drawing/2014/main" id="{16288DAD-1767-E722-BC9C-1257B5972711}"/>
              </a:ext>
            </a:extLst>
          </p:cNvPr>
          <p:cNvSpPr txBox="1"/>
          <p:nvPr/>
        </p:nvSpPr>
        <p:spPr>
          <a:xfrm>
            <a:off x="39372235" y="1809598"/>
            <a:ext cx="50630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cumulative_variance = np.cumsum(pca.explained_variance_ratio_)</a:t>
            </a:r>
            <a:endParaRPr lang="en-US" sz="1000" dirty="0"/>
          </a:p>
        </p:txBody>
      </p:sp>
      <p:sp>
        <p:nvSpPr>
          <p:cNvPr id="82" name="Shape 77">
            <a:extLst>
              <a:ext uri="{FF2B5EF4-FFF2-40B4-BE49-F238E27FC236}">
                <a16:creationId xmlns:a16="http://schemas.microsoft.com/office/drawing/2014/main" id="{C6025FF0-5DDB-3677-2F6D-547124C6CD90}"/>
              </a:ext>
            </a:extLst>
          </p:cNvPr>
          <p:cNvSpPr/>
          <p:nvPr/>
        </p:nvSpPr>
        <p:spPr>
          <a:xfrm>
            <a:off x="4464832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8">
            <a:extLst>
              <a:ext uri="{FF2B5EF4-FFF2-40B4-BE49-F238E27FC236}">
                <a16:creationId xmlns:a16="http://schemas.microsoft.com/office/drawing/2014/main" id="{A49D9E78-3B09-D4A2-82FC-21C763F69966}"/>
              </a:ext>
            </a:extLst>
          </p:cNvPr>
          <p:cNvSpPr txBox="1"/>
          <p:nvPr/>
        </p:nvSpPr>
        <p:spPr>
          <a:xfrm>
            <a:off x="443337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84" name="Text 79">
            <a:extLst>
              <a:ext uri="{FF2B5EF4-FFF2-40B4-BE49-F238E27FC236}">
                <a16:creationId xmlns:a16="http://schemas.microsoft.com/office/drawing/2014/main" id="{3CE47CB6-FD52-0515-864F-D54C22EC7F6E}"/>
              </a:ext>
            </a:extLst>
          </p:cNvPr>
          <p:cNvSpPr txBox="1"/>
          <p:nvPr/>
        </p:nvSpPr>
        <p:spPr>
          <a:xfrm>
            <a:off x="4480834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np.where returns indices where condition is true</a:t>
            </a:r>
            <a:endParaRPr lang="en-US" sz="1000" dirty="0"/>
          </a:p>
        </p:txBody>
      </p:sp>
      <p:sp>
        <p:nvSpPr>
          <p:cNvPr id="85" name="Shape 80">
            <a:extLst>
              <a:ext uri="{FF2B5EF4-FFF2-40B4-BE49-F238E27FC236}">
                <a16:creationId xmlns:a16="http://schemas.microsoft.com/office/drawing/2014/main" id="{7E290FCC-FF54-D010-A0AE-D4FE71DE4E2C}"/>
              </a:ext>
            </a:extLst>
          </p:cNvPr>
          <p:cNvSpPr/>
          <p:nvPr/>
        </p:nvSpPr>
        <p:spPr>
          <a:xfrm>
            <a:off x="4912431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1">
            <a:extLst>
              <a:ext uri="{FF2B5EF4-FFF2-40B4-BE49-F238E27FC236}">
                <a16:creationId xmlns:a16="http://schemas.microsoft.com/office/drawing/2014/main" id="{BCEF67AB-AFE2-641C-3BB9-8EF4837BEBB6}"/>
              </a:ext>
            </a:extLst>
          </p:cNvPr>
          <p:cNvSpPr txBox="1"/>
          <p:nvPr/>
        </p:nvSpPr>
        <p:spPr>
          <a:xfrm>
            <a:off x="4880975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87" name="Text 82">
            <a:extLst>
              <a:ext uri="{FF2B5EF4-FFF2-40B4-BE49-F238E27FC236}">
                <a16:creationId xmlns:a16="http://schemas.microsoft.com/office/drawing/2014/main" id="{E23B1612-7AEB-D68D-4DD7-9357691393D7}"/>
              </a:ext>
            </a:extLst>
          </p:cNvPr>
          <p:cNvSpPr txBox="1"/>
          <p:nvPr/>
        </p:nvSpPr>
        <p:spPr>
          <a:xfrm>
            <a:off x="49284331" y="1809598"/>
            <a:ext cx="63486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n_components = np.where(cumulative_variance &gt;= cumulative_variance_threshold)[</a:t>
            </a:r>
            <a:endParaRPr lang="en-US" sz="1000" dirty="0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CE58EA29-B756-ACF4-EF44-EA8F5598CD44}"/>
              </a:ext>
            </a:extLst>
          </p:cNvPr>
          <p:cNvSpPr txBox="1"/>
          <p:nvPr/>
        </p:nvSpPr>
        <p:spPr>
          <a:xfrm>
            <a:off x="5552602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89" name="Text 84">
            <a:extLst>
              <a:ext uri="{FF2B5EF4-FFF2-40B4-BE49-F238E27FC236}">
                <a16:creationId xmlns:a16="http://schemas.microsoft.com/office/drawing/2014/main" id="{9F64ECCF-12A7-8AB9-0616-59C99C9D50E1}"/>
              </a:ext>
            </a:extLst>
          </p:cNvPr>
          <p:cNvSpPr txBox="1"/>
          <p:nvPr/>
        </p:nvSpPr>
        <p:spPr>
          <a:xfrm>
            <a:off x="556055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][</a:t>
            </a:r>
            <a:endParaRPr lang="en-US" sz="1000" dirty="0"/>
          </a:p>
        </p:txBody>
      </p:sp>
      <p:sp>
        <p:nvSpPr>
          <p:cNvPr id="90" name="Text 85">
            <a:extLst>
              <a:ext uri="{FF2B5EF4-FFF2-40B4-BE49-F238E27FC236}">
                <a16:creationId xmlns:a16="http://schemas.microsoft.com/office/drawing/2014/main" id="{1A5A0E62-FD77-A1D9-5DBF-B5DE2E6D319B}"/>
              </a:ext>
            </a:extLst>
          </p:cNvPr>
          <p:cNvSpPr txBox="1"/>
          <p:nvPr/>
        </p:nvSpPr>
        <p:spPr>
          <a:xfrm>
            <a:off x="5576559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91" name="Text 86">
            <a:extLst>
              <a:ext uri="{FF2B5EF4-FFF2-40B4-BE49-F238E27FC236}">
                <a16:creationId xmlns:a16="http://schemas.microsoft.com/office/drawing/2014/main" id="{693A2FAF-4367-C093-4AE8-4E214F1A1303}"/>
              </a:ext>
            </a:extLst>
          </p:cNvPr>
          <p:cNvSpPr txBox="1"/>
          <p:nvPr/>
        </p:nvSpPr>
        <p:spPr>
          <a:xfrm>
            <a:off x="5584606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+</a:t>
            </a:r>
            <a:endParaRPr lang="en-US" sz="1000" dirty="0"/>
          </a:p>
        </p:txBody>
      </p:sp>
      <p:sp>
        <p:nvSpPr>
          <p:cNvPr id="92" name="Text 87">
            <a:extLst>
              <a:ext uri="{FF2B5EF4-FFF2-40B4-BE49-F238E27FC236}">
                <a16:creationId xmlns:a16="http://schemas.microsoft.com/office/drawing/2014/main" id="{E626EA47-35E5-26F3-53CD-BCAAFB69CE72}"/>
              </a:ext>
            </a:extLst>
          </p:cNvPr>
          <p:cNvSpPr txBox="1"/>
          <p:nvPr/>
        </p:nvSpPr>
        <p:spPr>
          <a:xfrm>
            <a:off x="56086553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Shape 88">
            <a:extLst>
              <a:ext uri="{FF2B5EF4-FFF2-40B4-BE49-F238E27FC236}">
                <a16:creationId xmlns:a16="http://schemas.microsoft.com/office/drawing/2014/main" id="{8199816F-C37B-EF52-9272-64950297C796}"/>
              </a:ext>
            </a:extLst>
          </p:cNvPr>
          <p:cNvSpPr/>
          <p:nvPr/>
        </p:nvSpPr>
        <p:spPr>
          <a:xfrm>
            <a:off x="5648065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9">
            <a:extLst>
              <a:ext uri="{FF2B5EF4-FFF2-40B4-BE49-F238E27FC236}">
                <a16:creationId xmlns:a16="http://schemas.microsoft.com/office/drawing/2014/main" id="{EF248AB1-E42F-546F-B0B0-9C0F801D812E}"/>
              </a:ext>
            </a:extLst>
          </p:cNvPr>
          <p:cNvSpPr txBox="1"/>
          <p:nvPr/>
        </p:nvSpPr>
        <p:spPr>
          <a:xfrm>
            <a:off x="5616610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95" name="Shape 90">
            <a:extLst>
              <a:ext uri="{FF2B5EF4-FFF2-40B4-BE49-F238E27FC236}">
                <a16:creationId xmlns:a16="http://schemas.microsoft.com/office/drawing/2014/main" id="{D120C0C2-58B4-AD34-ABBF-4350D42A35B8}"/>
              </a:ext>
            </a:extLst>
          </p:cNvPr>
          <p:cNvSpPr/>
          <p:nvPr/>
        </p:nvSpPr>
        <p:spPr>
          <a:xfrm>
            <a:off x="5695523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1">
            <a:extLst>
              <a:ext uri="{FF2B5EF4-FFF2-40B4-BE49-F238E27FC236}">
                <a16:creationId xmlns:a16="http://schemas.microsoft.com/office/drawing/2014/main" id="{9D3A6351-1B95-3FA2-D965-C8DE505337E3}"/>
              </a:ext>
            </a:extLst>
          </p:cNvPr>
          <p:cNvSpPr txBox="1"/>
          <p:nvPr/>
        </p:nvSpPr>
        <p:spPr>
          <a:xfrm>
            <a:off x="5664067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97" name="Text 92">
            <a:extLst>
              <a:ext uri="{FF2B5EF4-FFF2-40B4-BE49-F238E27FC236}">
                <a16:creationId xmlns:a16="http://schemas.microsoft.com/office/drawing/2014/main" id="{41903645-25DF-37A1-0B9A-4A0215D1926D}"/>
              </a:ext>
            </a:extLst>
          </p:cNvPr>
          <p:cNvSpPr txBox="1"/>
          <p:nvPr/>
        </p:nvSpPr>
        <p:spPr>
          <a:xfrm>
            <a:off x="57115253" y="1809598"/>
            <a:ext cx="3710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Check if reduction is significant (&gt;10%)</a:t>
            </a:r>
            <a:endParaRPr lang="en-US" sz="1000" dirty="0"/>
          </a:p>
        </p:txBody>
      </p:sp>
      <p:sp>
        <p:nvSpPr>
          <p:cNvPr id="98" name="Shape 93">
            <a:extLst>
              <a:ext uri="{FF2B5EF4-FFF2-40B4-BE49-F238E27FC236}">
                <a16:creationId xmlns:a16="http://schemas.microsoft.com/office/drawing/2014/main" id="{C0E03E7D-ED96-6DD8-139C-598EB0A55246}"/>
              </a:ext>
            </a:extLst>
          </p:cNvPr>
          <p:cNvSpPr/>
          <p:nvPr/>
        </p:nvSpPr>
        <p:spPr>
          <a:xfrm>
            <a:off x="610307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4">
            <a:extLst>
              <a:ext uri="{FF2B5EF4-FFF2-40B4-BE49-F238E27FC236}">
                <a16:creationId xmlns:a16="http://schemas.microsoft.com/office/drawing/2014/main" id="{55AA5137-469F-3110-8D3D-B5EB836CDE20}"/>
              </a:ext>
            </a:extLst>
          </p:cNvPr>
          <p:cNvSpPr txBox="1"/>
          <p:nvPr/>
        </p:nvSpPr>
        <p:spPr>
          <a:xfrm>
            <a:off x="6071616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100" name="Text 95">
            <a:extLst>
              <a:ext uri="{FF2B5EF4-FFF2-40B4-BE49-F238E27FC236}">
                <a16:creationId xmlns:a16="http://schemas.microsoft.com/office/drawing/2014/main" id="{F747BA2E-B38D-2D21-5C51-37CD75FE9BB9}"/>
              </a:ext>
            </a:extLst>
          </p:cNvPr>
          <p:cNvSpPr txBox="1"/>
          <p:nvPr/>
        </p:nvSpPr>
        <p:spPr>
          <a:xfrm>
            <a:off x="61190734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original_dims = df.shape[</a:t>
            </a:r>
            <a:endParaRPr lang="en-US" sz="1000" dirty="0"/>
          </a:p>
        </p:txBody>
      </p:sp>
      <p:sp>
        <p:nvSpPr>
          <p:cNvPr id="101" name="Text 96">
            <a:extLst>
              <a:ext uri="{FF2B5EF4-FFF2-40B4-BE49-F238E27FC236}">
                <a16:creationId xmlns:a16="http://schemas.microsoft.com/office/drawing/2014/main" id="{37A45C0F-7623-4505-10C3-3081D6826968}"/>
              </a:ext>
            </a:extLst>
          </p:cNvPr>
          <p:cNvSpPr txBox="1"/>
          <p:nvPr/>
        </p:nvSpPr>
        <p:spPr>
          <a:xfrm>
            <a:off x="63191441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97">
            <a:extLst>
              <a:ext uri="{FF2B5EF4-FFF2-40B4-BE49-F238E27FC236}">
                <a16:creationId xmlns:a16="http://schemas.microsoft.com/office/drawing/2014/main" id="{9EA7D892-3E18-FA80-3723-20B7DF56EBDB}"/>
              </a:ext>
            </a:extLst>
          </p:cNvPr>
          <p:cNvSpPr txBox="1"/>
          <p:nvPr/>
        </p:nvSpPr>
        <p:spPr>
          <a:xfrm>
            <a:off x="6327190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03" name="Shape 98">
            <a:extLst>
              <a:ext uri="{FF2B5EF4-FFF2-40B4-BE49-F238E27FC236}">
                <a16:creationId xmlns:a16="http://schemas.microsoft.com/office/drawing/2014/main" id="{174042F2-2B54-8778-6B88-C4E1A15DB07A}"/>
              </a:ext>
            </a:extLst>
          </p:cNvPr>
          <p:cNvSpPr/>
          <p:nvPr/>
        </p:nvSpPr>
        <p:spPr>
          <a:xfrm>
            <a:off x="636660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99">
            <a:extLst>
              <a:ext uri="{FF2B5EF4-FFF2-40B4-BE49-F238E27FC236}">
                <a16:creationId xmlns:a16="http://schemas.microsoft.com/office/drawing/2014/main" id="{541F1F5C-F005-FF76-8E7E-4BDF4BC3879C}"/>
              </a:ext>
            </a:extLst>
          </p:cNvPr>
          <p:cNvSpPr txBox="1"/>
          <p:nvPr/>
        </p:nvSpPr>
        <p:spPr>
          <a:xfrm>
            <a:off x="6335146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105" name="Text 100">
            <a:extLst>
              <a:ext uri="{FF2B5EF4-FFF2-40B4-BE49-F238E27FC236}">
                <a16:creationId xmlns:a16="http://schemas.microsoft.com/office/drawing/2014/main" id="{8E82FCD0-7563-BBF6-EC2C-4920A30D9751}"/>
              </a:ext>
            </a:extLst>
          </p:cNvPr>
          <p:cNvSpPr txBox="1"/>
          <p:nvPr/>
        </p:nvSpPr>
        <p:spPr>
          <a:xfrm>
            <a:off x="63826034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dim_reduction_ratio =</a:t>
            </a:r>
            <a:endParaRPr lang="en-US" sz="1000" dirty="0"/>
          </a:p>
        </p:txBody>
      </p:sp>
      <p:sp>
        <p:nvSpPr>
          <p:cNvPr id="106" name="Text 101">
            <a:extLst>
              <a:ext uri="{FF2B5EF4-FFF2-40B4-BE49-F238E27FC236}">
                <a16:creationId xmlns:a16="http://schemas.microsoft.com/office/drawing/2014/main" id="{B6EAF6BE-2868-268A-9A10-6A19058B8643}"/>
              </a:ext>
            </a:extLst>
          </p:cNvPr>
          <p:cNvSpPr txBox="1"/>
          <p:nvPr/>
        </p:nvSpPr>
        <p:spPr>
          <a:xfrm>
            <a:off x="65506702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7" name="Text 102">
            <a:extLst>
              <a:ext uri="{FF2B5EF4-FFF2-40B4-BE49-F238E27FC236}">
                <a16:creationId xmlns:a16="http://schemas.microsoft.com/office/drawing/2014/main" id="{E96A27D1-76F3-8093-60F8-0D2EBD795178}"/>
              </a:ext>
            </a:extLst>
          </p:cNvPr>
          <p:cNvSpPr txBox="1"/>
          <p:nvPr/>
        </p:nvSpPr>
        <p:spPr>
          <a:xfrm>
            <a:off x="65587169" y="1809598"/>
            <a:ext cx="2662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(n_components / original_dims)</a:t>
            </a:r>
            <a:endParaRPr lang="en-US" sz="1000" dirty="0"/>
          </a:p>
        </p:txBody>
      </p:sp>
      <p:sp>
        <p:nvSpPr>
          <p:cNvPr id="108" name="Shape 103">
            <a:extLst>
              <a:ext uri="{FF2B5EF4-FFF2-40B4-BE49-F238E27FC236}">
                <a16:creationId xmlns:a16="http://schemas.microsoft.com/office/drawing/2014/main" id="{C719100D-D742-9510-50D1-A2D5387E2690}"/>
              </a:ext>
            </a:extLst>
          </p:cNvPr>
          <p:cNvSpPr/>
          <p:nvPr/>
        </p:nvSpPr>
        <p:spPr>
          <a:xfrm>
            <a:off x="68462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4">
            <a:extLst>
              <a:ext uri="{FF2B5EF4-FFF2-40B4-BE49-F238E27FC236}">
                <a16:creationId xmlns:a16="http://schemas.microsoft.com/office/drawing/2014/main" id="{9E3170F0-3BA5-896B-ECD2-9A412D5270FB}"/>
              </a:ext>
            </a:extLst>
          </p:cNvPr>
          <p:cNvSpPr txBox="1"/>
          <p:nvPr/>
        </p:nvSpPr>
        <p:spPr>
          <a:xfrm>
            <a:off x="681474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10" name="Shape 105">
            <a:extLst>
              <a:ext uri="{FF2B5EF4-FFF2-40B4-BE49-F238E27FC236}">
                <a16:creationId xmlns:a16="http://schemas.microsoft.com/office/drawing/2014/main" id="{080E2572-086A-A610-AD6F-9B59FC0D8407}"/>
              </a:ext>
            </a:extLst>
          </p:cNvPr>
          <p:cNvSpPr/>
          <p:nvPr/>
        </p:nvSpPr>
        <p:spPr>
          <a:xfrm>
            <a:off x="6893661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6">
            <a:extLst>
              <a:ext uri="{FF2B5EF4-FFF2-40B4-BE49-F238E27FC236}">
                <a16:creationId xmlns:a16="http://schemas.microsoft.com/office/drawing/2014/main" id="{56A840BA-3E04-BDC9-280B-9C31BEF59802}"/>
              </a:ext>
            </a:extLst>
          </p:cNvPr>
          <p:cNvSpPr txBox="1"/>
          <p:nvPr/>
        </p:nvSpPr>
        <p:spPr>
          <a:xfrm>
            <a:off x="686220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12" name="Text 107">
            <a:extLst>
              <a:ext uri="{FF2B5EF4-FFF2-40B4-BE49-F238E27FC236}">
                <a16:creationId xmlns:a16="http://schemas.microsoft.com/office/drawing/2014/main" id="{3CCC8F18-DEF5-3306-8C3E-F0F107F2E395}"/>
              </a:ext>
            </a:extLst>
          </p:cNvPr>
          <p:cNvSpPr txBox="1"/>
          <p:nvPr/>
        </p:nvSpPr>
        <p:spPr>
          <a:xfrm>
            <a:off x="69096636" y="1809598"/>
            <a:ext cx="49103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 = dim_reduction_ratio &gt;= min_dim_reduction_ratio</a:t>
            </a:r>
            <a:endParaRPr lang="en-US" sz="1000" dirty="0"/>
          </a:p>
        </p:txBody>
      </p:sp>
      <p:sp>
        <p:nvSpPr>
          <p:cNvPr id="113" name="Shape 108">
            <a:extLst>
              <a:ext uri="{FF2B5EF4-FFF2-40B4-BE49-F238E27FC236}">
                <a16:creationId xmlns:a16="http://schemas.microsoft.com/office/drawing/2014/main" id="{FD37667B-076A-F0B3-383E-AA00D378BF87}"/>
              </a:ext>
            </a:extLst>
          </p:cNvPr>
          <p:cNvSpPr/>
          <p:nvPr/>
        </p:nvSpPr>
        <p:spPr>
          <a:xfrm>
            <a:off x="7421270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9">
            <a:extLst>
              <a:ext uri="{FF2B5EF4-FFF2-40B4-BE49-F238E27FC236}">
                <a16:creationId xmlns:a16="http://schemas.microsoft.com/office/drawing/2014/main" id="{330F1D4E-4294-8360-36A7-91E6EA36A4C7}"/>
              </a:ext>
            </a:extLst>
          </p:cNvPr>
          <p:cNvSpPr txBox="1"/>
          <p:nvPr/>
        </p:nvSpPr>
        <p:spPr>
          <a:xfrm>
            <a:off x="7389815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15" name="Shape 110">
            <a:extLst>
              <a:ext uri="{FF2B5EF4-FFF2-40B4-BE49-F238E27FC236}">
                <a16:creationId xmlns:a16="http://schemas.microsoft.com/office/drawing/2014/main" id="{20752287-277B-E64D-99A3-40031B3C6E54}"/>
              </a:ext>
            </a:extLst>
          </p:cNvPr>
          <p:cNvSpPr/>
          <p:nvPr/>
        </p:nvSpPr>
        <p:spPr>
          <a:xfrm>
            <a:off x="7468727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1">
            <a:extLst>
              <a:ext uri="{FF2B5EF4-FFF2-40B4-BE49-F238E27FC236}">
                <a16:creationId xmlns:a16="http://schemas.microsoft.com/office/drawing/2014/main" id="{E59A82FA-6BFF-C90F-8CFC-35CE4B7C9CC6}"/>
              </a:ext>
            </a:extLst>
          </p:cNvPr>
          <p:cNvSpPr txBox="1"/>
          <p:nvPr/>
        </p:nvSpPr>
        <p:spPr>
          <a:xfrm>
            <a:off x="7437272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17" name="Text 112">
            <a:extLst>
              <a:ext uri="{FF2B5EF4-FFF2-40B4-BE49-F238E27FC236}">
                <a16:creationId xmlns:a16="http://schemas.microsoft.com/office/drawing/2014/main" id="{03DF4154-B1DD-4CA8-F062-C1B7423FA957}"/>
              </a:ext>
            </a:extLst>
          </p:cNvPr>
          <p:cNvSpPr txBox="1"/>
          <p:nvPr/>
        </p:nvSpPr>
        <p:spPr>
          <a:xfrm>
            <a:off x="74847298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18" name="Text 113">
            <a:extLst>
              <a:ext uri="{FF2B5EF4-FFF2-40B4-BE49-F238E27FC236}">
                <a16:creationId xmlns:a16="http://schemas.microsoft.com/office/drawing/2014/main" id="{9C70DC4F-5C62-B383-4147-89FFD28DE548}"/>
              </a:ext>
            </a:extLst>
          </p:cNvPr>
          <p:cNvSpPr txBox="1"/>
          <p:nvPr/>
        </p:nvSpPr>
        <p:spPr>
          <a:xfrm>
            <a:off x="75327358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perform_pca, n_components</a:t>
            </a:r>
            <a:endParaRPr lang="en-US" sz="1000" dirty="0"/>
          </a:p>
        </p:txBody>
      </p:sp>
      <p:sp>
        <p:nvSpPr>
          <p:cNvPr id="119" name="Shape 114">
            <a:extLst>
              <a:ext uri="{FF2B5EF4-FFF2-40B4-BE49-F238E27FC236}">
                <a16:creationId xmlns:a16="http://schemas.microsoft.com/office/drawing/2014/main" id="{072F9212-96E8-C08D-E208-C304258D9701}"/>
              </a:ext>
            </a:extLst>
          </p:cNvPr>
          <p:cNvSpPr/>
          <p:nvPr/>
        </p:nvSpPr>
        <p:spPr>
          <a:xfrm>
            <a:off x="7764261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5">
            <a:extLst>
              <a:ext uri="{FF2B5EF4-FFF2-40B4-BE49-F238E27FC236}">
                <a16:creationId xmlns:a16="http://schemas.microsoft.com/office/drawing/2014/main" id="{A2D38345-8C17-ADD5-AD1A-AFE8109C0F51}"/>
              </a:ext>
            </a:extLst>
          </p:cNvPr>
          <p:cNvSpPr txBox="1"/>
          <p:nvPr/>
        </p:nvSpPr>
        <p:spPr>
          <a:xfrm>
            <a:off x="7732806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21" name="Shape 116">
            <a:extLst>
              <a:ext uri="{FF2B5EF4-FFF2-40B4-BE49-F238E27FC236}">
                <a16:creationId xmlns:a16="http://schemas.microsoft.com/office/drawing/2014/main" id="{95CB01ED-65D3-5871-F3A4-837B0E9F096F}"/>
              </a:ext>
            </a:extLst>
          </p:cNvPr>
          <p:cNvSpPr/>
          <p:nvPr/>
        </p:nvSpPr>
        <p:spPr>
          <a:xfrm>
            <a:off x="7811719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7">
            <a:extLst>
              <a:ext uri="{FF2B5EF4-FFF2-40B4-BE49-F238E27FC236}">
                <a16:creationId xmlns:a16="http://schemas.microsoft.com/office/drawing/2014/main" id="{81B45754-420E-F24B-70C4-A67B5DAA0200}"/>
              </a:ext>
            </a:extLst>
          </p:cNvPr>
          <p:cNvSpPr txBox="1"/>
          <p:nvPr/>
        </p:nvSpPr>
        <p:spPr>
          <a:xfrm>
            <a:off x="778026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23" name="Text 118">
            <a:extLst>
              <a:ext uri="{FF2B5EF4-FFF2-40B4-BE49-F238E27FC236}">
                <a16:creationId xmlns:a16="http://schemas.microsoft.com/office/drawing/2014/main" id="{6800B899-87E4-D864-F884-CDE59BEE9DDA}"/>
              </a:ext>
            </a:extLst>
          </p:cNvPr>
          <p:cNvSpPr txBox="1"/>
          <p:nvPr/>
        </p:nvSpPr>
        <p:spPr>
          <a:xfrm>
            <a:off x="78276298" y="1809598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Usage Example:</a:t>
            </a:r>
            <a:endParaRPr lang="en-US" sz="1000" dirty="0"/>
          </a:p>
        </p:txBody>
      </p:sp>
      <p:sp>
        <p:nvSpPr>
          <p:cNvPr id="124" name="Shape 119">
            <a:extLst>
              <a:ext uri="{FF2B5EF4-FFF2-40B4-BE49-F238E27FC236}">
                <a16:creationId xmlns:a16="http://schemas.microsoft.com/office/drawing/2014/main" id="{7FC72DEF-001F-CA6B-31A7-96E654F41E9E}"/>
              </a:ext>
            </a:extLst>
          </p:cNvPr>
          <p:cNvSpPr/>
          <p:nvPr/>
        </p:nvSpPr>
        <p:spPr>
          <a:xfrm>
            <a:off x="798719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0">
            <a:extLst>
              <a:ext uri="{FF2B5EF4-FFF2-40B4-BE49-F238E27FC236}">
                <a16:creationId xmlns:a16="http://schemas.microsoft.com/office/drawing/2014/main" id="{4F5B4622-D919-2C0C-D0A4-01171E6C5F96}"/>
              </a:ext>
            </a:extLst>
          </p:cNvPr>
          <p:cNvSpPr txBox="1"/>
          <p:nvPr/>
        </p:nvSpPr>
        <p:spPr>
          <a:xfrm>
            <a:off x="7955737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26" name="Text 121">
            <a:extLst>
              <a:ext uri="{FF2B5EF4-FFF2-40B4-BE49-F238E27FC236}">
                <a16:creationId xmlns:a16="http://schemas.microsoft.com/office/drawing/2014/main" id="{2F3F79EC-8527-E06C-45E0-B447E669A750}"/>
              </a:ext>
            </a:extLst>
          </p:cNvPr>
          <p:cNvSpPr txBox="1"/>
          <p:nvPr/>
        </p:nvSpPr>
        <p:spPr>
          <a:xfrm>
            <a:off x="80031946" y="1809598"/>
            <a:ext cx="5462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needed=9 -&gt; ratio=0.1 -&gt; PCA=True</a:t>
            </a:r>
            <a:endParaRPr lang="en-US" sz="1000" dirty="0"/>
          </a:p>
        </p:txBody>
      </p:sp>
      <p:sp>
        <p:nvSpPr>
          <p:cNvPr id="127" name="Shape 122">
            <a:extLst>
              <a:ext uri="{FF2B5EF4-FFF2-40B4-BE49-F238E27FC236}">
                <a16:creationId xmlns:a16="http://schemas.microsoft.com/office/drawing/2014/main" id="{CC632CC6-CEC9-5CAC-0120-7DB60538C12C}"/>
              </a:ext>
            </a:extLst>
          </p:cNvPr>
          <p:cNvSpPr/>
          <p:nvPr/>
        </p:nvSpPr>
        <p:spPr>
          <a:xfrm>
            <a:off x="857076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3">
            <a:extLst>
              <a:ext uri="{FF2B5EF4-FFF2-40B4-BE49-F238E27FC236}">
                <a16:creationId xmlns:a16="http://schemas.microsoft.com/office/drawing/2014/main" id="{034CDF8F-2650-7B45-B00D-A4D06465ADF6}"/>
              </a:ext>
            </a:extLst>
          </p:cNvPr>
          <p:cNvSpPr txBox="1"/>
          <p:nvPr/>
        </p:nvSpPr>
        <p:spPr>
          <a:xfrm>
            <a:off x="8539307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29" name="Text 124">
            <a:extLst>
              <a:ext uri="{FF2B5EF4-FFF2-40B4-BE49-F238E27FC236}">
                <a16:creationId xmlns:a16="http://schemas.microsoft.com/office/drawing/2014/main" id="{EFC1B5AA-A299-4373-9B9A-D6EA27180A22}"/>
              </a:ext>
            </a:extLst>
          </p:cNvPr>
          <p:cNvSpPr txBox="1"/>
          <p:nvPr/>
        </p:nvSpPr>
        <p:spPr>
          <a:xfrm>
            <a:off x="85867646" y="1809598"/>
            <a:ext cx="5625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needed=10 -&gt; ratio=0.0 -&gt; PCA=False</a:t>
            </a:r>
            <a:endParaRPr lang="en-US" sz="1000" dirty="0"/>
          </a:p>
        </p:txBody>
      </p:sp>
      <p:sp>
        <p:nvSpPr>
          <p:cNvPr id="130" name="Shape 125">
            <a:extLst>
              <a:ext uri="{FF2B5EF4-FFF2-40B4-BE49-F238E27FC236}">
                <a16:creationId xmlns:a16="http://schemas.microsoft.com/office/drawing/2014/main" id="{35804C31-6C84-2E09-483F-3347511C7E5B}"/>
              </a:ext>
            </a:extLst>
          </p:cNvPr>
          <p:cNvSpPr/>
          <p:nvPr/>
        </p:nvSpPr>
        <p:spPr>
          <a:xfrm>
            <a:off x="0" y="6608369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6">
            <a:extLst>
              <a:ext uri="{FF2B5EF4-FFF2-40B4-BE49-F238E27FC236}">
                <a16:creationId xmlns:a16="http://schemas.microsoft.com/office/drawing/2014/main" id="{BF3AAF5A-8F38-A8AB-15F2-903E757976CF}"/>
              </a:ext>
            </a:extLst>
          </p:cNvPr>
          <p:cNvSpPr/>
          <p:nvPr/>
        </p:nvSpPr>
        <p:spPr>
          <a:xfrm>
            <a:off x="0" y="660836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29">
            <a:extLst>
              <a:ext uri="{FF2B5EF4-FFF2-40B4-BE49-F238E27FC236}">
                <a16:creationId xmlns:a16="http://schemas.microsoft.com/office/drawing/2014/main" id="{02697527-9E42-BB77-2335-9614BEFBE59A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Agent Profiles: Specialists(2/2)</a:t>
            </a:r>
            <a:endParaRPr lang="en-US" dirty="0"/>
          </a:p>
        </p:txBody>
      </p:sp>
      <p:pic>
        <p:nvPicPr>
          <p:cNvPr id="136" name="Image 3" descr="preencoded.png">
            <a:extLst>
              <a:ext uri="{FF2B5EF4-FFF2-40B4-BE49-F238E27FC236}">
                <a16:creationId xmlns:a16="http://schemas.microsoft.com/office/drawing/2014/main" id="{A02C0A6B-1BF9-8C76-E7B9-D4C28D3245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38" name="Text 132">
            <a:extLst>
              <a:ext uri="{FF2B5EF4-FFF2-40B4-BE49-F238E27FC236}">
                <a16:creationId xmlns:a16="http://schemas.microsoft.com/office/drawing/2014/main" id="{473F0B7C-55B6-4697-6DF4-925A6C95F325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40" name="Text 133">
            <a:extLst>
              <a:ext uri="{FF2B5EF4-FFF2-40B4-BE49-F238E27FC236}">
                <a16:creationId xmlns:a16="http://schemas.microsoft.com/office/drawing/2014/main" id="{8653A030-AB3C-E447-FE82-87D7AE9BB8AB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E2FBE8-A5F9-41C8-2D62-DD88B1726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97" y="942628"/>
            <a:ext cx="10964805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5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95705"/>
            <a:ext cx="4705502" cy="3172054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66344" y="1304849"/>
            <a:ext cx="4686300" cy="58064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66344" y="1876349"/>
            <a:ext cx="4686300" cy="9144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841" b="-841"/>
          <a:stretch/>
        </p:blipFill>
        <p:spPr>
          <a:xfrm>
            <a:off x="694944" y="1505102"/>
            <a:ext cx="190195" cy="1719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1949" y="1457554"/>
            <a:ext cx="210037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Prompt Excerpt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22115" y="1476756"/>
            <a:ext cx="800100" cy="228600"/>
          </a:xfrm>
          <a:prstGeom prst="roundRect">
            <a:avLst>
              <a:gd name="adj" fmla="val 66667"/>
            </a:avLst>
          </a:prstGeom>
          <a:solidFill>
            <a:srgbClr val="BFDB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198925" y="1514246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GPT-4-mini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4944" y="2115007"/>
            <a:ext cx="4229100" cy="2115007"/>
          </a:xfrm>
          <a:prstGeom prst="roundRect">
            <a:avLst>
              <a:gd name="adj" fmla="val 15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27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57707" y="2305202"/>
            <a:ext cx="331012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As an expert in data analysis, formulate hypotheses based on the provided data.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57707" y="2814523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Requirements: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33602" y="3107131"/>
            <a:ext cx="33869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1. Formulate precise, testable hypotheses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33602" y="3362249"/>
            <a:ext cx="29105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2. Outline steps to test hypotheses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33602" y="3617366"/>
            <a:ext cx="29864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3. Verify feasibility via literature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33602" y="3871570"/>
            <a:ext cx="2662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4. Provide supporting references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4764938"/>
            <a:ext cx="4705502" cy="118140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6344" y="4774082"/>
            <a:ext cx="4686300" cy="58064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6344" y="5345582"/>
            <a:ext cx="46863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4974336"/>
            <a:ext cx="171907" cy="17190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42746" y="4926787"/>
            <a:ext cx="15764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Tools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66344" y="5340095"/>
            <a:ext cx="4229100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694944" y="5543549"/>
            <a:ext cx="2367382" cy="26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Wikipedia API, Google, </a:t>
            </a:r>
            <a:r>
              <a:rPr lang="en-US" sz="1200" b="1" dirty="0" err="1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Arxiv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19302" y="648858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0626" y="6584594"/>
            <a:ext cx="237744" cy="19019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352398" y="6507785"/>
            <a:ext cx="1077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arXiv Search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1352398" y="6717182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papers &amp; SOTA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5537606" y="1295705"/>
            <a:ext cx="6200546" cy="5058461"/>
          </a:xfrm>
          <a:prstGeom prst="roundRect">
            <a:avLst>
              <a:gd name="adj" fmla="val 48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5546750" y="1304849"/>
            <a:ext cx="6181344" cy="5806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5546750" y="1876349"/>
            <a:ext cx="6181344" cy="9144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75350" y="1495044"/>
            <a:ext cx="237744" cy="190195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6127394" y="1457554"/>
            <a:ext cx="22384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Output Example</a:t>
            </a:r>
            <a:endParaRPr lang="en-US" sz="1500" dirty="0"/>
          </a:p>
        </p:txBody>
      </p:sp>
      <p:sp>
        <p:nvSpPr>
          <p:cNvPr id="44" name="Shape 36"/>
          <p:cNvSpPr/>
          <p:nvPr/>
        </p:nvSpPr>
        <p:spPr>
          <a:xfrm>
            <a:off x="9978847" y="1476756"/>
            <a:ext cx="1524305" cy="228600"/>
          </a:xfrm>
          <a:prstGeom prst="roundRect">
            <a:avLst>
              <a:gd name="adj" fmla="val 400000"/>
            </a:avLst>
          </a:prstGeom>
          <a:solidFill>
            <a:srgbClr val="A7F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 txBox="1"/>
          <p:nvPr/>
        </p:nvSpPr>
        <p:spPr>
          <a:xfrm>
            <a:off x="10093147" y="1514246"/>
            <a:ext cx="1381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 Price Analysis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5851246" y="2190902"/>
            <a:ext cx="38405" cy="108630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 txBox="1"/>
          <p:nvPr/>
        </p:nvSpPr>
        <p:spPr>
          <a:xfrm>
            <a:off x="6118250" y="2219249"/>
            <a:ext cx="21671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🔬 Research Hypothesis</a:t>
            </a:r>
            <a:endParaRPr lang="en-US" sz="1300" dirty="0"/>
          </a:p>
        </p:txBody>
      </p:sp>
      <p:sp>
        <p:nvSpPr>
          <p:cNvPr id="48" name="Text 40"/>
          <p:cNvSpPr txBox="1"/>
          <p:nvPr/>
        </p:nvSpPr>
        <p:spPr>
          <a:xfrm>
            <a:off x="6118250" y="2562149"/>
            <a:ext cx="5239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"Housing prices can be predicted with &gt;85% accuracy using ensemble methods. Key predictive features include location (neighborhood), property size (GrLivArea), and age (YearBuilt)."</a:t>
            </a:r>
            <a:endParaRPr lang="en-US" sz="12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5851246" y="3552444"/>
            <a:ext cx="133502" cy="171907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060643" y="3504895"/>
            <a:ext cx="179588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Approach</a:t>
            </a:r>
            <a:endParaRPr lang="en-US" sz="1300" dirty="0"/>
          </a:p>
        </p:txBody>
      </p:sp>
      <p:sp>
        <p:nvSpPr>
          <p:cNvPr id="51" name="Shape 42"/>
          <p:cNvSpPr/>
          <p:nvPr/>
        </p:nvSpPr>
        <p:spPr>
          <a:xfrm>
            <a:off x="5851246" y="3886200"/>
            <a:ext cx="5572354" cy="609905"/>
          </a:xfrm>
          <a:prstGeom prst="roundRect">
            <a:avLst>
              <a:gd name="adj" fmla="val 18741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3"/>
          <p:cNvSpPr/>
          <p:nvPr/>
        </p:nvSpPr>
        <p:spPr>
          <a:xfrm>
            <a:off x="5851246" y="4610405"/>
            <a:ext cx="5572354" cy="457200"/>
          </a:xfrm>
          <a:prstGeom prst="roundRect">
            <a:avLst>
              <a:gd name="adj" fmla="val 33333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4"/>
          <p:cNvSpPr/>
          <p:nvPr/>
        </p:nvSpPr>
        <p:spPr>
          <a:xfrm>
            <a:off x="5851246" y="5181905"/>
            <a:ext cx="5572354" cy="457200"/>
          </a:xfrm>
          <a:prstGeom prst="roundRect">
            <a:avLst>
              <a:gd name="adj" fmla="val 33333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5"/>
          <p:cNvSpPr/>
          <p:nvPr/>
        </p:nvSpPr>
        <p:spPr>
          <a:xfrm>
            <a:off x="5851246" y="5753405"/>
            <a:ext cx="5572354" cy="457200"/>
          </a:xfrm>
          <a:prstGeom prst="roundRect">
            <a:avLst>
              <a:gd name="adj" fmla="val 33333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46"/>
          <p:cNvSpPr/>
          <p:nvPr/>
        </p:nvSpPr>
        <p:spPr>
          <a:xfrm>
            <a:off x="5965546" y="40005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7"/>
          <p:cNvSpPr/>
          <p:nvPr/>
        </p:nvSpPr>
        <p:spPr>
          <a:xfrm>
            <a:off x="5965546" y="47247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48"/>
          <p:cNvSpPr/>
          <p:nvPr/>
        </p:nvSpPr>
        <p:spPr>
          <a:xfrm>
            <a:off x="5965546" y="52962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9"/>
          <p:cNvSpPr/>
          <p:nvPr/>
        </p:nvSpPr>
        <p:spPr>
          <a:xfrm>
            <a:off x="5965546" y="58677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0"/>
          <p:cNvSpPr txBox="1"/>
          <p:nvPr/>
        </p:nvSpPr>
        <p:spPr>
          <a:xfrm>
            <a:off x="6055157" y="4038905"/>
            <a:ext cx="143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60" name="Text 51"/>
          <p:cNvSpPr txBox="1"/>
          <p:nvPr/>
        </p:nvSpPr>
        <p:spPr>
          <a:xfrm>
            <a:off x="6044184" y="476219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6043270" y="533369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62" name="Text 53"/>
          <p:cNvSpPr txBox="1"/>
          <p:nvPr/>
        </p:nvSpPr>
        <p:spPr>
          <a:xfrm>
            <a:off x="6041441" y="5905195"/>
            <a:ext cx="171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63" name="Text 54"/>
          <p:cNvSpPr txBox="1"/>
          <p:nvPr/>
        </p:nvSpPr>
        <p:spPr>
          <a:xfrm>
            <a:off x="6308446" y="4009644"/>
            <a:ext cx="47960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Engineering: Transform location data and interaction terms (Size × Quality)</a:t>
            </a:r>
            <a:endParaRPr lang="en-US" sz="1000" dirty="0"/>
          </a:p>
        </p:txBody>
      </p:sp>
      <p:sp>
        <p:nvSpPr>
          <p:cNvPr id="64" name="Text 55"/>
          <p:cNvSpPr txBox="1"/>
          <p:nvPr/>
        </p:nvSpPr>
        <p:spPr>
          <a:xfrm>
            <a:off x="6308446" y="4733849"/>
            <a:ext cx="46625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Preprocessing: Handle missing values in 'LotFrontage' and 'GarageYrBlt'</a:t>
            </a:r>
            <a:endParaRPr lang="en-US" sz="1000" dirty="0"/>
          </a:p>
        </p:txBody>
      </p:sp>
      <p:sp>
        <p:nvSpPr>
          <p:cNvPr id="65" name="Text 56"/>
          <p:cNvSpPr txBox="1"/>
          <p:nvPr/>
        </p:nvSpPr>
        <p:spPr>
          <a:xfrm>
            <a:off x="6308446" y="5305349"/>
            <a:ext cx="47868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Selection: Compare RandomForest, XGBoost, and GradientBoosting</a:t>
            </a:r>
            <a:endParaRPr lang="en-US" sz="1000" dirty="0"/>
          </a:p>
        </p:txBody>
      </p:sp>
      <p:sp>
        <p:nvSpPr>
          <p:cNvPr id="66" name="Text 57"/>
          <p:cNvSpPr txBox="1"/>
          <p:nvPr/>
        </p:nvSpPr>
        <p:spPr>
          <a:xfrm>
            <a:off x="6308446" y="5876849"/>
            <a:ext cx="36054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Validation: 5-fold Cross-Validation to prevent overfitting</a:t>
            </a:r>
            <a:endParaRPr lang="en-US" sz="1000" dirty="0"/>
          </a:p>
        </p:txBody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013094" y="6629400"/>
            <a:ext cx="114300" cy="133502"/>
          </a:xfrm>
          <a:prstGeom prst="rect">
            <a:avLst/>
          </a:prstGeom>
        </p:spPr>
      </p:pic>
      <p:sp>
        <p:nvSpPr>
          <p:cNvPr id="69" name="Text 59"/>
          <p:cNvSpPr txBox="1"/>
          <p:nvPr/>
        </p:nvSpPr>
        <p:spPr>
          <a:xfrm>
            <a:off x="6204204" y="6601054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References</a:t>
            </a:r>
            <a:endParaRPr lang="en-US" sz="1000" dirty="0"/>
          </a:p>
        </p:txBody>
      </p:sp>
      <p:sp>
        <p:nvSpPr>
          <p:cNvPr id="74" name="Shape 6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65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66"/>
          <p:cNvSpPr txBox="1"/>
          <p:nvPr/>
        </p:nvSpPr>
        <p:spPr>
          <a:xfrm>
            <a:off x="457200" y="6558077"/>
            <a:ext cx="1848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System Architecture</a:t>
            </a:r>
            <a:endParaRPr lang="en-US" sz="900" dirty="0"/>
          </a:p>
        </p:txBody>
      </p:sp>
      <p:sp>
        <p:nvSpPr>
          <p:cNvPr id="77" name="Text 67"/>
          <p:cNvSpPr txBox="1"/>
          <p:nvPr/>
        </p:nvSpPr>
        <p:spPr>
          <a:xfrm>
            <a:off x="11296498" y="6558077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29</a:t>
            </a:r>
            <a:endParaRPr lang="en-US" sz="900" dirty="0"/>
          </a:p>
        </p:txBody>
      </p:sp>
      <p:sp>
        <p:nvSpPr>
          <p:cNvPr id="78" name="Shape 68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69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6072" y="286207"/>
            <a:ext cx="142646" cy="190195"/>
          </a:xfrm>
          <a:prstGeom prst="rect">
            <a:avLst/>
          </a:prstGeom>
        </p:spPr>
      </p:pic>
      <p:sp>
        <p:nvSpPr>
          <p:cNvPr id="81" name="Text 70"/>
          <p:cNvSpPr txBox="1"/>
          <p:nvPr/>
        </p:nvSpPr>
        <p:spPr>
          <a:xfrm>
            <a:off x="990295" y="237744"/>
            <a:ext cx="22677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Hypothesis Agent</a:t>
            </a:r>
            <a:endParaRPr lang="en-US" sz="1800" dirty="0"/>
          </a:p>
        </p:txBody>
      </p:sp>
      <p:sp>
        <p:nvSpPr>
          <p:cNvPr id="82" name="Text 71"/>
          <p:cNvSpPr txBox="1"/>
          <p:nvPr/>
        </p:nvSpPr>
        <p:spPr>
          <a:xfrm>
            <a:off x="9791395" y="295351"/>
            <a:ext cx="20436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Question Generation</a:t>
            </a:r>
            <a:endParaRPr lang="en-US" sz="1000" dirty="0"/>
          </a:p>
        </p:txBody>
      </p:sp>
      <p:pic>
        <p:nvPicPr>
          <p:cNvPr id="84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86" name="Text 74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87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88" name="Text 75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8392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839298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562356" y="286207"/>
            <a:ext cx="171907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3905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Agent - The Supervisor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841" b="-841"/>
          <a:stretch/>
        </p:blipFill>
        <p:spPr>
          <a:xfrm>
            <a:off x="304495" y="1183234"/>
            <a:ext cx="190195" cy="1719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1500" y="1171346"/>
            <a:ext cx="2634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&amp; Routing Logic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73038" y="1152144"/>
            <a:ext cx="1257300" cy="247802"/>
          </a:xfrm>
          <a:prstGeom prst="roundRect">
            <a:avLst>
              <a:gd name="adj" fmla="val 5677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6558077" y="1200607"/>
            <a:ext cx="1172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Flowchart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04495" y="1524305"/>
            <a:ext cx="7420356" cy="8553298"/>
          </a:xfrm>
          <a:prstGeom prst="roundRect">
            <a:avLst>
              <a:gd name="adj" fmla="val 1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8029346" y="954055"/>
            <a:ext cx="3866998" cy="2933395"/>
          </a:xfrm>
          <a:prstGeom prst="roundRect">
            <a:avLst>
              <a:gd name="adj" fmla="val 12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8226857" y="1648663"/>
            <a:ext cx="3467405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0" y="1191799"/>
            <a:ext cx="152705" cy="15270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458200" y="1173511"/>
            <a:ext cx="1295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 Role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8229600" y="1601450"/>
            <a:ext cx="34244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 Agent acts as the central brain of the multi-agent system. It doesn't execute tasks directly but intelligently delegates work based on the current research state.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8229600" y="2563399"/>
            <a:ext cx="3467405" cy="323698"/>
          </a:xfrm>
          <a:prstGeom prst="roundRect">
            <a:avLst>
              <a:gd name="adj" fmla="val 3323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 l="-1911" r="-1911"/>
          <a:stretch/>
        </p:blipFill>
        <p:spPr>
          <a:xfrm>
            <a:off x="8314639" y="2668555"/>
            <a:ext cx="133502" cy="11430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524037" y="2649353"/>
            <a:ext cx="1666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Determines next optimal step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8229600" y="2963906"/>
            <a:ext cx="3467405" cy="323698"/>
          </a:xfrm>
          <a:prstGeom prst="roundRect">
            <a:avLst>
              <a:gd name="adj" fmla="val 3323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99767" y="3058210"/>
            <a:ext cx="114300" cy="1143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8505749" y="3049860"/>
            <a:ext cx="1733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Enforces Quality Control loops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8229600" y="3363499"/>
            <a:ext cx="3467405" cy="323698"/>
          </a:xfrm>
          <a:prstGeom prst="roundRect">
            <a:avLst>
              <a:gd name="adj" fmla="val 3323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8"/>
          <a:srcRect l="-1911" r="-1911"/>
          <a:stretch/>
        </p:blipFill>
        <p:spPr>
          <a:xfrm>
            <a:off x="8314639" y="3468655"/>
            <a:ext cx="133502" cy="11430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8524037" y="3449453"/>
            <a:ext cx="1762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context from Note Taker</a:t>
            </a:r>
            <a:endParaRPr lang="en-US" sz="900" dirty="0"/>
          </a:p>
        </p:txBody>
      </p:sp>
      <p:sp>
        <p:nvSpPr>
          <p:cNvPr id="52" name="Text 41"/>
          <p:cNvSpPr txBox="1"/>
          <p:nvPr/>
        </p:nvSpPr>
        <p:spPr>
          <a:xfrm>
            <a:off x="8464601" y="4505249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Schema</a:t>
            </a:r>
            <a:endParaRPr lang="en-US" sz="1000" dirty="0"/>
          </a:p>
        </p:txBody>
      </p:sp>
      <p:sp>
        <p:nvSpPr>
          <p:cNvPr id="64" name="Text 53"/>
          <p:cNvSpPr txBox="1"/>
          <p:nvPr/>
        </p:nvSpPr>
        <p:spPr>
          <a:xfrm>
            <a:off x="13926312" y="4972507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endParaRPr lang="en-US" sz="900" dirty="0"/>
          </a:p>
        </p:txBody>
      </p:sp>
      <p:sp>
        <p:nvSpPr>
          <p:cNvPr id="65" name="Text 54"/>
          <p:cNvSpPr txBox="1"/>
          <p:nvPr/>
        </p:nvSpPr>
        <p:spPr>
          <a:xfrm>
            <a:off x="14269212" y="4972507"/>
            <a:ext cx="13240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ProcessRouteSchema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15503652" y="4972507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(BaseModel):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16326612" y="4972507"/>
            <a:ext cx="362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next</a:t>
            </a:r>
            <a:endParaRPr lang="en-US" sz="900" dirty="0"/>
          </a:p>
        </p:txBody>
      </p:sp>
      <p:sp>
        <p:nvSpPr>
          <p:cNvPr id="68" name="Text 57"/>
          <p:cNvSpPr txBox="1"/>
          <p:nvPr/>
        </p:nvSpPr>
        <p:spPr>
          <a:xfrm>
            <a:off x="16600932" y="4972507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Literal[</a:t>
            </a:r>
            <a:endParaRPr lang="en-US" sz="900" dirty="0"/>
          </a:p>
        </p:txBody>
      </p:sp>
      <p:sp>
        <p:nvSpPr>
          <p:cNvPr id="69" name="Text 58"/>
          <p:cNvSpPr txBox="1"/>
          <p:nvPr/>
        </p:nvSpPr>
        <p:spPr>
          <a:xfrm>
            <a:off x="17287646" y="4972507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"FINISH"</a:t>
            </a:r>
            <a:endParaRPr lang="en-US" sz="900" dirty="0"/>
          </a:p>
        </p:txBody>
      </p:sp>
      <p:sp>
        <p:nvSpPr>
          <p:cNvPr id="70" name="Text 59"/>
          <p:cNvSpPr txBox="1"/>
          <p:nvPr/>
        </p:nvSpPr>
        <p:spPr>
          <a:xfrm>
            <a:off x="17836286" y="4972507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900" dirty="0"/>
          </a:p>
        </p:txBody>
      </p:sp>
      <p:sp>
        <p:nvSpPr>
          <p:cNvPr id="71" name="Text 60"/>
          <p:cNvSpPr txBox="1"/>
          <p:nvPr/>
        </p:nvSpPr>
        <p:spPr>
          <a:xfrm>
            <a:off x="17904866" y="4972507"/>
            <a:ext cx="11247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"Visualization"</a:t>
            </a:r>
            <a:endParaRPr lang="en-US" sz="900" dirty="0"/>
          </a:p>
        </p:txBody>
      </p:sp>
      <p:sp>
        <p:nvSpPr>
          <p:cNvPr id="72" name="Text 61"/>
          <p:cNvSpPr txBox="1"/>
          <p:nvPr/>
        </p:nvSpPr>
        <p:spPr>
          <a:xfrm>
            <a:off x="18933566" y="4972507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900" dirty="0"/>
          </a:p>
        </p:txBody>
      </p:sp>
      <p:sp>
        <p:nvSpPr>
          <p:cNvPr id="73" name="Text 62"/>
          <p:cNvSpPr txBox="1"/>
          <p:nvPr/>
        </p:nvSpPr>
        <p:spPr>
          <a:xfrm>
            <a:off x="19002146" y="4972507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"Search"</a:t>
            </a:r>
            <a:endParaRPr lang="en-US" sz="900" dirty="0"/>
          </a:p>
        </p:txBody>
      </p:sp>
      <p:sp>
        <p:nvSpPr>
          <p:cNvPr id="74" name="Text 63"/>
          <p:cNvSpPr txBox="1"/>
          <p:nvPr/>
        </p:nvSpPr>
        <p:spPr>
          <a:xfrm>
            <a:off x="19550786" y="4972507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900" dirty="0"/>
          </a:p>
        </p:txBody>
      </p:sp>
      <p:sp>
        <p:nvSpPr>
          <p:cNvPr id="75" name="Text 64"/>
          <p:cNvSpPr txBox="1"/>
          <p:nvPr/>
        </p:nvSpPr>
        <p:spPr>
          <a:xfrm>
            <a:off x="19619366" y="4972507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"Coder"</a:t>
            </a:r>
            <a:endParaRPr lang="en-US" sz="900" dirty="0"/>
          </a:p>
        </p:txBody>
      </p:sp>
      <p:sp>
        <p:nvSpPr>
          <p:cNvPr id="76" name="Text 65"/>
          <p:cNvSpPr txBox="1"/>
          <p:nvPr/>
        </p:nvSpPr>
        <p:spPr>
          <a:xfrm>
            <a:off x="20099426" y="4972507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900" dirty="0"/>
          </a:p>
        </p:txBody>
      </p:sp>
      <p:sp>
        <p:nvSpPr>
          <p:cNvPr id="77" name="Text 66"/>
          <p:cNvSpPr txBox="1"/>
          <p:nvPr/>
        </p:nvSpPr>
        <p:spPr>
          <a:xfrm>
            <a:off x="20168006" y="4972507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"Report"</a:t>
            </a:r>
            <a:endParaRPr lang="en-US" sz="900" dirty="0"/>
          </a:p>
        </p:txBody>
      </p:sp>
      <p:sp>
        <p:nvSpPr>
          <p:cNvPr id="78" name="Text 67"/>
          <p:cNvSpPr txBox="1"/>
          <p:nvPr/>
        </p:nvSpPr>
        <p:spPr>
          <a:xfrm>
            <a:off x="20717561" y="4972507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900" dirty="0"/>
          </a:p>
        </p:txBody>
      </p:sp>
      <p:sp>
        <p:nvSpPr>
          <p:cNvPr id="79" name="Text 68"/>
          <p:cNvSpPr txBox="1"/>
          <p:nvPr/>
        </p:nvSpPr>
        <p:spPr>
          <a:xfrm>
            <a:off x="20786141" y="4972507"/>
            <a:ext cx="362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task</a:t>
            </a:r>
            <a:endParaRPr lang="en-US" sz="900" dirty="0"/>
          </a:p>
        </p:txBody>
      </p:sp>
      <p:sp>
        <p:nvSpPr>
          <p:cNvPr id="80" name="Text 69"/>
          <p:cNvSpPr txBox="1"/>
          <p:nvPr/>
        </p:nvSpPr>
        <p:spPr>
          <a:xfrm>
            <a:off x="21060461" y="4972507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900" dirty="0"/>
          </a:p>
        </p:txBody>
      </p:sp>
      <p:sp>
        <p:nvSpPr>
          <p:cNvPr id="81" name="Text 70"/>
          <p:cNvSpPr txBox="1"/>
          <p:nvPr/>
        </p:nvSpPr>
        <p:spPr>
          <a:xfrm>
            <a:off x="21129041" y="4972507"/>
            <a:ext cx="2953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</a:t>
            </a:r>
            <a:endParaRPr lang="en-US" sz="900" dirty="0"/>
          </a:p>
        </p:txBody>
      </p:sp>
      <p:sp>
        <p:nvSpPr>
          <p:cNvPr id="82" name="Text 71"/>
          <p:cNvSpPr txBox="1"/>
          <p:nvPr/>
        </p:nvSpPr>
        <p:spPr>
          <a:xfrm>
            <a:off x="21334781" y="4972507"/>
            <a:ext cx="16669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Specific instructions</a:t>
            </a:r>
            <a:endParaRPr lang="en-US" sz="900" dirty="0"/>
          </a:p>
        </p:txBody>
      </p:sp>
      <p:sp>
        <p:nvSpPr>
          <p:cNvPr id="83" name="Text 72"/>
          <p:cNvSpPr txBox="1"/>
          <p:nvPr/>
        </p:nvSpPr>
        <p:spPr>
          <a:xfrm>
            <a:off x="22912121" y="4972507"/>
            <a:ext cx="705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reasoning</a:t>
            </a:r>
            <a:endParaRPr lang="en-US" sz="900" dirty="0"/>
          </a:p>
        </p:txBody>
      </p:sp>
      <p:sp>
        <p:nvSpPr>
          <p:cNvPr id="84" name="Text 73"/>
          <p:cNvSpPr txBox="1"/>
          <p:nvPr/>
        </p:nvSpPr>
        <p:spPr>
          <a:xfrm>
            <a:off x="23529341" y="4972507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900" dirty="0"/>
          </a:p>
        </p:txBody>
      </p:sp>
      <p:sp>
        <p:nvSpPr>
          <p:cNvPr id="85" name="Text 74"/>
          <p:cNvSpPr txBox="1"/>
          <p:nvPr/>
        </p:nvSpPr>
        <p:spPr>
          <a:xfrm>
            <a:off x="23597921" y="4972507"/>
            <a:ext cx="2953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</a:t>
            </a:r>
            <a:endParaRPr lang="en-US" sz="900" dirty="0"/>
          </a:p>
        </p:txBody>
      </p:sp>
      <p:sp>
        <p:nvSpPr>
          <p:cNvPr id="86" name="Text 75"/>
          <p:cNvSpPr txBox="1"/>
          <p:nvPr/>
        </p:nvSpPr>
        <p:spPr>
          <a:xfrm>
            <a:off x="23804575" y="4972507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Why this step?</a:t>
            </a:r>
            <a:endParaRPr lang="en-US" sz="900" dirty="0"/>
          </a:p>
        </p:txBody>
      </p:sp>
      <p:sp>
        <p:nvSpPr>
          <p:cNvPr id="87" name="Text 76"/>
          <p:cNvSpPr txBox="1"/>
          <p:nvPr/>
        </p:nvSpPr>
        <p:spPr>
          <a:xfrm>
            <a:off x="24901855" y="4972507"/>
            <a:ext cx="16669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Example Agent Output:</a:t>
            </a:r>
            <a:endParaRPr lang="en-US" sz="900" dirty="0"/>
          </a:p>
        </p:txBody>
      </p:sp>
      <p:sp>
        <p:nvSpPr>
          <p:cNvPr id="88" name="Text 77"/>
          <p:cNvSpPr txBox="1"/>
          <p:nvPr/>
        </p:nvSpPr>
        <p:spPr>
          <a:xfrm>
            <a:off x="26479195" y="4972507"/>
            <a:ext cx="2953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{</a:t>
            </a:r>
            <a:endParaRPr lang="en-US" sz="900" dirty="0"/>
          </a:p>
        </p:txBody>
      </p:sp>
      <p:sp>
        <p:nvSpPr>
          <p:cNvPr id="89" name="Text 78"/>
          <p:cNvSpPr txBox="1"/>
          <p:nvPr/>
        </p:nvSpPr>
        <p:spPr>
          <a:xfrm>
            <a:off x="26684935" y="4972507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  "next": "Coder",</a:t>
            </a:r>
            <a:endParaRPr lang="en-US" sz="900" dirty="0"/>
          </a:p>
        </p:txBody>
      </p:sp>
      <p:sp>
        <p:nvSpPr>
          <p:cNvPr id="90" name="Text 79"/>
          <p:cNvSpPr txBox="1"/>
          <p:nvPr/>
        </p:nvSpPr>
        <p:spPr>
          <a:xfrm>
            <a:off x="28057450" y="4972507"/>
            <a:ext cx="3525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  "task": "Analyze missing values in age column"</a:t>
            </a:r>
            <a:endParaRPr lang="en-US" sz="900" dirty="0"/>
          </a:p>
        </p:txBody>
      </p:sp>
      <p:sp>
        <p:nvSpPr>
          <p:cNvPr id="91" name="Text 80"/>
          <p:cNvSpPr txBox="1"/>
          <p:nvPr/>
        </p:nvSpPr>
        <p:spPr>
          <a:xfrm>
            <a:off x="31486450" y="4972507"/>
            <a:ext cx="2953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}</a:t>
            </a:r>
            <a:endParaRPr lang="en-US" sz="900" dirty="0"/>
          </a:p>
        </p:txBody>
      </p:sp>
      <p:sp>
        <p:nvSpPr>
          <p:cNvPr id="96" name="Shape 84"/>
          <p:cNvSpPr/>
          <p:nvPr/>
        </p:nvSpPr>
        <p:spPr>
          <a:xfrm>
            <a:off x="0" y="1037844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85"/>
          <p:cNvSpPr/>
          <p:nvPr/>
        </p:nvSpPr>
        <p:spPr>
          <a:xfrm>
            <a:off x="0" y="1037844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86"/>
          <p:cNvSpPr txBox="1"/>
          <p:nvPr/>
        </p:nvSpPr>
        <p:spPr>
          <a:xfrm>
            <a:off x="457200" y="1053571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99" name="Text 87"/>
          <p:cNvSpPr txBox="1"/>
          <p:nvPr/>
        </p:nvSpPr>
        <p:spPr>
          <a:xfrm>
            <a:off x="11294669" y="10535717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30</a:t>
            </a:r>
            <a:endParaRPr lang="en-US" sz="900" dirty="0"/>
          </a:p>
        </p:txBody>
      </p:sp>
      <p:sp>
        <p:nvSpPr>
          <p:cNvPr id="100" name="Shape 88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2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04" name="Text 91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05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06" name="Text 92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07" name="Shape 69">
            <a:extLst>
              <a:ext uri="{FF2B5EF4-FFF2-40B4-BE49-F238E27FC236}">
                <a16:creationId xmlns:a16="http://schemas.microsoft.com/office/drawing/2014/main" id="{9FA656D9-C5F3-90DF-EC8C-AC0A4E8427B1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8" name="Image 8" descr="preencoded.png">
            <a:extLst>
              <a:ext uri="{FF2B5EF4-FFF2-40B4-BE49-F238E27FC236}">
                <a16:creationId xmlns:a16="http://schemas.microsoft.com/office/drawing/2014/main" id="{BDD3B1E7-5B87-68B1-CC52-59CE3E78300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6072" y="286207"/>
            <a:ext cx="142646" cy="190195"/>
          </a:xfrm>
          <a:prstGeom prst="rect">
            <a:avLst/>
          </a:prstGeom>
        </p:spPr>
      </p:pic>
      <p:sp>
        <p:nvSpPr>
          <p:cNvPr id="109" name="Text 70">
            <a:extLst>
              <a:ext uri="{FF2B5EF4-FFF2-40B4-BE49-F238E27FC236}">
                <a16:creationId xmlns:a16="http://schemas.microsoft.com/office/drawing/2014/main" id="{BDEBBFD5-B4F8-D8C2-83ED-316848103BB3}"/>
              </a:ext>
            </a:extLst>
          </p:cNvPr>
          <p:cNvSpPr txBox="1"/>
          <p:nvPr/>
        </p:nvSpPr>
        <p:spPr>
          <a:xfrm>
            <a:off x="990294" y="237744"/>
            <a:ext cx="301569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Agent: Supervisor</a:t>
            </a:r>
            <a:endParaRPr lang="en-US" sz="1800" dirty="0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FE616AD0-FCAD-775A-47A3-35E3A9F8E9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4780" y="1548303"/>
            <a:ext cx="4703577" cy="5345265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F8F7FFD3-BE5E-63CA-E374-848AD61012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6645" y="3773151"/>
            <a:ext cx="2614483" cy="32493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7214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72146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3781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Agent: Python Developer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6277356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4495" y="1143000"/>
            <a:ext cx="3562502" cy="3791102"/>
          </a:xfrm>
          <a:prstGeom prst="roundRect">
            <a:avLst>
              <a:gd name="adj" fmla="val 8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543154" y="1419149"/>
            <a:ext cx="171907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0956" y="1380744"/>
            <a:ext cx="2115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Responsibilities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3154" y="1837944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9244" y="1819656"/>
            <a:ext cx="1571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 Prevention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09244" y="2038198"/>
            <a:ext cx="27678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Enforces strict train/test separation before any preprocessing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3154" y="2600554"/>
            <a:ext cx="15270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9244" y="2581351"/>
            <a:ext cx="1733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Implementation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9244" y="2800807"/>
            <a:ext cx="25100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PEP 8 compliant, readable, and modular Python code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543154" y="3362249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47649" y="3343046"/>
            <a:ext cx="1562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Executable Outputs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847649" y="3562502"/>
            <a:ext cx="28721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code runs without errors in isolated environments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43154" y="4123944"/>
            <a:ext cx="152705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09244" y="4105656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Best Practices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809244" y="4324198"/>
            <a:ext cx="26243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imbalance, missing values, and encoding correctly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304495" y="5162702"/>
            <a:ext cx="3562502" cy="1647749"/>
          </a:xfrm>
          <a:prstGeom prst="roundRect">
            <a:avLst>
              <a:gd name="adj" fmla="val 3849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 txBox="1"/>
          <p:nvPr/>
        </p:nvSpPr>
        <p:spPr>
          <a:xfrm>
            <a:off x="543154" y="5419649"/>
            <a:ext cx="1781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Anti-Leakage Protocol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43154" y="5724144"/>
            <a:ext cx="3129077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Code Agent is explicitly instructed to split data before fitting any transformers. Transformers are fit ONLY on training data, then applied to test data.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646389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1086032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 txBox="1"/>
          <p:nvPr/>
        </p:nvSpPr>
        <p:spPr>
          <a:xfrm>
            <a:off x="12460529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12940589" y="1809598"/>
            <a:ext cx="1148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SimpleImputer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1429573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5"/>
          <p:cNvSpPr txBox="1"/>
          <p:nvPr/>
        </p:nvSpPr>
        <p:spPr>
          <a:xfrm>
            <a:off x="1398117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1477030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7"/>
          <p:cNvSpPr txBox="1"/>
          <p:nvPr/>
        </p:nvSpPr>
        <p:spPr>
          <a:xfrm>
            <a:off x="1445575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6" name="Text 48"/>
          <p:cNvSpPr txBox="1"/>
          <p:nvPr/>
        </p:nvSpPr>
        <p:spPr>
          <a:xfrm>
            <a:off x="14929409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Load dataset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16365017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0"/>
          <p:cNvSpPr txBox="1"/>
          <p:nvPr/>
        </p:nvSpPr>
        <p:spPr>
          <a:xfrm>
            <a:off x="1605046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16525037" y="1809598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df = pd.read_csv(</a:t>
            </a:r>
            <a:endParaRPr lang="en-US" sz="1000" dirty="0"/>
          </a:p>
        </p:txBody>
      </p:sp>
      <p:sp>
        <p:nvSpPr>
          <p:cNvPr id="60" name="Text 52"/>
          <p:cNvSpPr txBox="1"/>
          <p:nvPr/>
        </p:nvSpPr>
        <p:spPr>
          <a:xfrm>
            <a:off x="17884750" y="1809598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'./data/housing.csv'</a:t>
            </a:r>
            <a:endParaRPr lang="en-US" sz="1000" dirty="0"/>
          </a:p>
        </p:txBody>
      </p:sp>
      <p:sp>
        <p:nvSpPr>
          <p:cNvPr id="61" name="Text 53"/>
          <p:cNvSpPr txBox="1"/>
          <p:nvPr/>
        </p:nvSpPr>
        <p:spPr>
          <a:xfrm>
            <a:off x="1948586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62" name="Shape 54"/>
          <p:cNvSpPr/>
          <p:nvPr/>
        </p:nvSpPr>
        <p:spPr>
          <a:xfrm>
            <a:off x="1987997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5"/>
          <p:cNvSpPr txBox="1"/>
          <p:nvPr/>
        </p:nvSpPr>
        <p:spPr>
          <a:xfrm>
            <a:off x="1956541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4" name="Text 56"/>
          <p:cNvSpPr txBox="1"/>
          <p:nvPr/>
        </p:nvSpPr>
        <p:spPr>
          <a:xfrm>
            <a:off x="20039990" y="1809598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X, y = df.drop(</a:t>
            </a:r>
            <a:endParaRPr lang="en-US" sz="1000" dirty="0"/>
          </a:p>
        </p:txBody>
      </p:sp>
      <p:sp>
        <p:nvSpPr>
          <p:cNvPr id="65" name="Text 57"/>
          <p:cNvSpPr txBox="1"/>
          <p:nvPr/>
        </p:nvSpPr>
        <p:spPr>
          <a:xfrm>
            <a:off x="21240598" y="1809598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'price'</a:t>
            </a:r>
            <a:endParaRPr lang="en-US" sz="1000" dirty="0"/>
          </a:p>
        </p:txBody>
      </p:sp>
      <p:sp>
        <p:nvSpPr>
          <p:cNvPr id="66" name="Text 58"/>
          <p:cNvSpPr txBox="1"/>
          <p:nvPr/>
        </p:nvSpPr>
        <p:spPr>
          <a:xfrm>
            <a:off x="21801125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axis=1), df[</a:t>
            </a:r>
            <a:endParaRPr lang="en-US" sz="1000" dirty="0"/>
          </a:p>
        </p:txBody>
      </p:sp>
      <p:sp>
        <p:nvSpPr>
          <p:cNvPr id="67" name="Text 59"/>
          <p:cNvSpPr txBox="1"/>
          <p:nvPr/>
        </p:nvSpPr>
        <p:spPr>
          <a:xfrm>
            <a:off x="22921265" y="1809598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'price'</a:t>
            </a:r>
            <a:endParaRPr lang="en-US" sz="1000" dirty="0"/>
          </a:p>
        </p:txBody>
      </p:sp>
      <p:sp>
        <p:nvSpPr>
          <p:cNvPr id="68" name="Text 60"/>
          <p:cNvSpPr txBox="1"/>
          <p:nvPr/>
        </p:nvSpPr>
        <p:spPr>
          <a:xfrm>
            <a:off x="23481792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69" name="Shape 61"/>
          <p:cNvSpPr/>
          <p:nvPr/>
        </p:nvSpPr>
        <p:spPr>
          <a:xfrm>
            <a:off x="2387589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2"/>
          <p:cNvSpPr txBox="1"/>
          <p:nvPr/>
        </p:nvSpPr>
        <p:spPr>
          <a:xfrm>
            <a:off x="2356134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71" name="Shape 63"/>
          <p:cNvSpPr/>
          <p:nvPr/>
        </p:nvSpPr>
        <p:spPr>
          <a:xfrm>
            <a:off x="2435047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4"/>
          <p:cNvSpPr txBox="1"/>
          <p:nvPr/>
        </p:nvSpPr>
        <p:spPr>
          <a:xfrm>
            <a:off x="2403591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73" name="Text 65"/>
          <p:cNvSpPr txBox="1"/>
          <p:nvPr/>
        </p:nvSpPr>
        <p:spPr>
          <a:xfrm>
            <a:off x="24510492" y="1809598"/>
            <a:ext cx="33869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1. EARLY SPLIT - Prevents data leakage!</a:t>
            </a:r>
            <a:endParaRPr lang="en-US" sz="1000" dirty="0"/>
          </a:p>
        </p:txBody>
      </p:sp>
      <p:sp>
        <p:nvSpPr>
          <p:cNvPr id="74" name="Shape 66"/>
          <p:cNvSpPr/>
          <p:nvPr/>
        </p:nvSpPr>
        <p:spPr>
          <a:xfrm>
            <a:off x="2810591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7"/>
          <p:cNvSpPr txBox="1"/>
          <p:nvPr/>
        </p:nvSpPr>
        <p:spPr>
          <a:xfrm>
            <a:off x="2779135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6" name="Text 68"/>
          <p:cNvSpPr txBox="1"/>
          <p:nvPr/>
        </p:nvSpPr>
        <p:spPr>
          <a:xfrm>
            <a:off x="28265933" y="1809598"/>
            <a:ext cx="42629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X_train, X_test, y_train, y_test = train_test_split(</a:t>
            </a:r>
            <a:endParaRPr lang="en-US" sz="1000" dirty="0"/>
          </a:p>
        </p:txBody>
      </p:sp>
      <p:sp>
        <p:nvSpPr>
          <p:cNvPr id="77" name="Shape 69"/>
          <p:cNvSpPr/>
          <p:nvPr/>
        </p:nvSpPr>
        <p:spPr>
          <a:xfrm>
            <a:off x="327419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0"/>
          <p:cNvSpPr txBox="1"/>
          <p:nvPr/>
        </p:nvSpPr>
        <p:spPr>
          <a:xfrm>
            <a:off x="3242736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79" name="Text 71"/>
          <p:cNvSpPr txBox="1"/>
          <p:nvPr/>
        </p:nvSpPr>
        <p:spPr>
          <a:xfrm>
            <a:off x="32901941" y="1809598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X, y, test_size=</a:t>
            </a:r>
            <a:endParaRPr lang="en-US" sz="1000" dirty="0"/>
          </a:p>
        </p:txBody>
      </p:sp>
      <p:sp>
        <p:nvSpPr>
          <p:cNvPr id="80" name="Text 72"/>
          <p:cNvSpPr txBox="1"/>
          <p:nvPr/>
        </p:nvSpPr>
        <p:spPr>
          <a:xfrm>
            <a:off x="34182101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0.2</a:t>
            </a:r>
            <a:endParaRPr lang="en-US" sz="1000" dirty="0"/>
          </a:p>
        </p:txBody>
      </p:sp>
      <p:sp>
        <p:nvSpPr>
          <p:cNvPr id="81" name="Text 73"/>
          <p:cNvSpPr txBox="1"/>
          <p:nvPr/>
        </p:nvSpPr>
        <p:spPr>
          <a:xfrm>
            <a:off x="34422588" y="1809598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random_state=</a:t>
            </a:r>
            <a:endParaRPr lang="en-US" sz="1000" dirty="0"/>
          </a:p>
        </p:txBody>
      </p:sp>
      <p:sp>
        <p:nvSpPr>
          <p:cNvPr id="82" name="Text 74"/>
          <p:cNvSpPr txBox="1"/>
          <p:nvPr/>
        </p:nvSpPr>
        <p:spPr>
          <a:xfrm>
            <a:off x="3562228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42</a:t>
            </a:r>
            <a:endParaRPr lang="en-US" sz="1000" dirty="0"/>
          </a:p>
        </p:txBody>
      </p:sp>
      <p:sp>
        <p:nvSpPr>
          <p:cNvPr id="83" name="Shape 75"/>
          <p:cNvSpPr/>
          <p:nvPr/>
        </p:nvSpPr>
        <p:spPr>
          <a:xfrm>
            <a:off x="360968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6"/>
          <p:cNvSpPr txBox="1"/>
          <p:nvPr/>
        </p:nvSpPr>
        <p:spPr>
          <a:xfrm>
            <a:off x="3578230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85" name="Text 77"/>
          <p:cNvSpPr txBox="1"/>
          <p:nvPr/>
        </p:nvSpPr>
        <p:spPr>
          <a:xfrm>
            <a:off x="3625687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86" name="Shape 78"/>
          <p:cNvSpPr/>
          <p:nvPr/>
        </p:nvSpPr>
        <p:spPr>
          <a:xfrm>
            <a:off x="3665189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79"/>
          <p:cNvSpPr txBox="1"/>
          <p:nvPr/>
        </p:nvSpPr>
        <p:spPr>
          <a:xfrm>
            <a:off x="3633734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88" name="Shape 80"/>
          <p:cNvSpPr/>
          <p:nvPr/>
        </p:nvSpPr>
        <p:spPr>
          <a:xfrm>
            <a:off x="3712646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1"/>
          <p:cNvSpPr txBox="1"/>
          <p:nvPr/>
        </p:nvSpPr>
        <p:spPr>
          <a:xfrm>
            <a:off x="3681191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90" name="Text 82"/>
          <p:cNvSpPr txBox="1"/>
          <p:nvPr/>
        </p:nvSpPr>
        <p:spPr>
          <a:xfrm>
            <a:off x="37286489" y="1809598"/>
            <a:ext cx="18626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FIT ON TRAIN ONLY</a:t>
            </a:r>
            <a:endParaRPr lang="en-US" sz="1000" dirty="0"/>
          </a:p>
        </p:txBody>
      </p:sp>
      <p:sp>
        <p:nvSpPr>
          <p:cNvPr id="91" name="Shape 83"/>
          <p:cNvSpPr/>
          <p:nvPr/>
        </p:nvSpPr>
        <p:spPr>
          <a:xfrm>
            <a:off x="3936126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4"/>
          <p:cNvSpPr txBox="1"/>
          <p:nvPr/>
        </p:nvSpPr>
        <p:spPr>
          <a:xfrm>
            <a:off x="3904670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93" name="Text 85"/>
          <p:cNvSpPr txBox="1"/>
          <p:nvPr/>
        </p:nvSpPr>
        <p:spPr>
          <a:xfrm>
            <a:off x="39521282" y="1809598"/>
            <a:ext cx="48252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Imputer learns statistics (median) from training set only</a:t>
            </a:r>
            <a:endParaRPr lang="en-US" sz="1000" dirty="0"/>
          </a:p>
        </p:txBody>
      </p:sp>
      <p:sp>
        <p:nvSpPr>
          <p:cNvPr id="94" name="Shape 86"/>
          <p:cNvSpPr/>
          <p:nvPr/>
        </p:nvSpPr>
        <p:spPr>
          <a:xfrm>
            <a:off x="4455688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7"/>
          <p:cNvSpPr txBox="1"/>
          <p:nvPr/>
        </p:nvSpPr>
        <p:spPr>
          <a:xfrm>
            <a:off x="4424233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96" name="Text 88"/>
          <p:cNvSpPr txBox="1"/>
          <p:nvPr/>
        </p:nvSpPr>
        <p:spPr>
          <a:xfrm>
            <a:off x="44716903" y="1809598"/>
            <a:ext cx="27486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imputer = SimpleImputer(strategy=</a:t>
            </a:r>
            <a:endParaRPr lang="en-US" sz="1000" dirty="0"/>
          </a:p>
        </p:txBody>
      </p:sp>
      <p:sp>
        <p:nvSpPr>
          <p:cNvPr id="97" name="Text 89"/>
          <p:cNvSpPr txBox="1"/>
          <p:nvPr/>
        </p:nvSpPr>
        <p:spPr>
          <a:xfrm>
            <a:off x="4735769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'median'</a:t>
            </a:r>
            <a:endParaRPr lang="en-US" sz="1000" dirty="0"/>
          </a:p>
        </p:txBody>
      </p:sp>
      <p:sp>
        <p:nvSpPr>
          <p:cNvPr id="98" name="Text 90"/>
          <p:cNvSpPr txBox="1"/>
          <p:nvPr/>
        </p:nvSpPr>
        <p:spPr>
          <a:xfrm>
            <a:off x="4799868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99" name="Shape 91"/>
          <p:cNvSpPr/>
          <p:nvPr/>
        </p:nvSpPr>
        <p:spPr>
          <a:xfrm>
            <a:off x="4839279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2"/>
          <p:cNvSpPr txBox="1"/>
          <p:nvPr/>
        </p:nvSpPr>
        <p:spPr>
          <a:xfrm>
            <a:off x="480782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101" name="Text 93"/>
          <p:cNvSpPr txBox="1"/>
          <p:nvPr/>
        </p:nvSpPr>
        <p:spPr>
          <a:xfrm>
            <a:off x="48552811" y="1809598"/>
            <a:ext cx="39483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X_train_imputed = imputer.fit_transform(X_train)</a:t>
            </a:r>
            <a:endParaRPr lang="en-US" sz="1000" dirty="0"/>
          </a:p>
        </p:txBody>
      </p:sp>
      <p:sp>
        <p:nvSpPr>
          <p:cNvPr id="102" name="Shape 94"/>
          <p:cNvSpPr/>
          <p:nvPr/>
        </p:nvSpPr>
        <p:spPr>
          <a:xfrm>
            <a:off x="5270875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95"/>
          <p:cNvSpPr txBox="1"/>
          <p:nvPr/>
        </p:nvSpPr>
        <p:spPr>
          <a:xfrm>
            <a:off x="5239420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104" name="Shape 96"/>
          <p:cNvSpPr/>
          <p:nvPr/>
        </p:nvSpPr>
        <p:spPr>
          <a:xfrm>
            <a:off x="5318333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97"/>
          <p:cNvSpPr txBox="1"/>
          <p:nvPr/>
        </p:nvSpPr>
        <p:spPr>
          <a:xfrm>
            <a:off x="5286877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106" name="Text 98"/>
          <p:cNvSpPr txBox="1"/>
          <p:nvPr/>
        </p:nvSpPr>
        <p:spPr>
          <a:xfrm>
            <a:off x="53342438" y="1809598"/>
            <a:ext cx="16248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TRANSFORM TEST</a:t>
            </a:r>
            <a:endParaRPr lang="en-US" sz="1000" dirty="0"/>
          </a:p>
        </p:txBody>
      </p:sp>
      <p:sp>
        <p:nvSpPr>
          <p:cNvPr id="107" name="Shape 99"/>
          <p:cNvSpPr/>
          <p:nvPr/>
        </p:nvSpPr>
        <p:spPr>
          <a:xfrm>
            <a:off x="5517763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0"/>
          <p:cNvSpPr txBox="1"/>
          <p:nvPr/>
        </p:nvSpPr>
        <p:spPr>
          <a:xfrm>
            <a:off x="5486308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09" name="Text 101"/>
          <p:cNvSpPr txBox="1"/>
          <p:nvPr/>
        </p:nvSpPr>
        <p:spPr>
          <a:xfrm>
            <a:off x="55337659" y="1809598"/>
            <a:ext cx="38624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Apply the same learned statistics to test set</a:t>
            </a:r>
            <a:endParaRPr lang="en-US" sz="1000" dirty="0"/>
          </a:p>
        </p:txBody>
      </p:sp>
      <p:sp>
        <p:nvSpPr>
          <p:cNvPr id="110" name="Shape 102"/>
          <p:cNvSpPr/>
          <p:nvPr/>
        </p:nvSpPr>
        <p:spPr>
          <a:xfrm>
            <a:off x="594140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3"/>
          <p:cNvSpPr txBox="1"/>
          <p:nvPr/>
        </p:nvSpPr>
        <p:spPr>
          <a:xfrm>
            <a:off x="5909950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12" name="Text 104"/>
          <p:cNvSpPr txBox="1"/>
          <p:nvPr/>
        </p:nvSpPr>
        <p:spPr>
          <a:xfrm>
            <a:off x="59573160" y="1809598"/>
            <a:ext cx="34628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X_test_imputed = imputer.transform(X_test)</a:t>
            </a:r>
            <a:endParaRPr lang="en-US" sz="1000" dirty="0"/>
          </a:p>
        </p:txBody>
      </p:sp>
      <p:sp>
        <p:nvSpPr>
          <p:cNvPr id="113" name="Shape 105"/>
          <p:cNvSpPr/>
          <p:nvPr/>
        </p:nvSpPr>
        <p:spPr>
          <a:xfrm>
            <a:off x="6324904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6"/>
          <p:cNvSpPr txBox="1"/>
          <p:nvPr/>
        </p:nvSpPr>
        <p:spPr>
          <a:xfrm>
            <a:off x="6293449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15" name="Shape 107"/>
          <p:cNvSpPr/>
          <p:nvPr/>
        </p:nvSpPr>
        <p:spPr>
          <a:xfrm>
            <a:off x="6372362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08"/>
          <p:cNvSpPr txBox="1"/>
          <p:nvPr/>
        </p:nvSpPr>
        <p:spPr>
          <a:xfrm>
            <a:off x="634090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17" name="Text 109"/>
          <p:cNvSpPr txBox="1"/>
          <p:nvPr/>
        </p:nvSpPr>
        <p:spPr>
          <a:xfrm>
            <a:off x="63883642" y="1809598"/>
            <a:ext cx="32250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Save preprocessed data for next agent</a:t>
            </a:r>
            <a:endParaRPr lang="en-US" sz="1000" dirty="0"/>
          </a:p>
        </p:txBody>
      </p:sp>
      <p:sp>
        <p:nvSpPr>
          <p:cNvPr id="118" name="Shape 110"/>
          <p:cNvSpPr/>
          <p:nvPr/>
        </p:nvSpPr>
        <p:spPr>
          <a:xfrm>
            <a:off x="67319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1"/>
          <p:cNvSpPr txBox="1"/>
          <p:nvPr/>
        </p:nvSpPr>
        <p:spPr>
          <a:xfrm>
            <a:off x="670044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20" name="Text 112"/>
          <p:cNvSpPr txBox="1"/>
          <p:nvPr/>
        </p:nvSpPr>
        <p:spPr>
          <a:xfrm>
            <a:off x="67479062" y="1809598"/>
            <a:ext cx="30623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pd.DataFrame(X_train_imputed).to_csv(</a:t>
            </a:r>
            <a:endParaRPr lang="en-US" sz="1000" dirty="0"/>
          </a:p>
        </p:txBody>
      </p:sp>
      <p:sp>
        <p:nvSpPr>
          <p:cNvPr id="121" name="Text 113"/>
          <p:cNvSpPr txBox="1"/>
          <p:nvPr/>
        </p:nvSpPr>
        <p:spPr>
          <a:xfrm>
            <a:off x="70439890" y="1809598"/>
            <a:ext cx="19485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'./data/train_prep.csv'</a:t>
            </a:r>
            <a:endParaRPr lang="en-US" sz="1000" dirty="0"/>
          </a:p>
        </p:txBody>
      </p:sp>
      <p:sp>
        <p:nvSpPr>
          <p:cNvPr id="122" name="Text 114"/>
          <p:cNvSpPr txBox="1"/>
          <p:nvPr/>
        </p:nvSpPr>
        <p:spPr>
          <a:xfrm>
            <a:off x="72280577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123" name="Shape 115"/>
          <p:cNvSpPr/>
          <p:nvPr/>
        </p:nvSpPr>
        <p:spPr>
          <a:xfrm>
            <a:off x="7267468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6"/>
          <p:cNvSpPr txBox="1"/>
          <p:nvPr/>
        </p:nvSpPr>
        <p:spPr>
          <a:xfrm>
            <a:off x="7236013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25" name="Text 117"/>
          <p:cNvSpPr txBox="1"/>
          <p:nvPr/>
        </p:nvSpPr>
        <p:spPr>
          <a:xfrm>
            <a:off x="72834703" y="1809598"/>
            <a:ext cx="29864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pd.DataFrame(X_test_imputed).to_csv(</a:t>
            </a:r>
            <a:endParaRPr lang="en-US" sz="1000" dirty="0"/>
          </a:p>
        </p:txBody>
      </p:sp>
      <p:sp>
        <p:nvSpPr>
          <p:cNvPr id="126" name="Text 118"/>
          <p:cNvSpPr txBox="1"/>
          <p:nvPr/>
        </p:nvSpPr>
        <p:spPr>
          <a:xfrm>
            <a:off x="75715978" y="1809598"/>
            <a:ext cx="18626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'./data/test_prep.csv'</a:t>
            </a:r>
            <a:endParaRPr lang="en-US" sz="1000" dirty="0"/>
          </a:p>
        </p:txBody>
      </p:sp>
      <p:sp>
        <p:nvSpPr>
          <p:cNvPr id="127" name="Text 119"/>
          <p:cNvSpPr txBox="1"/>
          <p:nvPr/>
        </p:nvSpPr>
        <p:spPr>
          <a:xfrm>
            <a:off x="7747619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128" name="Shape 120"/>
          <p:cNvSpPr/>
          <p:nvPr/>
        </p:nvSpPr>
        <p:spPr>
          <a:xfrm>
            <a:off x="7787121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121"/>
          <p:cNvSpPr txBox="1"/>
          <p:nvPr/>
        </p:nvSpPr>
        <p:spPr>
          <a:xfrm>
            <a:off x="7755666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30" name="Shape 122"/>
          <p:cNvSpPr/>
          <p:nvPr/>
        </p:nvSpPr>
        <p:spPr>
          <a:xfrm>
            <a:off x="7834579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123"/>
          <p:cNvSpPr txBox="1"/>
          <p:nvPr/>
        </p:nvSpPr>
        <p:spPr>
          <a:xfrm>
            <a:off x="780312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32" name="Text 124"/>
          <p:cNvSpPr txBox="1"/>
          <p:nvPr/>
        </p:nvSpPr>
        <p:spPr>
          <a:xfrm>
            <a:off x="78504898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000" dirty="0"/>
          </a:p>
        </p:txBody>
      </p:sp>
      <p:sp>
        <p:nvSpPr>
          <p:cNvPr id="133" name="Text 125"/>
          <p:cNvSpPr txBox="1"/>
          <p:nvPr/>
        </p:nvSpPr>
        <p:spPr>
          <a:xfrm>
            <a:off x="7890540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00" dirty="0"/>
          </a:p>
        </p:txBody>
      </p:sp>
      <p:sp>
        <p:nvSpPr>
          <p:cNvPr id="134" name="Text 126"/>
          <p:cNvSpPr txBox="1"/>
          <p:nvPr/>
        </p:nvSpPr>
        <p:spPr>
          <a:xfrm>
            <a:off x="78985872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"Data processing complete. Artifacts saved."</a:t>
            </a:r>
            <a:endParaRPr lang="en-US" sz="1000" dirty="0"/>
          </a:p>
        </p:txBody>
      </p:sp>
      <p:sp>
        <p:nvSpPr>
          <p:cNvPr id="135" name="Text 127"/>
          <p:cNvSpPr txBox="1"/>
          <p:nvPr/>
        </p:nvSpPr>
        <p:spPr>
          <a:xfrm>
            <a:off x="82506312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136" name="Shape 128"/>
          <p:cNvSpPr/>
          <p:nvPr/>
        </p:nvSpPr>
        <p:spPr>
          <a:xfrm>
            <a:off x="0" y="7114946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29"/>
          <p:cNvSpPr/>
          <p:nvPr/>
        </p:nvSpPr>
        <p:spPr>
          <a:xfrm>
            <a:off x="0" y="7114946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Text 130"/>
          <p:cNvSpPr txBox="1"/>
          <p:nvPr/>
        </p:nvSpPr>
        <p:spPr>
          <a:xfrm>
            <a:off x="457200" y="7272223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139" name="Text 131"/>
          <p:cNvSpPr txBox="1"/>
          <p:nvPr/>
        </p:nvSpPr>
        <p:spPr>
          <a:xfrm>
            <a:off x="11320272" y="7272223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31</a:t>
            </a:r>
            <a:endParaRPr lang="en-US" sz="900" dirty="0"/>
          </a:p>
        </p:txBody>
      </p:sp>
      <p:sp>
        <p:nvSpPr>
          <p:cNvPr id="140" name="Shape 13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pic>
        <p:nvPicPr>
          <p:cNvPr id="145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47" name="Shape 69">
            <a:extLst>
              <a:ext uri="{FF2B5EF4-FFF2-40B4-BE49-F238E27FC236}">
                <a16:creationId xmlns:a16="http://schemas.microsoft.com/office/drawing/2014/main" id="{03C2888C-A780-3222-62E3-A3F9D90724E0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8" name="Image 8" descr="preencoded.png">
            <a:extLst>
              <a:ext uri="{FF2B5EF4-FFF2-40B4-BE49-F238E27FC236}">
                <a16:creationId xmlns:a16="http://schemas.microsoft.com/office/drawing/2014/main" id="{C61F2FA6-1372-1889-CBD6-05D773837B4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6072" y="286207"/>
            <a:ext cx="142646" cy="190195"/>
          </a:xfrm>
          <a:prstGeom prst="rect">
            <a:avLst/>
          </a:prstGeom>
        </p:spPr>
      </p:pic>
      <p:sp>
        <p:nvSpPr>
          <p:cNvPr id="149" name="Text 70">
            <a:extLst>
              <a:ext uri="{FF2B5EF4-FFF2-40B4-BE49-F238E27FC236}">
                <a16:creationId xmlns:a16="http://schemas.microsoft.com/office/drawing/2014/main" id="{EC53C4B3-7F38-4C94-E03F-45FC41238470}"/>
              </a:ext>
            </a:extLst>
          </p:cNvPr>
          <p:cNvSpPr txBox="1"/>
          <p:nvPr/>
        </p:nvSpPr>
        <p:spPr>
          <a:xfrm>
            <a:off x="990294" y="237744"/>
            <a:ext cx="301569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 Agent</a:t>
            </a:r>
            <a:endParaRPr lang="en-US" sz="1800" dirty="0"/>
          </a:p>
        </p:txBody>
      </p:sp>
      <p:pic>
        <p:nvPicPr>
          <p:cNvPr id="6148" name="Picture 4" descr="AI Coding Assistants Landscape - by Bilgin Ibryam">
            <a:extLst>
              <a:ext uri="{FF2B5EF4-FFF2-40B4-BE49-F238E27FC236}">
                <a16:creationId xmlns:a16="http://schemas.microsoft.com/office/drawing/2014/main" id="{93AD5917-615E-0D24-2ADA-F15EE7337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165" y="1066468"/>
            <a:ext cx="5995721" cy="543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562356" y="286207"/>
            <a:ext cx="171907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2677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Review Agent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4495" y="1143000"/>
            <a:ext cx="4828946" cy="3724352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543154" y="1429207"/>
            <a:ext cx="219456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8505" y="1380744"/>
            <a:ext cx="22622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Validation System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574390" y="1399946"/>
            <a:ext cx="1324051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0285" y="1447495"/>
            <a:ext cx="1257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agents/quality.py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543154" y="1809598"/>
            <a:ext cx="40251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validation schema ensuring rigorous quality control before outputs are accepted.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1047902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243730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718304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6318504" y="2542946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(BaseModel):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593178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7278624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7753198" y="2542946"/>
            <a:ext cx="25868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Flag to trigger revision loop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10548518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10233965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10708538" y="2542946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needs_revision: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13183819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 txBox="1"/>
          <p:nvPr/>
        </p:nvSpPr>
        <p:spPr>
          <a:xfrm>
            <a:off x="14303959" y="2542946"/>
            <a:ext cx="25868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"True if critical errors found"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17099280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16784726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17259300" y="2542946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17654321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 txBox="1"/>
          <p:nvPr/>
        </p:nvSpPr>
        <p:spPr>
          <a:xfrm>
            <a:off x="17339767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18128894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 txBox="1"/>
          <p:nvPr/>
        </p:nvSpPr>
        <p:spPr>
          <a:xfrm>
            <a:off x="17814341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18288000" y="2542946"/>
            <a:ext cx="25100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Detailed actionable feedback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21003768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 txBox="1"/>
          <p:nvPr/>
        </p:nvSpPr>
        <p:spPr>
          <a:xfrm>
            <a:off x="20689214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21163788" y="2542946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feedback: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21884335" y="2542946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22123908" y="2542946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Field(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23079456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 txBox="1"/>
          <p:nvPr/>
        </p:nvSpPr>
        <p:spPr>
          <a:xfrm>
            <a:off x="22764902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23238562" y="2542946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description=</a:t>
            </a:r>
            <a:endParaRPr lang="en-US" sz="1000" dirty="0"/>
          </a:p>
        </p:txBody>
      </p:sp>
      <p:sp>
        <p:nvSpPr>
          <p:cNvPr id="58" name="Text 54"/>
          <p:cNvSpPr txBox="1"/>
          <p:nvPr/>
        </p:nvSpPr>
        <p:spPr>
          <a:xfrm>
            <a:off x="24199596" y="2542946"/>
            <a:ext cx="23481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"Specific issues to address"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26754430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 txBox="1"/>
          <p:nvPr/>
        </p:nvSpPr>
        <p:spPr>
          <a:xfrm>
            <a:off x="26439876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26914450" y="2542946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62" name="Shape 58"/>
          <p:cNvSpPr/>
          <p:nvPr/>
        </p:nvSpPr>
        <p:spPr>
          <a:xfrm>
            <a:off x="27309470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 txBox="1"/>
          <p:nvPr/>
        </p:nvSpPr>
        <p:spPr>
          <a:xfrm>
            <a:off x="26994917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64" name="Shape 60"/>
          <p:cNvSpPr/>
          <p:nvPr/>
        </p:nvSpPr>
        <p:spPr>
          <a:xfrm>
            <a:off x="27784044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1"/>
          <p:cNvSpPr txBox="1"/>
          <p:nvPr/>
        </p:nvSpPr>
        <p:spPr>
          <a:xfrm>
            <a:off x="27469490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66" name="Text 62"/>
          <p:cNvSpPr txBox="1"/>
          <p:nvPr/>
        </p:nvSpPr>
        <p:spPr>
          <a:xfrm>
            <a:off x="27943150" y="2542946"/>
            <a:ext cx="29105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Score for quality tracking (0-10)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31059425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4"/>
          <p:cNvSpPr txBox="1"/>
          <p:nvPr/>
        </p:nvSpPr>
        <p:spPr>
          <a:xfrm>
            <a:off x="30744871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69" name="Text 65"/>
          <p:cNvSpPr txBox="1"/>
          <p:nvPr/>
        </p:nvSpPr>
        <p:spPr>
          <a:xfrm>
            <a:off x="31218530" y="2542946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score:</a:t>
            </a:r>
            <a:endParaRPr lang="en-US" sz="1000" dirty="0"/>
          </a:p>
        </p:txBody>
      </p:sp>
      <p:sp>
        <p:nvSpPr>
          <p:cNvPr id="70" name="Text 66"/>
          <p:cNvSpPr txBox="1"/>
          <p:nvPr/>
        </p:nvSpPr>
        <p:spPr>
          <a:xfrm>
            <a:off x="31699505" y="2542946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</a:t>
            </a:r>
            <a:endParaRPr lang="en-US" sz="1000" dirty="0"/>
          </a:p>
        </p:txBody>
      </p:sp>
      <p:sp>
        <p:nvSpPr>
          <p:cNvPr id="71" name="Text 67"/>
          <p:cNvSpPr txBox="1"/>
          <p:nvPr/>
        </p:nvSpPr>
        <p:spPr>
          <a:xfrm>
            <a:off x="31939078" y="2542946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Field(</a:t>
            </a:r>
            <a:endParaRPr lang="en-US" sz="1000" dirty="0"/>
          </a:p>
        </p:txBody>
      </p:sp>
      <p:sp>
        <p:nvSpPr>
          <p:cNvPr id="72" name="Shape 68"/>
          <p:cNvSpPr/>
          <p:nvPr/>
        </p:nvSpPr>
        <p:spPr>
          <a:xfrm>
            <a:off x="32894626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9"/>
          <p:cNvSpPr txBox="1"/>
          <p:nvPr/>
        </p:nvSpPr>
        <p:spPr>
          <a:xfrm>
            <a:off x="32580072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74" name="Text 70"/>
          <p:cNvSpPr txBox="1"/>
          <p:nvPr/>
        </p:nvSpPr>
        <p:spPr>
          <a:xfrm>
            <a:off x="33053731" y="2542946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description=</a:t>
            </a:r>
            <a:endParaRPr lang="en-US" sz="1000" dirty="0"/>
          </a:p>
        </p:txBody>
      </p:sp>
      <p:sp>
        <p:nvSpPr>
          <p:cNvPr id="75" name="Text 71"/>
          <p:cNvSpPr txBox="1"/>
          <p:nvPr/>
        </p:nvSpPr>
        <p:spPr>
          <a:xfrm>
            <a:off x="34014766" y="2542946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"Quality score 0-10"</a:t>
            </a:r>
            <a:endParaRPr lang="en-US" sz="1000" dirty="0"/>
          </a:p>
        </p:txBody>
      </p:sp>
      <p:sp>
        <p:nvSpPr>
          <p:cNvPr id="76" name="Shape 72"/>
          <p:cNvSpPr/>
          <p:nvPr/>
        </p:nvSpPr>
        <p:spPr>
          <a:xfrm>
            <a:off x="35929519" y="2542946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3"/>
          <p:cNvSpPr txBox="1"/>
          <p:nvPr/>
        </p:nvSpPr>
        <p:spPr>
          <a:xfrm>
            <a:off x="35614966" y="2542946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78" name="Text 74"/>
          <p:cNvSpPr txBox="1"/>
          <p:nvPr/>
        </p:nvSpPr>
        <p:spPr>
          <a:xfrm>
            <a:off x="36089539" y="2542946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80" name="Shape 75"/>
          <p:cNvSpPr/>
          <p:nvPr/>
        </p:nvSpPr>
        <p:spPr>
          <a:xfrm>
            <a:off x="287122" y="4943247"/>
            <a:ext cx="4828946" cy="1276502"/>
          </a:xfrm>
          <a:prstGeom prst="roundRect">
            <a:avLst>
              <a:gd name="adj" fmla="val 641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7376" y="5171847"/>
            <a:ext cx="133502" cy="133502"/>
          </a:xfrm>
          <a:prstGeom prst="rect">
            <a:avLst/>
          </a:prstGeom>
        </p:spPr>
      </p:pic>
      <p:sp>
        <p:nvSpPr>
          <p:cNvPr id="82" name="Text 76"/>
          <p:cNvSpPr txBox="1"/>
          <p:nvPr/>
        </p:nvSpPr>
        <p:spPr>
          <a:xfrm>
            <a:off x="696773" y="5142586"/>
            <a:ext cx="1196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Scope</a:t>
            </a:r>
            <a:endParaRPr lang="en-US" sz="1000" dirty="0"/>
          </a:p>
        </p:txBody>
      </p:sp>
      <p:sp>
        <p:nvSpPr>
          <p:cNvPr id="83" name="Text 77"/>
          <p:cNvSpPr txBox="1"/>
          <p:nvPr/>
        </p:nvSpPr>
        <p:spPr>
          <a:xfrm>
            <a:off x="487376" y="5409591"/>
            <a:ext cx="2820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Quality: PEP 8, Data Leakage, Error Handling</a:t>
            </a:r>
            <a:endParaRPr lang="en-US" sz="900" dirty="0"/>
          </a:p>
        </p:txBody>
      </p:sp>
      <p:sp>
        <p:nvSpPr>
          <p:cNvPr id="84" name="Text 78"/>
          <p:cNvSpPr txBox="1"/>
          <p:nvPr/>
        </p:nvSpPr>
        <p:spPr>
          <a:xfrm>
            <a:off x="487376" y="5638191"/>
            <a:ext cx="3086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Visuals: Labels, Legends, Aspect Ratio, Color Blindness</a:t>
            </a:r>
            <a:endParaRPr lang="en-US" sz="900" dirty="0"/>
          </a:p>
        </p:txBody>
      </p:sp>
      <p:sp>
        <p:nvSpPr>
          <p:cNvPr id="85" name="Text 79"/>
          <p:cNvSpPr txBox="1"/>
          <p:nvPr/>
        </p:nvSpPr>
        <p:spPr>
          <a:xfrm>
            <a:off x="487376" y="5866791"/>
            <a:ext cx="2533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Report: Citations, Logic Flow, Academic Tone</a:t>
            </a:r>
            <a:endParaRPr lang="en-US" sz="900" dirty="0"/>
          </a:p>
        </p:txBody>
      </p:sp>
      <p:sp>
        <p:nvSpPr>
          <p:cNvPr id="86" name="Shape 80"/>
          <p:cNvSpPr/>
          <p:nvPr/>
        </p:nvSpPr>
        <p:spPr>
          <a:xfrm>
            <a:off x="5435194" y="1143000"/>
            <a:ext cx="6458407" cy="543154"/>
          </a:xfrm>
          <a:prstGeom prst="roundRect">
            <a:avLst>
              <a:gd name="adj" fmla="val 35442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1"/>
          <p:cNvSpPr/>
          <p:nvPr/>
        </p:nvSpPr>
        <p:spPr>
          <a:xfrm>
            <a:off x="5587898" y="1295705"/>
            <a:ext cx="1390802" cy="237744"/>
          </a:xfrm>
          <a:prstGeom prst="roundRect">
            <a:avLst>
              <a:gd name="adj" fmla="val 384615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2"/>
          <p:cNvSpPr txBox="1"/>
          <p:nvPr/>
        </p:nvSpPr>
        <p:spPr>
          <a:xfrm>
            <a:off x="5702198" y="1343254"/>
            <a:ext cx="124267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REVISION REQUIRED</a:t>
            </a:r>
            <a:endParaRPr lang="en-US" sz="800" dirty="0"/>
          </a:p>
        </p:txBody>
      </p:sp>
      <p:sp>
        <p:nvSpPr>
          <p:cNvPr id="89" name="Text 83"/>
          <p:cNvSpPr txBox="1"/>
          <p:nvPr/>
        </p:nvSpPr>
        <p:spPr>
          <a:xfrm>
            <a:off x="7086600" y="1336853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Session ID: #A892-QC</a:t>
            </a:r>
            <a:endParaRPr lang="en-US" sz="1000" dirty="0"/>
          </a:p>
        </p:txBody>
      </p:sp>
      <p:sp>
        <p:nvSpPr>
          <p:cNvPr id="90" name="Shape 84"/>
          <p:cNvSpPr/>
          <p:nvPr/>
        </p:nvSpPr>
        <p:spPr>
          <a:xfrm>
            <a:off x="11239805" y="135605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5"/>
          <p:cNvSpPr/>
          <p:nvPr/>
        </p:nvSpPr>
        <p:spPr>
          <a:xfrm>
            <a:off x="11430000" y="135605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86"/>
          <p:cNvSpPr/>
          <p:nvPr/>
        </p:nvSpPr>
        <p:spPr>
          <a:xfrm>
            <a:off x="11620195" y="135605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87"/>
          <p:cNvSpPr/>
          <p:nvPr/>
        </p:nvSpPr>
        <p:spPr>
          <a:xfrm>
            <a:off x="5435194" y="1684325"/>
            <a:ext cx="6458407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Shape 88"/>
          <p:cNvSpPr/>
          <p:nvPr/>
        </p:nvSpPr>
        <p:spPr>
          <a:xfrm>
            <a:off x="5435194" y="5789981"/>
            <a:ext cx="6458407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89"/>
          <p:cNvSpPr/>
          <p:nvPr/>
        </p:nvSpPr>
        <p:spPr>
          <a:xfrm>
            <a:off x="5663794" y="1912925"/>
            <a:ext cx="6001207" cy="150510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0"/>
          <p:cNvSpPr/>
          <p:nvPr/>
        </p:nvSpPr>
        <p:spPr>
          <a:xfrm>
            <a:off x="5663794" y="1912925"/>
            <a:ext cx="38405" cy="150510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54903" y="2143354"/>
            <a:ext cx="171907" cy="171907"/>
          </a:xfrm>
          <a:prstGeom prst="rect">
            <a:avLst/>
          </a:prstGeom>
        </p:spPr>
      </p:pic>
      <p:sp>
        <p:nvSpPr>
          <p:cNvPr id="98" name="Text 91"/>
          <p:cNvSpPr txBox="1"/>
          <p:nvPr/>
        </p:nvSpPr>
        <p:spPr>
          <a:xfrm>
            <a:off x="6140196" y="2074774"/>
            <a:ext cx="25392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Issue: Data Leakage Detected</a:t>
            </a:r>
            <a:endParaRPr lang="en-US" sz="1000" dirty="0"/>
          </a:p>
        </p:txBody>
      </p:sp>
      <p:sp>
        <p:nvSpPr>
          <p:cNvPr id="99" name="Text 92"/>
          <p:cNvSpPr txBox="1"/>
          <p:nvPr/>
        </p:nvSpPr>
        <p:spPr>
          <a:xfrm>
            <a:off x="6140196" y="2293315"/>
            <a:ext cx="51819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generated code fits the StandardScaler on the entire dataset before splitting into train/test sets. This violates the fundamental principle of keeping the test set unseen.</a:t>
            </a:r>
            <a:endParaRPr lang="en-US" sz="900" dirty="0"/>
          </a:p>
        </p:txBody>
      </p:sp>
      <p:sp>
        <p:nvSpPr>
          <p:cNvPr id="100" name="Shape 93"/>
          <p:cNvSpPr/>
          <p:nvPr/>
        </p:nvSpPr>
        <p:spPr>
          <a:xfrm>
            <a:off x="5854903" y="2674620"/>
            <a:ext cx="5658307" cy="590702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4"/>
          <p:cNvSpPr txBox="1"/>
          <p:nvPr/>
        </p:nvSpPr>
        <p:spPr>
          <a:xfrm>
            <a:off x="5978347" y="280812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900" dirty="0"/>
          </a:p>
        </p:txBody>
      </p:sp>
      <p:sp>
        <p:nvSpPr>
          <p:cNvPr id="102" name="Text 95"/>
          <p:cNvSpPr txBox="1"/>
          <p:nvPr/>
        </p:nvSpPr>
        <p:spPr>
          <a:xfrm>
            <a:off x="6191402" y="2808122"/>
            <a:ext cx="2695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262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scaler.fit_transform(X) # BEFORE split</a:t>
            </a:r>
            <a:endParaRPr lang="en-US" sz="900" dirty="0"/>
          </a:p>
        </p:txBody>
      </p:sp>
      <p:sp>
        <p:nvSpPr>
          <p:cNvPr id="103" name="Text 96"/>
          <p:cNvSpPr txBox="1"/>
          <p:nvPr/>
        </p:nvSpPr>
        <p:spPr>
          <a:xfrm>
            <a:off x="5978347" y="2998318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28</a:t>
            </a:r>
            <a:endParaRPr lang="en-US" sz="900" dirty="0"/>
          </a:p>
        </p:txBody>
      </p:sp>
      <p:sp>
        <p:nvSpPr>
          <p:cNvPr id="104" name="Text 97"/>
          <p:cNvSpPr txBox="1"/>
          <p:nvPr/>
        </p:nvSpPr>
        <p:spPr>
          <a:xfrm>
            <a:off x="6191402" y="2998318"/>
            <a:ext cx="33814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X_train, X_test = train_test_split(X) # TOO LATE</a:t>
            </a:r>
            <a:endParaRPr lang="en-US" sz="900" dirty="0"/>
          </a:p>
        </p:txBody>
      </p:sp>
      <p:sp>
        <p:nvSpPr>
          <p:cNvPr id="105" name="Shape 98"/>
          <p:cNvSpPr/>
          <p:nvPr/>
        </p:nvSpPr>
        <p:spPr>
          <a:xfrm>
            <a:off x="5663794" y="3645713"/>
            <a:ext cx="6001207" cy="191475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99"/>
          <p:cNvSpPr/>
          <p:nvPr/>
        </p:nvSpPr>
        <p:spPr>
          <a:xfrm>
            <a:off x="5663794" y="3645713"/>
            <a:ext cx="38405" cy="191475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54903" y="3877056"/>
            <a:ext cx="171907" cy="171907"/>
          </a:xfrm>
          <a:prstGeom prst="rect">
            <a:avLst/>
          </a:prstGeom>
        </p:spPr>
      </p:pic>
      <p:sp>
        <p:nvSpPr>
          <p:cNvPr id="108" name="Text 100"/>
          <p:cNvSpPr txBox="1"/>
          <p:nvPr/>
        </p:nvSpPr>
        <p:spPr>
          <a:xfrm>
            <a:off x="6140196" y="3808476"/>
            <a:ext cx="14913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Corrections</a:t>
            </a:r>
            <a:endParaRPr lang="en-US" sz="1000" dirty="0"/>
          </a:p>
        </p:txBody>
      </p:sp>
      <p:sp>
        <p:nvSpPr>
          <p:cNvPr id="109" name="Text 101"/>
          <p:cNvSpPr txBox="1"/>
          <p:nvPr/>
        </p:nvSpPr>
        <p:spPr>
          <a:xfrm>
            <a:off x="6140196" y="3988613"/>
            <a:ext cx="3258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Please implement the following changes to fix the leakage:</a:t>
            </a:r>
            <a:endParaRPr lang="en-US" sz="900" dirty="0"/>
          </a:p>
        </p:txBody>
      </p:sp>
      <p:sp>
        <p:nvSpPr>
          <p:cNvPr id="110" name="Text 102"/>
          <p:cNvSpPr txBox="1"/>
          <p:nvPr/>
        </p:nvSpPr>
        <p:spPr>
          <a:xfrm>
            <a:off x="6104534" y="4255618"/>
            <a:ext cx="4191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Splitting: Perform train_test_split before any scaling or transformation.</a:t>
            </a:r>
            <a:endParaRPr lang="en-US" sz="900" dirty="0"/>
          </a:p>
        </p:txBody>
      </p:sp>
      <p:sp>
        <p:nvSpPr>
          <p:cNvPr id="111" name="Text 103"/>
          <p:cNvSpPr txBox="1"/>
          <p:nvPr/>
        </p:nvSpPr>
        <p:spPr>
          <a:xfrm>
            <a:off x="6104534" y="4522622"/>
            <a:ext cx="5143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 on Train Only: Use scaler.fit_transform(X_train) to learn parameters from training data only.</a:t>
            </a:r>
            <a:endParaRPr lang="en-US" sz="900" dirty="0"/>
          </a:p>
        </p:txBody>
      </p:sp>
      <p:sp>
        <p:nvSpPr>
          <p:cNvPr id="112" name="Text 104"/>
          <p:cNvSpPr txBox="1"/>
          <p:nvPr/>
        </p:nvSpPr>
        <p:spPr>
          <a:xfrm>
            <a:off x="6104534" y="4788713"/>
            <a:ext cx="46104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Test: Apply the learned scaler to test data using scaler.transform(X_test).</a:t>
            </a:r>
            <a:endParaRPr lang="en-US" sz="900" dirty="0"/>
          </a:p>
        </p:txBody>
      </p:sp>
      <p:sp>
        <p:nvSpPr>
          <p:cNvPr id="113" name="Shape 105"/>
          <p:cNvSpPr/>
          <p:nvPr/>
        </p:nvSpPr>
        <p:spPr>
          <a:xfrm>
            <a:off x="5854903" y="5094122"/>
            <a:ext cx="5658307" cy="9144"/>
          </a:xfrm>
          <a:prstGeom prst="rect">
            <a:avLst/>
          </a:prstGeom>
          <a:solidFill>
            <a:srgbClr val="A7F3D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70771" y="5275174"/>
            <a:ext cx="114300" cy="114300"/>
          </a:xfrm>
          <a:prstGeom prst="rect">
            <a:avLst/>
          </a:prstGeom>
        </p:spPr>
      </p:pic>
      <p:sp>
        <p:nvSpPr>
          <p:cNvPr id="115" name="Text 106"/>
          <p:cNvSpPr txBox="1"/>
          <p:nvPr/>
        </p:nvSpPr>
        <p:spPr>
          <a:xfrm>
            <a:off x="9560966" y="5255971"/>
            <a:ext cx="2039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SENDING BACK TO CODE AGENT...</a:t>
            </a:r>
            <a:endParaRPr lang="en-US" sz="900" dirty="0"/>
          </a:p>
        </p:txBody>
      </p:sp>
      <p:sp>
        <p:nvSpPr>
          <p:cNvPr id="116" name="Shape 10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08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09"/>
          <p:cNvSpPr txBox="1"/>
          <p:nvPr/>
        </p:nvSpPr>
        <p:spPr>
          <a:xfrm>
            <a:off x="457200" y="655807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119" name="Text 110"/>
          <p:cNvSpPr txBox="1"/>
          <p:nvPr/>
        </p:nvSpPr>
        <p:spPr>
          <a:xfrm>
            <a:off x="11296498" y="6558077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32</a:t>
            </a:r>
            <a:endParaRPr lang="en-US" sz="900" dirty="0"/>
          </a:p>
        </p:txBody>
      </p:sp>
      <p:sp>
        <p:nvSpPr>
          <p:cNvPr id="120" name="Shape 11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24" name="Text 114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25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26" name="Text 115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27" name="Shape 69">
            <a:extLst>
              <a:ext uri="{FF2B5EF4-FFF2-40B4-BE49-F238E27FC236}">
                <a16:creationId xmlns:a16="http://schemas.microsoft.com/office/drawing/2014/main" id="{F8C7FA4D-CA47-9DE5-F137-1997F0B4AFF2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8" name="Image 8" descr="preencoded.png">
            <a:extLst>
              <a:ext uri="{FF2B5EF4-FFF2-40B4-BE49-F238E27FC236}">
                <a16:creationId xmlns:a16="http://schemas.microsoft.com/office/drawing/2014/main" id="{8AE62C00-7ABA-3C78-B9F8-250741A7040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6072" y="286207"/>
            <a:ext cx="142646" cy="190195"/>
          </a:xfrm>
          <a:prstGeom prst="rect">
            <a:avLst/>
          </a:prstGeom>
        </p:spPr>
      </p:pic>
      <p:sp>
        <p:nvSpPr>
          <p:cNvPr id="129" name="Text 70">
            <a:extLst>
              <a:ext uri="{FF2B5EF4-FFF2-40B4-BE49-F238E27FC236}">
                <a16:creationId xmlns:a16="http://schemas.microsoft.com/office/drawing/2014/main" id="{7D290DCB-0E26-E907-38B3-6BFE62BA69BA}"/>
              </a:ext>
            </a:extLst>
          </p:cNvPr>
          <p:cNvSpPr txBox="1"/>
          <p:nvPr/>
        </p:nvSpPr>
        <p:spPr>
          <a:xfrm>
            <a:off x="990294" y="237744"/>
            <a:ext cx="301569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Review Agent</a:t>
            </a:r>
            <a:endParaRPr lang="en-US" sz="1800" dirty="0"/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531CC9C9-7ABB-E7AA-99A3-69222767C6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046" y="2162556"/>
            <a:ext cx="3071949" cy="257532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72DB-36D8-AF67-D7E0-BC579C52A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80AA95-6483-6899-4659-72C8F7CD98CE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4DFE3A5-EC2F-9339-A31C-08B19005A899}"/>
              </a:ext>
            </a:extLst>
          </p:cNvPr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4CE9A5A-DD29-E702-7D3F-376381C4146F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8FCACE8-EED5-C379-7B7B-984E2DF8A5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51FFC73-6125-C318-769A-2AB3FA7068C2}"/>
              </a:ext>
            </a:extLst>
          </p:cNvPr>
          <p:cNvSpPr txBox="1"/>
          <p:nvPr/>
        </p:nvSpPr>
        <p:spPr>
          <a:xfrm>
            <a:off x="990295" y="237744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Stage 3: PCA Decision Logic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3CD60E6-182F-9F24-B80B-527C428B2F45}"/>
              </a:ext>
            </a:extLst>
          </p:cNvPr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1DEC8F1-F8E8-E021-F66F-E921A228F6D8}"/>
              </a:ext>
            </a:extLst>
          </p:cNvPr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7672284-F4ED-2FDB-09AE-B62FC66295EE}"/>
              </a:ext>
            </a:extLst>
          </p:cNvPr>
          <p:cNvSpPr/>
          <p:nvPr/>
        </p:nvSpPr>
        <p:spPr>
          <a:xfrm>
            <a:off x="0" y="838505"/>
            <a:ext cx="12191695" cy="5772607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DDF8724F-0275-43AC-737B-ECA3660F3530}"/>
              </a:ext>
            </a:extLst>
          </p:cNvPr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01CB0652-1B4E-2D4C-FFF4-45FB48655C3A}"/>
              </a:ext>
            </a:extLst>
          </p:cNvPr>
          <p:cNvSpPr txBox="1"/>
          <p:nvPr/>
        </p:nvSpPr>
        <p:spPr>
          <a:xfrm>
            <a:off x="4869180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D8A46C70-E556-CDB1-783E-9080C29C0251}"/>
              </a:ext>
            </a:extLst>
          </p:cNvPr>
          <p:cNvSpPr txBox="1"/>
          <p:nvPr/>
        </p:nvSpPr>
        <p:spPr>
          <a:xfrm>
            <a:off x="903061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00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0345515A-DEB6-8262-B069-238C15960767}"/>
              </a:ext>
            </a:extLst>
          </p:cNvPr>
          <p:cNvSpPr/>
          <p:nvPr/>
        </p:nvSpPr>
        <p:spPr>
          <a:xfrm>
            <a:off x="942472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863EE4F0-CE01-07F6-9BA2-DED64479A992}"/>
              </a:ext>
            </a:extLst>
          </p:cNvPr>
          <p:cNvSpPr txBox="1"/>
          <p:nvPr/>
        </p:nvSpPr>
        <p:spPr>
          <a:xfrm>
            <a:off x="1174546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000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3E1A721B-8249-93E7-6A40-D3E8C0F6181C}"/>
              </a:ext>
            </a:extLst>
          </p:cNvPr>
          <p:cNvSpPr/>
          <p:nvPr/>
        </p:nvSpPr>
        <p:spPr>
          <a:xfrm>
            <a:off x="12220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5">
            <a:extLst>
              <a:ext uri="{FF2B5EF4-FFF2-40B4-BE49-F238E27FC236}">
                <a16:creationId xmlns:a16="http://schemas.microsoft.com/office/drawing/2014/main" id="{353AFDC2-A4E6-32E2-5815-605C8780EC53}"/>
              </a:ext>
            </a:extLst>
          </p:cNvPr>
          <p:cNvSpPr/>
          <p:nvPr/>
        </p:nvSpPr>
        <p:spPr>
          <a:xfrm>
            <a:off x="1589593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2BD2469E-2338-134B-FE77-6C37CEC9B14A}"/>
              </a:ext>
            </a:extLst>
          </p:cNvPr>
          <p:cNvSpPr txBox="1"/>
          <p:nvPr/>
        </p:nvSpPr>
        <p:spPr>
          <a:xfrm>
            <a:off x="1558137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8E261F86-EECC-A48C-C6AE-FB8371B8BFDC}"/>
              </a:ext>
            </a:extLst>
          </p:cNvPr>
          <p:cNvSpPr txBox="1"/>
          <p:nvPr/>
        </p:nvSpPr>
        <p:spPr>
          <a:xfrm>
            <a:off x="16055950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scaler =</a:t>
            </a:r>
            <a:endParaRPr lang="en-US" sz="1000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993A0C4A-77E2-5C20-E392-8854A86D5C33}"/>
              </a:ext>
            </a:extLst>
          </p:cNvPr>
          <p:cNvSpPr txBox="1"/>
          <p:nvPr/>
        </p:nvSpPr>
        <p:spPr>
          <a:xfrm>
            <a:off x="16696030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2BBB1968-2209-A2B4-F22F-ABD091AE2734}"/>
              </a:ext>
            </a:extLst>
          </p:cNvPr>
          <p:cNvSpPr txBox="1"/>
          <p:nvPr/>
        </p:nvSpPr>
        <p:spPr>
          <a:xfrm>
            <a:off x="178161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55" name="Shape 50">
            <a:extLst>
              <a:ext uri="{FF2B5EF4-FFF2-40B4-BE49-F238E27FC236}">
                <a16:creationId xmlns:a16="http://schemas.microsoft.com/office/drawing/2014/main" id="{FCFDC4DC-C6BB-44F4-E7B0-CFD5B9E1934F}"/>
              </a:ext>
            </a:extLst>
          </p:cNvPr>
          <p:cNvSpPr/>
          <p:nvPr/>
        </p:nvSpPr>
        <p:spPr>
          <a:xfrm>
            <a:off x="1829074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BA3D0C4D-C121-EA23-F573-EE5A321A0746}"/>
              </a:ext>
            </a:extLst>
          </p:cNvPr>
          <p:cNvSpPr txBox="1"/>
          <p:nvPr/>
        </p:nvSpPr>
        <p:spPr>
          <a:xfrm>
            <a:off x="1797619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71730814-79AD-7490-6553-F0B6A452FAA8}"/>
              </a:ext>
            </a:extLst>
          </p:cNvPr>
          <p:cNvSpPr txBox="1"/>
          <p:nvPr/>
        </p:nvSpPr>
        <p:spPr>
          <a:xfrm>
            <a:off x="1845076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numeric_df = df.select_dtypes(include=[np.number])</a:t>
            </a:r>
            <a:endParaRPr lang="en-US" sz="1000" dirty="0"/>
          </a:p>
        </p:txBody>
      </p:sp>
      <p:sp>
        <p:nvSpPr>
          <p:cNvPr id="58" name="Shape 53">
            <a:extLst>
              <a:ext uri="{FF2B5EF4-FFF2-40B4-BE49-F238E27FC236}">
                <a16:creationId xmlns:a16="http://schemas.microsoft.com/office/drawing/2014/main" id="{D5405FAF-A38F-F72F-423D-4BAF2AC98D28}"/>
              </a:ext>
            </a:extLst>
          </p:cNvPr>
          <p:cNvSpPr/>
          <p:nvPr/>
        </p:nvSpPr>
        <p:spPr>
          <a:xfrm>
            <a:off x="2276673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C996A793-C5E8-6D66-6047-EC974BCBEF33}"/>
              </a:ext>
            </a:extLst>
          </p:cNvPr>
          <p:cNvSpPr txBox="1"/>
          <p:nvPr/>
        </p:nvSpPr>
        <p:spPr>
          <a:xfrm>
            <a:off x="224521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A4E69E29-A18C-A4BA-3E74-AEB9CBA03D0B}"/>
              </a:ext>
            </a:extLst>
          </p:cNvPr>
          <p:cNvSpPr txBox="1"/>
          <p:nvPr/>
        </p:nvSpPr>
        <p:spPr>
          <a:xfrm>
            <a:off x="22926751" y="1809598"/>
            <a:ext cx="37865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scaled_data = scaler.fit_transform(numeric_df)</a:t>
            </a:r>
            <a:endParaRPr lang="en-US" sz="1000" dirty="0"/>
          </a:p>
        </p:txBody>
      </p:sp>
      <p:sp>
        <p:nvSpPr>
          <p:cNvPr id="61" name="Shape 56">
            <a:extLst>
              <a:ext uri="{FF2B5EF4-FFF2-40B4-BE49-F238E27FC236}">
                <a16:creationId xmlns:a16="http://schemas.microsoft.com/office/drawing/2014/main" id="{8A0432A1-2D30-18A9-BC69-9AE6F97239FE}"/>
              </a:ext>
            </a:extLst>
          </p:cNvPr>
          <p:cNvSpPr/>
          <p:nvPr/>
        </p:nvSpPr>
        <p:spPr>
          <a:xfrm>
            <a:off x="2692267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E046F753-2A4B-4C28-F415-78DFB1B8C74D}"/>
              </a:ext>
            </a:extLst>
          </p:cNvPr>
          <p:cNvSpPr txBox="1"/>
          <p:nvPr/>
        </p:nvSpPr>
        <p:spPr>
          <a:xfrm>
            <a:off x="2660812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3" name="Shape 58">
            <a:extLst>
              <a:ext uri="{FF2B5EF4-FFF2-40B4-BE49-F238E27FC236}">
                <a16:creationId xmlns:a16="http://schemas.microsoft.com/office/drawing/2014/main" id="{E18CD53B-B536-201B-2F74-E863EDD807DC}"/>
              </a:ext>
            </a:extLst>
          </p:cNvPr>
          <p:cNvSpPr/>
          <p:nvPr/>
        </p:nvSpPr>
        <p:spPr>
          <a:xfrm>
            <a:off x="2739725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D97A1889-421A-B574-809C-E1815FA74069}"/>
              </a:ext>
            </a:extLst>
          </p:cNvPr>
          <p:cNvSpPr txBox="1"/>
          <p:nvPr/>
        </p:nvSpPr>
        <p:spPr>
          <a:xfrm>
            <a:off x="2708269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65" name="Text 60">
            <a:extLst>
              <a:ext uri="{FF2B5EF4-FFF2-40B4-BE49-F238E27FC236}">
                <a16:creationId xmlns:a16="http://schemas.microsoft.com/office/drawing/2014/main" id="{09CA1AE6-AE42-CA2D-0AA7-C09990B92FC7}"/>
              </a:ext>
            </a:extLst>
          </p:cNvPr>
          <p:cNvSpPr txBox="1"/>
          <p:nvPr/>
        </p:nvSpPr>
        <p:spPr>
          <a:xfrm>
            <a:off x="27556358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Fit PCA to determine explained variance</a:t>
            </a:r>
            <a:endParaRPr lang="en-US" sz="1000" dirty="0"/>
          </a:p>
        </p:txBody>
      </p:sp>
      <p:sp>
        <p:nvSpPr>
          <p:cNvPr id="66" name="Shape 61">
            <a:extLst>
              <a:ext uri="{FF2B5EF4-FFF2-40B4-BE49-F238E27FC236}">
                <a16:creationId xmlns:a16="http://schemas.microsoft.com/office/drawing/2014/main" id="{33F2F74A-E377-C7A8-DD9C-1F092A4906F8}"/>
              </a:ext>
            </a:extLst>
          </p:cNvPr>
          <p:cNvSpPr/>
          <p:nvPr/>
        </p:nvSpPr>
        <p:spPr>
          <a:xfrm>
            <a:off x="3139226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2">
            <a:extLst>
              <a:ext uri="{FF2B5EF4-FFF2-40B4-BE49-F238E27FC236}">
                <a16:creationId xmlns:a16="http://schemas.microsoft.com/office/drawing/2014/main" id="{D266CDF6-2E73-B98A-44DE-147403D132E6}"/>
              </a:ext>
            </a:extLst>
          </p:cNvPr>
          <p:cNvSpPr txBox="1"/>
          <p:nvPr/>
        </p:nvSpPr>
        <p:spPr>
          <a:xfrm>
            <a:off x="3107771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68" name="Text 63">
            <a:extLst>
              <a:ext uri="{FF2B5EF4-FFF2-40B4-BE49-F238E27FC236}">
                <a16:creationId xmlns:a16="http://schemas.microsoft.com/office/drawing/2014/main" id="{4AC5BE3E-DB75-A1BB-8B59-3DBDCB1AD67C}"/>
              </a:ext>
            </a:extLst>
          </p:cNvPr>
          <p:cNvSpPr txBox="1"/>
          <p:nvPr/>
        </p:nvSpPr>
        <p:spPr>
          <a:xfrm>
            <a:off x="31552286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 =</a:t>
            </a:r>
            <a:endParaRPr lang="en-US" sz="1000" dirty="0"/>
          </a:p>
        </p:txBody>
      </p:sp>
      <p:sp>
        <p:nvSpPr>
          <p:cNvPr id="69" name="Text 64">
            <a:extLst>
              <a:ext uri="{FF2B5EF4-FFF2-40B4-BE49-F238E27FC236}">
                <a16:creationId xmlns:a16="http://schemas.microsoft.com/office/drawing/2014/main" id="{ED8B4D01-AB20-46C9-7E5C-12F5D31F4598}"/>
              </a:ext>
            </a:extLst>
          </p:cNvPr>
          <p:cNvSpPr txBox="1"/>
          <p:nvPr/>
        </p:nvSpPr>
        <p:spPr>
          <a:xfrm>
            <a:off x="31952794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</a:t>
            </a:r>
            <a:endParaRPr lang="en-US" sz="1000" dirty="0"/>
          </a:p>
        </p:txBody>
      </p:sp>
      <p:sp>
        <p:nvSpPr>
          <p:cNvPr id="70" name="Text 65">
            <a:extLst>
              <a:ext uri="{FF2B5EF4-FFF2-40B4-BE49-F238E27FC236}">
                <a16:creationId xmlns:a16="http://schemas.microsoft.com/office/drawing/2014/main" id="{88BE94B3-897D-D6F3-F072-E50676CEF1F9}"/>
              </a:ext>
            </a:extLst>
          </p:cNvPr>
          <p:cNvSpPr txBox="1"/>
          <p:nvPr/>
        </p:nvSpPr>
        <p:spPr>
          <a:xfrm>
            <a:off x="3219236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71" name="Shape 66">
            <a:extLst>
              <a:ext uri="{FF2B5EF4-FFF2-40B4-BE49-F238E27FC236}">
                <a16:creationId xmlns:a16="http://schemas.microsoft.com/office/drawing/2014/main" id="{D2B43318-3662-7AEF-30FC-2B261375D050}"/>
              </a:ext>
            </a:extLst>
          </p:cNvPr>
          <p:cNvSpPr/>
          <p:nvPr/>
        </p:nvSpPr>
        <p:spPr>
          <a:xfrm>
            <a:off x="3266785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7">
            <a:extLst>
              <a:ext uri="{FF2B5EF4-FFF2-40B4-BE49-F238E27FC236}">
                <a16:creationId xmlns:a16="http://schemas.microsoft.com/office/drawing/2014/main" id="{7E78DCFB-AC5C-23A0-4030-090B2BC45C66}"/>
              </a:ext>
            </a:extLst>
          </p:cNvPr>
          <p:cNvSpPr txBox="1"/>
          <p:nvPr/>
        </p:nvSpPr>
        <p:spPr>
          <a:xfrm>
            <a:off x="3235330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68">
            <a:extLst>
              <a:ext uri="{FF2B5EF4-FFF2-40B4-BE49-F238E27FC236}">
                <a16:creationId xmlns:a16="http://schemas.microsoft.com/office/drawing/2014/main" id="{D57D422E-A6AC-F5E4-AB19-FCE62D74DE1B}"/>
              </a:ext>
            </a:extLst>
          </p:cNvPr>
          <p:cNvSpPr txBox="1"/>
          <p:nvPr/>
        </p:nvSpPr>
        <p:spPr>
          <a:xfrm>
            <a:off x="32826960" y="1809598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pca.fit(scaled_data)</a:t>
            </a:r>
            <a:endParaRPr lang="en-US" sz="1000" dirty="0"/>
          </a:p>
        </p:txBody>
      </p:sp>
      <p:sp>
        <p:nvSpPr>
          <p:cNvPr id="74" name="Shape 69">
            <a:extLst>
              <a:ext uri="{FF2B5EF4-FFF2-40B4-BE49-F238E27FC236}">
                <a16:creationId xmlns:a16="http://schemas.microsoft.com/office/drawing/2014/main" id="{819AB1C6-F713-70E8-3AEA-959903C17B38}"/>
              </a:ext>
            </a:extLst>
          </p:cNvPr>
          <p:cNvSpPr/>
          <p:nvPr/>
        </p:nvSpPr>
        <p:spPr>
          <a:xfrm>
            <a:off x="3474262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0">
            <a:extLst>
              <a:ext uri="{FF2B5EF4-FFF2-40B4-BE49-F238E27FC236}">
                <a16:creationId xmlns:a16="http://schemas.microsoft.com/office/drawing/2014/main" id="{E2F5900A-7793-ADC9-4DC3-18BAC9D63C88}"/>
              </a:ext>
            </a:extLst>
          </p:cNvPr>
          <p:cNvSpPr txBox="1"/>
          <p:nvPr/>
        </p:nvSpPr>
        <p:spPr>
          <a:xfrm>
            <a:off x="3442807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76" name="Shape 71">
            <a:extLst>
              <a:ext uri="{FF2B5EF4-FFF2-40B4-BE49-F238E27FC236}">
                <a16:creationId xmlns:a16="http://schemas.microsoft.com/office/drawing/2014/main" id="{75B17139-47C3-1E51-63F9-684F27D70E19}"/>
              </a:ext>
            </a:extLst>
          </p:cNvPr>
          <p:cNvSpPr/>
          <p:nvPr/>
        </p:nvSpPr>
        <p:spPr>
          <a:xfrm>
            <a:off x="3521720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>
            <a:extLst>
              <a:ext uri="{FF2B5EF4-FFF2-40B4-BE49-F238E27FC236}">
                <a16:creationId xmlns:a16="http://schemas.microsoft.com/office/drawing/2014/main" id="{A91D99D6-B6B7-682F-323C-DDE5DB38EAB5}"/>
              </a:ext>
            </a:extLst>
          </p:cNvPr>
          <p:cNvSpPr txBox="1"/>
          <p:nvPr/>
        </p:nvSpPr>
        <p:spPr>
          <a:xfrm>
            <a:off x="3490264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Text 73">
            <a:extLst>
              <a:ext uri="{FF2B5EF4-FFF2-40B4-BE49-F238E27FC236}">
                <a16:creationId xmlns:a16="http://schemas.microsoft.com/office/drawing/2014/main" id="{C8904D67-5084-3DDB-F999-B5EA261AE8CE}"/>
              </a:ext>
            </a:extLst>
          </p:cNvPr>
          <p:cNvSpPr txBox="1"/>
          <p:nvPr/>
        </p:nvSpPr>
        <p:spPr>
          <a:xfrm>
            <a:off x="35376307" y="1809598"/>
            <a:ext cx="3624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Find components needed for 95% variance</a:t>
            </a:r>
            <a:endParaRPr lang="en-US" sz="1000" dirty="0"/>
          </a:p>
        </p:txBody>
      </p:sp>
      <p:sp>
        <p:nvSpPr>
          <p:cNvPr id="79" name="Shape 74">
            <a:extLst>
              <a:ext uri="{FF2B5EF4-FFF2-40B4-BE49-F238E27FC236}">
                <a16:creationId xmlns:a16="http://schemas.microsoft.com/office/drawing/2014/main" id="{BD641E83-5AA8-4EF9-652A-CDF25E56C73D}"/>
              </a:ext>
            </a:extLst>
          </p:cNvPr>
          <p:cNvSpPr/>
          <p:nvPr/>
        </p:nvSpPr>
        <p:spPr>
          <a:xfrm>
            <a:off x="3921221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>
            <a:extLst>
              <a:ext uri="{FF2B5EF4-FFF2-40B4-BE49-F238E27FC236}">
                <a16:creationId xmlns:a16="http://schemas.microsoft.com/office/drawing/2014/main" id="{3A8F414B-AE12-EC90-0E29-E47E58165AE9}"/>
              </a:ext>
            </a:extLst>
          </p:cNvPr>
          <p:cNvSpPr txBox="1"/>
          <p:nvPr/>
        </p:nvSpPr>
        <p:spPr>
          <a:xfrm>
            <a:off x="388976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81" name="Text 76">
            <a:extLst>
              <a:ext uri="{FF2B5EF4-FFF2-40B4-BE49-F238E27FC236}">
                <a16:creationId xmlns:a16="http://schemas.microsoft.com/office/drawing/2014/main" id="{6F34EB54-9F2F-0DF5-BF9A-2316A2B973CE}"/>
              </a:ext>
            </a:extLst>
          </p:cNvPr>
          <p:cNvSpPr txBox="1"/>
          <p:nvPr/>
        </p:nvSpPr>
        <p:spPr>
          <a:xfrm>
            <a:off x="39372235" y="1809598"/>
            <a:ext cx="50630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cumulative_variance = np.cumsum(pca.explained_variance_ratio_)</a:t>
            </a:r>
            <a:endParaRPr lang="en-US" sz="1000" dirty="0"/>
          </a:p>
        </p:txBody>
      </p:sp>
      <p:sp>
        <p:nvSpPr>
          <p:cNvPr id="82" name="Shape 77">
            <a:extLst>
              <a:ext uri="{FF2B5EF4-FFF2-40B4-BE49-F238E27FC236}">
                <a16:creationId xmlns:a16="http://schemas.microsoft.com/office/drawing/2014/main" id="{0FFC01FD-578A-81C3-63FD-E4F8EF2EC95D}"/>
              </a:ext>
            </a:extLst>
          </p:cNvPr>
          <p:cNvSpPr/>
          <p:nvPr/>
        </p:nvSpPr>
        <p:spPr>
          <a:xfrm>
            <a:off x="4464832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8">
            <a:extLst>
              <a:ext uri="{FF2B5EF4-FFF2-40B4-BE49-F238E27FC236}">
                <a16:creationId xmlns:a16="http://schemas.microsoft.com/office/drawing/2014/main" id="{B2B111E0-BB9F-330D-882F-5F793472CDE5}"/>
              </a:ext>
            </a:extLst>
          </p:cNvPr>
          <p:cNvSpPr txBox="1"/>
          <p:nvPr/>
        </p:nvSpPr>
        <p:spPr>
          <a:xfrm>
            <a:off x="4433377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84" name="Text 79">
            <a:extLst>
              <a:ext uri="{FF2B5EF4-FFF2-40B4-BE49-F238E27FC236}">
                <a16:creationId xmlns:a16="http://schemas.microsoft.com/office/drawing/2014/main" id="{80FC968E-3613-8F15-DC92-B5B223031379}"/>
              </a:ext>
            </a:extLst>
          </p:cNvPr>
          <p:cNvSpPr txBox="1"/>
          <p:nvPr/>
        </p:nvSpPr>
        <p:spPr>
          <a:xfrm>
            <a:off x="44808343" y="1809598"/>
            <a:ext cx="4110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np.where returns indices where condition is true</a:t>
            </a:r>
            <a:endParaRPr lang="en-US" sz="1000" dirty="0"/>
          </a:p>
        </p:txBody>
      </p:sp>
      <p:sp>
        <p:nvSpPr>
          <p:cNvPr id="85" name="Shape 80">
            <a:extLst>
              <a:ext uri="{FF2B5EF4-FFF2-40B4-BE49-F238E27FC236}">
                <a16:creationId xmlns:a16="http://schemas.microsoft.com/office/drawing/2014/main" id="{F57FF2F5-4143-557A-BDA8-027EF8F78A3F}"/>
              </a:ext>
            </a:extLst>
          </p:cNvPr>
          <p:cNvSpPr/>
          <p:nvPr/>
        </p:nvSpPr>
        <p:spPr>
          <a:xfrm>
            <a:off x="4912431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1">
            <a:extLst>
              <a:ext uri="{FF2B5EF4-FFF2-40B4-BE49-F238E27FC236}">
                <a16:creationId xmlns:a16="http://schemas.microsoft.com/office/drawing/2014/main" id="{C56EAB51-1704-2A66-08AC-74C3D003A6B3}"/>
              </a:ext>
            </a:extLst>
          </p:cNvPr>
          <p:cNvSpPr txBox="1"/>
          <p:nvPr/>
        </p:nvSpPr>
        <p:spPr>
          <a:xfrm>
            <a:off x="4880975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87" name="Text 82">
            <a:extLst>
              <a:ext uri="{FF2B5EF4-FFF2-40B4-BE49-F238E27FC236}">
                <a16:creationId xmlns:a16="http://schemas.microsoft.com/office/drawing/2014/main" id="{C9A0E32F-8B9E-5180-104C-05E39AF9062C}"/>
              </a:ext>
            </a:extLst>
          </p:cNvPr>
          <p:cNvSpPr txBox="1"/>
          <p:nvPr/>
        </p:nvSpPr>
        <p:spPr>
          <a:xfrm>
            <a:off x="49284331" y="1809598"/>
            <a:ext cx="63486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n_components = np.where(cumulative_variance &gt;= cumulative_variance_threshold)[</a:t>
            </a:r>
            <a:endParaRPr lang="en-US" sz="1000" dirty="0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B7785101-0A50-890B-A946-08E574E0979E}"/>
              </a:ext>
            </a:extLst>
          </p:cNvPr>
          <p:cNvSpPr txBox="1"/>
          <p:nvPr/>
        </p:nvSpPr>
        <p:spPr>
          <a:xfrm>
            <a:off x="5552602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89" name="Text 84">
            <a:extLst>
              <a:ext uri="{FF2B5EF4-FFF2-40B4-BE49-F238E27FC236}">
                <a16:creationId xmlns:a16="http://schemas.microsoft.com/office/drawing/2014/main" id="{2B50630F-0B98-4418-C21C-54391205DE26}"/>
              </a:ext>
            </a:extLst>
          </p:cNvPr>
          <p:cNvSpPr txBox="1"/>
          <p:nvPr/>
        </p:nvSpPr>
        <p:spPr>
          <a:xfrm>
            <a:off x="5560557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][</a:t>
            </a:r>
            <a:endParaRPr lang="en-US" sz="1000" dirty="0"/>
          </a:p>
        </p:txBody>
      </p:sp>
      <p:sp>
        <p:nvSpPr>
          <p:cNvPr id="90" name="Text 85">
            <a:extLst>
              <a:ext uri="{FF2B5EF4-FFF2-40B4-BE49-F238E27FC236}">
                <a16:creationId xmlns:a16="http://schemas.microsoft.com/office/drawing/2014/main" id="{B1177C37-5D83-00A3-5F20-6F508C1B08EE}"/>
              </a:ext>
            </a:extLst>
          </p:cNvPr>
          <p:cNvSpPr txBox="1"/>
          <p:nvPr/>
        </p:nvSpPr>
        <p:spPr>
          <a:xfrm>
            <a:off x="5576559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000" dirty="0"/>
          </a:p>
        </p:txBody>
      </p:sp>
      <p:sp>
        <p:nvSpPr>
          <p:cNvPr id="91" name="Text 86">
            <a:extLst>
              <a:ext uri="{FF2B5EF4-FFF2-40B4-BE49-F238E27FC236}">
                <a16:creationId xmlns:a16="http://schemas.microsoft.com/office/drawing/2014/main" id="{F0A5FFF8-8318-6254-BC7E-51720610759F}"/>
              </a:ext>
            </a:extLst>
          </p:cNvPr>
          <p:cNvSpPr txBox="1"/>
          <p:nvPr/>
        </p:nvSpPr>
        <p:spPr>
          <a:xfrm>
            <a:off x="55846066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+</a:t>
            </a:r>
            <a:endParaRPr lang="en-US" sz="1000" dirty="0"/>
          </a:p>
        </p:txBody>
      </p:sp>
      <p:sp>
        <p:nvSpPr>
          <p:cNvPr id="92" name="Text 87">
            <a:extLst>
              <a:ext uri="{FF2B5EF4-FFF2-40B4-BE49-F238E27FC236}">
                <a16:creationId xmlns:a16="http://schemas.microsoft.com/office/drawing/2014/main" id="{B31C3A96-3833-3A88-5330-8301E8D4B2DE}"/>
              </a:ext>
            </a:extLst>
          </p:cNvPr>
          <p:cNvSpPr txBox="1"/>
          <p:nvPr/>
        </p:nvSpPr>
        <p:spPr>
          <a:xfrm>
            <a:off x="56086553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Shape 88">
            <a:extLst>
              <a:ext uri="{FF2B5EF4-FFF2-40B4-BE49-F238E27FC236}">
                <a16:creationId xmlns:a16="http://schemas.microsoft.com/office/drawing/2014/main" id="{5ABD140B-AE5D-C211-9619-307007D2D242}"/>
              </a:ext>
            </a:extLst>
          </p:cNvPr>
          <p:cNvSpPr/>
          <p:nvPr/>
        </p:nvSpPr>
        <p:spPr>
          <a:xfrm>
            <a:off x="5648065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9">
            <a:extLst>
              <a:ext uri="{FF2B5EF4-FFF2-40B4-BE49-F238E27FC236}">
                <a16:creationId xmlns:a16="http://schemas.microsoft.com/office/drawing/2014/main" id="{BECE7FF5-6525-12A3-EECA-CFAFC982828D}"/>
              </a:ext>
            </a:extLst>
          </p:cNvPr>
          <p:cNvSpPr txBox="1"/>
          <p:nvPr/>
        </p:nvSpPr>
        <p:spPr>
          <a:xfrm>
            <a:off x="5616610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95" name="Shape 90">
            <a:extLst>
              <a:ext uri="{FF2B5EF4-FFF2-40B4-BE49-F238E27FC236}">
                <a16:creationId xmlns:a16="http://schemas.microsoft.com/office/drawing/2014/main" id="{700C1E40-3B99-012B-88E2-D6405F56F359}"/>
              </a:ext>
            </a:extLst>
          </p:cNvPr>
          <p:cNvSpPr/>
          <p:nvPr/>
        </p:nvSpPr>
        <p:spPr>
          <a:xfrm>
            <a:off x="56955233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1">
            <a:extLst>
              <a:ext uri="{FF2B5EF4-FFF2-40B4-BE49-F238E27FC236}">
                <a16:creationId xmlns:a16="http://schemas.microsoft.com/office/drawing/2014/main" id="{92D502A6-3E6B-C97C-C1C2-8058861D7DFB}"/>
              </a:ext>
            </a:extLst>
          </p:cNvPr>
          <p:cNvSpPr txBox="1"/>
          <p:nvPr/>
        </p:nvSpPr>
        <p:spPr>
          <a:xfrm>
            <a:off x="5664067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97" name="Text 92">
            <a:extLst>
              <a:ext uri="{FF2B5EF4-FFF2-40B4-BE49-F238E27FC236}">
                <a16:creationId xmlns:a16="http://schemas.microsoft.com/office/drawing/2014/main" id="{5BD3D8A8-01B0-C622-1E97-A250FBF49153}"/>
              </a:ext>
            </a:extLst>
          </p:cNvPr>
          <p:cNvSpPr txBox="1"/>
          <p:nvPr/>
        </p:nvSpPr>
        <p:spPr>
          <a:xfrm>
            <a:off x="57115253" y="1809598"/>
            <a:ext cx="3710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Check if reduction is significant (&gt;10%)</a:t>
            </a:r>
            <a:endParaRPr lang="en-US" sz="1000" dirty="0"/>
          </a:p>
        </p:txBody>
      </p:sp>
      <p:sp>
        <p:nvSpPr>
          <p:cNvPr id="98" name="Shape 93">
            <a:extLst>
              <a:ext uri="{FF2B5EF4-FFF2-40B4-BE49-F238E27FC236}">
                <a16:creationId xmlns:a16="http://schemas.microsoft.com/office/drawing/2014/main" id="{AE13BCBB-636C-FBAA-10E8-84CBFC520EE0}"/>
              </a:ext>
            </a:extLst>
          </p:cNvPr>
          <p:cNvSpPr/>
          <p:nvPr/>
        </p:nvSpPr>
        <p:spPr>
          <a:xfrm>
            <a:off x="610307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4">
            <a:extLst>
              <a:ext uri="{FF2B5EF4-FFF2-40B4-BE49-F238E27FC236}">
                <a16:creationId xmlns:a16="http://schemas.microsoft.com/office/drawing/2014/main" id="{151A7C04-D0E9-7990-6FAE-57D37BB9A174}"/>
              </a:ext>
            </a:extLst>
          </p:cNvPr>
          <p:cNvSpPr txBox="1"/>
          <p:nvPr/>
        </p:nvSpPr>
        <p:spPr>
          <a:xfrm>
            <a:off x="6071616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100" name="Text 95">
            <a:extLst>
              <a:ext uri="{FF2B5EF4-FFF2-40B4-BE49-F238E27FC236}">
                <a16:creationId xmlns:a16="http://schemas.microsoft.com/office/drawing/2014/main" id="{4598AF2B-8901-6717-8863-1500D03491B7}"/>
              </a:ext>
            </a:extLst>
          </p:cNvPr>
          <p:cNvSpPr txBox="1"/>
          <p:nvPr/>
        </p:nvSpPr>
        <p:spPr>
          <a:xfrm>
            <a:off x="61190734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original_dims = df.shape[</a:t>
            </a:r>
            <a:endParaRPr lang="en-US" sz="1000" dirty="0"/>
          </a:p>
        </p:txBody>
      </p:sp>
      <p:sp>
        <p:nvSpPr>
          <p:cNvPr id="101" name="Text 96">
            <a:extLst>
              <a:ext uri="{FF2B5EF4-FFF2-40B4-BE49-F238E27FC236}">
                <a16:creationId xmlns:a16="http://schemas.microsoft.com/office/drawing/2014/main" id="{DB789ED0-224F-0555-8FB3-1B1A566CFE00}"/>
              </a:ext>
            </a:extLst>
          </p:cNvPr>
          <p:cNvSpPr txBox="1"/>
          <p:nvPr/>
        </p:nvSpPr>
        <p:spPr>
          <a:xfrm>
            <a:off x="63191441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97">
            <a:extLst>
              <a:ext uri="{FF2B5EF4-FFF2-40B4-BE49-F238E27FC236}">
                <a16:creationId xmlns:a16="http://schemas.microsoft.com/office/drawing/2014/main" id="{0E1DBA8D-E7AB-936C-EF61-332066D75844}"/>
              </a:ext>
            </a:extLst>
          </p:cNvPr>
          <p:cNvSpPr txBox="1"/>
          <p:nvPr/>
        </p:nvSpPr>
        <p:spPr>
          <a:xfrm>
            <a:off x="63271908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03" name="Shape 98">
            <a:extLst>
              <a:ext uri="{FF2B5EF4-FFF2-40B4-BE49-F238E27FC236}">
                <a16:creationId xmlns:a16="http://schemas.microsoft.com/office/drawing/2014/main" id="{66C66568-A365-4422-E43E-4DCCCCB6EDEB}"/>
              </a:ext>
            </a:extLst>
          </p:cNvPr>
          <p:cNvSpPr/>
          <p:nvPr/>
        </p:nvSpPr>
        <p:spPr>
          <a:xfrm>
            <a:off x="6366601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99">
            <a:extLst>
              <a:ext uri="{FF2B5EF4-FFF2-40B4-BE49-F238E27FC236}">
                <a16:creationId xmlns:a16="http://schemas.microsoft.com/office/drawing/2014/main" id="{62054773-FA8E-E8AE-38B3-433048F04E4C}"/>
              </a:ext>
            </a:extLst>
          </p:cNvPr>
          <p:cNvSpPr txBox="1"/>
          <p:nvPr/>
        </p:nvSpPr>
        <p:spPr>
          <a:xfrm>
            <a:off x="6335146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105" name="Text 100">
            <a:extLst>
              <a:ext uri="{FF2B5EF4-FFF2-40B4-BE49-F238E27FC236}">
                <a16:creationId xmlns:a16="http://schemas.microsoft.com/office/drawing/2014/main" id="{7B5D7D91-C65F-8571-483E-1717710D0E0E}"/>
              </a:ext>
            </a:extLst>
          </p:cNvPr>
          <p:cNvSpPr txBox="1"/>
          <p:nvPr/>
        </p:nvSpPr>
        <p:spPr>
          <a:xfrm>
            <a:off x="63826034" y="1809598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dim_reduction_ratio =</a:t>
            </a:r>
            <a:endParaRPr lang="en-US" sz="1000" dirty="0"/>
          </a:p>
        </p:txBody>
      </p:sp>
      <p:sp>
        <p:nvSpPr>
          <p:cNvPr id="106" name="Text 101">
            <a:extLst>
              <a:ext uri="{FF2B5EF4-FFF2-40B4-BE49-F238E27FC236}">
                <a16:creationId xmlns:a16="http://schemas.microsoft.com/office/drawing/2014/main" id="{42D44FFC-A15E-7231-3613-37BB56CE9F14}"/>
              </a:ext>
            </a:extLst>
          </p:cNvPr>
          <p:cNvSpPr txBox="1"/>
          <p:nvPr/>
        </p:nvSpPr>
        <p:spPr>
          <a:xfrm>
            <a:off x="65506702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07" name="Text 102">
            <a:extLst>
              <a:ext uri="{FF2B5EF4-FFF2-40B4-BE49-F238E27FC236}">
                <a16:creationId xmlns:a16="http://schemas.microsoft.com/office/drawing/2014/main" id="{EBCB8ADA-4414-B2A5-D7F6-D95F92D214DD}"/>
              </a:ext>
            </a:extLst>
          </p:cNvPr>
          <p:cNvSpPr txBox="1"/>
          <p:nvPr/>
        </p:nvSpPr>
        <p:spPr>
          <a:xfrm>
            <a:off x="65587169" y="1809598"/>
            <a:ext cx="2662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(n_components / original_dims)</a:t>
            </a:r>
            <a:endParaRPr lang="en-US" sz="1000" dirty="0"/>
          </a:p>
        </p:txBody>
      </p:sp>
      <p:sp>
        <p:nvSpPr>
          <p:cNvPr id="108" name="Shape 103">
            <a:extLst>
              <a:ext uri="{FF2B5EF4-FFF2-40B4-BE49-F238E27FC236}">
                <a16:creationId xmlns:a16="http://schemas.microsoft.com/office/drawing/2014/main" id="{69AAFC14-0035-9206-1D1A-EF854EAB57D7}"/>
              </a:ext>
            </a:extLst>
          </p:cNvPr>
          <p:cNvSpPr/>
          <p:nvPr/>
        </p:nvSpPr>
        <p:spPr>
          <a:xfrm>
            <a:off x="6846204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4">
            <a:extLst>
              <a:ext uri="{FF2B5EF4-FFF2-40B4-BE49-F238E27FC236}">
                <a16:creationId xmlns:a16="http://schemas.microsoft.com/office/drawing/2014/main" id="{C54C3B36-BA1C-C031-53EA-0FB5D02DAAE6}"/>
              </a:ext>
            </a:extLst>
          </p:cNvPr>
          <p:cNvSpPr txBox="1"/>
          <p:nvPr/>
        </p:nvSpPr>
        <p:spPr>
          <a:xfrm>
            <a:off x="681474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10" name="Shape 105">
            <a:extLst>
              <a:ext uri="{FF2B5EF4-FFF2-40B4-BE49-F238E27FC236}">
                <a16:creationId xmlns:a16="http://schemas.microsoft.com/office/drawing/2014/main" id="{443C9FC2-7AFD-F8D3-4746-4DEF62313636}"/>
              </a:ext>
            </a:extLst>
          </p:cNvPr>
          <p:cNvSpPr/>
          <p:nvPr/>
        </p:nvSpPr>
        <p:spPr>
          <a:xfrm>
            <a:off x="6893661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6">
            <a:extLst>
              <a:ext uri="{FF2B5EF4-FFF2-40B4-BE49-F238E27FC236}">
                <a16:creationId xmlns:a16="http://schemas.microsoft.com/office/drawing/2014/main" id="{BD202AFC-94D0-CB8C-9A2C-F6405A2D43A8}"/>
              </a:ext>
            </a:extLst>
          </p:cNvPr>
          <p:cNvSpPr txBox="1"/>
          <p:nvPr/>
        </p:nvSpPr>
        <p:spPr>
          <a:xfrm>
            <a:off x="686220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12" name="Text 107">
            <a:extLst>
              <a:ext uri="{FF2B5EF4-FFF2-40B4-BE49-F238E27FC236}">
                <a16:creationId xmlns:a16="http://schemas.microsoft.com/office/drawing/2014/main" id="{C20C8B7B-CC2C-66E5-8DC8-314FA83E3BFA}"/>
              </a:ext>
            </a:extLst>
          </p:cNvPr>
          <p:cNvSpPr txBox="1"/>
          <p:nvPr/>
        </p:nvSpPr>
        <p:spPr>
          <a:xfrm>
            <a:off x="69096636" y="1809598"/>
            <a:ext cx="49103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 = dim_reduction_ratio &gt;= min_dim_reduction_ratio</a:t>
            </a:r>
            <a:endParaRPr lang="en-US" sz="1000" dirty="0"/>
          </a:p>
        </p:txBody>
      </p:sp>
      <p:sp>
        <p:nvSpPr>
          <p:cNvPr id="113" name="Shape 108">
            <a:extLst>
              <a:ext uri="{FF2B5EF4-FFF2-40B4-BE49-F238E27FC236}">
                <a16:creationId xmlns:a16="http://schemas.microsoft.com/office/drawing/2014/main" id="{76150860-D108-9ED4-69EB-ED6B02199CE1}"/>
              </a:ext>
            </a:extLst>
          </p:cNvPr>
          <p:cNvSpPr/>
          <p:nvPr/>
        </p:nvSpPr>
        <p:spPr>
          <a:xfrm>
            <a:off x="7421270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9">
            <a:extLst>
              <a:ext uri="{FF2B5EF4-FFF2-40B4-BE49-F238E27FC236}">
                <a16:creationId xmlns:a16="http://schemas.microsoft.com/office/drawing/2014/main" id="{27E62B9A-3B64-20EC-C32E-BA2835A52CD5}"/>
              </a:ext>
            </a:extLst>
          </p:cNvPr>
          <p:cNvSpPr txBox="1"/>
          <p:nvPr/>
        </p:nvSpPr>
        <p:spPr>
          <a:xfrm>
            <a:off x="7389815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15" name="Shape 110">
            <a:extLst>
              <a:ext uri="{FF2B5EF4-FFF2-40B4-BE49-F238E27FC236}">
                <a16:creationId xmlns:a16="http://schemas.microsoft.com/office/drawing/2014/main" id="{A96719B9-8A59-9D84-091F-09C62B0CA02F}"/>
              </a:ext>
            </a:extLst>
          </p:cNvPr>
          <p:cNvSpPr/>
          <p:nvPr/>
        </p:nvSpPr>
        <p:spPr>
          <a:xfrm>
            <a:off x="7468727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1">
            <a:extLst>
              <a:ext uri="{FF2B5EF4-FFF2-40B4-BE49-F238E27FC236}">
                <a16:creationId xmlns:a16="http://schemas.microsoft.com/office/drawing/2014/main" id="{A87ADCB8-7682-D7DE-DF3B-9F2AF8A63B6E}"/>
              </a:ext>
            </a:extLst>
          </p:cNvPr>
          <p:cNvSpPr txBox="1"/>
          <p:nvPr/>
        </p:nvSpPr>
        <p:spPr>
          <a:xfrm>
            <a:off x="7437272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17" name="Text 112">
            <a:extLst>
              <a:ext uri="{FF2B5EF4-FFF2-40B4-BE49-F238E27FC236}">
                <a16:creationId xmlns:a16="http://schemas.microsoft.com/office/drawing/2014/main" id="{AE2F578C-963E-AFFD-190D-30559F50E339}"/>
              </a:ext>
            </a:extLst>
          </p:cNvPr>
          <p:cNvSpPr txBox="1"/>
          <p:nvPr/>
        </p:nvSpPr>
        <p:spPr>
          <a:xfrm>
            <a:off x="74847298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18" name="Text 113">
            <a:extLst>
              <a:ext uri="{FF2B5EF4-FFF2-40B4-BE49-F238E27FC236}">
                <a16:creationId xmlns:a16="http://schemas.microsoft.com/office/drawing/2014/main" id="{1FF86206-8969-C4E7-9692-D9E1BD4ACE6B}"/>
              </a:ext>
            </a:extLst>
          </p:cNvPr>
          <p:cNvSpPr txBox="1"/>
          <p:nvPr/>
        </p:nvSpPr>
        <p:spPr>
          <a:xfrm>
            <a:off x="75327358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perform_pca, n_components</a:t>
            </a:r>
            <a:endParaRPr lang="en-US" sz="1000" dirty="0"/>
          </a:p>
        </p:txBody>
      </p:sp>
      <p:sp>
        <p:nvSpPr>
          <p:cNvPr id="119" name="Shape 114">
            <a:extLst>
              <a:ext uri="{FF2B5EF4-FFF2-40B4-BE49-F238E27FC236}">
                <a16:creationId xmlns:a16="http://schemas.microsoft.com/office/drawing/2014/main" id="{A2810BE0-0367-9310-CC3A-137BC34E2038}"/>
              </a:ext>
            </a:extLst>
          </p:cNvPr>
          <p:cNvSpPr/>
          <p:nvPr/>
        </p:nvSpPr>
        <p:spPr>
          <a:xfrm>
            <a:off x="7764261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5">
            <a:extLst>
              <a:ext uri="{FF2B5EF4-FFF2-40B4-BE49-F238E27FC236}">
                <a16:creationId xmlns:a16="http://schemas.microsoft.com/office/drawing/2014/main" id="{CC2E3FD5-4A0B-61AC-0484-1D6F00B4EDA3}"/>
              </a:ext>
            </a:extLst>
          </p:cNvPr>
          <p:cNvSpPr txBox="1"/>
          <p:nvPr/>
        </p:nvSpPr>
        <p:spPr>
          <a:xfrm>
            <a:off x="7732806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21" name="Shape 116">
            <a:extLst>
              <a:ext uri="{FF2B5EF4-FFF2-40B4-BE49-F238E27FC236}">
                <a16:creationId xmlns:a16="http://schemas.microsoft.com/office/drawing/2014/main" id="{5F5E3A68-63BA-D906-62F7-ECE64FDD5CA3}"/>
              </a:ext>
            </a:extLst>
          </p:cNvPr>
          <p:cNvSpPr/>
          <p:nvPr/>
        </p:nvSpPr>
        <p:spPr>
          <a:xfrm>
            <a:off x="7811719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7">
            <a:extLst>
              <a:ext uri="{FF2B5EF4-FFF2-40B4-BE49-F238E27FC236}">
                <a16:creationId xmlns:a16="http://schemas.microsoft.com/office/drawing/2014/main" id="{97598BC9-0AE7-0DFB-6401-34D1499CC97F}"/>
              </a:ext>
            </a:extLst>
          </p:cNvPr>
          <p:cNvSpPr txBox="1"/>
          <p:nvPr/>
        </p:nvSpPr>
        <p:spPr>
          <a:xfrm>
            <a:off x="778026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23" name="Text 118">
            <a:extLst>
              <a:ext uri="{FF2B5EF4-FFF2-40B4-BE49-F238E27FC236}">
                <a16:creationId xmlns:a16="http://schemas.microsoft.com/office/drawing/2014/main" id="{F8CFBCE5-D22B-BD64-8E98-1B1865CE4805}"/>
              </a:ext>
            </a:extLst>
          </p:cNvPr>
          <p:cNvSpPr txBox="1"/>
          <p:nvPr/>
        </p:nvSpPr>
        <p:spPr>
          <a:xfrm>
            <a:off x="78276298" y="1809598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Usage Example:</a:t>
            </a:r>
            <a:endParaRPr lang="en-US" sz="1000" dirty="0"/>
          </a:p>
        </p:txBody>
      </p:sp>
      <p:sp>
        <p:nvSpPr>
          <p:cNvPr id="124" name="Shape 119">
            <a:extLst>
              <a:ext uri="{FF2B5EF4-FFF2-40B4-BE49-F238E27FC236}">
                <a16:creationId xmlns:a16="http://schemas.microsoft.com/office/drawing/2014/main" id="{A507F407-8943-5570-8591-7F7E5F5F3080}"/>
              </a:ext>
            </a:extLst>
          </p:cNvPr>
          <p:cNvSpPr/>
          <p:nvPr/>
        </p:nvSpPr>
        <p:spPr>
          <a:xfrm>
            <a:off x="798719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0">
            <a:extLst>
              <a:ext uri="{FF2B5EF4-FFF2-40B4-BE49-F238E27FC236}">
                <a16:creationId xmlns:a16="http://schemas.microsoft.com/office/drawing/2014/main" id="{53525C7F-8ED2-7877-0FD7-1BD7418AEC73}"/>
              </a:ext>
            </a:extLst>
          </p:cNvPr>
          <p:cNvSpPr txBox="1"/>
          <p:nvPr/>
        </p:nvSpPr>
        <p:spPr>
          <a:xfrm>
            <a:off x="7955737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26" name="Text 121">
            <a:extLst>
              <a:ext uri="{FF2B5EF4-FFF2-40B4-BE49-F238E27FC236}">
                <a16:creationId xmlns:a16="http://schemas.microsoft.com/office/drawing/2014/main" id="{53E22BEA-5AE3-21B5-C6A6-FB03B5079A32}"/>
              </a:ext>
            </a:extLst>
          </p:cNvPr>
          <p:cNvSpPr txBox="1"/>
          <p:nvPr/>
        </p:nvSpPr>
        <p:spPr>
          <a:xfrm>
            <a:off x="80031946" y="1809598"/>
            <a:ext cx="5462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needed=9 -&gt; ratio=0.1 -&gt; PCA=True</a:t>
            </a:r>
            <a:endParaRPr lang="en-US" sz="1000" dirty="0"/>
          </a:p>
        </p:txBody>
      </p:sp>
      <p:sp>
        <p:nvSpPr>
          <p:cNvPr id="127" name="Shape 122">
            <a:extLst>
              <a:ext uri="{FF2B5EF4-FFF2-40B4-BE49-F238E27FC236}">
                <a16:creationId xmlns:a16="http://schemas.microsoft.com/office/drawing/2014/main" id="{95493BEC-4AE4-25F3-4424-41ECDF266A9D}"/>
              </a:ext>
            </a:extLst>
          </p:cNvPr>
          <p:cNvSpPr/>
          <p:nvPr/>
        </p:nvSpPr>
        <p:spPr>
          <a:xfrm>
            <a:off x="8570762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3">
            <a:extLst>
              <a:ext uri="{FF2B5EF4-FFF2-40B4-BE49-F238E27FC236}">
                <a16:creationId xmlns:a16="http://schemas.microsoft.com/office/drawing/2014/main" id="{25D0375A-5977-93C0-5457-014F1A111D70}"/>
              </a:ext>
            </a:extLst>
          </p:cNvPr>
          <p:cNvSpPr txBox="1"/>
          <p:nvPr/>
        </p:nvSpPr>
        <p:spPr>
          <a:xfrm>
            <a:off x="8539307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29" name="Text 124">
            <a:extLst>
              <a:ext uri="{FF2B5EF4-FFF2-40B4-BE49-F238E27FC236}">
                <a16:creationId xmlns:a16="http://schemas.microsoft.com/office/drawing/2014/main" id="{8119A08F-798B-C3EA-D7BA-DA1FE94B36F0}"/>
              </a:ext>
            </a:extLst>
          </p:cNvPr>
          <p:cNvSpPr txBox="1"/>
          <p:nvPr/>
        </p:nvSpPr>
        <p:spPr>
          <a:xfrm>
            <a:off x="85867646" y="1809598"/>
            <a:ext cx="5625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If original dims=10, components needed=10 -&gt; ratio=0.0 -&gt; PCA=False</a:t>
            </a:r>
            <a:endParaRPr lang="en-US" sz="1000" dirty="0"/>
          </a:p>
        </p:txBody>
      </p:sp>
      <p:sp>
        <p:nvSpPr>
          <p:cNvPr id="130" name="Shape 125">
            <a:extLst>
              <a:ext uri="{FF2B5EF4-FFF2-40B4-BE49-F238E27FC236}">
                <a16:creationId xmlns:a16="http://schemas.microsoft.com/office/drawing/2014/main" id="{F7DA8447-D090-40B8-5103-EB862CB772F4}"/>
              </a:ext>
            </a:extLst>
          </p:cNvPr>
          <p:cNvSpPr/>
          <p:nvPr/>
        </p:nvSpPr>
        <p:spPr>
          <a:xfrm>
            <a:off x="0" y="6608369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6">
            <a:extLst>
              <a:ext uri="{FF2B5EF4-FFF2-40B4-BE49-F238E27FC236}">
                <a16:creationId xmlns:a16="http://schemas.microsoft.com/office/drawing/2014/main" id="{1BE3ADDF-D367-772A-F07C-CAFDFE45B059}"/>
              </a:ext>
            </a:extLst>
          </p:cNvPr>
          <p:cNvSpPr/>
          <p:nvPr/>
        </p:nvSpPr>
        <p:spPr>
          <a:xfrm>
            <a:off x="0" y="660836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29">
            <a:extLst>
              <a:ext uri="{FF2B5EF4-FFF2-40B4-BE49-F238E27FC236}">
                <a16:creationId xmlns:a16="http://schemas.microsoft.com/office/drawing/2014/main" id="{A1C479D4-478B-4B6F-CA16-0C4A877559B1}"/>
              </a:ext>
            </a:extLst>
          </p:cNvPr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Note Taker Agent – State Management</a:t>
            </a:r>
            <a:endParaRPr lang="en-US" dirty="0"/>
          </a:p>
        </p:txBody>
      </p:sp>
      <p:pic>
        <p:nvPicPr>
          <p:cNvPr id="136" name="Image 3" descr="preencoded.png">
            <a:extLst>
              <a:ext uri="{FF2B5EF4-FFF2-40B4-BE49-F238E27FC236}">
                <a16:creationId xmlns:a16="http://schemas.microsoft.com/office/drawing/2014/main" id="{8ADB2080-5FE5-5AF4-C04E-A4F3632B8C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38" name="Text 132">
            <a:extLst>
              <a:ext uri="{FF2B5EF4-FFF2-40B4-BE49-F238E27FC236}">
                <a16:creationId xmlns:a16="http://schemas.microsoft.com/office/drawing/2014/main" id="{09B551B5-A356-3AFB-B85E-AB5B96AF00CC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40" name="Text 133">
            <a:extLst>
              <a:ext uri="{FF2B5EF4-FFF2-40B4-BE49-F238E27FC236}">
                <a16:creationId xmlns:a16="http://schemas.microsoft.com/office/drawing/2014/main" id="{BCB54166-387F-F5E6-6440-BC6BCD3F5774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BD8E3D-B491-4422-C791-D0E4C768F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1387" y="1004699"/>
            <a:ext cx="5829736" cy="50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EB00C0-CB28-CD84-0B88-50FB49D40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2722" y="6096305"/>
            <a:ext cx="5306165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20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22010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220102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42391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Refiner Agent - Publication Quality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5924398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4495" y="1143000"/>
            <a:ext cx="3562502" cy="3219602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543154" y="1419149"/>
            <a:ext cx="219456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8505" y="1380744"/>
            <a:ext cx="1914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 Strategy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3154" y="1837944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9244" y="1819656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 Aggregation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09244" y="2038198"/>
            <a:ext cx="268193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Scans working directory to collect all intermediate outputs (markdown reports, PNG charts)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3154" y="2790749"/>
            <a:ext cx="15270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9244" y="2771546"/>
            <a:ext cx="1534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Integration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9244" y="2991002"/>
            <a:ext cx="27578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code, visuals, and text sections into a unified document structure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3154" y="3552444"/>
            <a:ext cx="15270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09244" y="3534156"/>
            <a:ext cx="1343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Polish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809244" y="3752698"/>
            <a:ext cx="26435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fragmented agent notes into cohesive, publication-ready prose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04495" y="4591202"/>
            <a:ext cx="3562502" cy="1867205"/>
          </a:xfrm>
          <a:prstGeom prst="roundRect">
            <a:avLst>
              <a:gd name="adj" fmla="val 299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 txBox="1"/>
          <p:nvPr/>
        </p:nvSpPr>
        <p:spPr>
          <a:xfrm>
            <a:off x="543154" y="4848149"/>
            <a:ext cx="2543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Fragmentation to Cohesion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543154" y="5152644"/>
            <a:ext cx="311078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agents produce disjointed outputs (hypothesis, analysis code, charts). The Refiner acts as the "Editor-in-Chief", using GPT-4-nano to smooth transitions and unify the narrative voice into a final research report.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70916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758403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1206002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 txBox="1"/>
          <p:nvPr/>
        </p:nvSpPr>
        <p:spPr>
          <a:xfrm>
            <a:off x="13020142" y="1809598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list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14460322" y="1809598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glob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14781276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14860829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"*.md"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1534088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))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15815462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 txBox="1"/>
          <p:nvPr/>
        </p:nvSpPr>
        <p:spPr>
          <a:xfrm>
            <a:off x="1550090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15975482" y="18095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png_files =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16856050" y="1809598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list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17176090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(storage_path.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18296230" y="1809598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glob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18617184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18696737" y="1809598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"*.png"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1925726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))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1973183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1"/>
          <p:cNvSpPr txBox="1"/>
          <p:nvPr/>
        </p:nvSpPr>
        <p:spPr>
          <a:xfrm>
            <a:off x="1941728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2020641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3"/>
          <p:cNvSpPr txBox="1"/>
          <p:nvPr/>
        </p:nvSpPr>
        <p:spPr>
          <a:xfrm>
            <a:off x="1989185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  <p:sp>
        <p:nvSpPr>
          <p:cNvPr id="61" name="Text 54"/>
          <p:cNvSpPr txBox="1"/>
          <p:nvPr/>
        </p:nvSpPr>
        <p:spPr>
          <a:xfrm>
            <a:off x="20366431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materials = []</a:t>
            </a:r>
            <a:endParaRPr lang="en-US" sz="1000" dirty="0"/>
          </a:p>
        </p:txBody>
      </p:sp>
      <p:sp>
        <p:nvSpPr>
          <p:cNvPr id="62" name="Shape 55"/>
          <p:cNvSpPr/>
          <p:nvPr/>
        </p:nvSpPr>
        <p:spPr>
          <a:xfrm>
            <a:off x="2180112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6"/>
          <p:cNvSpPr txBox="1"/>
          <p:nvPr/>
        </p:nvSpPr>
        <p:spPr>
          <a:xfrm>
            <a:off x="2148657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64" name="Shape 57"/>
          <p:cNvSpPr/>
          <p:nvPr/>
        </p:nvSpPr>
        <p:spPr>
          <a:xfrm>
            <a:off x="2227569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 txBox="1"/>
          <p:nvPr/>
        </p:nvSpPr>
        <p:spPr>
          <a:xfrm>
            <a:off x="2196114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000" dirty="0"/>
          </a:p>
        </p:txBody>
      </p:sp>
      <p:sp>
        <p:nvSpPr>
          <p:cNvPr id="66" name="Text 59"/>
          <p:cNvSpPr txBox="1"/>
          <p:nvPr/>
        </p:nvSpPr>
        <p:spPr>
          <a:xfrm>
            <a:off x="22435718" y="1809598"/>
            <a:ext cx="38624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Read content and prepare synthesis context</a:t>
            </a:r>
            <a:endParaRPr lang="en-US" sz="1000" dirty="0"/>
          </a:p>
        </p:txBody>
      </p:sp>
      <p:sp>
        <p:nvSpPr>
          <p:cNvPr id="67" name="Shape 60"/>
          <p:cNvSpPr/>
          <p:nvPr/>
        </p:nvSpPr>
        <p:spPr>
          <a:xfrm>
            <a:off x="2651119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1"/>
          <p:cNvSpPr txBox="1"/>
          <p:nvPr/>
        </p:nvSpPr>
        <p:spPr>
          <a:xfrm>
            <a:off x="2619664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000" dirty="0"/>
          </a:p>
        </p:txBody>
      </p:sp>
      <p:sp>
        <p:nvSpPr>
          <p:cNvPr id="69" name="Text 62"/>
          <p:cNvSpPr txBox="1"/>
          <p:nvPr/>
        </p:nvSpPr>
        <p:spPr>
          <a:xfrm>
            <a:off x="26671219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26911706" y="1809598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md_file</a:t>
            </a:r>
            <a:endParaRPr lang="en-US" sz="1000" dirty="0"/>
          </a:p>
        </p:txBody>
      </p:sp>
      <p:sp>
        <p:nvSpPr>
          <p:cNvPr id="71" name="Text 64"/>
          <p:cNvSpPr txBox="1"/>
          <p:nvPr/>
        </p:nvSpPr>
        <p:spPr>
          <a:xfrm>
            <a:off x="27471319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000" dirty="0"/>
          </a:p>
        </p:txBody>
      </p:sp>
      <p:sp>
        <p:nvSpPr>
          <p:cNvPr id="72" name="Text 65"/>
          <p:cNvSpPr txBox="1"/>
          <p:nvPr/>
        </p:nvSpPr>
        <p:spPr>
          <a:xfrm>
            <a:off x="27631339" y="1809598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md_files:</a:t>
            </a:r>
            <a:endParaRPr lang="en-US" sz="1000" dirty="0"/>
          </a:p>
        </p:txBody>
      </p:sp>
      <p:sp>
        <p:nvSpPr>
          <p:cNvPr id="73" name="Shape 66"/>
          <p:cNvSpPr/>
          <p:nvPr/>
        </p:nvSpPr>
        <p:spPr>
          <a:xfrm>
            <a:off x="2866644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7"/>
          <p:cNvSpPr txBox="1"/>
          <p:nvPr/>
        </p:nvSpPr>
        <p:spPr>
          <a:xfrm>
            <a:off x="2835188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75" name="Text 68"/>
          <p:cNvSpPr txBox="1"/>
          <p:nvPr/>
        </p:nvSpPr>
        <p:spPr>
          <a:xfrm>
            <a:off x="28826460" y="1809598"/>
            <a:ext cx="15480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content = md_file.</a:t>
            </a:r>
            <a:endParaRPr lang="en-US" sz="1000" dirty="0"/>
          </a:p>
        </p:txBody>
      </p:sp>
      <p:sp>
        <p:nvSpPr>
          <p:cNvPr id="76" name="Text 69"/>
          <p:cNvSpPr txBox="1"/>
          <p:nvPr/>
        </p:nvSpPr>
        <p:spPr>
          <a:xfrm>
            <a:off x="30266640" y="1809598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read_text</a:t>
            </a:r>
            <a:endParaRPr lang="en-US" sz="1000" dirty="0"/>
          </a:p>
        </p:txBody>
      </p:sp>
      <p:sp>
        <p:nvSpPr>
          <p:cNvPr id="77" name="Text 70"/>
          <p:cNvSpPr txBox="1"/>
          <p:nvPr/>
        </p:nvSpPr>
        <p:spPr>
          <a:xfrm>
            <a:off x="3098718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78" name="Shape 71"/>
          <p:cNvSpPr/>
          <p:nvPr/>
        </p:nvSpPr>
        <p:spPr>
          <a:xfrm>
            <a:off x="3146176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2"/>
          <p:cNvSpPr txBox="1"/>
          <p:nvPr/>
        </p:nvSpPr>
        <p:spPr>
          <a:xfrm>
            <a:off x="3114720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80" name="Text 73"/>
          <p:cNvSpPr txBox="1"/>
          <p:nvPr/>
        </p:nvSpPr>
        <p:spPr>
          <a:xfrm>
            <a:off x="31621781" y="1809598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materials.</a:t>
            </a:r>
            <a:endParaRPr lang="en-US" sz="1000" dirty="0"/>
          </a:p>
        </p:txBody>
      </p:sp>
      <p:sp>
        <p:nvSpPr>
          <p:cNvPr id="81" name="Text 74"/>
          <p:cNvSpPr txBox="1"/>
          <p:nvPr/>
        </p:nvSpPr>
        <p:spPr>
          <a:xfrm>
            <a:off x="32421881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append</a:t>
            </a:r>
            <a:endParaRPr lang="en-US" sz="1000" dirty="0"/>
          </a:p>
        </p:txBody>
      </p:sp>
      <p:sp>
        <p:nvSpPr>
          <p:cNvPr id="82" name="Text 75"/>
          <p:cNvSpPr txBox="1"/>
          <p:nvPr/>
        </p:nvSpPr>
        <p:spPr>
          <a:xfrm>
            <a:off x="32901941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00" dirty="0"/>
          </a:p>
        </p:txBody>
      </p:sp>
      <p:sp>
        <p:nvSpPr>
          <p:cNvPr id="83" name="Text 76"/>
          <p:cNvSpPr txBox="1"/>
          <p:nvPr/>
        </p:nvSpPr>
        <p:spPr>
          <a:xfrm>
            <a:off x="32982408" y="1809598"/>
            <a:ext cx="30623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f"SECTION: {md_file.name}\n{content}"</a:t>
            </a:r>
            <a:endParaRPr lang="en-US" sz="1000" dirty="0"/>
          </a:p>
        </p:txBody>
      </p:sp>
      <p:sp>
        <p:nvSpPr>
          <p:cNvPr id="84" name="Text 77"/>
          <p:cNvSpPr txBox="1"/>
          <p:nvPr/>
        </p:nvSpPr>
        <p:spPr>
          <a:xfrm>
            <a:off x="3594323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85" name="Shape 78"/>
          <p:cNvSpPr/>
          <p:nvPr/>
        </p:nvSpPr>
        <p:spPr>
          <a:xfrm>
            <a:off x="3633825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 txBox="1"/>
          <p:nvPr/>
        </p:nvSpPr>
        <p:spPr>
          <a:xfrm>
            <a:off x="3602370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87" name="Shape 80"/>
          <p:cNvSpPr/>
          <p:nvPr/>
        </p:nvSpPr>
        <p:spPr>
          <a:xfrm>
            <a:off x="3681283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1"/>
          <p:cNvSpPr txBox="1"/>
          <p:nvPr/>
        </p:nvSpPr>
        <p:spPr>
          <a:xfrm>
            <a:off x="36498276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89" name="Text 82"/>
          <p:cNvSpPr txBox="1"/>
          <p:nvPr/>
        </p:nvSpPr>
        <p:spPr>
          <a:xfrm>
            <a:off x="36971935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endParaRPr lang="en-US" sz="1000" dirty="0"/>
          </a:p>
        </p:txBody>
      </p:sp>
      <p:sp>
        <p:nvSpPr>
          <p:cNvPr id="90" name="Text 83"/>
          <p:cNvSpPr txBox="1"/>
          <p:nvPr/>
        </p:nvSpPr>
        <p:spPr>
          <a:xfrm>
            <a:off x="37212422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png_file</a:t>
            </a:r>
            <a:endParaRPr lang="en-US" sz="1000" dirty="0"/>
          </a:p>
        </p:txBody>
      </p:sp>
      <p:sp>
        <p:nvSpPr>
          <p:cNvPr id="91" name="Text 84"/>
          <p:cNvSpPr txBox="1"/>
          <p:nvPr/>
        </p:nvSpPr>
        <p:spPr>
          <a:xfrm>
            <a:off x="3785250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000" dirty="0"/>
          </a:p>
        </p:txBody>
      </p:sp>
      <p:sp>
        <p:nvSpPr>
          <p:cNvPr id="92" name="Text 85"/>
          <p:cNvSpPr txBox="1"/>
          <p:nvPr/>
        </p:nvSpPr>
        <p:spPr>
          <a:xfrm>
            <a:off x="38012522" y="1809598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png_files:</a:t>
            </a:r>
            <a:endParaRPr lang="en-US" sz="1000" dirty="0"/>
          </a:p>
        </p:txBody>
      </p:sp>
      <p:sp>
        <p:nvSpPr>
          <p:cNvPr id="93" name="Shape 86"/>
          <p:cNvSpPr/>
          <p:nvPr/>
        </p:nvSpPr>
        <p:spPr>
          <a:xfrm>
            <a:off x="3912809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7"/>
          <p:cNvSpPr txBox="1"/>
          <p:nvPr/>
        </p:nvSpPr>
        <p:spPr>
          <a:xfrm>
            <a:off x="3881353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95" name="Text 88"/>
          <p:cNvSpPr txBox="1"/>
          <p:nvPr/>
        </p:nvSpPr>
        <p:spPr>
          <a:xfrm>
            <a:off x="39287196" y="1809598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materials.</a:t>
            </a:r>
            <a:endParaRPr lang="en-US" sz="1000" dirty="0"/>
          </a:p>
        </p:txBody>
      </p:sp>
      <p:sp>
        <p:nvSpPr>
          <p:cNvPr id="96" name="Text 89"/>
          <p:cNvSpPr txBox="1"/>
          <p:nvPr/>
        </p:nvSpPr>
        <p:spPr>
          <a:xfrm>
            <a:off x="40088210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append</a:t>
            </a:r>
            <a:endParaRPr lang="en-US" sz="1000" dirty="0"/>
          </a:p>
        </p:txBody>
      </p:sp>
      <p:sp>
        <p:nvSpPr>
          <p:cNvPr id="97" name="Text 90"/>
          <p:cNvSpPr txBox="1"/>
          <p:nvPr/>
        </p:nvSpPr>
        <p:spPr>
          <a:xfrm>
            <a:off x="40568270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00" dirty="0"/>
          </a:p>
        </p:txBody>
      </p:sp>
      <p:sp>
        <p:nvSpPr>
          <p:cNvPr id="98" name="Text 91"/>
          <p:cNvSpPr txBox="1"/>
          <p:nvPr/>
        </p:nvSpPr>
        <p:spPr>
          <a:xfrm>
            <a:off x="40647823" y="1809598"/>
            <a:ext cx="24249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f"IMAGE_REF: {png_file.name}"</a:t>
            </a:r>
            <a:endParaRPr lang="en-US" sz="1000" dirty="0"/>
          </a:p>
        </p:txBody>
      </p:sp>
      <p:sp>
        <p:nvSpPr>
          <p:cNvPr id="99" name="Text 92"/>
          <p:cNvSpPr txBox="1"/>
          <p:nvPr/>
        </p:nvSpPr>
        <p:spPr>
          <a:xfrm>
            <a:off x="42968570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100" name="Shape 93"/>
          <p:cNvSpPr/>
          <p:nvPr/>
        </p:nvSpPr>
        <p:spPr>
          <a:xfrm>
            <a:off x="4336359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4"/>
          <p:cNvSpPr txBox="1"/>
          <p:nvPr/>
        </p:nvSpPr>
        <p:spPr>
          <a:xfrm>
            <a:off x="430490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102" name="Shape 95"/>
          <p:cNvSpPr/>
          <p:nvPr/>
        </p:nvSpPr>
        <p:spPr>
          <a:xfrm>
            <a:off x="4383816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96"/>
          <p:cNvSpPr txBox="1"/>
          <p:nvPr/>
        </p:nvSpPr>
        <p:spPr>
          <a:xfrm>
            <a:off x="4352361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104" name="Text 97"/>
          <p:cNvSpPr txBox="1"/>
          <p:nvPr/>
        </p:nvSpPr>
        <p:spPr>
          <a:xfrm>
            <a:off x="43998185" y="1809598"/>
            <a:ext cx="48252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Refiner agent synthesizes everything into final report</a:t>
            </a:r>
            <a:endParaRPr lang="en-US" sz="1000" dirty="0"/>
          </a:p>
        </p:txBody>
      </p:sp>
      <p:sp>
        <p:nvSpPr>
          <p:cNvPr id="105" name="Shape 98"/>
          <p:cNvSpPr/>
          <p:nvPr/>
        </p:nvSpPr>
        <p:spPr>
          <a:xfrm>
            <a:off x="49033786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9"/>
          <p:cNvSpPr txBox="1"/>
          <p:nvPr/>
        </p:nvSpPr>
        <p:spPr>
          <a:xfrm>
            <a:off x="4871923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107" name="Text 100"/>
          <p:cNvSpPr txBox="1"/>
          <p:nvPr/>
        </p:nvSpPr>
        <p:spPr>
          <a:xfrm>
            <a:off x="49193806" y="18095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000" dirty="0"/>
          </a:p>
        </p:txBody>
      </p:sp>
      <p:sp>
        <p:nvSpPr>
          <p:cNvPr id="108" name="Text 101"/>
          <p:cNvSpPr txBox="1"/>
          <p:nvPr/>
        </p:nvSpPr>
        <p:spPr>
          <a:xfrm>
            <a:off x="49594313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00" dirty="0"/>
          </a:p>
        </p:txBody>
      </p:sp>
      <p:sp>
        <p:nvSpPr>
          <p:cNvPr id="109" name="Text 102"/>
          <p:cNvSpPr txBox="1"/>
          <p:nvPr/>
        </p:nvSpPr>
        <p:spPr>
          <a:xfrm>
            <a:off x="49673866" y="1809598"/>
            <a:ext cx="3710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f"Synthesizing {len(materials)} artifacts..."</a:t>
            </a:r>
            <a:endParaRPr lang="en-US" sz="1000" dirty="0"/>
          </a:p>
        </p:txBody>
      </p:sp>
      <p:sp>
        <p:nvSpPr>
          <p:cNvPr id="110" name="Text 103"/>
          <p:cNvSpPr txBox="1"/>
          <p:nvPr/>
        </p:nvSpPr>
        <p:spPr>
          <a:xfrm>
            <a:off x="53274773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111" name="Shape 104"/>
          <p:cNvSpPr/>
          <p:nvPr/>
        </p:nvSpPr>
        <p:spPr>
          <a:xfrm>
            <a:off x="53669794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05"/>
          <p:cNvSpPr txBox="1"/>
          <p:nvPr/>
        </p:nvSpPr>
        <p:spPr>
          <a:xfrm>
            <a:off x="53355240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113" name="Shape 106"/>
          <p:cNvSpPr/>
          <p:nvPr/>
        </p:nvSpPr>
        <p:spPr>
          <a:xfrm>
            <a:off x="54144367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7"/>
          <p:cNvSpPr txBox="1"/>
          <p:nvPr/>
        </p:nvSpPr>
        <p:spPr>
          <a:xfrm>
            <a:off x="5382981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115" name="Text 108"/>
          <p:cNvSpPr txBox="1"/>
          <p:nvPr/>
        </p:nvSpPr>
        <p:spPr>
          <a:xfrm>
            <a:off x="54304387" y="1809598"/>
            <a:ext cx="19485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refined_report = agent.</a:t>
            </a:r>
            <a:endParaRPr lang="en-US" sz="1000" dirty="0"/>
          </a:p>
        </p:txBody>
      </p:sp>
      <p:sp>
        <p:nvSpPr>
          <p:cNvPr id="116" name="Text 109"/>
          <p:cNvSpPr txBox="1"/>
          <p:nvPr/>
        </p:nvSpPr>
        <p:spPr>
          <a:xfrm>
            <a:off x="56145074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invoke</a:t>
            </a:r>
            <a:endParaRPr lang="en-US" sz="1000" dirty="0"/>
          </a:p>
        </p:txBody>
      </p:sp>
      <p:sp>
        <p:nvSpPr>
          <p:cNvPr id="117" name="Text 110"/>
          <p:cNvSpPr txBox="1"/>
          <p:nvPr/>
        </p:nvSpPr>
        <p:spPr>
          <a:xfrm>
            <a:off x="5662513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({</a:t>
            </a:r>
            <a:endParaRPr lang="en-US" sz="1000" dirty="0"/>
          </a:p>
        </p:txBody>
      </p:sp>
      <p:sp>
        <p:nvSpPr>
          <p:cNvPr id="118" name="Shape 111"/>
          <p:cNvSpPr/>
          <p:nvPr/>
        </p:nvSpPr>
        <p:spPr>
          <a:xfrm>
            <a:off x="5709970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2"/>
          <p:cNvSpPr txBox="1"/>
          <p:nvPr/>
        </p:nvSpPr>
        <p:spPr>
          <a:xfrm>
            <a:off x="5678515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120" name="Text 113"/>
          <p:cNvSpPr txBox="1"/>
          <p:nvPr/>
        </p:nvSpPr>
        <p:spPr>
          <a:xfrm>
            <a:off x="57259728" y="1809598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"messages"</a:t>
            </a:r>
            <a:endParaRPr lang="en-US" sz="1000" dirty="0"/>
          </a:p>
        </p:txBody>
      </p:sp>
      <p:sp>
        <p:nvSpPr>
          <p:cNvPr id="121" name="Text 114"/>
          <p:cNvSpPr txBox="1"/>
          <p:nvPr/>
        </p:nvSpPr>
        <p:spPr>
          <a:xfrm>
            <a:off x="58059828" y="1809598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[</a:t>
            </a:r>
            <a:endParaRPr lang="en-US" sz="1000" dirty="0"/>
          </a:p>
        </p:txBody>
      </p:sp>
      <p:sp>
        <p:nvSpPr>
          <p:cNvPr id="122" name="Shape 115"/>
          <p:cNvSpPr/>
          <p:nvPr/>
        </p:nvSpPr>
        <p:spPr>
          <a:xfrm>
            <a:off x="58614869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16"/>
          <p:cNvSpPr txBox="1"/>
          <p:nvPr/>
        </p:nvSpPr>
        <p:spPr>
          <a:xfrm>
            <a:off x="58300315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  <p:sp>
        <p:nvSpPr>
          <p:cNvPr id="124" name="Text 117"/>
          <p:cNvSpPr txBox="1"/>
          <p:nvPr/>
        </p:nvSpPr>
        <p:spPr>
          <a:xfrm>
            <a:off x="58774889" y="1809598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HumanMessage</a:t>
            </a:r>
            <a:endParaRPr lang="en-US" sz="1000" dirty="0"/>
          </a:p>
        </p:txBody>
      </p:sp>
      <p:sp>
        <p:nvSpPr>
          <p:cNvPr id="125" name="Text 118"/>
          <p:cNvSpPr txBox="1"/>
          <p:nvPr/>
        </p:nvSpPr>
        <p:spPr>
          <a:xfrm>
            <a:off x="59735009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00" dirty="0"/>
          </a:p>
        </p:txBody>
      </p:sp>
      <p:sp>
        <p:nvSpPr>
          <p:cNvPr id="126" name="Shape 119"/>
          <p:cNvSpPr/>
          <p:nvPr/>
        </p:nvSpPr>
        <p:spPr>
          <a:xfrm>
            <a:off x="6012911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20"/>
          <p:cNvSpPr txBox="1"/>
          <p:nvPr/>
        </p:nvSpPr>
        <p:spPr>
          <a:xfrm>
            <a:off x="59814562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128" name="Text 121"/>
          <p:cNvSpPr txBox="1"/>
          <p:nvPr/>
        </p:nvSpPr>
        <p:spPr>
          <a:xfrm>
            <a:off x="60289135" y="18095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content=</a:t>
            </a:r>
            <a:endParaRPr lang="en-US" sz="1000" dirty="0"/>
          </a:p>
        </p:txBody>
      </p:sp>
      <p:sp>
        <p:nvSpPr>
          <p:cNvPr id="129" name="Text 122"/>
          <p:cNvSpPr txBox="1"/>
          <p:nvPr/>
        </p:nvSpPr>
        <p:spPr>
          <a:xfrm>
            <a:off x="60929215" y="1809598"/>
            <a:ext cx="5625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f"Compile these materials into a final research report:\n{materials}"</a:t>
            </a:r>
            <a:endParaRPr lang="en-US" sz="1000" dirty="0"/>
          </a:p>
        </p:txBody>
      </p:sp>
      <p:sp>
        <p:nvSpPr>
          <p:cNvPr id="130" name="Shape 123"/>
          <p:cNvSpPr/>
          <p:nvPr/>
        </p:nvSpPr>
        <p:spPr>
          <a:xfrm>
            <a:off x="66765830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124"/>
          <p:cNvSpPr txBox="1"/>
          <p:nvPr/>
        </p:nvSpPr>
        <p:spPr>
          <a:xfrm>
            <a:off x="66451277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1000" dirty="0"/>
          </a:p>
        </p:txBody>
      </p:sp>
      <p:sp>
        <p:nvSpPr>
          <p:cNvPr id="132" name="Text 125"/>
          <p:cNvSpPr txBox="1"/>
          <p:nvPr/>
        </p:nvSpPr>
        <p:spPr>
          <a:xfrm>
            <a:off x="66925850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133" name="Shape 126"/>
          <p:cNvSpPr/>
          <p:nvPr/>
        </p:nvSpPr>
        <p:spPr>
          <a:xfrm>
            <a:off x="67319957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Text 127"/>
          <p:cNvSpPr txBox="1"/>
          <p:nvPr/>
        </p:nvSpPr>
        <p:spPr>
          <a:xfrm>
            <a:off x="67005403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1000" dirty="0"/>
          </a:p>
        </p:txBody>
      </p:sp>
      <p:sp>
        <p:nvSpPr>
          <p:cNvPr id="135" name="Text 128"/>
          <p:cNvSpPr txBox="1"/>
          <p:nvPr/>
        </p:nvSpPr>
        <p:spPr>
          <a:xfrm>
            <a:off x="67479977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136" name="Shape 129"/>
          <p:cNvSpPr/>
          <p:nvPr/>
        </p:nvSpPr>
        <p:spPr>
          <a:xfrm>
            <a:off x="67874998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130"/>
          <p:cNvSpPr txBox="1"/>
          <p:nvPr/>
        </p:nvSpPr>
        <p:spPr>
          <a:xfrm>
            <a:off x="67560444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  <p:sp>
        <p:nvSpPr>
          <p:cNvPr id="138" name="Text 131"/>
          <p:cNvSpPr txBox="1"/>
          <p:nvPr/>
        </p:nvSpPr>
        <p:spPr>
          <a:xfrm>
            <a:off x="6803501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})</a:t>
            </a:r>
            <a:endParaRPr lang="en-US" sz="1000" dirty="0"/>
          </a:p>
        </p:txBody>
      </p:sp>
      <p:sp>
        <p:nvSpPr>
          <p:cNvPr id="139" name="Shape 132"/>
          <p:cNvSpPr/>
          <p:nvPr/>
        </p:nvSpPr>
        <p:spPr>
          <a:xfrm>
            <a:off x="68509591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Text 133"/>
          <p:cNvSpPr txBox="1"/>
          <p:nvPr/>
        </p:nvSpPr>
        <p:spPr>
          <a:xfrm>
            <a:off x="68195038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1000" dirty="0"/>
          </a:p>
        </p:txBody>
      </p:sp>
      <p:sp>
        <p:nvSpPr>
          <p:cNvPr id="141" name="Shape 134"/>
          <p:cNvSpPr/>
          <p:nvPr/>
        </p:nvSpPr>
        <p:spPr>
          <a:xfrm>
            <a:off x="68984165" y="1809598"/>
            <a:ext cx="9144" cy="1527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Text 135"/>
          <p:cNvSpPr txBox="1"/>
          <p:nvPr/>
        </p:nvSpPr>
        <p:spPr>
          <a:xfrm>
            <a:off x="68669611" y="1809598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</a:t>
            </a:r>
            <a:endParaRPr lang="en-US" sz="1000" dirty="0"/>
          </a:p>
        </p:txBody>
      </p:sp>
      <p:sp>
        <p:nvSpPr>
          <p:cNvPr id="143" name="Text 136"/>
          <p:cNvSpPr txBox="1"/>
          <p:nvPr/>
        </p:nvSpPr>
        <p:spPr>
          <a:xfrm>
            <a:off x="69144185" y="1809598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000" dirty="0"/>
          </a:p>
        </p:txBody>
      </p:sp>
      <p:sp>
        <p:nvSpPr>
          <p:cNvPr id="144" name="Text 137"/>
          <p:cNvSpPr txBox="1"/>
          <p:nvPr/>
        </p:nvSpPr>
        <p:spPr>
          <a:xfrm>
            <a:off x="69624245" y="1809598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000" dirty="0"/>
          </a:p>
        </p:txBody>
      </p:sp>
      <p:sp>
        <p:nvSpPr>
          <p:cNvPr id="145" name="Text 138"/>
          <p:cNvSpPr txBox="1"/>
          <p:nvPr/>
        </p:nvSpPr>
        <p:spPr>
          <a:xfrm>
            <a:off x="69703798" y="1809598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"report_final"</a:t>
            </a:r>
            <a:endParaRPr lang="en-US" sz="1000" dirty="0"/>
          </a:p>
        </p:txBody>
      </p:sp>
      <p:sp>
        <p:nvSpPr>
          <p:cNvPr id="146" name="Text 139"/>
          <p:cNvSpPr txBox="1"/>
          <p:nvPr/>
        </p:nvSpPr>
        <p:spPr>
          <a:xfrm>
            <a:off x="70824852" y="1809598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refined_report.content}</a:t>
            </a:r>
            <a:endParaRPr lang="en-US" sz="1000" dirty="0"/>
          </a:p>
        </p:txBody>
      </p:sp>
      <p:sp>
        <p:nvSpPr>
          <p:cNvPr id="147" name="Shape 140"/>
          <p:cNvSpPr/>
          <p:nvPr/>
        </p:nvSpPr>
        <p:spPr>
          <a:xfrm>
            <a:off x="0" y="6760159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1"/>
          <p:cNvSpPr/>
          <p:nvPr/>
        </p:nvSpPr>
        <p:spPr>
          <a:xfrm>
            <a:off x="0" y="676015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Text 142"/>
          <p:cNvSpPr txBox="1"/>
          <p:nvPr/>
        </p:nvSpPr>
        <p:spPr>
          <a:xfrm>
            <a:off x="457200" y="6917436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150" name="Text 143"/>
          <p:cNvSpPr txBox="1"/>
          <p:nvPr/>
        </p:nvSpPr>
        <p:spPr>
          <a:xfrm>
            <a:off x="11292840" y="6917436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34</a:t>
            </a:r>
            <a:endParaRPr lang="en-US" sz="900" dirty="0"/>
          </a:p>
        </p:txBody>
      </p:sp>
      <p:sp>
        <p:nvSpPr>
          <p:cNvPr id="151" name="Shape 144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3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55" name="Text 14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56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57" name="Text 148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58" name="Shape 69">
            <a:extLst>
              <a:ext uri="{FF2B5EF4-FFF2-40B4-BE49-F238E27FC236}">
                <a16:creationId xmlns:a16="http://schemas.microsoft.com/office/drawing/2014/main" id="{7702CC90-29F4-FDA3-A0F5-9CB36B487E73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9" name="Image 8" descr="preencoded.png">
            <a:extLst>
              <a:ext uri="{FF2B5EF4-FFF2-40B4-BE49-F238E27FC236}">
                <a16:creationId xmlns:a16="http://schemas.microsoft.com/office/drawing/2014/main" id="{726DAC92-0EA5-5FDC-D382-E236585A262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6072" y="286207"/>
            <a:ext cx="142646" cy="190195"/>
          </a:xfrm>
          <a:prstGeom prst="rect">
            <a:avLst/>
          </a:prstGeom>
        </p:spPr>
      </p:pic>
      <p:sp>
        <p:nvSpPr>
          <p:cNvPr id="160" name="Text 70">
            <a:extLst>
              <a:ext uri="{FF2B5EF4-FFF2-40B4-BE49-F238E27FC236}">
                <a16:creationId xmlns:a16="http://schemas.microsoft.com/office/drawing/2014/main" id="{D7A1E7CE-489F-8FBB-6149-8970C29B2279}"/>
              </a:ext>
            </a:extLst>
          </p:cNvPr>
          <p:cNvSpPr txBox="1"/>
          <p:nvPr/>
        </p:nvSpPr>
        <p:spPr>
          <a:xfrm>
            <a:off x="990294" y="237744"/>
            <a:ext cx="301569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Refiner Agent: Publication</a:t>
            </a:r>
            <a:endParaRPr lang="en-US" sz="1800" dirty="0"/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C8FFAFF2-0B34-E05B-A53F-C917182049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7444" y="1141171"/>
            <a:ext cx="4302046" cy="544617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562356" y="286207"/>
            <a:ext cx="171907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152705"/>
            <a:ext cx="3857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 Integration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90295" y="476402"/>
            <a:ext cx="19431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workflow.intervention_nodes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52044" y="1914754"/>
            <a:ext cx="1081095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1914754" y="213329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2326234" y="2133295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2806294" y="213329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1503274" y="249905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3973068" y="286481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1394460" y="231617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1120140" y="268193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1531620" y="268193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2835554" y="268193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900" dirty="0"/>
          </a:p>
        </p:txBody>
      </p:sp>
      <p:sp>
        <p:nvSpPr>
          <p:cNvPr id="76" name="Shape 72"/>
          <p:cNvSpPr/>
          <p:nvPr/>
        </p:nvSpPr>
        <p:spPr>
          <a:xfrm>
            <a:off x="304495" y="4953305"/>
            <a:ext cx="38405" cy="685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20227442" y="1148486"/>
            <a:ext cx="886054" cy="256946"/>
          </a:xfrm>
          <a:prstGeom prst="roundRect">
            <a:avLst>
              <a:gd name="adj" fmla="val 355872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0" name="Image 2" descr="preencoded.png"/>
          <p:cNvPicPr>
            <a:picLocks noChangeAspect="1"/>
          </p:cNvPicPr>
          <p:nvPr/>
        </p:nvPicPr>
        <p:blipFill>
          <a:blip r:embed="rId4"/>
          <a:srcRect l="-4348" r="-4348"/>
          <a:stretch/>
        </p:blipFill>
        <p:spPr>
          <a:xfrm>
            <a:off x="20350886" y="1223467"/>
            <a:ext cx="114300" cy="105156"/>
          </a:xfrm>
          <a:prstGeom prst="rect">
            <a:avLst/>
          </a:prstGeom>
        </p:spPr>
      </p:pic>
      <p:sp>
        <p:nvSpPr>
          <p:cNvPr id="81" name="Text 76"/>
          <p:cNvSpPr txBox="1"/>
          <p:nvPr/>
        </p:nvSpPr>
        <p:spPr>
          <a:xfrm>
            <a:off x="20541996" y="1196035"/>
            <a:ext cx="5285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800" dirty="0"/>
          </a:p>
        </p:txBody>
      </p:sp>
      <p:sp>
        <p:nvSpPr>
          <p:cNvPr id="82" name="Shape 77"/>
          <p:cNvSpPr/>
          <p:nvPr/>
        </p:nvSpPr>
        <p:spPr>
          <a:xfrm>
            <a:off x="20511821" y="1714500"/>
            <a:ext cx="95098" cy="95098"/>
          </a:xfrm>
          <a:prstGeom prst="roundRect">
            <a:avLst>
              <a:gd name="adj" fmla="val 961534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78"/>
          <p:cNvSpPr/>
          <p:nvPr/>
        </p:nvSpPr>
        <p:spPr>
          <a:xfrm>
            <a:off x="20664526" y="1714500"/>
            <a:ext cx="95098" cy="95098"/>
          </a:xfrm>
          <a:prstGeom prst="roundRect">
            <a:avLst>
              <a:gd name="adj" fmla="val 961534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79"/>
          <p:cNvSpPr/>
          <p:nvPr/>
        </p:nvSpPr>
        <p:spPr>
          <a:xfrm>
            <a:off x="20816316" y="1714500"/>
            <a:ext cx="95098" cy="95098"/>
          </a:xfrm>
          <a:prstGeom prst="roundRect">
            <a:avLst>
              <a:gd name="adj" fmla="val 961534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3"/>
          <p:cNvSpPr txBox="1"/>
          <p:nvPr/>
        </p:nvSpPr>
        <p:spPr>
          <a:xfrm>
            <a:off x="14837054" y="2864815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900" dirty="0"/>
          </a:p>
        </p:txBody>
      </p:sp>
      <p:sp>
        <p:nvSpPr>
          <p:cNvPr id="89" name="Text 84"/>
          <p:cNvSpPr txBox="1"/>
          <p:nvPr/>
        </p:nvSpPr>
        <p:spPr>
          <a:xfrm>
            <a:off x="16483889" y="2864815"/>
            <a:ext cx="362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True</a:t>
            </a:r>
            <a:endParaRPr lang="en-US" sz="900" dirty="0"/>
          </a:p>
        </p:txBody>
      </p:sp>
      <p:sp>
        <p:nvSpPr>
          <p:cNvPr id="94" name="Text 89"/>
          <p:cNvSpPr txBox="1"/>
          <p:nvPr/>
        </p:nvSpPr>
        <p:spPr>
          <a:xfrm>
            <a:off x="13122554" y="213329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900" dirty="0"/>
          </a:p>
        </p:txBody>
      </p:sp>
      <p:sp>
        <p:nvSpPr>
          <p:cNvPr id="95" name="Text 90"/>
          <p:cNvSpPr txBox="1"/>
          <p:nvPr/>
        </p:nvSpPr>
        <p:spPr>
          <a:xfrm>
            <a:off x="13534034" y="2133295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900" dirty="0"/>
          </a:p>
        </p:txBody>
      </p:sp>
      <p:sp>
        <p:nvSpPr>
          <p:cNvPr id="96" name="Text 91"/>
          <p:cNvSpPr txBox="1"/>
          <p:nvPr/>
        </p:nvSpPr>
        <p:spPr>
          <a:xfrm>
            <a:off x="14014094" y="213329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900" dirty="0"/>
          </a:p>
        </p:txBody>
      </p:sp>
      <p:sp>
        <p:nvSpPr>
          <p:cNvPr id="97" name="Text 92"/>
          <p:cNvSpPr txBox="1"/>
          <p:nvPr/>
        </p:nvSpPr>
        <p:spPr>
          <a:xfrm>
            <a:off x="16003829" y="2133295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state[</a:t>
            </a:r>
            <a:endParaRPr lang="en-US" sz="900" dirty="0"/>
          </a:p>
        </p:txBody>
      </p:sp>
      <p:sp>
        <p:nvSpPr>
          <p:cNvPr id="98" name="Text 93"/>
          <p:cNvSpPr txBox="1"/>
          <p:nvPr/>
        </p:nvSpPr>
        <p:spPr>
          <a:xfrm>
            <a:off x="17649749" y="2133295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])</a:t>
            </a:r>
            <a:endParaRPr lang="en-US" sz="900" dirty="0"/>
          </a:p>
        </p:txBody>
      </p:sp>
      <p:sp>
        <p:nvSpPr>
          <p:cNvPr id="100" name="Text 95"/>
          <p:cNvSpPr txBox="1"/>
          <p:nvPr/>
        </p:nvSpPr>
        <p:spPr>
          <a:xfrm>
            <a:off x="13602614" y="249905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900" dirty="0"/>
          </a:p>
        </p:txBody>
      </p:sp>
      <p:sp>
        <p:nvSpPr>
          <p:cNvPr id="101" name="Text 96"/>
          <p:cNvSpPr txBox="1"/>
          <p:nvPr/>
        </p:nvSpPr>
        <p:spPr>
          <a:xfrm>
            <a:off x="15248534" y="286481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900" dirty="0"/>
          </a:p>
        </p:txBody>
      </p:sp>
      <p:sp>
        <p:nvSpPr>
          <p:cNvPr id="102" name="Text 97"/>
          <p:cNvSpPr txBox="1"/>
          <p:nvPr/>
        </p:nvSpPr>
        <p:spPr>
          <a:xfrm>
            <a:off x="16415309" y="286481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900" dirty="0"/>
          </a:p>
        </p:txBody>
      </p:sp>
      <p:sp>
        <p:nvSpPr>
          <p:cNvPr id="103" name="Text 98"/>
          <p:cNvSpPr txBox="1"/>
          <p:nvPr/>
        </p:nvSpPr>
        <p:spPr>
          <a:xfrm>
            <a:off x="16758209" y="286481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900" dirty="0"/>
          </a:p>
        </p:txBody>
      </p:sp>
      <p:sp>
        <p:nvSpPr>
          <p:cNvPr id="106" name="Text 101"/>
          <p:cNvSpPr txBox="1"/>
          <p:nvPr/>
        </p:nvSpPr>
        <p:spPr>
          <a:xfrm>
            <a:off x="13122554" y="304769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900" dirty="0"/>
          </a:p>
        </p:txBody>
      </p:sp>
      <p:sp>
        <p:nvSpPr>
          <p:cNvPr id="107" name="Text 102"/>
          <p:cNvSpPr txBox="1"/>
          <p:nvPr/>
        </p:nvSpPr>
        <p:spPr>
          <a:xfrm>
            <a:off x="14288414" y="304769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900" dirty="0"/>
          </a:p>
        </p:txBody>
      </p:sp>
      <p:sp>
        <p:nvSpPr>
          <p:cNvPr id="108" name="Text 103"/>
          <p:cNvSpPr txBox="1"/>
          <p:nvPr/>
        </p:nvSpPr>
        <p:spPr>
          <a:xfrm>
            <a:off x="14699894" y="304769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900" dirty="0"/>
          </a:p>
        </p:txBody>
      </p:sp>
      <p:sp>
        <p:nvSpPr>
          <p:cNvPr id="112" name="Text 107"/>
          <p:cNvSpPr txBox="1"/>
          <p:nvPr/>
        </p:nvSpPr>
        <p:spPr>
          <a:xfrm>
            <a:off x="16552469" y="2133295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"report_section"</a:t>
            </a:r>
            <a:endParaRPr lang="en-US" sz="900" dirty="0"/>
          </a:p>
        </p:txBody>
      </p:sp>
      <p:sp>
        <p:nvSpPr>
          <p:cNvPr id="114" name="Text 109"/>
          <p:cNvSpPr txBox="1"/>
          <p:nvPr/>
        </p:nvSpPr>
        <p:spPr>
          <a:xfrm>
            <a:off x="15317114" y="2864815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"needs_revision"</a:t>
            </a:r>
            <a:endParaRPr lang="en-US" sz="900" dirty="0"/>
          </a:p>
        </p:txBody>
      </p:sp>
      <p:sp>
        <p:nvSpPr>
          <p:cNvPr id="115" name="Text 110"/>
          <p:cNvSpPr txBox="1"/>
          <p:nvPr/>
        </p:nvSpPr>
        <p:spPr>
          <a:xfrm>
            <a:off x="16826789" y="2864815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"messages"</a:t>
            </a:r>
            <a:endParaRPr lang="en-US" sz="900" dirty="0"/>
          </a:p>
        </p:txBody>
      </p:sp>
      <p:sp>
        <p:nvSpPr>
          <p:cNvPr id="117" name="Text 112"/>
          <p:cNvSpPr txBox="1"/>
          <p:nvPr/>
        </p:nvSpPr>
        <p:spPr>
          <a:xfrm>
            <a:off x="17786909" y="2133295"/>
            <a:ext cx="31821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C637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Allow iterative refinement after completion</a:t>
            </a:r>
            <a:endParaRPr lang="en-US" sz="900" dirty="0"/>
          </a:p>
        </p:txBody>
      </p:sp>
      <p:sp>
        <p:nvSpPr>
          <p:cNvPr id="122" name="Shape 117"/>
          <p:cNvSpPr/>
          <p:nvPr/>
        </p:nvSpPr>
        <p:spPr>
          <a:xfrm>
            <a:off x="11598250" y="2663647"/>
            <a:ext cx="28346" cy="190195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0"/>
          <p:cNvSpPr txBox="1"/>
          <p:nvPr/>
        </p:nvSpPr>
        <p:spPr>
          <a:xfrm>
            <a:off x="12945161" y="231617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900" dirty="0"/>
          </a:p>
        </p:txBody>
      </p:sp>
      <p:sp>
        <p:nvSpPr>
          <p:cNvPr id="126" name="Text 121"/>
          <p:cNvSpPr txBox="1"/>
          <p:nvPr/>
        </p:nvSpPr>
        <p:spPr>
          <a:xfrm>
            <a:off x="13356641" y="231617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900" dirty="0"/>
          </a:p>
        </p:txBody>
      </p:sp>
      <p:sp>
        <p:nvSpPr>
          <p:cNvPr id="127" name="Text 122"/>
          <p:cNvSpPr txBox="1"/>
          <p:nvPr/>
        </p:nvSpPr>
        <p:spPr>
          <a:xfrm>
            <a:off x="15689275" y="231617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900" dirty="0"/>
          </a:p>
        </p:txBody>
      </p:sp>
      <p:sp>
        <p:nvSpPr>
          <p:cNvPr id="129" name="Text 124"/>
          <p:cNvSpPr txBox="1"/>
          <p:nvPr/>
        </p:nvSpPr>
        <p:spPr>
          <a:xfrm>
            <a:off x="12670841" y="268193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900" dirty="0"/>
          </a:p>
        </p:txBody>
      </p:sp>
      <p:sp>
        <p:nvSpPr>
          <p:cNvPr id="130" name="Text 125"/>
          <p:cNvSpPr txBox="1"/>
          <p:nvPr/>
        </p:nvSpPr>
        <p:spPr>
          <a:xfrm>
            <a:off x="14317675" y="268193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900" dirty="0"/>
          </a:p>
        </p:txBody>
      </p:sp>
      <p:sp>
        <p:nvSpPr>
          <p:cNvPr id="132" name="Text 127"/>
          <p:cNvSpPr txBox="1"/>
          <p:nvPr/>
        </p:nvSpPr>
        <p:spPr>
          <a:xfrm>
            <a:off x="12327941" y="2681935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</a:t>
            </a:r>
            <a:endParaRPr lang="en-US" sz="900" dirty="0"/>
          </a:p>
        </p:txBody>
      </p:sp>
      <p:sp>
        <p:nvSpPr>
          <p:cNvPr id="139" name="Shape 13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5"/>
          <p:cNvSpPr/>
          <p:nvPr/>
        </p:nvSpPr>
        <p:spPr>
          <a:xfrm>
            <a:off x="0" y="59436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6"/>
          <p:cNvSpPr/>
          <p:nvPr/>
        </p:nvSpPr>
        <p:spPr>
          <a:xfrm>
            <a:off x="457200" y="6215177"/>
            <a:ext cx="304495" cy="381305"/>
          </a:xfrm>
          <a:prstGeom prst="roundRect">
            <a:avLst>
              <a:gd name="adj" fmla="val 7507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6329477"/>
            <a:ext cx="152705" cy="152705"/>
          </a:xfrm>
          <a:prstGeom prst="rect">
            <a:avLst/>
          </a:prstGeom>
        </p:spPr>
      </p:pic>
      <p:sp>
        <p:nvSpPr>
          <p:cNvPr id="143" name="Text 137"/>
          <p:cNvSpPr txBox="1"/>
          <p:nvPr/>
        </p:nvSpPr>
        <p:spPr>
          <a:xfrm>
            <a:off x="875995" y="6224321"/>
            <a:ext cx="9198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Control</a:t>
            </a:r>
            <a:endParaRPr lang="en-US" sz="1000" dirty="0"/>
          </a:p>
        </p:txBody>
      </p:sp>
      <p:sp>
        <p:nvSpPr>
          <p:cNvPr id="144" name="Text 138"/>
          <p:cNvSpPr txBox="1"/>
          <p:nvPr/>
        </p:nvSpPr>
        <p:spPr>
          <a:xfrm>
            <a:off x="3999586" y="6224321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Correction</a:t>
            </a:r>
            <a:endParaRPr lang="en-US" sz="1000" dirty="0"/>
          </a:p>
        </p:txBody>
      </p:sp>
      <p:sp>
        <p:nvSpPr>
          <p:cNvPr id="145" name="Text 139"/>
          <p:cNvSpPr txBox="1"/>
          <p:nvPr/>
        </p:nvSpPr>
        <p:spPr>
          <a:xfrm>
            <a:off x="875995" y="6405372"/>
            <a:ext cx="2486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maintains agency over critical direction</a:t>
            </a:r>
            <a:endParaRPr lang="en-US" sz="900" dirty="0"/>
          </a:p>
        </p:txBody>
      </p:sp>
      <p:sp>
        <p:nvSpPr>
          <p:cNvPr id="146" name="Shape 140"/>
          <p:cNvSpPr/>
          <p:nvPr/>
        </p:nvSpPr>
        <p:spPr>
          <a:xfrm>
            <a:off x="3579876" y="6215177"/>
            <a:ext cx="304495" cy="381305"/>
          </a:xfrm>
          <a:prstGeom prst="roundRect">
            <a:avLst>
              <a:gd name="adj" fmla="val 75075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656686" y="6329477"/>
            <a:ext cx="152705" cy="152705"/>
          </a:xfrm>
          <a:prstGeom prst="rect">
            <a:avLst/>
          </a:prstGeom>
        </p:spPr>
      </p:pic>
      <p:sp>
        <p:nvSpPr>
          <p:cNvPr id="148" name="Text 141"/>
          <p:cNvSpPr txBox="1"/>
          <p:nvPr/>
        </p:nvSpPr>
        <p:spPr>
          <a:xfrm>
            <a:off x="3999586" y="6405372"/>
            <a:ext cx="2753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misunderstandings before high-cost compute</a:t>
            </a:r>
            <a:endParaRPr lang="en-US" sz="900" dirty="0"/>
          </a:p>
        </p:txBody>
      </p:sp>
      <p:sp>
        <p:nvSpPr>
          <p:cNvPr id="149" name="Shape 142"/>
          <p:cNvSpPr/>
          <p:nvPr/>
        </p:nvSpPr>
        <p:spPr>
          <a:xfrm>
            <a:off x="6962242" y="6215177"/>
            <a:ext cx="304495" cy="381305"/>
          </a:xfrm>
          <a:prstGeom prst="roundRect">
            <a:avLst>
              <a:gd name="adj" fmla="val 7507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38137" y="6329477"/>
            <a:ext cx="152705" cy="152705"/>
          </a:xfrm>
          <a:prstGeom prst="rect">
            <a:avLst/>
          </a:prstGeom>
        </p:spPr>
      </p:pic>
      <p:sp>
        <p:nvSpPr>
          <p:cNvPr id="151" name="Text 143"/>
          <p:cNvSpPr txBox="1"/>
          <p:nvPr/>
        </p:nvSpPr>
        <p:spPr>
          <a:xfrm>
            <a:off x="7381037" y="6224321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Loop</a:t>
            </a:r>
            <a:endParaRPr lang="en-US" sz="1000" dirty="0"/>
          </a:p>
        </p:txBody>
      </p:sp>
      <p:sp>
        <p:nvSpPr>
          <p:cNvPr id="152" name="Text 144"/>
          <p:cNvSpPr txBox="1"/>
          <p:nvPr/>
        </p:nvSpPr>
        <p:spPr>
          <a:xfrm>
            <a:off x="7381037" y="6405372"/>
            <a:ext cx="24387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quality improves with user guidance</a:t>
            </a:r>
            <a:endParaRPr lang="en-US" sz="900" dirty="0"/>
          </a:p>
        </p:txBody>
      </p:sp>
      <p:sp>
        <p:nvSpPr>
          <p:cNvPr id="153" name="Text 145"/>
          <p:cNvSpPr txBox="1"/>
          <p:nvPr/>
        </p:nvSpPr>
        <p:spPr>
          <a:xfrm>
            <a:off x="11185855" y="6338621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36</a:t>
            </a:r>
            <a:endParaRPr lang="en-US" sz="900" dirty="0"/>
          </a:p>
        </p:txBody>
      </p:sp>
      <p:sp>
        <p:nvSpPr>
          <p:cNvPr id="154" name="Shape 146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58" name="Text 149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5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60" name="Text 150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61" name="Shape 69">
            <a:extLst>
              <a:ext uri="{FF2B5EF4-FFF2-40B4-BE49-F238E27FC236}">
                <a16:creationId xmlns:a16="http://schemas.microsoft.com/office/drawing/2014/main" id="{0960CB00-171E-BF1F-B1FB-C100FDFA3FB3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2" name="Image 8" descr="preencoded.png">
            <a:extLst>
              <a:ext uri="{FF2B5EF4-FFF2-40B4-BE49-F238E27FC236}">
                <a16:creationId xmlns:a16="http://schemas.microsoft.com/office/drawing/2014/main" id="{5F3A68A7-F254-1D3C-C8FC-AAF49BB36C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6072" y="286207"/>
            <a:ext cx="142646" cy="190195"/>
          </a:xfrm>
          <a:prstGeom prst="rect">
            <a:avLst/>
          </a:prstGeom>
        </p:spPr>
      </p:pic>
      <p:sp>
        <p:nvSpPr>
          <p:cNvPr id="163" name="Text 70">
            <a:extLst>
              <a:ext uri="{FF2B5EF4-FFF2-40B4-BE49-F238E27FC236}">
                <a16:creationId xmlns:a16="http://schemas.microsoft.com/office/drawing/2014/main" id="{7B754596-2543-739D-024A-10095F4ADE8A}"/>
              </a:ext>
            </a:extLst>
          </p:cNvPr>
          <p:cNvSpPr txBox="1"/>
          <p:nvPr/>
        </p:nvSpPr>
        <p:spPr>
          <a:xfrm>
            <a:off x="990294" y="237744"/>
            <a:ext cx="301569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</a:t>
            </a:r>
            <a:endParaRPr lang="en-US" sz="1800" dirty="0"/>
          </a:p>
        </p:txBody>
      </p:sp>
      <p:pic>
        <p:nvPicPr>
          <p:cNvPr id="165" name="Picture 164">
            <a:extLst>
              <a:ext uri="{FF2B5EF4-FFF2-40B4-BE49-F238E27FC236}">
                <a16:creationId xmlns:a16="http://schemas.microsoft.com/office/drawing/2014/main" id="{111C9CD5-1657-A568-D59E-ECD86A2886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995" y="893237"/>
            <a:ext cx="10137038" cy="506419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912096" y="38405"/>
            <a:ext cx="3963010" cy="2210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4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400" dirty="0"/>
          </a:p>
        </p:txBody>
      </p:sp>
      <p:sp>
        <p:nvSpPr>
          <p:cNvPr id="6" name="Shape 4"/>
          <p:cNvSpPr/>
          <p:nvPr/>
        </p:nvSpPr>
        <p:spPr>
          <a:xfrm>
            <a:off x="0" y="2229307"/>
            <a:ext cx="914400" cy="18288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0" y="2572207"/>
            <a:ext cx="1218895" cy="2438705"/>
          </a:xfrm>
          <a:prstGeom prst="roundRect">
            <a:avLst>
              <a:gd name="adj" fmla="val 75019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90295" y="237744"/>
            <a:ext cx="3591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4: Results &amp; Comparison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58307" y="1505102"/>
            <a:ext cx="875995" cy="761695"/>
          </a:xfrm>
          <a:prstGeom prst="roundRect">
            <a:avLst>
              <a:gd name="adj" fmla="val 12004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10098" y="1657807"/>
            <a:ext cx="5715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170225" y="2514600"/>
            <a:ext cx="6286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&amp; Comparison</a:t>
            </a:r>
            <a:endParaRPr lang="en-US" sz="4500" dirty="0"/>
          </a:p>
        </p:txBody>
      </p:sp>
      <p:sp>
        <p:nvSpPr>
          <p:cNvPr id="17" name="Shape 13"/>
          <p:cNvSpPr/>
          <p:nvPr/>
        </p:nvSpPr>
        <p:spPr>
          <a:xfrm>
            <a:off x="5486400" y="3448202"/>
            <a:ext cx="12188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446020" y="3952951"/>
            <a:ext cx="74779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of pipeline vs. multi-agent approaches across quantitative metrics and quality dimensions.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2404872" y="5257800"/>
            <a:ext cx="2324405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43530" y="5400446"/>
            <a:ext cx="190195" cy="19019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026457" y="5257800"/>
            <a:ext cx="2190902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2948026" y="5400446"/>
            <a:ext cx="1657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Metrics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264201" y="5400446"/>
            <a:ext cx="142646" cy="19019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513625" y="5257800"/>
            <a:ext cx="2276856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5521147" y="5400446"/>
            <a:ext cx="1571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Assessment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52283" y="5400446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056778" y="5400446"/>
            <a:ext cx="1610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Analysis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457200" y="655807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1319358" y="6558077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41</a:t>
            </a:r>
            <a:endParaRPr lang="en-US" sz="9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523" y="286207"/>
            <a:ext cx="237744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152705"/>
            <a:ext cx="2800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Comparison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90295" y="476402"/>
            <a:ext cx="2563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analysis.benchmark.pipeline_vs_agent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102498" y="1152144"/>
            <a:ext cx="1500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LLM Pipeline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648749" y="11814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838944" y="1152144"/>
            <a:ext cx="19961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Multi-Agent System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04495" y="1485900"/>
            <a:ext cx="2305202" cy="390449"/>
          </a:xfrm>
          <a:prstGeom prst="roundRect">
            <a:avLst>
              <a:gd name="adj" fmla="val 45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8477" r="-18477"/>
          <a:stretch/>
        </p:blipFill>
        <p:spPr>
          <a:xfrm>
            <a:off x="466344" y="1611173"/>
            <a:ext cx="190195" cy="1234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606040" y="1485900"/>
            <a:ext cx="4610405" cy="39044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208215" y="1485900"/>
            <a:ext cx="4610405" cy="390449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04495" y="1946758"/>
            <a:ext cx="2305202" cy="390449"/>
          </a:xfrm>
          <a:prstGeom prst="roundRect">
            <a:avLst>
              <a:gd name="adj" fmla="val 45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606040" y="1946758"/>
            <a:ext cx="4610405" cy="39044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208215" y="1946758"/>
            <a:ext cx="4610405" cy="390449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04495" y="2407615"/>
            <a:ext cx="2305202" cy="390449"/>
          </a:xfrm>
          <a:prstGeom prst="roundRect">
            <a:avLst>
              <a:gd name="adj" fmla="val 45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04495" y="2868473"/>
            <a:ext cx="2305202" cy="390449"/>
          </a:xfrm>
          <a:prstGeom prst="roundRect">
            <a:avLst>
              <a:gd name="adj" fmla="val 45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606040" y="3329330"/>
            <a:ext cx="4610405" cy="39044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7208215" y="3329330"/>
            <a:ext cx="4610405" cy="390449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04495" y="3790188"/>
            <a:ext cx="2305202" cy="390449"/>
          </a:xfrm>
          <a:prstGeom prst="roundRect">
            <a:avLst>
              <a:gd name="adj" fmla="val 45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2606040" y="3790188"/>
            <a:ext cx="4610405" cy="39044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7208215" y="3790188"/>
            <a:ext cx="4610405" cy="390449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304495" y="4251046"/>
            <a:ext cx="2305202" cy="390449"/>
          </a:xfrm>
          <a:prstGeom prst="roundRect">
            <a:avLst>
              <a:gd name="adj" fmla="val 45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2606040" y="4251046"/>
            <a:ext cx="4610405" cy="39044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7208215" y="4251046"/>
            <a:ext cx="4610405" cy="390449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304495" y="4711903"/>
            <a:ext cx="2305202" cy="390449"/>
          </a:xfrm>
          <a:prstGeom prst="roundRect">
            <a:avLst>
              <a:gd name="adj" fmla="val 45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2606040" y="5173675"/>
            <a:ext cx="4610405" cy="39044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04495" y="5634533"/>
            <a:ext cx="2305202" cy="390449"/>
          </a:xfrm>
          <a:prstGeom prst="roundRect">
            <a:avLst>
              <a:gd name="adj" fmla="val 45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2606040" y="5634533"/>
            <a:ext cx="4610405" cy="39044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657454" y="1605686"/>
            <a:ext cx="82570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2758745" y="1605686"/>
            <a:ext cx="136794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Sequential, linear flow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7360920" y="1605686"/>
            <a:ext cx="142555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Graph-based, adaptive</a:t>
            </a:r>
            <a:endParaRPr lang="en-US" sz="9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rcRect l="-27037" r="-27037"/>
          <a:stretch/>
        </p:blipFill>
        <p:spPr>
          <a:xfrm>
            <a:off x="466344" y="2072030"/>
            <a:ext cx="190195" cy="123444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57454" y="2066544"/>
            <a:ext cx="107259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Making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2758745" y="2066544"/>
            <a:ext cx="15489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LLM call per stage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7360920" y="2066544"/>
            <a:ext cx="138714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Collaborative, iterative</a:t>
            </a:r>
            <a:endParaRPr lang="en-US" sz="9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rcRect l="-27037" r="-27037"/>
          <a:stretch/>
        </p:blipFill>
        <p:spPr>
          <a:xfrm>
            <a:off x="466344" y="2533802"/>
            <a:ext cx="190195" cy="123444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2606040" y="2407615"/>
            <a:ext cx="4610405" cy="39044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8"/>
          <p:cNvSpPr/>
          <p:nvPr/>
        </p:nvSpPr>
        <p:spPr>
          <a:xfrm>
            <a:off x="7208215" y="2407615"/>
            <a:ext cx="4610405" cy="390449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2606040" y="2868473"/>
            <a:ext cx="4610405" cy="39044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7208215" y="2868473"/>
            <a:ext cx="4610405" cy="390449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 txBox="1"/>
          <p:nvPr/>
        </p:nvSpPr>
        <p:spPr>
          <a:xfrm>
            <a:off x="657454" y="2527402"/>
            <a:ext cx="9774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Control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2758745" y="2527402"/>
            <a:ext cx="14923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(errors propagate)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7360920" y="2527402"/>
            <a:ext cx="12637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review loops</a:t>
            </a:r>
            <a:endParaRPr lang="en-US" sz="900" dirty="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rcRect l="-27037" r="-27037"/>
          <a:stretch/>
        </p:blipFill>
        <p:spPr>
          <a:xfrm>
            <a:off x="466344" y="2994660"/>
            <a:ext cx="190195" cy="123444"/>
          </a:xfrm>
          <a:prstGeom prst="rect">
            <a:avLst/>
          </a:prstGeom>
        </p:spPr>
      </p:pic>
      <p:sp>
        <p:nvSpPr>
          <p:cNvPr id="51" name="Shape 44"/>
          <p:cNvSpPr/>
          <p:nvPr/>
        </p:nvSpPr>
        <p:spPr>
          <a:xfrm>
            <a:off x="304495" y="3329330"/>
            <a:ext cx="2305202" cy="390449"/>
          </a:xfrm>
          <a:prstGeom prst="roundRect">
            <a:avLst>
              <a:gd name="adj" fmla="val 45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 txBox="1"/>
          <p:nvPr/>
        </p:nvSpPr>
        <p:spPr>
          <a:xfrm>
            <a:off x="657454" y="2988259"/>
            <a:ext cx="66294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Flexibility</a:t>
            </a:r>
            <a:endParaRPr lang="en-US" sz="900" dirty="0"/>
          </a:p>
        </p:txBody>
      </p:sp>
      <p:sp>
        <p:nvSpPr>
          <p:cNvPr id="53" name="Text 46"/>
          <p:cNvSpPr txBox="1"/>
          <p:nvPr/>
        </p:nvSpPr>
        <p:spPr>
          <a:xfrm>
            <a:off x="2758745" y="2988259"/>
            <a:ext cx="13203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workflow steps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7360920" y="2988259"/>
            <a:ext cx="10351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routing</a:t>
            </a:r>
            <a:endParaRPr lang="en-US" sz="90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rcRect l="-18477" r="-18477"/>
          <a:stretch/>
        </p:blipFill>
        <p:spPr>
          <a:xfrm>
            <a:off x="466344" y="3455518"/>
            <a:ext cx="190195" cy="123444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657454" y="3449117"/>
            <a:ext cx="11494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Retention</a:t>
            </a:r>
            <a:endParaRPr lang="en-US" sz="900" dirty="0"/>
          </a:p>
        </p:txBody>
      </p:sp>
      <p:sp>
        <p:nvSpPr>
          <p:cNvPr id="57" name="Text 49"/>
          <p:cNvSpPr txBox="1"/>
          <p:nvPr/>
        </p:nvSpPr>
        <p:spPr>
          <a:xfrm>
            <a:off x="2758745" y="3449117"/>
            <a:ext cx="157734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(between stages)</a:t>
            </a:r>
            <a:endParaRPr lang="en-US" sz="900" dirty="0"/>
          </a:p>
        </p:txBody>
      </p:sp>
      <p:sp>
        <p:nvSpPr>
          <p:cNvPr id="58" name="Text 50"/>
          <p:cNvSpPr txBox="1"/>
          <p:nvPr/>
        </p:nvSpPr>
        <p:spPr>
          <a:xfrm>
            <a:off x="7360920" y="3449117"/>
            <a:ext cx="140634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(Note Taker agent)</a:t>
            </a:r>
            <a:endParaRPr lang="en-US" sz="900" dirty="0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rcRect l="-27037" r="-27037"/>
          <a:stretch/>
        </p:blipFill>
        <p:spPr>
          <a:xfrm>
            <a:off x="466344" y="3916375"/>
            <a:ext cx="190195" cy="123444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657454" y="3910889"/>
            <a:ext cx="10351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Depth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2758745" y="3910889"/>
            <a:ext cx="127284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(analysis only)</a:t>
            </a:r>
            <a:endParaRPr lang="en-US" sz="900" dirty="0"/>
          </a:p>
        </p:txBody>
      </p:sp>
      <p:sp>
        <p:nvSpPr>
          <p:cNvPr id="62" name="Text 53"/>
          <p:cNvSpPr txBox="1"/>
          <p:nvPr/>
        </p:nvSpPr>
        <p:spPr>
          <a:xfrm>
            <a:off x="7360920" y="3910889"/>
            <a:ext cx="185440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review + Hypothesis</a:t>
            </a:r>
            <a:endParaRPr lang="en-US" sz="900" dirty="0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10"/>
          <a:srcRect l="-18477" r="-18477"/>
          <a:stretch/>
        </p:blipFill>
        <p:spPr>
          <a:xfrm>
            <a:off x="466344" y="4377233"/>
            <a:ext cx="190195" cy="123444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2606040" y="4711903"/>
            <a:ext cx="4610405" cy="39044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5"/>
          <p:cNvSpPr/>
          <p:nvPr/>
        </p:nvSpPr>
        <p:spPr>
          <a:xfrm>
            <a:off x="7208215" y="5173675"/>
            <a:ext cx="4610405" cy="390449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6"/>
          <p:cNvSpPr txBox="1"/>
          <p:nvPr/>
        </p:nvSpPr>
        <p:spPr>
          <a:xfrm>
            <a:off x="657454" y="4371746"/>
            <a:ext cx="94914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Quality</a:t>
            </a:r>
            <a:endParaRPr lang="en-US" sz="900" dirty="0"/>
          </a:p>
        </p:txBody>
      </p:sp>
      <p:sp>
        <p:nvSpPr>
          <p:cNvPr id="67" name="Text 57"/>
          <p:cNvSpPr txBox="1"/>
          <p:nvPr/>
        </p:nvSpPr>
        <p:spPr>
          <a:xfrm>
            <a:off x="2758745" y="4371746"/>
            <a:ext cx="105430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(Standard)</a:t>
            </a:r>
            <a:endParaRPr lang="en-US" sz="900" dirty="0"/>
          </a:p>
        </p:txBody>
      </p:sp>
      <p:sp>
        <p:nvSpPr>
          <p:cNvPr id="68" name="Text 58"/>
          <p:cNvSpPr txBox="1"/>
          <p:nvPr/>
        </p:nvSpPr>
        <p:spPr>
          <a:xfrm>
            <a:off x="7360920" y="4371746"/>
            <a:ext cx="186354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 (Refined/Publication)</a:t>
            </a:r>
            <a:endParaRPr lang="en-US" sz="900" dirty="0"/>
          </a:p>
        </p:txBody>
      </p:sp>
      <p:pic>
        <p:nvPicPr>
          <p:cNvPr id="69" name="Image 8" descr="preencoded.png"/>
          <p:cNvPicPr>
            <a:picLocks noChangeAspect="1"/>
          </p:cNvPicPr>
          <p:nvPr/>
        </p:nvPicPr>
        <p:blipFill>
          <a:blip r:embed="rId11"/>
          <a:srcRect l="-27037" r="-27037"/>
          <a:stretch/>
        </p:blipFill>
        <p:spPr>
          <a:xfrm>
            <a:off x="466344" y="4838090"/>
            <a:ext cx="190195" cy="123444"/>
          </a:xfrm>
          <a:prstGeom prst="rect">
            <a:avLst/>
          </a:prstGeom>
        </p:spPr>
      </p:pic>
      <p:sp>
        <p:nvSpPr>
          <p:cNvPr id="70" name="Shape 59"/>
          <p:cNvSpPr/>
          <p:nvPr/>
        </p:nvSpPr>
        <p:spPr>
          <a:xfrm>
            <a:off x="7208215" y="4711903"/>
            <a:ext cx="4610405" cy="390449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0"/>
          <p:cNvSpPr/>
          <p:nvPr/>
        </p:nvSpPr>
        <p:spPr>
          <a:xfrm>
            <a:off x="304495" y="5173675"/>
            <a:ext cx="2305202" cy="390449"/>
          </a:xfrm>
          <a:prstGeom prst="roundRect">
            <a:avLst>
              <a:gd name="adj" fmla="val 45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1"/>
          <p:cNvSpPr/>
          <p:nvPr/>
        </p:nvSpPr>
        <p:spPr>
          <a:xfrm>
            <a:off x="304495" y="6095390"/>
            <a:ext cx="2305202" cy="390449"/>
          </a:xfrm>
          <a:prstGeom prst="roundRect">
            <a:avLst>
              <a:gd name="adj" fmla="val 45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2"/>
          <p:cNvSpPr/>
          <p:nvPr/>
        </p:nvSpPr>
        <p:spPr>
          <a:xfrm>
            <a:off x="2606040" y="6095390"/>
            <a:ext cx="4610405" cy="39044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3"/>
          <p:cNvSpPr txBox="1"/>
          <p:nvPr/>
        </p:nvSpPr>
        <p:spPr>
          <a:xfrm>
            <a:off x="657454" y="4832604"/>
            <a:ext cx="9774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Recovery</a:t>
            </a:r>
            <a:endParaRPr lang="en-US" sz="900" dirty="0"/>
          </a:p>
        </p:txBody>
      </p:sp>
      <p:sp>
        <p:nvSpPr>
          <p:cNvPr id="75" name="Text 64"/>
          <p:cNvSpPr txBox="1"/>
          <p:nvPr/>
        </p:nvSpPr>
        <p:spPr>
          <a:xfrm>
            <a:off x="2758745" y="4832604"/>
            <a:ext cx="174924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intervention required</a:t>
            </a:r>
            <a:endParaRPr lang="en-US" sz="900" dirty="0"/>
          </a:p>
        </p:txBody>
      </p:sp>
      <p:sp>
        <p:nvSpPr>
          <p:cNvPr id="76" name="Text 65"/>
          <p:cNvSpPr txBox="1"/>
          <p:nvPr/>
        </p:nvSpPr>
        <p:spPr>
          <a:xfrm>
            <a:off x="7360920" y="4832604"/>
            <a:ext cx="18352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retry with feedback</a:t>
            </a:r>
            <a:endParaRPr lang="en-US" sz="900" dirty="0"/>
          </a:p>
        </p:txBody>
      </p:sp>
      <p:pic>
        <p:nvPicPr>
          <p:cNvPr id="77" name="Image 9" descr="preencoded.png"/>
          <p:cNvPicPr>
            <a:picLocks noChangeAspect="1"/>
          </p:cNvPicPr>
          <p:nvPr/>
        </p:nvPicPr>
        <p:blipFill>
          <a:blip r:embed="rId12"/>
          <a:srcRect l="-27037" r="-27037"/>
          <a:stretch/>
        </p:blipFill>
        <p:spPr>
          <a:xfrm>
            <a:off x="466344" y="5298948"/>
            <a:ext cx="190195" cy="123444"/>
          </a:xfrm>
          <a:prstGeom prst="rect">
            <a:avLst/>
          </a:prstGeom>
        </p:spPr>
      </p:pic>
      <p:sp>
        <p:nvSpPr>
          <p:cNvPr id="78" name="Text 66"/>
          <p:cNvSpPr txBox="1"/>
          <p:nvPr/>
        </p:nvSpPr>
        <p:spPr>
          <a:xfrm>
            <a:off x="657454" y="5293462"/>
            <a:ext cx="88239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79" name="Text 67"/>
          <p:cNvSpPr txBox="1"/>
          <p:nvPr/>
        </p:nvSpPr>
        <p:spPr>
          <a:xfrm>
            <a:off x="2758745" y="5293462"/>
            <a:ext cx="12637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Per-stage reasoning</a:t>
            </a:r>
            <a:endParaRPr lang="en-US" sz="900" dirty="0"/>
          </a:p>
        </p:txBody>
      </p:sp>
      <p:sp>
        <p:nvSpPr>
          <p:cNvPr id="80" name="Text 68"/>
          <p:cNvSpPr txBox="1"/>
          <p:nvPr/>
        </p:nvSpPr>
        <p:spPr>
          <a:xfrm>
            <a:off x="7360920" y="5293462"/>
            <a:ext cx="182514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narrative &amp; citations</a:t>
            </a:r>
            <a:endParaRPr lang="en-US" sz="900" dirty="0"/>
          </a:p>
        </p:txBody>
      </p:sp>
      <p:pic>
        <p:nvPicPr>
          <p:cNvPr id="81" name="Image 10" descr="preencoded.png"/>
          <p:cNvPicPr>
            <a:picLocks noChangeAspect="1"/>
          </p:cNvPicPr>
          <p:nvPr/>
        </p:nvPicPr>
        <p:blipFill>
          <a:blip r:embed="rId13"/>
          <a:srcRect l="-38042" r="-38042"/>
          <a:stretch/>
        </p:blipFill>
        <p:spPr>
          <a:xfrm>
            <a:off x="466344" y="5759806"/>
            <a:ext cx="190195" cy="123444"/>
          </a:xfrm>
          <a:prstGeom prst="rect">
            <a:avLst/>
          </a:prstGeom>
        </p:spPr>
      </p:pic>
      <p:sp>
        <p:nvSpPr>
          <p:cNvPr id="82" name="Text 69"/>
          <p:cNvSpPr txBox="1"/>
          <p:nvPr/>
        </p:nvSpPr>
        <p:spPr>
          <a:xfrm>
            <a:off x="657454" y="5754319"/>
            <a:ext cx="9774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/ Analysis</a:t>
            </a:r>
            <a:endParaRPr lang="en-US" sz="900" dirty="0"/>
          </a:p>
        </p:txBody>
      </p:sp>
      <p:sp>
        <p:nvSpPr>
          <p:cNvPr id="83" name="Text 70"/>
          <p:cNvSpPr txBox="1"/>
          <p:nvPr/>
        </p:nvSpPr>
        <p:spPr>
          <a:xfrm>
            <a:off x="2758745" y="5754319"/>
            <a:ext cx="51115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~$0.02</a:t>
            </a:r>
            <a:endParaRPr lang="en-US" sz="900" dirty="0"/>
          </a:p>
        </p:txBody>
      </p:sp>
      <p:sp>
        <p:nvSpPr>
          <p:cNvPr id="84" name="Shape 71"/>
          <p:cNvSpPr/>
          <p:nvPr/>
        </p:nvSpPr>
        <p:spPr>
          <a:xfrm>
            <a:off x="7208215" y="5634533"/>
            <a:ext cx="4610405" cy="390449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2"/>
          <p:cNvSpPr txBox="1"/>
          <p:nvPr/>
        </p:nvSpPr>
        <p:spPr>
          <a:xfrm>
            <a:off x="7360920" y="5754319"/>
            <a:ext cx="94000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~$0.10 - $0.50</a:t>
            </a:r>
            <a:endParaRPr lang="en-US" sz="900" dirty="0"/>
          </a:p>
        </p:txBody>
      </p:sp>
      <p:pic>
        <p:nvPicPr>
          <p:cNvPr id="86" name="Image 11" descr="preencoded.png"/>
          <p:cNvPicPr>
            <a:picLocks noChangeAspect="1"/>
          </p:cNvPicPr>
          <p:nvPr/>
        </p:nvPicPr>
        <p:blipFill>
          <a:blip r:embed="rId14"/>
          <a:srcRect l="-27037" r="-27037"/>
          <a:stretch/>
        </p:blipFill>
        <p:spPr>
          <a:xfrm>
            <a:off x="466344" y="6220663"/>
            <a:ext cx="190195" cy="123444"/>
          </a:xfrm>
          <a:prstGeom prst="rect">
            <a:avLst/>
          </a:prstGeom>
        </p:spPr>
      </p:pic>
      <p:sp>
        <p:nvSpPr>
          <p:cNvPr id="87" name="Text 73"/>
          <p:cNvSpPr txBox="1"/>
          <p:nvPr/>
        </p:nvSpPr>
        <p:spPr>
          <a:xfrm>
            <a:off x="657454" y="6215177"/>
            <a:ext cx="100584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Time</a:t>
            </a:r>
            <a:endParaRPr lang="en-US" sz="900" dirty="0"/>
          </a:p>
        </p:txBody>
      </p:sp>
      <p:sp>
        <p:nvSpPr>
          <p:cNvPr id="88" name="Text 74"/>
          <p:cNvSpPr txBox="1"/>
          <p:nvPr/>
        </p:nvSpPr>
        <p:spPr>
          <a:xfrm>
            <a:off x="2758745" y="6215177"/>
            <a:ext cx="91074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5 - 10 minutes</a:t>
            </a:r>
            <a:endParaRPr lang="en-US" sz="900" dirty="0"/>
          </a:p>
        </p:txBody>
      </p:sp>
      <p:sp>
        <p:nvSpPr>
          <p:cNvPr id="89" name="Shape 75"/>
          <p:cNvSpPr/>
          <p:nvPr/>
        </p:nvSpPr>
        <p:spPr>
          <a:xfrm>
            <a:off x="7208215" y="6095390"/>
            <a:ext cx="4610405" cy="390449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76"/>
          <p:cNvSpPr txBox="1"/>
          <p:nvPr/>
        </p:nvSpPr>
        <p:spPr>
          <a:xfrm>
            <a:off x="7360920" y="6215177"/>
            <a:ext cx="98755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15 - 30 minutes</a:t>
            </a:r>
            <a:endParaRPr lang="en-US" sz="900" dirty="0"/>
          </a:p>
        </p:txBody>
      </p:sp>
      <p:sp>
        <p:nvSpPr>
          <p:cNvPr id="91" name="Shape 7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78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3" name="Image 12" descr="preencoded.png"/>
          <p:cNvPicPr>
            <a:picLocks noChangeAspect="1"/>
          </p:cNvPicPr>
          <p:nvPr/>
        </p:nvPicPr>
        <p:blipFill>
          <a:blip r:embed="rId15"/>
          <a:srcRect l="-1911" r="-1911"/>
          <a:stretch/>
        </p:blipFill>
        <p:spPr>
          <a:xfrm>
            <a:off x="457200" y="6572707"/>
            <a:ext cx="133502" cy="114300"/>
          </a:xfrm>
          <a:prstGeom prst="rect">
            <a:avLst/>
          </a:prstGeom>
        </p:spPr>
      </p:pic>
      <p:sp>
        <p:nvSpPr>
          <p:cNvPr id="94" name="Text 79"/>
          <p:cNvSpPr txBox="1"/>
          <p:nvPr/>
        </p:nvSpPr>
        <p:spPr>
          <a:xfrm>
            <a:off x="629107" y="6558077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Wins: 9/11 Categories</a:t>
            </a:r>
            <a:endParaRPr lang="en-US" sz="900" dirty="0"/>
          </a:p>
        </p:txBody>
      </p:sp>
      <p:pic>
        <p:nvPicPr>
          <p:cNvPr id="95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682850" y="6572707"/>
            <a:ext cx="114300" cy="114300"/>
          </a:xfrm>
          <a:prstGeom prst="rect">
            <a:avLst/>
          </a:prstGeom>
        </p:spPr>
      </p:pic>
      <p:sp>
        <p:nvSpPr>
          <p:cNvPr id="96" name="Text 80"/>
          <p:cNvSpPr txBox="1"/>
          <p:nvPr/>
        </p:nvSpPr>
        <p:spPr>
          <a:xfrm>
            <a:off x="2834640" y="6558077"/>
            <a:ext cx="1791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Trade-off: Quality vs Cost/Time</a:t>
            </a:r>
            <a:endParaRPr lang="en-US" sz="900" dirty="0"/>
          </a:p>
        </p:txBody>
      </p:sp>
      <p:sp>
        <p:nvSpPr>
          <p:cNvPr id="97" name="Text 81"/>
          <p:cNvSpPr txBox="1"/>
          <p:nvPr/>
        </p:nvSpPr>
        <p:spPr>
          <a:xfrm>
            <a:off x="11293754" y="6558077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42</a:t>
            </a:r>
            <a:endParaRPr lang="en-US" sz="900" dirty="0"/>
          </a:p>
        </p:txBody>
      </p:sp>
      <p:sp>
        <p:nvSpPr>
          <p:cNvPr id="98" name="Shape 8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0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02" name="Text 85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03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04" name="Text 86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05" name="Shape 7">
            <a:extLst>
              <a:ext uri="{FF2B5EF4-FFF2-40B4-BE49-F238E27FC236}">
                <a16:creationId xmlns:a16="http://schemas.microsoft.com/office/drawing/2014/main" id="{894D91F1-1276-C3A7-43E8-1421EA7FBC33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6" name="Image 0" descr="preencoded.png">
            <a:extLst>
              <a:ext uri="{FF2B5EF4-FFF2-40B4-BE49-F238E27FC236}">
                <a16:creationId xmlns:a16="http://schemas.microsoft.com/office/drawing/2014/main" id="{248575B1-2186-F514-093A-A26BC191D59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107" name="Text 8">
            <a:extLst>
              <a:ext uri="{FF2B5EF4-FFF2-40B4-BE49-F238E27FC236}">
                <a16:creationId xmlns:a16="http://schemas.microsoft.com/office/drawing/2014/main" id="{7D16D130-6453-181D-4A8B-9BE44D26FE99}"/>
              </a:ext>
            </a:extLst>
          </p:cNvPr>
          <p:cNvSpPr txBox="1"/>
          <p:nvPr/>
        </p:nvSpPr>
        <p:spPr>
          <a:xfrm>
            <a:off x="990295" y="237744"/>
            <a:ext cx="3591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Comparison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152705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Comparison: Pipeline vs Multi-Agent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90295" y="476402"/>
            <a:ext cx="29718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analysis.quantitative_results.all_datasets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8600" y="1067105"/>
            <a:ext cx="3810305" cy="2476195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28600" y="3696005"/>
            <a:ext cx="3810305" cy="2476195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37744" y="1076249"/>
            <a:ext cx="3791102" cy="65745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37744" y="1724558"/>
            <a:ext cx="3791102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37744" y="3705149"/>
            <a:ext cx="3791102" cy="65745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37744" y="4353458"/>
            <a:ext cx="3791102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90449" y="1248156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457200" y="1333195"/>
            <a:ext cx="171907" cy="1335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1754" y="1200607"/>
            <a:ext cx="929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Lung Cancer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71754" y="1399946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(Accuracy)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918765" y="1266444"/>
            <a:ext cx="961949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2995574" y="1304849"/>
            <a:ext cx="924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+3.8% avg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190695" y="1067105"/>
            <a:ext cx="3810305" cy="2476195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4200754" y="1076249"/>
            <a:ext cx="3791102" cy="65745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200754" y="1724558"/>
            <a:ext cx="3791102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4733849" y="1200607"/>
            <a:ext cx="8531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Iris Flowers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771754" y="3829507"/>
            <a:ext cx="9390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Wine Quality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14554" y="2269541"/>
            <a:ext cx="363839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314554" y="2623414"/>
            <a:ext cx="36383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314554" y="2945282"/>
            <a:ext cx="36383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8238744" y="2945282"/>
            <a:ext cx="36383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314554" y="4898441"/>
            <a:ext cx="363839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14554" y="5252314"/>
            <a:ext cx="36383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314554" y="5574182"/>
            <a:ext cx="36383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390449" y="2072945"/>
            <a:ext cx="40416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1606601" y="2072945"/>
            <a:ext cx="49926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2417674" y="2072945"/>
            <a:ext cx="39502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390449" y="4701845"/>
            <a:ext cx="40416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800" dirty="0"/>
          </a:p>
        </p:txBody>
      </p:sp>
      <p:sp>
        <p:nvSpPr>
          <p:cNvPr id="39" name="Text 35"/>
          <p:cNvSpPr txBox="1"/>
          <p:nvPr/>
        </p:nvSpPr>
        <p:spPr>
          <a:xfrm>
            <a:off x="1606601" y="4701845"/>
            <a:ext cx="49926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800" dirty="0"/>
          </a:p>
        </p:txBody>
      </p:sp>
      <p:sp>
        <p:nvSpPr>
          <p:cNvPr id="40" name="Text 36"/>
          <p:cNvSpPr txBox="1"/>
          <p:nvPr/>
        </p:nvSpPr>
        <p:spPr>
          <a:xfrm>
            <a:off x="2417674" y="4701845"/>
            <a:ext cx="39502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800" dirty="0"/>
          </a:p>
        </p:txBody>
      </p:sp>
      <p:sp>
        <p:nvSpPr>
          <p:cNvPr id="41" name="Text 37"/>
          <p:cNvSpPr txBox="1"/>
          <p:nvPr/>
        </p:nvSpPr>
        <p:spPr>
          <a:xfrm>
            <a:off x="3471062" y="2072945"/>
            <a:ext cx="2514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</a:t>
            </a:r>
            <a:endParaRPr lang="en-US" sz="800" dirty="0"/>
          </a:p>
        </p:txBody>
      </p:sp>
      <p:sp>
        <p:nvSpPr>
          <p:cNvPr id="42" name="Text 38"/>
          <p:cNvSpPr txBox="1"/>
          <p:nvPr/>
        </p:nvSpPr>
        <p:spPr>
          <a:xfrm>
            <a:off x="3471062" y="4701845"/>
            <a:ext cx="2514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</a:t>
            </a:r>
            <a:endParaRPr lang="en-US" sz="800" dirty="0"/>
          </a:p>
        </p:txBody>
      </p:sp>
      <p:sp>
        <p:nvSpPr>
          <p:cNvPr id="43" name="Text 39"/>
          <p:cNvSpPr txBox="1"/>
          <p:nvPr/>
        </p:nvSpPr>
        <p:spPr>
          <a:xfrm>
            <a:off x="390449" y="2389327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LogReg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390449" y="2710282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RandomForest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0449" y="3032150"/>
            <a:ext cx="562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8315554" y="2710282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RandomForest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315554" y="3032150"/>
            <a:ext cx="562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390449" y="5018227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LogReg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390449" y="5339182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RandomForest</a:t>
            </a:r>
            <a:endParaRPr lang="en-US" sz="900" dirty="0"/>
          </a:p>
        </p:txBody>
      </p:sp>
      <p:sp>
        <p:nvSpPr>
          <p:cNvPr id="50" name="Text 46"/>
          <p:cNvSpPr txBox="1"/>
          <p:nvPr/>
        </p:nvSpPr>
        <p:spPr>
          <a:xfrm>
            <a:off x="390449" y="5661050"/>
            <a:ext cx="562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900" dirty="0"/>
          </a:p>
        </p:txBody>
      </p:sp>
      <p:sp>
        <p:nvSpPr>
          <p:cNvPr id="51" name="Text 47"/>
          <p:cNvSpPr txBox="1"/>
          <p:nvPr/>
        </p:nvSpPr>
        <p:spPr>
          <a:xfrm>
            <a:off x="1606601" y="2389327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88.5%</a:t>
            </a:r>
            <a:endParaRPr lang="en-US" sz="900" dirty="0"/>
          </a:p>
        </p:txBody>
      </p:sp>
      <p:sp>
        <p:nvSpPr>
          <p:cNvPr id="52" name="Text 48"/>
          <p:cNvSpPr txBox="1"/>
          <p:nvPr/>
        </p:nvSpPr>
        <p:spPr>
          <a:xfrm>
            <a:off x="1606601" y="2710282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90.2%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1606601" y="3032150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93.4%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9531706" y="2710282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83.2%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9531706" y="3032150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81.6%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1606601" y="5018227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58.5%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1606601" y="5339182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67.2%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1606601" y="5661050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64.6%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2417674" y="2389327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95.1%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2417674" y="2710282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96.7%</a:t>
            </a:r>
            <a:endParaRPr lang="en-US" sz="900" dirty="0"/>
          </a:p>
        </p:txBody>
      </p:sp>
      <p:sp>
        <p:nvSpPr>
          <p:cNvPr id="61" name="Text 57"/>
          <p:cNvSpPr txBox="1"/>
          <p:nvPr/>
        </p:nvSpPr>
        <p:spPr>
          <a:xfrm>
            <a:off x="2417674" y="3032150"/>
            <a:ext cx="4389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97.2%</a:t>
            </a:r>
            <a:endParaRPr lang="en-US" sz="900" dirty="0"/>
          </a:p>
        </p:txBody>
      </p:sp>
      <p:sp>
        <p:nvSpPr>
          <p:cNvPr id="62" name="Text 58"/>
          <p:cNvSpPr txBox="1"/>
          <p:nvPr/>
        </p:nvSpPr>
        <p:spPr>
          <a:xfrm>
            <a:off x="10341864" y="2389327"/>
            <a:ext cx="4389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81.6%</a:t>
            </a:r>
            <a:endParaRPr lang="en-US" sz="900" dirty="0"/>
          </a:p>
        </p:txBody>
      </p:sp>
      <p:sp>
        <p:nvSpPr>
          <p:cNvPr id="63" name="Text 59"/>
          <p:cNvSpPr txBox="1"/>
          <p:nvPr/>
        </p:nvSpPr>
        <p:spPr>
          <a:xfrm>
            <a:off x="10341864" y="2710282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86.0%</a:t>
            </a:r>
            <a:endParaRPr lang="en-US" sz="900" dirty="0"/>
          </a:p>
        </p:txBody>
      </p:sp>
      <p:sp>
        <p:nvSpPr>
          <p:cNvPr id="64" name="Text 60"/>
          <p:cNvSpPr txBox="1"/>
          <p:nvPr/>
        </p:nvSpPr>
        <p:spPr>
          <a:xfrm>
            <a:off x="10341864" y="3032150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84.9%</a:t>
            </a:r>
            <a:endParaRPr lang="en-US" sz="900" dirty="0"/>
          </a:p>
        </p:txBody>
      </p:sp>
      <p:sp>
        <p:nvSpPr>
          <p:cNvPr id="65" name="Text 61"/>
          <p:cNvSpPr txBox="1"/>
          <p:nvPr/>
        </p:nvSpPr>
        <p:spPr>
          <a:xfrm>
            <a:off x="2417674" y="5018227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61.1%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2417674" y="5339182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71.6%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3227832" y="2370125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3227832" y="2691994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3227832" y="3012948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11152937" y="2370125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11152937" y="2691994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11152937" y="3012948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9"/>
          <p:cNvSpPr txBox="1"/>
          <p:nvPr/>
        </p:nvSpPr>
        <p:spPr>
          <a:xfrm>
            <a:off x="3380537" y="2394814"/>
            <a:ext cx="42336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+6.6%</a:t>
            </a:r>
            <a:endParaRPr lang="en-US" sz="800" dirty="0"/>
          </a:p>
        </p:txBody>
      </p:sp>
      <p:sp>
        <p:nvSpPr>
          <p:cNvPr id="74" name="Text 70"/>
          <p:cNvSpPr txBox="1"/>
          <p:nvPr/>
        </p:nvSpPr>
        <p:spPr>
          <a:xfrm>
            <a:off x="3381451" y="2716682"/>
            <a:ext cx="42336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+6.5%</a:t>
            </a:r>
            <a:endParaRPr lang="en-US" sz="800" dirty="0"/>
          </a:p>
        </p:txBody>
      </p:sp>
      <p:sp>
        <p:nvSpPr>
          <p:cNvPr id="75" name="Text 71"/>
          <p:cNvSpPr txBox="1"/>
          <p:nvPr/>
        </p:nvSpPr>
        <p:spPr>
          <a:xfrm>
            <a:off x="3380537" y="3037637"/>
            <a:ext cx="42336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+3.8%</a:t>
            </a:r>
            <a:endParaRPr lang="en-US" sz="800" dirty="0"/>
          </a:p>
        </p:txBody>
      </p:sp>
      <p:sp>
        <p:nvSpPr>
          <p:cNvPr id="76" name="Text 72"/>
          <p:cNvSpPr txBox="1"/>
          <p:nvPr/>
        </p:nvSpPr>
        <p:spPr>
          <a:xfrm>
            <a:off x="11306556" y="2394814"/>
            <a:ext cx="42336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+2.3%</a:t>
            </a:r>
            <a:endParaRPr lang="en-US" sz="800" dirty="0"/>
          </a:p>
        </p:txBody>
      </p:sp>
      <p:sp>
        <p:nvSpPr>
          <p:cNvPr id="77" name="Text 73"/>
          <p:cNvSpPr txBox="1"/>
          <p:nvPr/>
        </p:nvSpPr>
        <p:spPr>
          <a:xfrm>
            <a:off x="11306556" y="2716682"/>
            <a:ext cx="42336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+2.8%</a:t>
            </a:r>
            <a:endParaRPr lang="en-US" sz="800" dirty="0"/>
          </a:p>
        </p:txBody>
      </p:sp>
      <p:sp>
        <p:nvSpPr>
          <p:cNvPr id="78" name="Text 74"/>
          <p:cNvSpPr txBox="1"/>
          <p:nvPr/>
        </p:nvSpPr>
        <p:spPr>
          <a:xfrm>
            <a:off x="11305642" y="3037637"/>
            <a:ext cx="42336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+3.3%</a:t>
            </a:r>
            <a:endParaRPr lang="en-US" sz="800" dirty="0"/>
          </a:p>
        </p:txBody>
      </p:sp>
      <p:sp>
        <p:nvSpPr>
          <p:cNvPr id="79" name="Shape 75"/>
          <p:cNvSpPr/>
          <p:nvPr/>
        </p:nvSpPr>
        <p:spPr>
          <a:xfrm>
            <a:off x="4352544" y="1248156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38498" y="1333195"/>
            <a:ext cx="133502" cy="133502"/>
          </a:xfrm>
          <a:prstGeom prst="rect">
            <a:avLst/>
          </a:prstGeom>
        </p:spPr>
      </p:pic>
      <p:sp>
        <p:nvSpPr>
          <p:cNvPr id="81" name="Text 76"/>
          <p:cNvSpPr txBox="1"/>
          <p:nvPr/>
        </p:nvSpPr>
        <p:spPr>
          <a:xfrm>
            <a:off x="4733849" y="1399946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(Accuracy)</a:t>
            </a:r>
            <a:endParaRPr lang="en-US" sz="1200" dirty="0"/>
          </a:p>
        </p:txBody>
      </p:sp>
      <p:sp>
        <p:nvSpPr>
          <p:cNvPr id="82" name="Shape 77"/>
          <p:cNvSpPr/>
          <p:nvPr/>
        </p:nvSpPr>
        <p:spPr>
          <a:xfrm>
            <a:off x="7139635" y="1266444"/>
            <a:ext cx="705002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8"/>
          <p:cNvSpPr txBox="1"/>
          <p:nvPr/>
        </p:nvSpPr>
        <p:spPr>
          <a:xfrm>
            <a:off x="7215530" y="1304849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</a:t>
            </a:r>
            <a:endParaRPr lang="en-US" sz="1200" dirty="0"/>
          </a:p>
        </p:txBody>
      </p:sp>
      <p:sp>
        <p:nvSpPr>
          <p:cNvPr id="84" name="Shape 79"/>
          <p:cNvSpPr/>
          <p:nvPr/>
        </p:nvSpPr>
        <p:spPr>
          <a:xfrm>
            <a:off x="8153705" y="1067105"/>
            <a:ext cx="3810305" cy="2476195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Shape 80"/>
          <p:cNvSpPr/>
          <p:nvPr/>
        </p:nvSpPr>
        <p:spPr>
          <a:xfrm>
            <a:off x="8162849" y="1076249"/>
            <a:ext cx="3791102" cy="65745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1"/>
          <p:cNvSpPr/>
          <p:nvPr/>
        </p:nvSpPr>
        <p:spPr>
          <a:xfrm>
            <a:off x="8162849" y="1724558"/>
            <a:ext cx="3791102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2"/>
          <p:cNvSpPr txBox="1"/>
          <p:nvPr/>
        </p:nvSpPr>
        <p:spPr>
          <a:xfrm>
            <a:off x="8695944" y="1200607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Titanic</a:t>
            </a:r>
            <a:endParaRPr lang="en-US" sz="1000" dirty="0"/>
          </a:p>
        </p:txBody>
      </p:sp>
      <p:sp>
        <p:nvSpPr>
          <p:cNvPr id="88" name="Shape 83"/>
          <p:cNvSpPr/>
          <p:nvPr/>
        </p:nvSpPr>
        <p:spPr>
          <a:xfrm>
            <a:off x="4276649" y="2288743"/>
            <a:ext cx="363839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4"/>
          <p:cNvSpPr/>
          <p:nvPr/>
        </p:nvSpPr>
        <p:spPr>
          <a:xfrm>
            <a:off x="4276649" y="2623414"/>
            <a:ext cx="36383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5"/>
          <p:cNvSpPr/>
          <p:nvPr/>
        </p:nvSpPr>
        <p:spPr>
          <a:xfrm>
            <a:off x="4276649" y="2926080"/>
            <a:ext cx="36383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6"/>
          <p:cNvSpPr/>
          <p:nvPr/>
        </p:nvSpPr>
        <p:spPr>
          <a:xfrm>
            <a:off x="8238744" y="2269541"/>
            <a:ext cx="363839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87"/>
          <p:cNvSpPr/>
          <p:nvPr/>
        </p:nvSpPr>
        <p:spPr>
          <a:xfrm>
            <a:off x="8238744" y="2623414"/>
            <a:ext cx="36383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88"/>
          <p:cNvSpPr txBox="1"/>
          <p:nvPr/>
        </p:nvSpPr>
        <p:spPr>
          <a:xfrm>
            <a:off x="4352544" y="2092147"/>
            <a:ext cx="40416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800" dirty="0"/>
          </a:p>
        </p:txBody>
      </p:sp>
      <p:sp>
        <p:nvSpPr>
          <p:cNvPr id="94" name="Text 89"/>
          <p:cNvSpPr txBox="1"/>
          <p:nvPr/>
        </p:nvSpPr>
        <p:spPr>
          <a:xfrm>
            <a:off x="5568696" y="2092147"/>
            <a:ext cx="49926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800" dirty="0"/>
          </a:p>
        </p:txBody>
      </p:sp>
      <p:sp>
        <p:nvSpPr>
          <p:cNvPr id="95" name="Text 90"/>
          <p:cNvSpPr txBox="1"/>
          <p:nvPr/>
        </p:nvSpPr>
        <p:spPr>
          <a:xfrm>
            <a:off x="6379769" y="2092147"/>
            <a:ext cx="39502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800" dirty="0"/>
          </a:p>
        </p:txBody>
      </p:sp>
      <p:sp>
        <p:nvSpPr>
          <p:cNvPr id="96" name="Text 91"/>
          <p:cNvSpPr txBox="1"/>
          <p:nvPr/>
        </p:nvSpPr>
        <p:spPr>
          <a:xfrm>
            <a:off x="8315554" y="2072945"/>
            <a:ext cx="40416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800" dirty="0"/>
          </a:p>
        </p:txBody>
      </p:sp>
      <p:sp>
        <p:nvSpPr>
          <p:cNvPr id="97" name="Text 92"/>
          <p:cNvSpPr txBox="1"/>
          <p:nvPr/>
        </p:nvSpPr>
        <p:spPr>
          <a:xfrm>
            <a:off x="9531706" y="2072945"/>
            <a:ext cx="49926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800" dirty="0"/>
          </a:p>
        </p:txBody>
      </p:sp>
      <p:sp>
        <p:nvSpPr>
          <p:cNvPr id="98" name="Text 93"/>
          <p:cNvSpPr txBox="1"/>
          <p:nvPr/>
        </p:nvSpPr>
        <p:spPr>
          <a:xfrm>
            <a:off x="10341864" y="2072945"/>
            <a:ext cx="39502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800" dirty="0"/>
          </a:p>
        </p:txBody>
      </p:sp>
      <p:sp>
        <p:nvSpPr>
          <p:cNvPr id="99" name="Text 94"/>
          <p:cNvSpPr txBox="1"/>
          <p:nvPr/>
        </p:nvSpPr>
        <p:spPr>
          <a:xfrm>
            <a:off x="7433158" y="2092147"/>
            <a:ext cx="2514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</a:t>
            </a:r>
            <a:endParaRPr lang="en-US" sz="800" dirty="0"/>
          </a:p>
        </p:txBody>
      </p:sp>
      <p:sp>
        <p:nvSpPr>
          <p:cNvPr id="100" name="Text 95"/>
          <p:cNvSpPr txBox="1"/>
          <p:nvPr/>
        </p:nvSpPr>
        <p:spPr>
          <a:xfrm>
            <a:off x="11395253" y="2072945"/>
            <a:ext cx="2514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</a:t>
            </a:r>
            <a:endParaRPr lang="en-US" sz="800" dirty="0"/>
          </a:p>
        </p:txBody>
      </p:sp>
      <p:sp>
        <p:nvSpPr>
          <p:cNvPr id="101" name="Text 96"/>
          <p:cNvSpPr txBox="1"/>
          <p:nvPr/>
        </p:nvSpPr>
        <p:spPr>
          <a:xfrm>
            <a:off x="4352544" y="2398471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LogReg</a:t>
            </a:r>
            <a:endParaRPr lang="en-US" sz="900" dirty="0"/>
          </a:p>
        </p:txBody>
      </p:sp>
      <p:sp>
        <p:nvSpPr>
          <p:cNvPr id="102" name="Text 97"/>
          <p:cNvSpPr txBox="1"/>
          <p:nvPr/>
        </p:nvSpPr>
        <p:spPr>
          <a:xfrm>
            <a:off x="4352544" y="2701138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RandomForest</a:t>
            </a:r>
            <a:endParaRPr lang="en-US" sz="900" dirty="0"/>
          </a:p>
        </p:txBody>
      </p:sp>
      <p:sp>
        <p:nvSpPr>
          <p:cNvPr id="103" name="Text 98"/>
          <p:cNvSpPr txBox="1"/>
          <p:nvPr/>
        </p:nvSpPr>
        <p:spPr>
          <a:xfrm>
            <a:off x="4352544" y="3012948"/>
            <a:ext cx="562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900" dirty="0"/>
          </a:p>
        </p:txBody>
      </p:sp>
      <p:sp>
        <p:nvSpPr>
          <p:cNvPr id="105" name="Text 100"/>
          <p:cNvSpPr txBox="1"/>
          <p:nvPr/>
        </p:nvSpPr>
        <p:spPr>
          <a:xfrm>
            <a:off x="5568696" y="2398471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900" dirty="0"/>
          </a:p>
        </p:txBody>
      </p:sp>
      <p:sp>
        <p:nvSpPr>
          <p:cNvPr id="106" name="Text 101"/>
          <p:cNvSpPr txBox="1"/>
          <p:nvPr/>
        </p:nvSpPr>
        <p:spPr>
          <a:xfrm>
            <a:off x="5568696" y="2701138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900" dirty="0"/>
          </a:p>
        </p:txBody>
      </p:sp>
      <p:sp>
        <p:nvSpPr>
          <p:cNvPr id="107" name="Text 102"/>
          <p:cNvSpPr txBox="1"/>
          <p:nvPr/>
        </p:nvSpPr>
        <p:spPr>
          <a:xfrm>
            <a:off x="5568696" y="3012948"/>
            <a:ext cx="4389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96.7%</a:t>
            </a:r>
            <a:endParaRPr lang="en-US" sz="900" dirty="0"/>
          </a:p>
        </p:txBody>
      </p:sp>
      <p:sp>
        <p:nvSpPr>
          <p:cNvPr id="109" name="Text 104"/>
          <p:cNvSpPr txBox="1"/>
          <p:nvPr/>
        </p:nvSpPr>
        <p:spPr>
          <a:xfrm>
            <a:off x="6379769" y="2398471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900" dirty="0"/>
          </a:p>
        </p:txBody>
      </p:sp>
      <p:sp>
        <p:nvSpPr>
          <p:cNvPr id="110" name="Text 105"/>
          <p:cNvSpPr txBox="1"/>
          <p:nvPr/>
        </p:nvSpPr>
        <p:spPr>
          <a:xfrm>
            <a:off x="6379769" y="2701138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900" dirty="0"/>
          </a:p>
        </p:txBody>
      </p:sp>
      <p:sp>
        <p:nvSpPr>
          <p:cNvPr id="111" name="Text 106"/>
          <p:cNvSpPr txBox="1"/>
          <p:nvPr/>
        </p:nvSpPr>
        <p:spPr>
          <a:xfrm>
            <a:off x="6379769" y="3012948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900" dirty="0"/>
          </a:p>
        </p:txBody>
      </p:sp>
      <p:sp>
        <p:nvSpPr>
          <p:cNvPr id="112" name="Shape 107"/>
          <p:cNvSpPr/>
          <p:nvPr/>
        </p:nvSpPr>
        <p:spPr>
          <a:xfrm>
            <a:off x="7190842" y="2994660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08"/>
          <p:cNvSpPr txBox="1"/>
          <p:nvPr/>
        </p:nvSpPr>
        <p:spPr>
          <a:xfrm>
            <a:off x="7343546" y="3019349"/>
            <a:ext cx="42336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+3.3%</a:t>
            </a:r>
            <a:endParaRPr lang="en-US" sz="800" dirty="0"/>
          </a:p>
        </p:txBody>
      </p:sp>
      <p:sp>
        <p:nvSpPr>
          <p:cNvPr id="114" name="Text 109"/>
          <p:cNvSpPr txBox="1"/>
          <p:nvPr/>
        </p:nvSpPr>
        <p:spPr>
          <a:xfrm>
            <a:off x="7488022" y="2398471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900" dirty="0"/>
          </a:p>
        </p:txBody>
      </p:sp>
      <p:sp>
        <p:nvSpPr>
          <p:cNvPr id="115" name="Text 110"/>
          <p:cNvSpPr txBox="1"/>
          <p:nvPr/>
        </p:nvSpPr>
        <p:spPr>
          <a:xfrm>
            <a:off x="7488022" y="2701138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900" dirty="0"/>
          </a:p>
        </p:txBody>
      </p:sp>
      <p:sp>
        <p:nvSpPr>
          <p:cNvPr id="116" name="Shape 111"/>
          <p:cNvSpPr/>
          <p:nvPr/>
        </p:nvSpPr>
        <p:spPr>
          <a:xfrm>
            <a:off x="8315554" y="1248156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7" name="Image 3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8391449" y="1333195"/>
            <a:ext cx="152705" cy="133502"/>
          </a:xfrm>
          <a:prstGeom prst="rect">
            <a:avLst/>
          </a:prstGeom>
        </p:spPr>
      </p:pic>
      <p:sp>
        <p:nvSpPr>
          <p:cNvPr id="118" name="Text 112"/>
          <p:cNvSpPr txBox="1"/>
          <p:nvPr/>
        </p:nvSpPr>
        <p:spPr>
          <a:xfrm>
            <a:off x="8695944" y="1399946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(Accuracy)</a:t>
            </a:r>
            <a:endParaRPr lang="en-US" sz="1200" dirty="0"/>
          </a:p>
        </p:txBody>
      </p:sp>
      <p:sp>
        <p:nvSpPr>
          <p:cNvPr id="119" name="Shape 113"/>
          <p:cNvSpPr/>
          <p:nvPr/>
        </p:nvSpPr>
        <p:spPr>
          <a:xfrm>
            <a:off x="10845698" y="1266444"/>
            <a:ext cx="961949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4"/>
          <p:cNvSpPr txBox="1"/>
          <p:nvPr/>
        </p:nvSpPr>
        <p:spPr>
          <a:xfrm>
            <a:off x="10921594" y="1304849"/>
            <a:ext cx="924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+2.8% avg</a:t>
            </a:r>
            <a:endParaRPr lang="en-US" sz="1200" dirty="0"/>
          </a:p>
        </p:txBody>
      </p:sp>
      <p:sp>
        <p:nvSpPr>
          <p:cNvPr id="121" name="Shape 115"/>
          <p:cNvSpPr/>
          <p:nvPr/>
        </p:nvSpPr>
        <p:spPr>
          <a:xfrm>
            <a:off x="390449" y="3877056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2" name="Image 4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500177" y="3962095"/>
            <a:ext cx="85954" cy="133502"/>
          </a:xfrm>
          <a:prstGeom prst="rect">
            <a:avLst/>
          </a:prstGeom>
        </p:spPr>
      </p:pic>
      <p:sp>
        <p:nvSpPr>
          <p:cNvPr id="123" name="Text 116"/>
          <p:cNvSpPr txBox="1"/>
          <p:nvPr/>
        </p:nvSpPr>
        <p:spPr>
          <a:xfrm>
            <a:off x="771754" y="4028846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(Accuracy)</a:t>
            </a:r>
            <a:endParaRPr lang="en-US" sz="1200" dirty="0"/>
          </a:p>
        </p:txBody>
      </p:sp>
      <p:sp>
        <p:nvSpPr>
          <p:cNvPr id="124" name="Shape 117"/>
          <p:cNvSpPr/>
          <p:nvPr/>
        </p:nvSpPr>
        <p:spPr>
          <a:xfrm>
            <a:off x="2958084" y="3895344"/>
            <a:ext cx="923544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18"/>
          <p:cNvSpPr txBox="1"/>
          <p:nvPr/>
        </p:nvSpPr>
        <p:spPr>
          <a:xfrm>
            <a:off x="3034894" y="3933749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+4.1% avg</a:t>
            </a:r>
            <a:endParaRPr lang="en-US" sz="1200" dirty="0"/>
          </a:p>
        </p:txBody>
      </p:sp>
      <p:sp>
        <p:nvSpPr>
          <p:cNvPr id="126" name="Shape 119"/>
          <p:cNvSpPr/>
          <p:nvPr/>
        </p:nvSpPr>
        <p:spPr>
          <a:xfrm>
            <a:off x="4190695" y="3696005"/>
            <a:ext cx="3810305" cy="2476195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7" name="Shape 120"/>
          <p:cNvSpPr/>
          <p:nvPr/>
        </p:nvSpPr>
        <p:spPr>
          <a:xfrm>
            <a:off x="4200754" y="3705149"/>
            <a:ext cx="3791102" cy="65745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1"/>
          <p:cNvSpPr/>
          <p:nvPr/>
        </p:nvSpPr>
        <p:spPr>
          <a:xfrm>
            <a:off x="4200754" y="4353458"/>
            <a:ext cx="3791102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122"/>
          <p:cNvSpPr txBox="1"/>
          <p:nvPr/>
        </p:nvSpPr>
        <p:spPr>
          <a:xfrm>
            <a:off x="4733849" y="3829507"/>
            <a:ext cx="976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 Data</a:t>
            </a:r>
            <a:endParaRPr lang="en-US" sz="1000" dirty="0"/>
          </a:p>
        </p:txBody>
      </p:sp>
      <p:sp>
        <p:nvSpPr>
          <p:cNvPr id="130" name="Shape 123"/>
          <p:cNvSpPr/>
          <p:nvPr/>
        </p:nvSpPr>
        <p:spPr>
          <a:xfrm>
            <a:off x="4276649" y="4898441"/>
            <a:ext cx="363839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4"/>
          <p:cNvSpPr/>
          <p:nvPr/>
        </p:nvSpPr>
        <p:spPr>
          <a:xfrm>
            <a:off x="4276649" y="5252314"/>
            <a:ext cx="36383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25"/>
          <p:cNvSpPr/>
          <p:nvPr/>
        </p:nvSpPr>
        <p:spPr>
          <a:xfrm>
            <a:off x="4276649" y="5574182"/>
            <a:ext cx="36383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26"/>
          <p:cNvSpPr txBox="1"/>
          <p:nvPr/>
        </p:nvSpPr>
        <p:spPr>
          <a:xfrm>
            <a:off x="4352544" y="4701845"/>
            <a:ext cx="40416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800" dirty="0"/>
          </a:p>
        </p:txBody>
      </p:sp>
      <p:sp>
        <p:nvSpPr>
          <p:cNvPr id="134" name="Text 127"/>
          <p:cNvSpPr txBox="1"/>
          <p:nvPr/>
        </p:nvSpPr>
        <p:spPr>
          <a:xfrm>
            <a:off x="5568696" y="4701845"/>
            <a:ext cx="49926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800" dirty="0"/>
          </a:p>
        </p:txBody>
      </p:sp>
      <p:sp>
        <p:nvSpPr>
          <p:cNvPr id="135" name="Text 128"/>
          <p:cNvSpPr txBox="1"/>
          <p:nvPr/>
        </p:nvSpPr>
        <p:spPr>
          <a:xfrm>
            <a:off x="6379769" y="4701845"/>
            <a:ext cx="39502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800" dirty="0"/>
          </a:p>
        </p:txBody>
      </p:sp>
      <p:sp>
        <p:nvSpPr>
          <p:cNvPr id="136" name="Text 129"/>
          <p:cNvSpPr txBox="1"/>
          <p:nvPr/>
        </p:nvSpPr>
        <p:spPr>
          <a:xfrm>
            <a:off x="7433158" y="4701845"/>
            <a:ext cx="2514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</a:t>
            </a:r>
            <a:endParaRPr lang="en-US" sz="800" dirty="0"/>
          </a:p>
        </p:txBody>
      </p:sp>
      <p:sp>
        <p:nvSpPr>
          <p:cNvPr id="137" name="Text 130"/>
          <p:cNvSpPr txBox="1"/>
          <p:nvPr/>
        </p:nvSpPr>
        <p:spPr>
          <a:xfrm>
            <a:off x="4352544" y="5339182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RandomForest</a:t>
            </a:r>
            <a:endParaRPr lang="en-US" sz="900" dirty="0"/>
          </a:p>
        </p:txBody>
      </p:sp>
      <p:sp>
        <p:nvSpPr>
          <p:cNvPr id="138" name="Text 131"/>
          <p:cNvSpPr txBox="1"/>
          <p:nvPr/>
        </p:nvSpPr>
        <p:spPr>
          <a:xfrm>
            <a:off x="4352544" y="5661050"/>
            <a:ext cx="562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900" dirty="0"/>
          </a:p>
        </p:txBody>
      </p:sp>
      <p:sp>
        <p:nvSpPr>
          <p:cNvPr id="139" name="Text 132"/>
          <p:cNvSpPr txBox="1"/>
          <p:nvPr/>
        </p:nvSpPr>
        <p:spPr>
          <a:xfrm>
            <a:off x="5568696" y="5339182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0.87</a:t>
            </a:r>
            <a:endParaRPr lang="en-US" sz="900" dirty="0"/>
          </a:p>
        </p:txBody>
      </p:sp>
      <p:sp>
        <p:nvSpPr>
          <p:cNvPr id="140" name="Text 133"/>
          <p:cNvSpPr txBox="1"/>
          <p:nvPr/>
        </p:nvSpPr>
        <p:spPr>
          <a:xfrm>
            <a:off x="5568696" y="5661050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0.89</a:t>
            </a:r>
            <a:endParaRPr lang="en-US" sz="900" dirty="0"/>
          </a:p>
        </p:txBody>
      </p:sp>
      <p:sp>
        <p:nvSpPr>
          <p:cNvPr id="141" name="Text 134"/>
          <p:cNvSpPr txBox="1"/>
          <p:nvPr/>
        </p:nvSpPr>
        <p:spPr>
          <a:xfrm>
            <a:off x="2417674" y="5661050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69.0%</a:t>
            </a:r>
            <a:endParaRPr lang="en-US" sz="900" dirty="0"/>
          </a:p>
        </p:txBody>
      </p:sp>
      <p:sp>
        <p:nvSpPr>
          <p:cNvPr id="142" name="Shape 135"/>
          <p:cNvSpPr/>
          <p:nvPr/>
        </p:nvSpPr>
        <p:spPr>
          <a:xfrm>
            <a:off x="3227832" y="4999025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36"/>
          <p:cNvSpPr/>
          <p:nvPr/>
        </p:nvSpPr>
        <p:spPr>
          <a:xfrm>
            <a:off x="3227832" y="5320894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37"/>
          <p:cNvSpPr/>
          <p:nvPr/>
        </p:nvSpPr>
        <p:spPr>
          <a:xfrm>
            <a:off x="3227832" y="5641848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Text 138"/>
          <p:cNvSpPr txBox="1"/>
          <p:nvPr/>
        </p:nvSpPr>
        <p:spPr>
          <a:xfrm>
            <a:off x="3381451" y="5023714"/>
            <a:ext cx="42336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+2.6%</a:t>
            </a:r>
            <a:endParaRPr lang="en-US" sz="800" dirty="0"/>
          </a:p>
        </p:txBody>
      </p:sp>
      <p:sp>
        <p:nvSpPr>
          <p:cNvPr id="146" name="Text 139"/>
          <p:cNvSpPr txBox="1"/>
          <p:nvPr/>
        </p:nvSpPr>
        <p:spPr>
          <a:xfrm>
            <a:off x="3376879" y="5345582"/>
            <a:ext cx="43251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+4.4%</a:t>
            </a:r>
            <a:endParaRPr lang="en-US" sz="800" dirty="0"/>
          </a:p>
        </p:txBody>
      </p:sp>
      <p:sp>
        <p:nvSpPr>
          <p:cNvPr id="147" name="Text 140"/>
          <p:cNvSpPr txBox="1"/>
          <p:nvPr/>
        </p:nvSpPr>
        <p:spPr>
          <a:xfrm>
            <a:off x="3376879" y="5666537"/>
            <a:ext cx="43251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+4.4%</a:t>
            </a:r>
            <a:endParaRPr lang="en-US" sz="800" dirty="0"/>
          </a:p>
        </p:txBody>
      </p:sp>
      <p:pic>
        <p:nvPicPr>
          <p:cNvPr id="148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4429354" y="3962095"/>
            <a:ext cx="152705" cy="133502"/>
          </a:xfrm>
          <a:prstGeom prst="rect">
            <a:avLst/>
          </a:prstGeom>
        </p:spPr>
      </p:pic>
      <p:sp>
        <p:nvSpPr>
          <p:cNvPr id="149" name="Text 141"/>
          <p:cNvSpPr txBox="1"/>
          <p:nvPr/>
        </p:nvSpPr>
        <p:spPr>
          <a:xfrm>
            <a:off x="4733849" y="4028846"/>
            <a:ext cx="1705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(R² Score)</a:t>
            </a:r>
            <a:endParaRPr lang="en-US" sz="1200" dirty="0"/>
          </a:p>
        </p:txBody>
      </p:sp>
      <p:sp>
        <p:nvSpPr>
          <p:cNvPr id="150" name="Shape 142"/>
          <p:cNvSpPr/>
          <p:nvPr/>
        </p:nvSpPr>
        <p:spPr>
          <a:xfrm>
            <a:off x="6929323" y="3895344"/>
            <a:ext cx="914400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Text 143"/>
          <p:cNvSpPr txBox="1"/>
          <p:nvPr/>
        </p:nvSpPr>
        <p:spPr>
          <a:xfrm>
            <a:off x="7006133" y="3933749"/>
            <a:ext cx="876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+0.08 avg</a:t>
            </a:r>
            <a:endParaRPr lang="en-US" sz="1200" dirty="0"/>
          </a:p>
        </p:txBody>
      </p:sp>
      <p:sp>
        <p:nvSpPr>
          <p:cNvPr id="152" name="Text 144"/>
          <p:cNvSpPr txBox="1"/>
          <p:nvPr/>
        </p:nvSpPr>
        <p:spPr>
          <a:xfrm>
            <a:off x="4352544" y="5018227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LinearReg</a:t>
            </a:r>
            <a:endParaRPr lang="en-US" sz="900" dirty="0"/>
          </a:p>
        </p:txBody>
      </p:sp>
      <p:sp>
        <p:nvSpPr>
          <p:cNvPr id="153" name="Text 145"/>
          <p:cNvSpPr txBox="1"/>
          <p:nvPr/>
        </p:nvSpPr>
        <p:spPr>
          <a:xfrm>
            <a:off x="5568696" y="5018227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0.68</a:t>
            </a:r>
            <a:endParaRPr lang="en-US" sz="900" dirty="0"/>
          </a:p>
        </p:txBody>
      </p:sp>
      <p:sp>
        <p:nvSpPr>
          <p:cNvPr id="154" name="Text 146"/>
          <p:cNvSpPr txBox="1"/>
          <p:nvPr/>
        </p:nvSpPr>
        <p:spPr>
          <a:xfrm>
            <a:off x="6379769" y="5018227"/>
            <a:ext cx="342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0.78</a:t>
            </a:r>
            <a:endParaRPr lang="en-US" sz="900" dirty="0"/>
          </a:p>
        </p:txBody>
      </p:sp>
      <p:sp>
        <p:nvSpPr>
          <p:cNvPr id="155" name="Text 147"/>
          <p:cNvSpPr txBox="1"/>
          <p:nvPr/>
        </p:nvSpPr>
        <p:spPr>
          <a:xfrm>
            <a:off x="6379769" y="5339182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0.91</a:t>
            </a:r>
            <a:endParaRPr lang="en-US" sz="900" dirty="0"/>
          </a:p>
        </p:txBody>
      </p:sp>
      <p:sp>
        <p:nvSpPr>
          <p:cNvPr id="156" name="Text 148"/>
          <p:cNvSpPr txBox="1"/>
          <p:nvPr/>
        </p:nvSpPr>
        <p:spPr>
          <a:xfrm>
            <a:off x="6379769" y="5661050"/>
            <a:ext cx="352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0.93</a:t>
            </a:r>
            <a:endParaRPr lang="en-US" sz="900" dirty="0"/>
          </a:p>
        </p:txBody>
      </p:sp>
      <p:sp>
        <p:nvSpPr>
          <p:cNvPr id="157" name="Shape 149"/>
          <p:cNvSpPr/>
          <p:nvPr/>
        </p:nvSpPr>
        <p:spPr>
          <a:xfrm>
            <a:off x="7190842" y="4999025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50"/>
          <p:cNvSpPr/>
          <p:nvPr/>
        </p:nvSpPr>
        <p:spPr>
          <a:xfrm>
            <a:off x="7190842" y="5320894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1"/>
          <p:cNvSpPr/>
          <p:nvPr/>
        </p:nvSpPr>
        <p:spPr>
          <a:xfrm>
            <a:off x="7190842" y="5641848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Text 152"/>
          <p:cNvSpPr txBox="1"/>
          <p:nvPr/>
        </p:nvSpPr>
        <p:spPr>
          <a:xfrm>
            <a:off x="7375550" y="5023714"/>
            <a:ext cx="3657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+0.10</a:t>
            </a:r>
            <a:endParaRPr lang="en-US" sz="800" dirty="0"/>
          </a:p>
        </p:txBody>
      </p:sp>
      <p:sp>
        <p:nvSpPr>
          <p:cNvPr id="161" name="Text 153"/>
          <p:cNvSpPr txBox="1"/>
          <p:nvPr/>
        </p:nvSpPr>
        <p:spPr>
          <a:xfrm>
            <a:off x="7359091" y="5345582"/>
            <a:ext cx="39502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+0.04</a:t>
            </a:r>
            <a:endParaRPr lang="en-US" sz="800" dirty="0"/>
          </a:p>
        </p:txBody>
      </p:sp>
      <p:sp>
        <p:nvSpPr>
          <p:cNvPr id="162" name="Text 154"/>
          <p:cNvSpPr txBox="1"/>
          <p:nvPr/>
        </p:nvSpPr>
        <p:spPr>
          <a:xfrm>
            <a:off x="7359091" y="5666537"/>
            <a:ext cx="39502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+0.04</a:t>
            </a:r>
            <a:endParaRPr lang="en-US" sz="800" dirty="0"/>
          </a:p>
        </p:txBody>
      </p:sp>
      <p:sp>
        <p:nvSpPr>
          <p:cNvPr id="167" name="Shape 158"/>
          <p:cNvSpPr/>
          <p:nvPr/>
        </p:nvSpPr>
        <p:spPr>
          <a:xfrm>
            <a:off x="9197950" y="6010351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Text 159"/>
          <p:cNvSpPr txBox="1"/>
          <p:nvPr/>
        </p:nvSpPr>
        <p:spPr>
          <a:xfrm>
            <a:off x="9312250" y="593445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69" name="Shape 160"/>
          <p:cNvSpPr/>
          <p:nvPr/>
        </p:nvSpPr>
        <p:spPr>
          <a:xfrm>
            <a:off x="9957816" y="6010351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Text 161"/>
          <p:cNvSpPr txBox="1"/>
          <p:nvPr/>
        </p:nvSpPr>
        <p:spPr>
          <a:xfrm>
            <a:off x="10072116" y="5934456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171" name="Shape 16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6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3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7200" y="6577279"/>
            <a:ext cx="114300" cy="114300"/>
          </a:xfrm>
          <a:prstGeom prst="rect">
            <a:avLst/>
          </a:prstGeom>
        </p:spPr>
      </p:pic>
      <p:sp>
        <p:nvSpPr>
          <p:cNvPr id="174" name="Text 164"/>
          <p:cNvSpPr txBox="1"/>
          <p:nvPr/>
        </p:nvSpPr>
        <p:spPr>
          <a:xfrm>
            <a:off x="647395" y="6558077"/>
            <a:ext cx="5515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System consistently outperforms Pipeline approach across all datasets and model types</a:t>
            </a:r>
            <a:endParaRPr lang="en-US" sz="900" dirty="0"/>
          </a:p>
        </p:txBody>
      </p:sp>
      <p:sp>
        <p:nvSpPr>
          <p:cNvPr id="175" name="Text 165"/>
          <p:cNvSpPr txBox="1"/>
          <p:nvPr/>
        </p:nvSpPr>
        <p:spPr>
          <a:xfrm>
            <a:off x="11292840" y="6558077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43</a:t>
            </a:r>
            <a:endParaRPr lang="en-US" sz="900" dirty="0"/>
          </a:p>
        </p:txBody>
      </p:sp>
      <p:sp>
        <p:nvSpPr>
          <p:cNvPr id="176" name="Shape 166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7">
            <a:extLst>
              <a:ext uri="{FF2B5EF4-FFF2-40B4-BE49-F238E27FC236}">
                <a16:creationId xmlns:a16="http://schemas.microsoft.com/office/drawing/2014/main" id="{11D0A30A-B105-4ECD-3969-1F1E0C24DD3C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8" name="Image 0" descr="preencoded.png">
            <a:extLst>
              <a:ext uri="{FF2B5EF4-FFF2-40B4-BE49-F238E27FC236}">
                <a16:creationId xmlns:a16="http://schemas.microsoft.com/office/drawing/2014/main" id="{49019218-5314-F205-0A78-24B337ED4CE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179" name="Text 8">
            <a:extLst>
              <a:ext uri="{FF2B5EF4-FFF2-40B4-BE49-F238E27FC236}">
                <a16:creationId xmlns:a16="http://schemas.microsoft.com/office/drawing/2014/main" id="{B16F1859-D4A6-AC58-B3D5-6D5156282102}"/>
              </a:ext>
            </a:extLst>
          </p:cNvPr>
          <p:cNvSpPr txBox="1"/>
          <p:nvPr/>
        </p:nvSpPr>
        <p:spPr>
          <a:xfrm>
            <a:off x="990295" y="237744"/>
            <a:ext cx="6306617" cy="237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Comparison (Not consistent as LLM based techniques)</a:t>
            </a:r>
            <a:endParaRPr lang="en-US" sz="1800" dirty="0"/>
          </a:p>
        </p:txBody>
      </p:sp>
      <p:pic>
        <p:nvPicPr>
          <p:cNvPr id="181" name="Picture 180">
            <a:extLst>
              <a:ext uri="{FF2B5EF4-FFF2-40B4-BE49-F238E27FC236}">
                <a16:creationId xmlns:a16="http://schemas.microsoft.com/office/drawing/2014/main" id="{80B96FE5-151A-2E95-A832-9F4842DC0B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0211" y="2278685"/>
            <a:ext cx="3410426" cy="10574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3915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839151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523" y="286207"/>
            <a:ext cx="237744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237744"/>
            <a:ext cx="45537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System: Detailed Results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838505"/>
            <a:ext cx="12191695" cy="6543446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4495" y="1143000"/>
            <a:ext cx="1781251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04495" y="1143000"/>
            <a:ext cx="38405" cy="135239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1257300"/>
            <a:ext cx="267005" cy="342900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514807" y="1368857"/>
            <a:ext cx="152705" cy="1335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28700" y="1257300"/>
            <a:ext cx="942746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1085393" y="1295705"/>
            <a:ext cx="943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+8.2% Avg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1638605"/>
            <a:ext cx="972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Boost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1809598"/>
            <a:ext cx="11146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feature engineering &amp; selection.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234794" y="1143000"/>
            <a:ext cx="1781251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234794" y="1143000"/>
            <a:ext cx="38405" cy="13523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2387498" y="1257300"/>
            <a:ext cx="219456" cy="342900"/>
          </a:xfrm>
          <a:prstGeom prst="roundRect">
            <a:avLst>
              <a:gd name="adj" fmla="val 14492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2445106" y="1368857"/>
            <a:ext cx="105156" cy="13350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248863" y="1257300"/>
            <a:ext cx="657454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3306470" y="1295705"/>
            <a:ext cx="657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2387498" y="1638605"/>
            <a:ext cx="12957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Completeness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2387498" y="1809598"/>
            <a:ext cx="15343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18-35 academic citations per report.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166006" y="1143000"/>
            <a:ext cx="1781251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166006" y="1143000"/>
            <a:ext cx="38405" cy="135239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317797" y="1257300"/>
            <a:ext cx="228600" cy="342900"/>
          </a:xfrm>
          <a:prstGeom prst="roundRect">
            <a:avLst>
              <a:gd name="adj" fmla="val 133333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4375404" y="1368857"/>
            <a:ext cx="114300" cy="13350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016398" y="1257300"/>
            <a:ext cx="819302" cy="267005"/>
          </a:xfrm>
          <a:prstGeom prst="roundRect">
            <a:avLst>
              <a:gd name="adj" fmla="val 342465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074006" y="1295705"/>
            <a:ext cx="819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317797" y="1638605"/>
            <a:ext cx="1153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Hypothesis Quality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4317797" y="1809598"/>
            <a:ext cx="11914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scientific formulation.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096305" y="1143000"/>
            <a:ext cx="1781251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6096305" y="1143000"/>
            <a:ext cx="38405" cy="135239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6248095" y="1257300"/>
            <a:ext cx="286207" cy="342900"/>
          </a:xfrm>
          <a:prstGeom prst="roundRect">
            <a:avLst>
              <a:gd name="adj" fmla="val 8519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6305702" y="1368857"/>
            <a:ext cx="171907" cy="133502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121347" y="1257300"/>
            <a:ext cx="638251" cy="267005"/>
          </a:xfrm>
          <a:prstGeom prst="roundRect">
            <a:avLst>
              <a:gd name="adj" fmla="val 342465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 txBox="1"/>
          <p:nvPr/>
        </p:nvSpPr>
        <p:spPr>
          <a:xfrm>
            <a:off x="7178954" y="1295705"/>
            <a:ext cx="638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6248095" y="1638605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Quality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6248095" y="1809598"/>
            <a:ext cx="15435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 prevention via expert review.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304495" y="2723998"/>
            <a:ext cx="7572146" cy="4352544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95605" y="2943454"/>
            <a:ext cx="133502" cy="133502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705002" y="2915107"/>
            <a:ext cx="2986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Performance Metrics (5 Datasets)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95605" y="3219602"/>
            <a:ext cx="7191756" cy="3666744"/>
          </a:xfrm>
          <a:prstGeom prst="roundRect">
            <a:avLst>
              <a:gd name="adj" fmla="val 51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1933956" y="3538728"/>
            <a:ext cx="9144" cy="6190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 txBox="1"/>
          <p:nvPr/>
        </p:nvSpPr>
        <p:spPr>
          <a:xfrm>
            <a:off x="580644" y="3619195"/>
            <a:ext cx="1219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Lung Cancer</a:t>
            </a:r>
            <a:endParaRPr lang="en-US" sz="9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580644" y="3829507"/>
            <a:ext cx="85954" cy="1143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705002" y="3810305"/>
            <a:ext cx="10003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Boost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3367735" y="3538728"/>
            <a:ext cx="9144" cy="6190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2"/>
          <p:cNvSpPr txBox="1"/>
          <p:nvPr/>
        </p:nvSpPr>
        <p:spPr>
          <a:xfrm>
            <a:off x="2019910" y="3619195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2019910" y="3771900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Score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2019910" y="3924605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4801514" y="3538728"/>
            <a:ext cx="9144" cy="6190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6"/>
          <p:cNvSpPr txBox="1"/>
          <p:nvPr/>
        </p:nvSpPr>
        <p:spPr>
          <a:xfrm>
            <a:off x="3920947" y="3619195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95.1%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3969410" y="3771900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0.82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3972154" y="3924605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0.97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6235294" y="3538728"/>
            <a:ext cx="9144" cy="6190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0"/>
          <p:cNvSpPr txBox="1"/>
          <p:nvPr/>
        </p:nvSpPr>
        <p:spPr>
          <a:xfrm>
            <a:off x="5341925" y="3619195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96.7%</a:t>
            </a:r>
            <a:endParaRPr lang="en-US" sz="900" dirty="0"/>
          </a:p>
        </p:txBody>
      </p:sp>
      <p:sp>
        <p:nvSpPr>
          <p:cNvPr id="60" name="Text 51"/>
          <p:cNvSpPr txBox="1"/>
          <p:nvPr/>
        </p:nvSpPr>
        <p:spPr>
          <a:xfrm>
            <a:off x="5404104" y="3771900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0.85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5401361" y="3924605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0.98</a:t>
            </a:r>
            <a:endParaRPr lang="en-US" sz="900" dirty="0"/>
          </a:p>
        </p:txBody>
      </p:sp>
      <p:sp>
        <p:nvSpPr>
          <p:cNvPr id="62" name="Shape 53"/>
          <p:cNvSpPr/>
          <p:nvPr/>
        </p:nvSpPr>
        <p:spPr>
          <a:xfrm>
            <a:off x="6239866" y="3538728"/>
            <a:ext cx="1438351" cy="619049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4"/>
          <p:cNvSpPr txBox="1"/>
          <p:nvPr/>
        </p:nvSpPr>
        <p:spPr>
          <a:xfrm>
            <a:off x="6783934" y="3619195"/>
            <a:ext cx="4389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97.2%</a:t>
            </a:r>
            <a:endParaRPr lang="en-US" sz="900" dirty="0"/>
          </a:p>
        </p:txBody>
      </p:sp>
      <p:sp>
        <p:nvSpPr>
          <p:cNvPr id="64" name="Text 55"/>
          <p:cNvSpPr txBox="1"/>
          <p:nvPr/>
        </p:nvSpPr>
        <p:spPr>
          <a:xfrm>
            <a:off x="6849770" y="3771900"/>
            <a:ext cx="3054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0.91</a:t>
            </a:r>
            <a:endParaRPr lang="en-US" sz="900" dirty="0"/>
          </a:p>
        </p:txBody>
      </p:sp>
      <p:sp>
        <p:nvSpPr>
          <p:cNvPr id="65" name="Text 56"/>
          <p:cNvSpPr txBox="1"/>
          <p:nvPr/>
        </p:nvSpPr>
        <p:spPr>
          <a:xfrm>
            <a:off x="6837883" y="3924605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66" name="Shape 57"/>
          <p:cNvSpPr/>
          <p:nvPr/>
        </p:nvSpPr>
        <p:spPr>
          <a:xfrm>
            <a:off x="504749" y="4157777"/>
            <a:ext cx="717255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58"/>
          <p:cNvSpPr/>
          <p:nvPr/>
        </p:nvSpPr>
        <p:spPr>
          <a:xfrm>
            <a:off x="1933956" y="4157777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59"/>
          <p:cNvSpPr txBox="1"/>
          <p:nvPr/>
        </p:nvSpPr>
        <p:spPr>
          <a:xfrm>
            <a:off x="580644" y="4238244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Iris Flowers</a:t>
            </a:r>
            <a:endParaRPr lang="en-US" sz="900" dirty="0"/>
          </a:p>
        </p:txBody>
      </p:sp>
      <p:sp>
        <p:nvSpPr>
          <p:cNvPr id="69" name="Text 60"/>
          <p:cNvSpPr txBox="1"/>
          <p:nvPr/>
        </p:nvSpPr>
        <p:spPr>
          <a:xfrm>
            <a:off x="580644" y="4429354"/>
            <a:ext cx="8293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 Score</a:t>
            </a:r>
            <a:endParaRPr lang="en-US" sz="900" dirty="0"/>
          </a:p>
        </p:txBody>
      </p:sp>
      <p:sp>
        <p:nvSpPr>
          <p:cNvPr id="70" name="Shape 61"/>
          <p:cNvSpPr/>
          <p:nvPr/>
        </p:nvSpPr>
        <p:spPr>
          <a:xfrm>
            <a:off x="3367735" y="4157777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2"/>
          <p:cNvSpPr txBox="1"/>
          <p:nvPr/>
        </p:nvSpPr>
        <p:spPr>
          <a:xfrm>
            <a:off x="2019910" y="4238244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900" dirty="0"/>
          </a:p>
        </p:txBody>
      </p:sp>
      <p:sp>
        <p:nvSpPr>
          <p:cNvPr id="72" name="Text 63"/>
          <p:cNvSpPr txBox="1"/>
          <p:nvPr/>
        </p:nvSpPr>
        <p:spPr>
          <a:xfrm>
            <a:off x="2019910" y="4390949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Score</a:t>
            </a:r>
            <a:endParaRPr lang="en-US" sz="900" dirty="0"/>
          </a:p>
        </p:txBody>
      </p:sp>
      <p:sp>
        <p:nvSpPr>
          <p:cNvPr id="73" name="Shape 64"/>
          <p:cNvSpPr/>
          <p:nvPr/>
        </p:nvSpPr>
        <p:spPr>
          <a:xfrm>
            <a:off x="3372307" y="4157777"/>
            <a:ext cx="1438351" cy="504749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65"/>
          <p:cNvSpPr/>
          <p:nvPr/>
        </p:nvSpPr>
        <p:spPr>
          <a:xfrm>
            <a:off x="4801514" y="4157777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6"/>
          <p:cNvSpPr txBox="1"/>
          <p:nvPr/>
        </p:nvSpPr>
        <p:spPr>
          <a:xfrm>
            <a:off x="3929177" y="4238244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900" dirty="0"/>
          </a:p>
        </p:txBody>
      </p:sp>
      <p:sp>
        <p:nvSpPr>
          <p:cNvPr id="76" name="Text 67"/>
          <p:cNvSpPr txBox="1"/>
          <p:nvPr/>
        </p:nvSpPr>
        <p:spPr>
          <a:xfrm>
            <a:off x="4015130" y="4390949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</a:t>
            </a:r>
            <a:endParaRPr lang="en-US" sz="900" dirty="0"/>
          </a:p>
        </p:txBody>
      </p:sp>
      <p:sp>
        <p:nvSpPr>
          <p:cNvPr id="77" name="Shape 68"/>
          <p:cNvSpPr/>
          <p:nvPr/>
        </p:nvSpPr>
        <p:spPr>
          <a:xfrm>
            <a:off x="4806086" y="4157777"/>
            <a:ext cx="1438351" cy="504749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69"/>
          <p:cNvSpPr/>
          <p:nvPr/>
        </p:nvSpPr>
        <p:spPr>
          <a:xfrm>
            <a:off x="6235294" y="4157777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0"/>
          <p:cNvSpPr txBox="1"/>
          <p:nvPr/>
        </p:nvSpPr>
        <p:spPr>
          <a:xfrm>
            <a:off x="5362956" y="4238244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900" dirty="0"/>
          </a:p>
        </p:txBody>
      </p:sp>
      <p:sp>
        <p:nvSpPr>
          <p:cNvPr id="80" name="Text 71"/>
          <p:cNvSpPr txBox="1"/>
          <p:nvPr/>
        </p:nvSpPr>
        <p:spPr>
          <a:xfrm>
            <a:off x="5448910" y="4390949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</a:t>
            </a:r>
            <a:endParaRPr lang="en-US" sz="900" dirty="0"/>
          </a:p>
        </p:txBody>
      </p:sp>
      <p:sp>
        <p:nvSpPr>
          <p:cNvPr id="81" name="Shape 72"/>
          <p:cNvSpPr/>
          <p:nvPr/>
        </p:nvSpPr>
        <p:spPr>
          <a:xfrm>
            <a:off x="6239866" y="4157777"/>
            <a:ext cx="1438351" cy="504749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3"/>
          <p:cNvSpPr txBox="1"/>
          <p:nvPr/>
        </p:nvSpPr>
        <p:spPr>
          <a:xfrm>
            <a:off x="6799478" y="4238244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900" dirty="0"/>
          </a:p>
        </p:txBody>
      </p:sp>
      <p:sp>
        <p:nvSpPr>
          <p:cNvPr id="83" name="Text 74"/>
          <p:cNvSpPr txBox="1"/>
          <p:nvPr/>
        </p:nvSpPr>
        <p:spPr>
          <a:xfrm>
            <a:off x="6885432" y="4390949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</a:t>
            </a:r>
            <a:endParaRPr lang="en-US" sz="900" dirty="0"/>
          </a:p>
        </p:txBody>
      </p:sp>
      <p:sp>
        <p:nvSpPr>
          <p:cNvPr id="84" name="Shape 75"/>
          <p:cNvSpPr/>
          <p:nvPr/>
        </p:nvSpPr>
        <p:spPr>
          <a:xfrm>
            <a:off x="504749" y="4662526"/>
            <a:ext cx="717255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6"/>
          <p:cNvSpPr/>
          <p:nvPr/>
        </p:nvSpPr>
        <p:spPr>
          <a:xfrm>
            <a:off x="1933956" y="4662526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7"/>
          <p:cNvSpPr txBox="1"/>
          <p:nvPr/>
        </p:nvSpPr>
        <p:spPr>
          <a:xfrm>
            <a:off x="580644" y="4743907"/>
            <a:ext cx="476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Titanic</a:t>
            </a:r>
            <a:endParaRPr lang="en-US" sz="900" dirty="0"/>
          </a:p>
        </p:txBody>
      </p:sp>
      <p:sp>
        <p:nvSpPr>
          <p:cNvPr id="87" name="Text 78"/>
          <p:cNvSpPr txBox="1"/>
          <p:nvPr/>
        </p:nvSpPr>
        <p:spPr>
          <a:xfrm>
            <a:off x="580644" y="4934102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Imputation</a:t>
            </a:r>
            <a:endParaRPr lang="en-US" sz="900" dirty="0"/>
          </a:p>
        </p:txBody>
      </p:sp>
      <p:sp>
        <p:nvSpPr>
          <p:cNvPr id="88" name="Shape 79"/>
          <p:cNvSpPr/>
          <p:nvPr/>
        </p:nvSpPr>
        <p:spPr>
          <a:xfrm>
            <a:off x="3367735" y="4662526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0"/>
          <p:cNvSpPr txBox="1"/>
          <p:nvPr/>
        </p:nvSpPr>
        <p:spPr>
          <a:xfrm>
            <a:off x="2019910" y="4743907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900" dirty="0"/>
          </a:p>
        </p:txBody>
      </p:sp>
      <p:sp>
        <p:nvSpPr>
          <p:cNvPr id="90" name="Text 81"/>
          <p:cNvSpPr txBox="1"/>
          <p:nvPr/>
        </p:nvSpPr>
        <p:spPr>
          <a:xfrm>
            <a:off x="2019910" y="4895698"/>
            <a:ext cx="743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91" name="Shape 82"/>
          <p:cNvSpPr/>
          <p:nvPr/>
        </p:nvSpPr>
        <p:spPr>
          <a:xfrm>
            <a:off x="4801514" y="4662526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3"/>
          <p:cNvSpPr txBox="1"/>
          <p:nvPr/>
        </p:nvSpPr>
        <p:spPr>
          <a:xfrm>
            <a:off x="3914546" y="4743907"/>
            <a:ext cx="4389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81.6%</a:t>
            </a:r>
            <a:endParaRPr lang="en-US" sz="900" dirty="0"/>
          </a:p>
        </p:txBody>
      </p:sp>
      <p:sp>
        <p:nvSpPr>
          <p:cNvPr id="93" name="Text 84"/>
          <p:cNvSpPr txBox="1"/>
          <p:nvPr/>
        </p:nvSpPr>
        <p:spPr>
          <a:xfrm>
            <a:off x="3698748" y="4895698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+2.3% vs Pipe</a:t>
            </a:r>
            <a:endParaRPr lang="en-US" sz="900" dirty="0"/>
          </a:p>
        </p:txBody>
      </p:sp>
      <p:sp>
        <p:nvSpPr>
          <p:cNvPr id="94" name="Shape 85"/>
          <p:cNvSpPr/>
          <p:nvPr/>
        </p:nvSpPr>
        <p:spPr>
          <a:xfrm>
            <a:off x="4806086" y="4662526"/>
            <a:ext cx="1438351" cy="504749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86"/>
          <p:cNvSpPr/>
          <p:nvPr/>
        </p:nvSpPr>
        <p:spPr>
          <a:xfrm>
            <a:off x="6235294" y="4662526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87"/>
          <p:cNvSpPr txBox="1"/>
          <p:nvPr/>
        </p:nvSpPr>
        <p:spPr>
          <a:xfrm>
            <a:off x="5336438" y="4743907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86.0%</a:t>
            </a:r>
            <a:endParaRPr lang="en-US" sz="900" dirty="0"/>
          </a:p>
        </p:txBody>
      </p:sp>
      <p:sp>
        <p:nvSpPr>
          <p:cNvPr id="97" name="Text 88"/>
          <p:cNvSpPr txBox="1"/>
          <p:nvPr/>
        </p:nvSpPr>
        <p:spPr>
          <a:xfrm>
            <a:off x="5132527" y="4895698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+2.8% vs Pipe</a:t>
            </a:r>
            <a:endParaRPr lang="en-US" sz="900" dirty="0"/>
          </a:p>
        </p:txBody>
      </p:sp>
      <p:sp>
        <p:nvSpPr>
          <p:cNvPr id="98" name="Text 89"/>
          <p:cNvSpPr txBox="1"/>
          <p:nvPr/>
        </p:nvSpPr>
        <p:spPr>
          <a:xfrm>
            <a:off x="6772046" y="4743907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84.9%</a:t>
            </a:r>
            <a:endParaRPr lang="en-US" sz="900" dirty="0"/>
          </a:p>
        </p:txBody>
      </p:sp>
      <p:sp>
        <p:nvSpPr>
          <p:cNvPr id="99" name="Text 90"/>
          <p:cNvSpPr txBox="1"/>
          <p:nvPr/>
        </p:nvSpPr>
        <p:spPr>
          <a:xfrm>
            <a:off x="6569050" y="4895698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+3.3% vs Pipe</a:t>
            </a:r>
            <a:endParaRPr lang="en-US" sz="900" dirty="0"/>
          </a:p>
        </p:txBody>
      </p:sp>
      <p:sp>
        <p:nvSpPr>
          <p:cNvPr id="100" name="Shape 91"/>
          <p:cNvSpPr/>
          <p:nvPr/>
        </p:nvSpPr>
        <p:spPr>
          <a:xfrm>
            <a:off x="504749" y="5167274"/>
            <a:ext cx="717255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2"/>
          <p:cNvSpPr/>
          <p:nvPr/>
        </p:nvSpPr>
        <p:spPr>
          <a:xfrm>
            <a:off x="1933956" y="5167274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3"/>
          <p:cNvSpPr txBox="1"/>
          <p:nvPr/>
        </p:nvSpPr>
        <p:spPr>
          <a:xfrm>
            <a:off x="580644" y="5248656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WineQT</a:t>
            </a:r>
            <a:endParaRPr lang="en-US" sz="900" dirty="0"/>
          </a:p>
        </p:txBody>
      </p:sp>
      <p:sp>
        <p:nvSpPr>
          <p:cNvPr id="103" name="Text 94"/>
          <p:cNvSpPr txBox="1"/>
          <p:nvPr/>
        </p:nvSpPr>
        <p:spPr>
          <a:xfrm>
            <a:off x="580644" y="5438851"/>
            <a:ext cx="1276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Feature Eng.</a:t>
            </a:r>
            <a:endParaRPr lang="en-US" sz="900" dirty="0"/>
          </a:p>
        </p:txBody>
      </p:sp>
      <p:sp>
        <p:nvSpPr>
          <p:cNvPr id="104" name="Shape 95"/>
          <p:cNvSpPr/>
          <p:nvPr/>
        </p:nvSpPr>
        <p:spPr>
          <a:xfrm>
            <a:off x="3367735" y="5167274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96"/>
          <p:cNvSpPr txBox="1"/>
          <p:nvPr/>
        </p:nvSpPr>
        <p:spPr>
          <a:xfrm>
            <a:off x="2019910" y="5248656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900" dirty="0"/>
          </a:p>
        </p:txBody>
      </p:sp>
      <p:sp>
        <p:nvSpPr>
          <p:cNvPr id="106" name="Text 97"/>
          <p:cNvSpPr txBox="1"/>
          <p:nvPr/>
        </p:nvSpPr>
        <p:spPr>
          <a:xfrm>
            <a:off x="2019910" y="5400446"/>
            <a:ext cx="743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107" name="Shape 98"/>
          <p:cNvSpPr/>
          <p:nvPr/>
        </p:nvSpPr>
        <p:spPr>
          <a:xfrm>
            <a:off x="4801514" y="5167274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99"/>
          <p:cNvSpPr txBox="1"/>
          <p:nvPr/>
        </p:nvSpPr>
        <p:spPr>
          <a:xfrm>
            <a:off x="3931006" y="5248656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61.1%</a:t>
            </a:r>
            <a:endParaRPr lang="en-US" sz="900" dirty="0"/>
          </a:p>
        </p:txBody>
      </p:sp>
      <p:sp>
        <p:nvSpPr>
          <p:cNvPr id="109" name="Text 100"/>
          <p:cNvSpPr txBox="1"/>
          <p:nvPr/>
        </p:nvSpPr>
        <p:spPr>
          <a:xfrm>
            <a:off x="3698748" y="5400446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+2.6% vs Pipe</a:t>
            </a:r>
            <a:endParaRPr lang="en-US" sz="900" dirty="0"/>
          </a:p>
        </p:txBody>
      </p:sp>
      <p:sp>
        <p:nvSpPr>
          <p:cNvPr id="110" name="Shape 101"/>
          <p:cNvSpPr/>
          <p:nvPr/>
        </p:nvSpPr>
        <p:spPr>
          <a:xfrm>
            <a:off x="4806086" y="5167274"/>
            <a:ext cx="1438351" cy="504749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2"/>
          <p:cNvSpPr/>
          <p:nvPr/>
        </p:nvSpPr>
        <p:spPr>
          <a:xfrm>
            <a:off x="6235294" y="5167274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03"/>
          <p:cNvSpPr txBox="1"/>
          <p:nvPr/>
        </p:nvSpPr>
        <p:spPr>
          <a:xfrm>
            <a:off x="5352898" y="5248656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71.6%</a:t>
            </a:r>
            <a:endParaRPr lang="en-US" sz="900" dirty="0"/>
          </a:p>
        </p:txBody>
      </p:sp>
      <p:sp>
        <p:nvSpPr>
          <p:cNvPr id="113" name="Text 104"/>
          <p:cNvSpPr txBox="1"/>
          <p:nvPr/>
        </p:nvSpPr>
        <p:spPr>
          <a:xfrm>
            <a:off x="5127955" y="5400446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+4.4% vs Pipe</a:t>
            </a:r>
            <a:endParaRPr lang="en-US" sz="900" dirty="0"/>
          </a:p>
        </p:txBody>
      </p:sp>
      <p:sp>
        <p:nvSpPr>
          <p:cNvPr id="114" name="Text 105"/>
          <p:cNvSpPr txBox="1"/>
          <p:nvPr/>
        </p:nvSpPr>
        <p:spPr>
          <a:xfrm>
            <a:off x="6772961" y="5248656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69.0%</a:t>
            </a:r>
            <a:endParaRPr lang="en-US" sz="900" dirty="0"/>
          </a:p>
        </p:txBody>
      </p:sp>
      <p:sp>
        <p:nvSpPr>
          <p:cNvPr id="115" name="Text 106"/>
          <p:cNvSpPr txBox="1"/>
          <p:nvPr/>
        </p:nvSpPr>
        <p:spPr>
          <a:xfrm>
            <a:off x="6563563" y="5400446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+4.4% vs Pipe</a:t>
            </a:r>
            <a:endParaRPr lang="en-US" sz="900" dirty="0"/>
          </a:p>
        </p:txBody>
      </p:sp>
      <p:sp>
        <p:nvSpPr>
          <p:cNvPr id="116" name="Shape 107"/>
          <p:cNvSpPr/>
          <p:nvPr/>
        </p:nvSpPr>
        <p:spPr>
          <a:xfrm>
            <a:off x="504749" y="5672023"/>
            <a:ext cx="717255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08"/>
          <p:cNvSpPr/>
          <p:nvPr/>
        </p:nvSpPr>
        <p:spPr>
          <a:xfrm>
            <a:off x="1933956" y="5672023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09"/>
          <p:cNvSpPr txBox="1"/>
          <p:nvPr/>
        </p:nvSpPr>
        <p:spPr>
          <a:xfrm>
            <a:off x="580644" y="5753405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 Data</a:t>
            </a:r>
            <a:endParaRPr lang="en-US" sz="900" dirty="0"/>
          </a:p>
        </p:txBody>
      </p:sp>
      <p:sp>
        <p:nvSpPr>
          <p:cNvPr id="119" name="Text 110"/>
          <p:cNvSpPr txBox="1"/>
          <p:nvPr/>
        </p:nvSpPr>
        <p:spPr>
          <a:xfrm>
            <a:off x="580644" y="5943600"/>
            <a:ext cx="972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Task</a:t>
            </a:r>
            <a:endParaRPr lang="en-US" sz="900" dirty="0"/>
          </a:p>
        </p:txBody>
      </p:sp>
      <p:sp>
        <p:nvSpPr>
          <p:cNvPr id="120" name="Shape 111"/>
          <p:cNvSpPr/>
          <p:nvPr/>
        </p:nvSpPr>
        <p:spPr>
          <a:xfrm>
            <a:off x="3367735" y="5672023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2"/>
          <p:cNvSpPr txBox="1"/>
          <p:nvPr/>
        </p:nvSpPr>
        <p:spPr>
          <a:xfrm>
            <a:off x="2019910" y="5753405"/>
            <a:ext cx="562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 Score</a:t>
            </a:r>
            <a:endParaRPr lang="en-US" sz="900" dirty="0"/>
          </a:p>
        </p:txBody>
      </p:sp>
      <p:sp>
        <p:nvSpPr>
          <p:cNvPr id="122" name="Text 113"/>
          <p:cNvSpPr txBox="1"/>
          <p:nvPr/>
        </p:nvSpPr>
        <p:spPr>
          <a:xfrm>
            <a:off x="2019910" y="5905195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</a:t>
            </a:r>
            <a:endParaRPr lang="en-US" sz="900" dirty="0"/>
          </a:p>
        </p:txBody>
      </p:sp>
      <p:sp>
        <p:nvSpPr>
          <p:cNvPr id="123" name="Shape 114"/>
          <p:cNvSpPr/>
          <p:nvPr/>
        </p:nvSpPr>
        <p:spPr>
          <a:xfrm>
            <a:off x="4801514" y="5672023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 txBox="1"/>
          <p:nvPr/>
        </p:nvSpPr>
        <p:spPr>
          <a:xfrm>
            <a:off x="3964838" y="5753405"/>
            <a:ext cx="342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0.78</a:t>
            </a:r>
            <a:endParaRPr lang="en-US" sz="900" dirty="0"/>
          </a:p>
        </p:txBody>
      </p:sp>
      <p:sp>
        <p:nvSpPr>
          <p:cNvPr id="125" name="Text 116"/>
          <p:cNvSpPr txBox="1"/>
          <p:nvPr/>
        </p:nvSpPr>
        <p:spPr>
          <a:xfrm>
            <a:off x="4003243" y="5905195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</a:t>
            </a:r>
            <a:endParaRPr lang="en-US" sz="900" dirty="0"/>
          </a:p>
        </p:txBody>
      </p:sp>
      <p:sp>
        <p:nvSpPr>
          <p:cNvPr id="126" name="Shape 117"/>
          <p:cNvSpPr/>
          <p:nvPr/>
        </p:nvSpPr>
        <p:spPr>
          <a:xfrm>
            <a:off x="6235294" y="5672023"/>
            <a:ext cx="9144" cy="5047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18"/>
          <p:cNvSpPr txBox="1"/>
          <p:nvPr/>
        </p:nvSpPr>
        <p:spPr>
          <a:xfrm>
            <a:off x="5405933" y="5753405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0.91</a:t>
            </a:r>
            <a:endParaRPr lang="en-US" sz="900" dirty="0"/>
          </a:p>
        </p:txBody>
      </p:sp>
      <p:sp>
        <p:nvSpPr>
          <p:cNvPr id="128" name="Text 119"/>
          <p:cNvSpPr txBox="1"/>
          <p:nvPr/>
        </p:nvSpPr>
        <p:spPr>
          <a:xfrm>
            <a:off x="5437937" y="5905195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2.8</a:t>
            </a:r>
            <a:endParaRPr lang="en-US" sz="900" dirty="0"/>
          </a:p>
        </p:txBody>
      </p:sp>
      <p:sp>
        <p:nvSpPr>
          <p:cNvPr id="129" name="Shape 120"/>
          <p:cNvSpPr/>
          <p:nvPr/>
        </p:nvSpPr>
        <p:spPr>
          <a:xfrm>
            <a:off x="6239866" y="5672023"/>
            <a:ext cx="1438351" cy="504749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21"/>
          <p:cNvSpPr txBox="1"/>
          <p:nvPr/>
        </p:nvSpPr>
        <p:spPr>
          <a:xfrm>
            <a:off x="6830568" y="5753405"/>
            <a:ext cx="352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0.93</a:t>
            </a:r>
            <a:endParaRPr lang="en-US" sz="900" dirty="0"/>
          </a:p>
        </p:txBody>
      </p:sp>
      <p:sp>
        <p:nvSpPr>
          <p:cNvPr id="131" name="Text 122"/>
          <p:cNvSpPr txBox="1"/>
          <p:nvPr/>
        </p:nvSpPr>
        <p:spPr>
          <a:xfrm>
            <a:off x="6875374" y="5905195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</a:t>
            </a:r>
            <a:endParaRPr lang="en-US" sz="900" dirty="0"/>
          </a:p>
        </p:txBody>
      </p:sp>
      <p:sp>
        <p:nvSpPr>
          <p:cNvPr id="132" name="Shape 123"/>
          <p:cNvSpPr/>
          <p:nvPr/>
        </p:nvSpPr>
        <p:spPr>
          <a:xfrm>
            <a:off x="8102498" y="1143000"/>
            <a:ext cx="3791102" cy="3057754"/>
          </a:xfrm>
          <a:prstGeom prst="roundRect">
            <a:avLst>
              <a:gd name="adj" fmla="val 1118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3" name="Shape 124"/>
          <p:cNvSpPr/>
          <p:nvPr/>
        </p:nvSpPr>
        <p:spPr>
          <a:xfrm>
            <a:off x="8292694" y="1714500"/>
            <a:ext cx="3409798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4" name="Image 7" descr="preencoded.png"/>
          <p:cNvPicPr>
            <a:picLocks noChangeAspect="1"/>
          </p:cNvPicPr>
          <p:nvPr/>
        </p:nvPicPr>
        <p:blipFill>
          <a:blip r:embed="rId10"/>
          <a:srcRect l="-837" r="-837"/>
          <a:stretch/>
        </p:blipFill>
        <p:spPr>
          <a:xfrm>
            <a:off x="8292694" y="1399946"/>
            <a:ext cx="152705" cy="133502"/>
          </a:xfrm>
          <a:prstGeom prst="rect">
            <a:avLst/>
          </a:prstGeom>
        </p:spPr>
      </p:pic>
      <p:sp>
        <p:nvSpPr>
          <p:cNvPr id="135" name="Text 125"/>
          <p:cNvSpPr txBox="1"/>
          <p:nvPr/>
        </p:nvSpPr>
        <p:spPr>
          <a:xfrm>
            <a:off x="8521294" y="1371600"/>
            <a:ext cx="1053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Quality</a:t>
            </a:r>
            <a:endParaRPr lang="en-US" sz="1000" dirty="0"/>
          </a:p>
        </p:txBody>
      </p:sp>
      <p:sp>
        <p:nvSpPr>
          <p:cNvPr id="136" name="Shape 126"/>
          <p:cNvSpPr/>
          <p:nvPr/>
        </p:nvSpPr>
        <p:spPr>
          <a:xfrm>
            <a:off x="10201961" y="1333195"/>
            <a:ext cx="1495044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127"/>
          <p:cNvSpPr txBox="1"/>
          <p:nvPr/>
        </p:nvSpPr>
        <p:spPr>
          <a:xfrm>
            <a:off x="10278770" y="1371600"/>
            <a:ext cx="1457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 Ready</a:t>
            </a:r>
            <a:endParaRPr lang="en-US" sz="1200" dirty="0"/>
          </a:p>
        </p:txBody>
      </p:sp>
      <p:sp>
        <p:nvSpPr>
          <p:cNvPr id="138" name="Text 128"/>
          <p:cNvSpPr txBox="1"/>
          <p:nvPr/>
        </p:nvSpPr>
        <p:spPr>
          <a:xfrm>
            <a:off x="8292694" y="1876349"/>
            <a:ext cx="1172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Citations per Report</a:t>
            </a:r>
            <a:endParaRPr lang="en-US" sz="900" dirty="0"/>
          </a:p>
        </p:txBody>
      </p:sp>
      <p:sp>
        <p:nvSpPr>
          <p:cNvPr id="139" name="Text 129"/>
          <p:cNvSpPr txBox="1"/>
          <p:nvPr/>
        </p:nvSpPr>
        <p:spPr>
          <a:xfrm>
            <a:off x="10899648" y="1876349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18-35 sources</a:t>
            </a:r>
            <a:endParaRPr lang="en-US" sz="900" dirty="0"/>
          </a:p>
        </p:txBody>
      </p:sp>
      <p:sp>
        <p:nvSpPr>
          <p:cNvPr id="140" name="Shape 130"/>
          <p:cNvSpPr/>
          <p:nvPr/>
        </p:nvSpPr>
        <p:spPr>
          <a:xfrm>
            <a:off x="8292694" y="2143354"/>
            <a:ext cx="3409798" cy="57607"/>
          </a:xfrm>
          <a:prstGeom prst="roundRect">
            <a:avLst>
              <a:gd name="adj" fmla="val 158730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1"/>
          <p:cNvSpPr/>
          <p:nvPr/>
        </p:nvSpPr>
        <p:spPr>
          <a:xfrm>
            <a:off x="8292694" y="2143354"/>
            <a:ext cx="3066898" cy="57607"/>
          </a:xfrm>
          <a:prstGeom prst="roundRect">
            <a:avLst>
              <a:gd name="adj" fmla="val 1587307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Text 132"/>
          <p:cNvSpPr txBox="1"/>
          <p:nvPr/>
        </p:nvSpPr>
        <p:spPr>
          <a:xfrm>
            <a:off x="8292694" y="2352751"/>
            <a:ext cx="10579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Retention</a:t>
            </a:r>
            <a:endParaRPr lang="en-US" sz="900" dirty="0"/>
          </a:p>
        </p:txBody>
      </p:sp>
      <p:sp>
        <p:nvSpPr>
          <p:cNvPr id="143" name="Text 133"/>
          <p:cNvSpPr txBox="1"/>
          <p:nvPr/>
        </p:nvSpPr>
        <p:spPr>
          <a:xfrm>
            <a:off x="10776204" y="2352751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 interactions</a:t>
            </a:r>
            <a:endParaRPr lang="en-US" sz="900" dirty="0"/>
          </a:p>
        </p:txBody>
      </p:sp>
      <p:sp>
        <p:nvSpPr>
          <p:cNvPr id="144" name="Shape 134"/>
          <p:cNvSpPr/>
          <p:nvPr/>
        </p:nvSpPr>
        <p:spPr>
          <a:xfrm>
            <a:off x="8292694" y="2619756"/>
            <a:ext cx="3409798" cy="57607"/>
          </a:xfrm>
          <a:prstGeom prst="roundRect">
            <a:avLst>
              <a:gd name="adj" fmla="val 158730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35"/>
          <p:cNvSpPr/>
          <p:nvPr/>
        </p:nvSpPr>
        <p:spPr>
          <a:xfrm>
            <a:off x="8292694" y="2619756"/>
            <a:ext cx="3409798" cy="57607"/>
          </a:xfrm>
          <a:prstGeom prst="roundRect">
            <a:avLst>
              <a:gd name="adj" fmla="val 1587307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Text 136"/>
          <p:cNvSpPr txBox="1"/>
          <p:nvPr/>
        </p:nvSpPr>
        <p:spPr>
          <a:xfrm>
            <a:off x="8292694" y="2829154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Reliability</a:t>
            </a:r>
            <a:endParaRPr lang="en-US" sz="900" dirty="0"/>
          </a:p>
        </p:txBody>
      </p:sp>
      <p:sp>
        <p:nvSpPr>
          <p:cNvPr id="147" name="Text 137"/>
          <p:cNvSpPr txBox="1"/>
          <p:nvPr/>
        </p:nvSpPr>
        <p:spPr>
          <a:xfrm>
            <a:off x="10864901" y="2829154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Pass Rate</a:t>
            </a:r>
            <a:endParaRPr lang="en-US" sz="900" dirty="0"/>
          </a:p>
        </p:txBody>
      </p:sp>
      <p:sp>
        <p:nvSpPr>
          <p:cNvPr id="148" name="Shape 138"/>
          <p:cNvSpPr/>
          <p:nvPr/>
        </p:nvSpPr>
        <p:spPr>
          <a:xfrm>
            <a:off x="8292694" y="3095244"/>
            <a:ext cx="3409798" cy="57607"/>
          </a:xfrm>
          <a:prstGeom prst="roundRect">
            <a:avLst>
              <a:gd name="adj" fmla="val 158730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39"/>
          <p:cNvSpPr/>
          <p:nvPr/>
        </p:nvSpPr>
        <p:spPr>
          <a:xfrm>
            <a:off x="8292694" y="3095244"/>
            <a:ext cx="3238805" cy="57607"/>
          </a:xfrm>
          <a:prstGeom prst="roundRect">
            <a:avLst>
              <a:gd name="adj" fmla="val 158730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0"/>
          <p:cNvSpPr/>
          <p:nvPr/>
        </p:nvSpPr>
        <p:spPr>
          <a:xfrm>
            <a:off x="8292694" y="3381451"/>
            <a:ext cx="3409798" cy="629107"/>
          </a:xfrm>
          <a:prstGeom prst="roundRect">
            <a:avLst>
              <a:gd name="adj" fmla="val 1761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1"/>
          <p:cNvSpPr txBox="1"/>
          <p:nvPr/>
        </p:nvSpPr>
        <p:spPr>
          <a:xfrm>
            <a:off x="8378647" y="3467405"/>
            <a:ext cx="3353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collaboration produces depth comparable to expert analysis.</a:t>
            </a:r>
            <a:endParaRPr lang="en-US" sz="1200" dirty="0"/>
          </a:p>
        </p:txBody>
      </p:sp>
      <p:sp>
        <p:nvSpPr>
          <p:cNvPr id="157" name="Shape 145"/>
          <p:cNvSpPr/>
          <p:nvPr/>
        </p:nvSpPr>
        <p:spPr>
          <a:xfrm>
            <a:off x="0" y="7381951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46"/>
          <p:cNvSpPr/>
          <p:nvPr/>
        </p:nvSpPr>
        <p:spPr>
          <a:xfrm>
            <a:off x="0" y="7381951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Text 147"/>
          <p:cNvSpPr txBox="1"/>
          <p:nvPr/>
        </p:nvSpPr>
        <p:spPr>
          <a:xfrm>
            <a:off x="457200" y="7539228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160" name="Text 148"/>
          <p:cNvSpPr txBox="1"/>
          <p:nvPr/>
        </p:nvSpPr>
        <p:spPr>
          <a:xfrm>
            <a:off x="11290097" y="7539228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44</a:t>
            </a:r>
            <a:endParaRPr lang="en-US" sz="900" dirty="0"/>
          </a:p>
        </p:txBody>
      </p:sp>
      <p:sp>
        <p:nvSpPr>
          <p:cNvPr id="161" name="Shape 149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50"/>
          <p:cNvSpPr/>
          <p:nvPr/>
        </p:nvSpPr>
        <p:spPr>
          <a:xfrm>
            <a:off x="504749" y="3228746"/>
            <a:ext cx="7172554" cy="31455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51"/>
          <p:cNvSpPr/>
          <p:nvPr/>
        </p:nvSpPr>
        <p:spPr>
          <a:xfrm>
            <a:off x="504749" y="3534156"/>
            <a:ext cx="717255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Text 152"/>
          <p:cNvSpPr txBox="1"/>
          <p:nvPr/>
        </p:nvSpPr>
        <p:spPr>
          <a:xfrm>
            <a:off x="580644" y="3305556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900" dirty="0"/>
          </a:p>
        </p:txBody>
      </p:sp>
      <p:sp>
        <p:nvSpPr>
          <p:cNvPr id="165" name="Text 153"/>
          <p:cNvSpPr txBox="1"/>
          <p:nvPr/>
        </p:nvSpPr>
        <p:spPr>
          <a:xfrm>
            <a:off x="2014423" y="3305556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900" dirty="0"/>
          </a:p>
        </p:txBody>
      </p:sp>
      <p:sp>
        <p:nvSpPr>
          <p:cNvPr id="166" name="Text 154"/>
          <p:cNvSpPr txBox="1"/>
          <p:nvPr/>
        </p:nvSpPr>
        <p:spPr>
          <a:xfrm>
            <a:off x="3728923" y="3305556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Reg.</a:t>
            </a:r>
            <a:endParaRPr lang="en-US" sz="900" dirty="0"/>
          </a:p>
        </p:txBody>
      </p:sp>
      <p:sp>
        <p:nvSpPr>
          <p:cNvPr id="167" name="Text 155"/>
          <p:cNvSpPr txBox="1"/>
          <p:nvPr/>
        </p:nvSpPr>
        <p:spPr>
          <a:xfrm>
            <a:off x="5104181" y="3305556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68" name="Text 156"/>
          <p:cNvSpPr txBox="1"/>
          <p:nvPr/>
        </p:nvSpPr>
        <p:spPr>
          <a:xfrm>
            <a:off x="6714439" y="3305556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900" dirty="0"/>
          </a:p>
        </p:txBody>
      </p:sp>
      <p:sp>
        <p:nvSpPr>
          <p:cNvPr id="169" name="Shape 7">
            <a:extLst>
              <a:ext uri="{FF2B5EF4-FFF2-40B4-BE49-F238E27FC236}">
                <a16:creationId xmlns:a16="http://schemas.microsoft.com/office/drawing/2014/main" id="{E7B44C41-A6A0-9BC3-CFFF-58B7F1A9405A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0" name="Image 0" descr="preencoded.png">
            <a:extLst>
              <a:ext uri="{FF2B5EF4-FFF2-40B4-BE49-F238E27FC236}">
                <a16:creationId xmlns:a16="http://schemas.microsoft.com/office/drawing/2014/main" id="{3DA92ACC-5606-9EBA-72B1-0387DB81402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171" name="Text 8">
            <a:extLst>
              <a:ext uri="{FF2B5EF4-FFF2-40B4-BE49-F238E27FC236}">
                <a16:creationId xmlns:a16="http://schemas.microsoft.com/office/drawing/2014/main" id="{130E4AAB-969C-BDE5-1C1E-5944030C3096}"/>
              </a:ext>
            </a:extLst>
          </p:cNvPr>
          <p:cNvSpPr txBox="1"/>
          <p:nvPr/>
        </p:nvSpPr>
        <p:spPr>
          <a:xfrm>
            <a:off x="990295" y="237744"/>
            <a:ext cx="6306617" cy="237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 Agent Approach: Results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" y="286207"/>
            <a:ext cx="142646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152705"/>
            <a:ext cx="4782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Qualitative Assessment: Report Quality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90295" y="476402"/>
            <a:ext cx="24195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18CF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evaluation.output.report_structure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4495" y="1190549"/>
            <a:ext cx="171907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2298" y="1143000"/>
            <a:ext cx="28529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&amp; Content Comparison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14554" y="1571854"/>
            <a:ext cx="1485900" cy="49560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14554" y="2048256"/>
            <a:ext cx="14859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543154" y="1733702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796796" y="1571854"/>
            <a:ext cx="2600554" cy="495605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796796" y="2048256"/>
            <a:ext cx="2600554" cy="19202"/>
          </a:xfrm>
          <a:prstGeom prst="rect">
            <a:avLst/>
          </a:prstGeom>
          <a:solidFill>
            <a:srgbClr val="FED7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3440" r="-3440"/>
          <a:stretch/>
        </p:blipFill>
        <p:spPr>
          <a:xfrm>
            <a:off x="2025396" y="1747418"/>
            <a:ext cx="152705" cy="1143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253996" y="1733702"/>
            <a:ext cx="1362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APPROACH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391863" y="1571854"/>
            <a:ext cx="3343046" cy="495605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391863" y="2048256"/>
            <a:ext cx="3343046" cy="19202"/>
          </a:xfrm>
          <a:prstGeom prst="rect">
            <a:avLst/>
          </a:prstGeom>
          <a:solidFill>
            <a:srgbClr val="BBF7D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3440" r="-3440"/>
          <a:stretch/>
        </p:blipFill>
        <p:spPr>
          <a:xfrm>
            <a:off x="4620463" y="1747418"/>
            <a:ext cx="152705" cy="1143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849063" y="1733702"/>
            <a:ext cx="15051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SYSTEM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14554" y="2714854"/>
            <a:ext cx="14859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543154" y="2310689"/>
            <a:ext cx="8403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1796796" y="2066544"/>
            <a:ext cx="2600554" cy="657454"/>
          </a:xfrm>
          <a:prstGeom prst="rect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2025396" y="2310689"/>
            <a:ext cx="19165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problem statement only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91863" y="2714854"/>
            <a:ext cx="334304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4620463" y="2215591"/>
            <a:ext cx="10405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Contextualized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4620463" y="2428646"/>
            <a:ext cx="1495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lit review context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14554" y="3368650"/>
            <a:ext cx="14859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543154" y="2964485"/>
            <a:ext cx="7927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1796796" y="2720340"/>
            <a:ext cx="2600554" cy="657454"/>
          </a:xfrm>
          <a:prstGeom prst="rect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2025396" y="2964485"/>
            <a:ext cx="430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391863" y="3368650"/>
            <a:ext cx="334304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4620463" y="2868473"/>
            <a:ext cx="11740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Well-Researched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4620463" y="3082442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Testable &amp; specific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314554" y="4021531"/>
            <a:ext cx="14859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543154" y="3617366"/>
            <a:ext cx="9070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1796796" y="3373222"/>
            <a:ext cx="2600554" cy="657454"/>
          </a:xfrm>
          <a:prstGeom prst="rect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2025396" y="3617366"/>
            <a:ext cx="11457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of tools used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4391863" y="4021531"/>
            <a:ext cx="334304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 txBox="1"/>
          <p:nvPr/>
        </p:nvSpPr>
        <p:spPr>
          <a:xfrm>
            <a:off x="4620463" y="3522269"/>
            <a:ext cx="11932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Justified Choices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4620463" y="3735324"/>
            <a:ext cx="1571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Explains "Why this model?"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314554" y="4675327"/>
            <a:ext cx="14859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 txBox="1"/>
          <p:nvPr/>
        </p:nvSpPr>
        <p:spPr>
          <a:xfrm>
            <a:off x="543154" y="4271162"/>
            <a:ext cx="5449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1796796" y="4027018"/>
            <a:ext cx="2600554" cy="657454"/>
          </a:xfrm>
          <a:prstGeom prst="rect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 txBox="1"/>
          <p:nvPr/>
        </p:nvSpPr>
        <p:spPr>
          <a:xfrm>
            <a:off x="2025396" y="4271162"/>
            <a:ext cx="12600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metrics tables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4391863" y="4675327"/>
            <a:ext cx="334304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 txBox="1"/>
          <p:nvPr/>
        </p:nvSpPr>
        <p:spPr>
          <a:xfrm>
            <a:off x="4620463" y="4175150"/>
            <a:ext cx="15837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 + Interpretation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4620463" y="4389120"/>
            <a:ext cx="1153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of findings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314554" y="5328209"/>
            <a:ext cx="14859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 txBox="1"/>
          <p:nvPr/>
        </p:nvSpPr>
        <p:spPr>
          <a:xfrm>
            <a:off x="543154" y="4924044"/>
            <a:ext cx="5358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1796796" y="4679899"/>
            <a:ext cx="2600554" cy="657454"/>
          </a:xfrm>
          <a:prstGeom prst="rect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 txBox="1"/>
          <p:nvPr/>
        </p:nvSpPr>
        <p:spPr>
          <a:xfrm>
            <a:off x="2025396" y="4924044"/>
            <a:ext cx="14026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Auto-generated plots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4391863" y="5328209"/>
            <a:ext cx="334304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 txBox="1"/>
          <p:nvPr/>
        </p:nvSpPr>
        <p:spPr>
          <a:xfrm>
            <a:off x="4620463" y="4828946"/>
            <a:ext cx="14886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&amp; Captioned</a:t>
            </a:r>
            <a:endParaRPr lang="en-US" sz="1000" dirty="0"/>
          </a:p>
        </p:txBody>
      </p:sp>
      <p:sp>
        <p:nvSpPr>
          <p:cNvPr id="58" name="Text 52"/>
          <p:cNvSpPr txBox="1"/>
          <p:nvPr/>
        </p:nvSpPr>
        <p:spPr>
          <a:xfrm>
            <a:off x="4620463" y="5042002"/>
            <a:ext cx="1267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charts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314554" y="5982005"/>
            <a:ext cx="14859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4"/>
          <p:cNvSpPr txBox="1"/>
          <p:nvPr/>
        </p:nvSpPr>
        <p:spPr>
          <a:xfrm>
            <a:off x="543154" y="5577840"/>
            <a:ext cx="7644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1796796" y="5333695"/>
            <a:ext cx="2600554" cy="657454"/>
          </a:xfrm>
          <a:prstGeom prst="rect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6"/>
          <p:cNvSpPr txBox="1"/>
          <p:nvPr/>
        </p:nvSpPr>
        <p:spPr>
          <a:xfrm>
            <a:off x="2025396" y="5577840"/>
            <a:ext cx="430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4391863" y="5982005"/>
            <a:ext cx="334304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8"/>
          <p:cNvSpPr txBox="1"/>
          <p:nvPr/>
        </p:nvSpPr>
        <p:spPr>
          <a:xfrm>
            <a:off x="4620463" y="5481828"/>
            <a:ext cx="878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Synthesized</a:t>
            </a:r>
            <a:endParaRPr lang="en-US" sz="1000" dirty="0"/>
          </a:p>
        </p:txBody>
      </p:sp>
      <p:sp>
        <p:nvSpPr>
          <p:cNvPr id="65" name="Text 59"/>
          <p:cNvSpPr txBox="1"/>
          <p:nvPr/>
        </p:nvSpPr>
        <p:spPr>
          <a:xfrm>
            <a:off x="4620463" y="5695798"/>
            <a:ext cx="1534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Relates back to hypothesis</a:t>
            </a:r>
            <a:endParaRPr lang="en-US" sz="900" dirty="0"/>
          </a:p>
        </p:txBody>
      </p:sp>
      <p:sp>
        <p:nvSpPr>
          <p:cNvPr id="66" name="Text 60"/>
          <p:cNvSpPr txBox="1"/>
          <p:nvPr/>
        </p:nvSpPr>
        <p:spPr>
          <a:xfrm>
            <a:off x="543154" y="6230722"/>
            <a:ext cx="7927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67" name="Shape 61"/>
          <p:cNvSpPr/>
          <p:nvPr/>
        </p:nvSpPr>
        <p:spPr>
          <a:xfrm>
            <a:off x="4388206" y="5987491"/>
            <a:ext cx="9144" cy="64739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 txBox="1"/>
          <p:nvPr/>
        </p:nvSpPr>
        <p:spPr>
          <a:xfrm>
            <a:off x="2025396" y="6230722"/>
            <a:ext cx="430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000" dirty="0"/>
          </a:p>
        </p:txBody>
      </p:sp>
      <p:sp>
        <p:nvSpPr>
          <p:cNvPr id="69" name="Text 63"/>
          <p:cNvSpPr txBox="1"/>
          <p:nvPr/>
        </p:nvSpPr>
        <p:spPr>
          <a:xfrm>
            <a:off x="4620463" y="6135624"/>
            <a:ext cx="108813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</a:t>
            </a:r>
            <a:endParaRPr lang="en-US" sz="1000" dirty="0"/>
          </a:p>
        </p:txBody>
      </p:sp>
      <p:sp>
        <p:nvSpPr>
          <p:cNvPr id="70" name="Text 64"/>
          <p:cNvSpPr txBox="1"/>
          <p:nvPr/>
        </p:nvSpPr>
        <p:spPr>
          <a:xfrm>
            <a:off x="4620463" y="6348679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15-30 academic sources</a:t>
            </a:r>
            <a:endParaRPr lang="en-US" sz="900" dirty="0"/>
          </a:p>
        </p:txBody>
      </p:sp>
      <p:sp>
        <p:nvSpPr>
          <p:cNvPr id="71" name="Shape 65"/>
          <p:cNvSpPr/>
          <p:nvPr/>
        </p:nvSpPr>
        <p:spPr>
          <a:xfrm>
            <a:off x="8118958" y="1143000"/>
            <a:ext cx="3771900" cy="4953305"/>
          </a:xfrm>
          <a:prstGeom prst="roundRect">
            <a:avLst>
              <a:gd name="adj" fmla="val 73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2" name="Image 4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8357616" y="1429207"/>
            <a:ext cx="133502" cy="171907"/>
          </a:xfrm>
          <a:prstGeom prst="rect">
            <a:avLst/>
          </a:prstGeom>
        </p:spPr>
      </p:pic>
      <p:sp>
        <p:nvSpPr>
          <p:cNvPr id="73" name="Text 66"/>
          <p:cNvSpPr txBox="1"/>
          <p:nvPr/>
        </p:nvSpPr>
        <p:spPr>
          <a:xfrm>
            <a:off x="8567014" y="1380744"/>
            <a:ext cx="13578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Quality</a:t>
            </a:r>
            <a:endParaRPr lang="en-US" sz="1300" dirty="0"/>
          </a:p>
        </p:txBody>
      </p:sp>
      <p:sp>
        <p:nvSpPr>
          <p:cNvPr id="74" name="Text 67"/>
          <p:cNvSpPr txBox="1"/>
          <p:nvPr/>
        </p:nvSpPr>
        <p:spPr>
          <a:xfrm>
            <a:off x="8357616" y="1809598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Report</a:t>
            </a:r>
            <a:endParaRPr lang="en-US" sz="1000" dirty="0"/>
          </a:p>
        </p:txBody>
      </p:sp>
      <p:pic>
        <p:nvPicPr>
          <p:cNvPr id="75" name="Image 5" descr="preencoded.png"/>
          <p:cNvPicPr>
            <a:picLocks noChangeAspect="1"/>
          </p:cNvPicPr>
          <p:nvPr/>
        </p:nvPicPr>
        <p:blipFill>
          <a:blip r:embed="rId8"/>
          <a:srcRect t="-2012" b="-2012"/>
          <a:stretch/>
        </p:blipFill>
        <p:spPr>
          <a:xfrm>
            <a:off x="10906049" y="1828800"/>
            <a:ext cx="133502" cy="123444"/>
          </a:xfrm>
          <a:prstGeom prst="rect">
            <a:avLst/>
          </a:prstGeom>
        </p:spPr>
      </p:pic>
      <p:pic>
        <p:nvPicPr>
          <p:cNvPr id="76" name="Image 6" descr="preencoded.png"/>
          <p:cNvPicPr>
            <a:picLocks noChangeAspect="1"/>
          </p:cNvPicPr>
          <p:nvPr/>
        </p:nvPicPr>
        <p:blipFill>
          <a:blip r:embed="rId8"/>
          <a:srcRect t="-2012" b="-2012"/>
          <a:stretch/>
        </p:blipFill>
        <p:spPr>
          <a:xfrm>
            <a:off x="11039551" y="1828800"/>
            <a:ext cx="133502" cy="123444"/>
          </a:xfrm>
          <a:prstGeom prst="rect">
            <a:avLst/>
          </a:prstGeom>
        </p:spPr>
      </p:pic>
      <p:pic>
        <p:nvPicPr>
          <p:cNvPr id="77" name="Image 7" descr="preencoded.png"/>
          <p:cNvPicPr>
            <a:picLocks noChangeAspect="1"/>
          </p:cNvPicPr>
          <p:nvPr/>
        </p:nvPicPr>
        <p:blipFill>
          <a:blip r:embed="rId8"/>
          <a:srcRect t="-2012" b="-2012"/>
          <a:stretch/>
        </p:blipFill>
        <p:spPr>
          <a:xfrm>
            <a:off x="11173054" y="1828800"/>
            <a:ext cx="133502" cy="123444"/>
          </a:xfrm>
          <a:prstGeom prst="rect">
            <a:avLst/>
          </a:prstGeom>
        </p:spPr>
      </p:pic>
      <p:pic>
        <p:nvPicPr>
          <p:cNvPr id="78" name="Image 8" descr="preencoded.png"/>
          <p:cNvPicPr>
            <a:picLocks noChangeAspect="1"/>
          </p:cNvPicPr>
          <p:nvPr/>
        </p:nvPicPr>
        <p:blipFill>
          <a:blip r:embed="rId9"/>
          <a:srcRect t="-2012" b="-2012"/>
          <a:stretch/>
        </p:blipFill>
        <p:spPr>
          <a:xfrm>
            <a:off x="11306556" y="1828800"/>
            <a:ext cx="133502" cy="123444"/>
          </a:xfrm>
          <a:prstGeom prst="rect">
            <a:avLst/>
          </a:prstGeom>
        </p:spPr>
      </p:pic>
      <p:pic>
        <p:nvPicPr>
          <p:cNvPr id="79" name="Image 9" descr="preencoded.png"/>
          <p:cNvPicPr>
            <a:picLocks noChangeAspect="1"/>
          </p:cNvPicPr>
          <p:nvPr/>
        </p:nvPicPr>
        <p:blipFill>
          <a:blip r:embed="rId9"/>
          <a:srcRect t="-2012" b="-2012"/>
          <a:stretch/>
        </p:blipFill>
        <p:spPr>
          <a:xfrm>
            <a:off x="11439144" y="1828800"/>
            <a:ext cx="133502" cy="123444"/>
          </a:xfrm>
          <a:prstGeom prst="rect">
            <a:avLst/>
          </a:prstGeom>
        </p:spPr>
      </p:pic>
      <p:sp>
        <p:nvSpPr>
          <p:cNvPr id="80" name="Shape 68"/>
          <p:cNvSpPr/>
          <p:nvPr/>
        </p:nvSpPr>
        <p:spPr>
          <a:xfrm>
            <a:off x="8357616" y="2066544"/>
            <a:ext cx="3295498" cy="1495044"/>
          </a:xfrm>
          <a:prstGeom prst="roundRect">
            <a:avLst>
              <a:gd name="adj" fmla="val 3117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Shape 69"/>
          <p:cNvSpPr/>
          <p:nvPr/>
        </p:nvSpPr>
        <p:spPr>
          <a:xfrm>
            <a:off x="8357616" y="2066544"/>
            <a:ext cx="3272638" cy="38405"/>
          </a:xfrm>
          <a:prstGeom prst="rect">
            <a:avLst/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0"/>
          <p:cNvSpPr txBox="1"/>
          <p:nvPr/>
        </p:nvSpPr>
        <p:spPr>
          <a:xfrm>
            <a:off x="8519465" y="2238451"/>
            <a:ext cx="8193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4155">
                    <a:alpha val="75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Analysis Results</a:t>
            </a:r>
            <a:endParaRPr lang="en-US" sz="800" dirty="0"/>
          </a:p>
        </p:txBody>
      </p:sp>
      <p:sp>
        <p:nvSpPr>
          <p:cNvPr id="83" name="Text 71"/>
          <p:cNvSpPr txBox="1"/>
          <p:nvPr/>
        </p:nvSpPr>
        <p:spPr>
          <a:xfrm>
            <a:off x="8519465" y="2423160"/>
            <a:ext cx="28291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4155">
                    <a:alpha val="52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model achieved an accuracy of 96%. The confusion matrix shows...</a:t>
            </a:r>
            <a:endParaRPr lang="en-US" sz="800" dirty="0"/>
          </a:p>
        </p:txBody>
      </p:sp>
      <p:sp>
        <p:nvSpPr>
          <p:cNvPr id="84" name="Shape 72"/>
          <p:cNvSpPr/>
          <p:nvPr/>
        </p:nvSpPr>
        <p:spPr>
          <a:xfrm>
            <a:off x="8519465" y="2781605"/>
            <a:ext cx="2971800" cy="609905"/>
          </a:xfrm>
          <a:prstGeom prst="roundRect">
            <a:avLst>
              <a:gd name="adj" fmla="val 9370"/>
            </a:avLst>
          </a:prstGeom>
          <a:solidFill>
            <a:srgbClr val="E5E7EB">
              <a:alpha val="75000"/>
            </a:srgbClr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3"/>
          <p:cNvSpPr txBox="1"/>
          <p:nvPr/>
        </p:nvSpPr>
        <p:spPr>
          <a:xfrm>
            <a:off x="9521647" y="3013862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>
                    <a:alpha val="75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[Auto-Generated Plot]</a:t>
            </a:r>
            <a:endParaRPr lang="en-US" sz="800" dirty="0"/>
          </a:p>
        </p:txBody>
      </p:sp>
      <p:sp>
        <p:nvSpPr>
          <p:cNvPr id="86" name="Text 74"/>
          <p:cNvSpPr txBox="1"/>
          <p:nvPr/>
        </p:nvSpPr>
        <p:spPr>
          <a:xfrm>
            <a:off x="8357616" y="3792017"/>
            <a:ext cx="13578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Report</a:t>
            </a:r>
            <a:endParaRPr lang="en-US" sz="1000" dirty="0"/>
          </a:p>
        </p:txBody>
      </p:sp>
      <p:pic>
        <p:nvPicPr>
          <p:cNvPr id="87" name="Image 10" descr="preencoded.png"/>
          <p:cNvPicPr>
            <a:picLocks noChangeAspect="1"/>
          </p:cNvPicPr>
          <p:nvPr/>
        </p:nvPicPr>
        <p:blipFill>
          <a:blip r:embed="rId8"/>
          <a:srcRect t="-2012" b="-2012"/>
          <a:stretch/>
        </p:blipFill>
        <p:spPr>
          <a:xfrm>
            <a:off x="10906049" y="3810305"/>
            <a:ext cx="133502" cy="123444"/>
          </a:xfrm>
          <a:prstGeom prst="rect">
            <a:avLst/>
          </a:prstGeom>
        </p:spPr>
      </p:pic>
      <p:pic>
        <p:nvPicPr>
          <p:cNvPr id="88" name="Image 11" descr="preencoded.png"/>
          <p:cNvPicPr>
            <a:picLocks noChangeAspect="1"/>
          </p:cNvPicPr>
          <p:nvPr/>
        </p:nvPicPr>
        <p:blipFill>
          <a:blip r:embed="rId8"/>
          <a:srcRect t="-2012" b="-2012"/>
          <a:stretch/>
        </p:blipFill>
        <p:spPr>
          <a:xfrm>
            <a:off x="11039551" y="3810305"/>
            <a:ext cx="133502" cy="123444"/>
          </a:xfrm>
          <a:prstGeom prst="rect">
            <a:avLst/>
          </a:prstGeom>
        </p:spPr>
      </p:pic>
      <p:pic>
        <p:nvPicPr>
          <p:cNvPr id="89" name="Image 12" descr="preencoded.png"/>
          <p:cNvPicPr>
            <a:picLocks noChangeAspect="1"/>
          </p:cNvPicPr>
          <p:nvPr/>
        </p:nvPicPr>
        <p:blipFill>
          <a:blip r:embed="rId8"/>
          <a:srcRect t="-2012" b="-2012"/>
          <a:stretch/>
        </p:blipFill>
        <p:spPr>
          <a:xfrm>
            <a:off x="11173054" y="3810305"/>
            <a:ext cx="133502" cy="123444"/>
          </a:xfrm>
          <a:prstGeom prst="rect">
            <a:avLst/>
          </a:prstGeom>
        </p:spPr>
      </p:pic>
      <p:pic>
        <p:nvPicPr>
          <p:cNvPr id="90" name="Image 13" descr="preencoded.png"/>
          <p:cNvPicPr>
            <a:picLocks noChangeAspect="1"/>
          </p:cNvPicPr>
          <p:nvPr/>
        </p:nvPicPr>
        <p:blipFill>
          <a:blip r:embed="rId8"/>
          <a:srcRect t="-2012" b="-2012"/>
          <a:stretch/>
        </p:blipFill>
        <p:spPr>
          <a:xfrm>
            <a:off x="11306556" y="3810305"/>
            <a:ext cx="133502" cy="123444"/>
          </a:xfrm>
          <a:prstGeom prst="rect">
            <a:avLst/>
          </a:prstGeom>
        </p:spPr>
      </p:pic>
      <p:pic>
        <p:nvPicPr>
          <p:cNvPr id="91" name="Image 14" descr="preencoded.png"/>
          <p:cNvPicPr>
            <a:picLocks noChangeAspect="1"/>
          </p:cNvPicPr>
          <p:nvPr/>
        </p:nvPicPr>
        <p:blipFill>
          <a:blip r:embed="rId8"/>
          <a:srcRect t="-2012" b="-2012"/>
          <a:stretch/>
        </p:blipFill>
        <p:spPr>
          <a:xfrm>
            <a:off x="11439144" y="3810305"/>
            <a:ext cx="133502" cy="123444"/>
          </a:xfrm>
          <a:prstGeom prst="rect">
            <a:avLst/>
          </a:prstGeom>
        </p:spPr>
      </p:pic>
      <p:sp>
        <p:nvSpPr>
          <p:cNvPr id="92" name="Shape 75"/>
          <p:cNvSpPr/>
          <p:nvPr/>
        </p:nvSpPr>
        <p:spPr>
          <a:xfrm>
            <a:off x="8275320" y="4001414"/>
            <a:ext cx="3457346" cy="1990649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76"/>
          <p:cNvSpPr/>
          <p:nvPr/>
        </p:nvSpPr>
        <p:spPr>
          <a:xfrm>
            <a:off x="8275320" y="4001414"/>
            <a:ext cx="3272638" cy="3840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77"/>
          <p:cNvSpPr txBox="1"/>
          <p:nvPr/>
        </p:nvSpPr>
        <p:spPr>
          <a:xfrm>
            <a:off x="8445398" y="4171493"/>
            <a:ext cx="28959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2E8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Predicting Housing Prices: A Machine Learning Approach</a:t>
            </a:r>
            <a:endParaRPr lang="en-US" sz="900" dirty="0"/>
          </a:p>
        </p:txBody>
      </p:sp>
      <p:sp>
        <p:nvSpPr>
          <p:cNvPr id="95" name="Text 78"/>
          <p:cNvSpPr txBox="1"/>
          <p:nvPr/>
        </p:nvSpPr>
        <p:spPr>
          <a:xfrm>
            <a:off x="8445398" y="4541825"/>
            <a:ext cx="31053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Abstract: Recent studies (Smith et al. 2023) demonstrate ensemble methods...</a:t>
            </a:r>
            <a:endParaRPr lang="en-US" sz="800" dirty="0"/>
          </a:p>
        </p:txBody>
      </p:sp>
      <p:sp>
        <p:nvSpPr>
          <p:cNvPr id="96" name="Text 79"/>
          <p:cNvSpPr txBox="1"/>
          <p:nvPr/>
        </p:nvSpPr>
        <p:spPr>
          <a:xfrm>
            <a:off x="8445398" y="4928616"/>
            <a:ext cx="7818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30A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 Introduction</a:t>
            </a:r>
            <a:endParaRPr lang="en-US" sz="800" dirty="0"/>
          </a:p>
        </p:txBody>
      </p:sp>
      <p:sp>
        <p:nvSpPr>
          <p:cNvPr id="97" name="Text 80"/>
          <p:cNvSpPr txBox="1"/>
          <p:nvPr/>
        </p:nvSpPr>
        <p:spPr>
          <a:xfrm>
            <a:off x="8445398" y="5122469"/>
            <a:ext cx="27532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4155">
                    <a:alpha val="7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real estate market's complexity necessitates advanced predictive models...</a:t>
            </a:r>
            <a:endParaRPr lang="en-US" sz="800" dirty="0"/>
          </a:p>
        </p:txBody>
      </p:sp>
      <p:sp>
        <p:nvSpPr>
          <p:cNvPr id="98" name="Shape 81"/>
          <p:cNvSpPr/>
          <p:nvPr/>
        </p:nvSpPr>
        <p:spPr>
          <a:xfrm>
            <a:off x="8445398" y="5500116"/>
            <a:ext cx="323698" cy="323698"/>
          </a:xfrm>
          <a:prstGeom prst="roundRect">
            <a:avLst>
              <a:gd name="adj" fmla="val 33234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9" name="Image 1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540496" y="5594299"/>
            <a:ext cx="133502" cy="133502"/>
          </a:xfrm>
          <a:prstGeom prst="rect">
            <a:avLst/>
          </a:prstGeom>
        </p:spPr>
      </p:pic>
      <p:sp>
        <p:nvSpPr>
          <p:cNvPr id="100" name="Text 82"/>
          <p:cNvSpPr txBox="1"/>
          <p:nvPr/>
        </p:nvSpPr>
        <p:spPr>
          <a:xfrm>
            <a:off x="8844991" y="5592470"/>
            <a:ext cx="18388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B728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Fig 1. Feature Importance Distribution</a:t>
            </a:r>
            <a:endParaRPr lang="en-US" sz="800" dirty="0"/>
          </a:p>
        </p:txBody>
      </p:sp>
      <p:sp>
        <p:nvSpPr>
          <p:cNvPr id="101" name="Shape 8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84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3" name="Image 16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457200" y="6572707"/>
            <a:ext cx="105156" cy="114300"/>
          </a:xfrm>
          <a:prstGeom prst="rect">
            <a:avLst/>
          </a:prstGeom>
        </p:spPr>
      </p:pic>
      <p:sp>
        <p:nvSpPr>
          <p:cNvPr id="104" name="Text 85"/>
          <p:cNvSpPr txBox="1"/>
          <p:nvPr/>
        </p:nvSpPr>
        <p:spPr>
          <a:xfrm>
            <a:off x="599846" y="6558077"/>
            <a:ext cx="12957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7/7 Sections Improved</a:t>
            </a:r>
            <a:endParaRPr lang="en-US" sz="900" dirty="0"/>
          </a:p>
        </p:txBody>
      </p:sp>
      <p:pic>
        <p:nvPicPr>
          <p:cNvPr id="105" name="Image 17" descr="preencoded.png"/>
          <p:cNvPicPr>
            <a:picLocks noChangeAspect="1"/>
          </p:cNvPicPr>
          <p:nvPr/>
        </p:nvPicPr>
        <p:blipFill>
          <a:blip r:embed="rId12"/>
          <a:srcRect t="-80" b="-80"/>
          <a:stretch/>
        </p:blipFill>
        <p:spPr>
          <a:xfrm>
            <a:off x="2037283" y="6572707"/>
            <a:ext cx="142646" cy="114300"/>
          </a:xfrm>
          <a:prstGeom prst="rect">
            <a:avLst/>
          </a:prstGeom>
        </p:spPr>
      </p:pic>
      <p:sp>
        <p:nvSpPr>
          <p:cNvPr id="106" name="Text 86"/>
          <p:cNvSpPr txBox="1"/>
          <p:nvPr/>
        </p:nvSpPr>
        <p:spPr>
          <a:xfrm>
            <a:off x="2218334" y="6558077"/>
            <a:ext cx="13908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Standard Met</a:t>
            </a:r>
            <a:endParaRPr lang="en-US" sz="900" dirty="0"/>
          </a:p>
        </p:txBody>
      </p:sp>
      <p:sp>
        <p:nvSpPr>
          <p:cNvPr id="107" name="Text 87"/>
          <p:cNvSpPr txBox="1"/>
          <p:nvPr/>
        </p:nvSpPr>
        <p:spPr>
          <a:xfrm>
            <a:off x="11290097" y="6558077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44</a:t>
            </a:r>
            <a:endParaRPr lang="en-US" sz="900" dirty="0"/>
          </a:p>
        </p:txBody>
      </p:sp>
      <p:sp>
        <p:nvSpPr>
          <p:cNvPr id="108" name="Shape 88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89"/>
          <p:cNvSpPr/>
          <p:nvPr/>
        </p:nvSpPr>
        <p:spPr>
          <a:xfrm>
            <a:off x="9988906" y="3706063"/>
            <a:ext cx="1742846" cy="304495"/>
          </a:xfrm>
          <a:prstGeom prst="roundRect">
            <a:avLst>
              <a:gd name="adj" fmla="val 300300"/>
            </a:avLst>
          </a:prstGeom>
          <a:solidFill>
            <a:srgbClr val="10B981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" name="Text 90"/>
          <p:cNvSpPr txBox="1"/>
          <p:nvPr/>
        </p:nvSpPr>
        <p:spPr>
          <a:xfrm>
            <a:off x="10064801" y="3762756"/>
            <a:ext cx="1705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 READY</a:t>
            </a:r>
            <a:endParaRPr lang="en-US" sz="1200" dirty="0"/>
          </a:p>
        </p:txBody>
      </p:sp>
      <p:pic>
        <p:nvPicPr>
          <p:cNvPr id="112" name="Image 18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14" name="Text 93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15" name="Image 1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16" name="Text 94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17" name="Shape 7">
            <a:extLst>
              <a:ext uri="{FF2B5EF4-FFF2-40B4-BE49-F238E27FC236}">
                <a16:creationId xmlns:a16="http://schemas.microsoft.com/office/drawing/2014/main" id="{1DE9AA85-D870-C87C-3D03-417CAB40A7B7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8" name="Image 0" descr="preencoded.png">
            <a:extLst>
              <a:ext uri="{FF2B5EF4-FFF2-40B4-BE49-F238E27FC236}">
                <a16:creationId xmlns:a16="http://schemas.microsoft.com/office/drawing/2014/main" id="{E16BC959-B555-81BF-034F-99838487A22A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119" name="Text 8">
            <a:extLst>
              <a:ext uri="{FF2B5EF4-FFF2-40B4-BE49-F238E27FC236}">
                <a16:creationId xmlns:a16="http://schemas.microsoft.com/office/drawing/2014/main" id="{BCBEF60C-5E0D-F35E-3A45-FC74DA77BA71}"/>
              </a:ext>
            </a:extLst>
          </p:cNvPr>
          <p:cNvSpPr txBox="1"/>
          <p:nvPr/>
        </p:nvSpPr>
        <p:spPr>
          <a:xfrm>
            <a:off x="990295" y="237744"/>
            <a:ext cx="6306617" cy="237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</a:t>
            </a:r>
            <a:r>
              <a:rPr lang="en-US" sz="180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0295" y="152705"/>
            <a:ext cx="28675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&amp; Solutions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90295" y="476402"/>
            <a:ext cx="20098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project.retrospective.issues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04495" y="1257300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" y="141000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E4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566928" y="1495044"/>
            <a:ext cx="105156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86054" y="1390802"/>
            <a:ext cx="1271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Hallucination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86054" y="1591056"/>
            <a:ext cx="1905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1239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Inventing non-existent references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6344" y="213329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E4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633058" y="1257300"/>
            <a:ext cx="5181905" cy="609905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785762" y="141000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2838" r="-2838"/>
          <a:stretch/>
        </p:blipFill>
        <p:spPr>
          <a:xfrm>
            <a:off x="6876288" y="1495044"/>
            <a:ext cx="123444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204558" y="1390802"/>
            <a:ext cx="2319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Cross-Validation &amp; Quality Review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204558" y="1591056"/>
            <a:ext cx="2809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via multiple sources &amp; specialized agent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04495" y="1981505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533095" y="2219249"/>
            <a:ext cx="171907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86054" y="2115007"/>
            <a:ext cx="1548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Parsing Failures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86054" y="2314346"/>
            <a:ext cx="1838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1239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Invalid format crashing pipelines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633058" y="1981505"/>
            <a:ext cx="5181905" cy="609905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785762" y="213329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71716" y="2219249"/>
            <a:ext cx="133502" cy="13350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304495" y="2704795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7204558" y="2115007"/>
            <a:ext cx="15956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Parsing &amp; Retry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7204558" y="2314346"/>
            <a:ext cx="2334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Regex extraction + auto-retry mechanism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66344" y="2857500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E4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566928" y="2943454"/>
            <a:ext cx="105156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6054" y="2838298"/>
            <a:ext cx="15956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Limits Exceeded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886054" y="3038551"/>
            <a:ext cx="19723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1239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context windows overflowing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66344" y="358170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E4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 txBox="1"/>
          <p:nvPr/>
        </p:nvSpPr>
        <p:spPr>
          <a:xfrm>
            <a:off x="886054" y="3562502"/>
            <a:ext cx="17867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Code Quality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633058" y="2704795"/>
            <a:ext cx="5181905" cy="609905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6785762" y="2857500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871716" y="2943454"/>
            <a:ext cx="133502" cy="1335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204558" y="2838298"/>
            <a:ext cx="23673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Trimming &amp; Summarization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7204558" y="3038551"/>
            <a:ext cx="2886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Selective context retention + Note Taker summaries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304495" y="3429000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52298" y="3666744"/>
            <a:ext cx="133502" cy="13350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886054" y="3762756"/>
            <a:ext cx="1800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1239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Subtle bugs and style violations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6633058" y="3429000"/>
            <a:ext cx="5181905" cy="609905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7"/>
          <p:cNvSpPr/>
          <p:nvPr/>
        </p:nvSpPr>
        <p:spPr>
          <a:xfrm>
            <a:off x="6785762" y="358170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71716" y="3666744"/>
            <a:ext cx="133502" cy="133502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7204558" y="3562502"/>
            <a:ext cx="18242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Loops &amp; Standards</a:t>
            </a:r>
            <a:endParaRPr lang="en-US" sz="1000" dirty="0"/>
          </a:p>
        </p:txBody>
      </p:sp>
      <p:sp>
        <p:nvSpPr>
          <p:cNvPr id="50" name="Text 39"/>
          <p:cNvSpPr txBox="1"/>
          <p:nvPr/>
        </p:nvSpPr>
        <p:spPr>
          <a:xfrm>
            <a:off x="7204558" y="3762756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prompts + iterative code review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304495" y="4153205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1"/>
          <p:cNvSpPr/>
          <p:nvPr/>
        </p:nvSpPr>
        <p:spPr>
          <a:xfrm>
            <a:off x="466344" y="430499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E4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52298" y="4390949"/>
            <a:ext cx="133502" cy="133502"/>
          </a:xfrm>
          <a:prstGeom prst="rect">
            <a:avLst/>
          </a:prstGeom>
        </p:spPr>
      </p:pic>
      <p:sp>
        <p:nvSpPr>
          <p:cNvPr id="54" name="Shape 42"/>
          <p:cNvSpPr/>
          <p:nvPr/>
        </p:nvSpPr>
        <p:spPr>
          <a:xfrm>
            <a:off x="466344" y="5029200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E4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3"/>
          <p:cNvSpPr txBox="1"/>
          <p:nvPr/>
        </p:nvSpPr>
        <p:spPr>
          <a:xfrm>
            <a:off x="886054" y="4286707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Management</a:t>
            </a:r>
            <a:endParaRPr lang="en-US" sz="1000" dirty="0"/>
          </a:p>
        </p:txBody>
      </p:sp>
      <p:sp>
        <p:nvSpPr>
          <p:cNvPr id="56" name="Text 44"/>
          <p:cNvSpPr txBox="1"/>
          <p:nvPr/>
        </p:nvSpPr>
        <p:spPr>
          <a:xfrm>
            <a:off x="886054" y="4486046"/>
            <a:ext cx="1877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1239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Expensive GPT-4 calls adding up</a:t>
            </a:r>
            <a:endParaRPr lang="en-US" sz="900" dirty="0"/>
          </a:p>
        </p:txBody>
      </p:sp>
      <p:sp>
        <p:nvSpPr>
          <p:cNvPr id="57" name="Text 45"/>
          <p:cNvSpPr txBox="1"/>
          <p:nvPr/>
        </p:nvSpPr>
        <p:spPr>
          <a:xfrm>
            <a:off x="886054" y="5009998"/>
            <a:ext cx="11009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Execution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6633058" y="4153205"/>
            <a:ext cx="5181905" cy="609905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47"/>
          <p:cNvSpPr/>
          <p:nvPr/>
        </p:nvSpPr>
        <p:spPr>
          <a:xfrm>
            <a:off x="6785762" y="430499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6852514" y="4390949"/>
            <a:ext cx="171907" cy="133502"/>
          </a:xfrm>
          <a:prstGeom prst="rect">
            <a:avLst/>
          </a:prstGeom>
        </p:spPr>
      </p:pic>
      <p:sp>
        <p:nvSpPr>
          <p:cNvPr id="61" name="Shape 48"/>
          <p:cNvSpPr/>
          <p:nvPr/>
        </p:nvSpPr>
        <p:spPr>
          <a:xfrm>
            <a:off x="304495" y="4876495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49"/>
          <p:cNvSpPr txBox="1"/>
          <p:nvPr/>
        </p:nvSpPr>
        <p:spPr>
          <a:xfrm>
            <a:off x="7204558" y="4286707"/>
            <a:ext cx="17766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Model Selection</a:t>
            </a:r>
            <a:endParaRPr lang="en-US" sz="1000" dirty="0"/>
          </a:p>
        </p:txBody>
      </p:sp>
      <p:sp>
        <p:nvSpPr>
          <p:cNvPr id="63" name="Text 50"/>
          <p:cNvSpPr txBox="1"/>
          <p:nvPr/>
        </p:nvSpPr>
        <p:spPr>
          <a:xfrm>
            <a:off x="7204558" y="4486046"/>
            <a:ext cx="2505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Tiered models (GPT-4-mini vs GPT-4-Turbo)</a:t>
            </a:r>
            <a:endParaRPr lang="en-US" sz="900" dirty="0"/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52298" y="5115154"/>
            <a:ext cx="133502" cy="133502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886054" y="5210251"/>
            <a:ext cx="1953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1239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 processing bottlenecks</a:t>
            </a:r>
            <a:endParaRPr lang="en-US" sz="900" dirty="0"/>
          </a:p>
        </p:txBody>
      </p:sp>
      <p:sp>
        <p:nvSpPr>
          <p:cNvPr id="66" name="Shape 52"/>
          <p:cNvSpPr/>
          <p:nvPr/>
        </p:nvSpPr>
        <p:spPr>
          <a:xfrm>
            <a:off x="304495" y="5600700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53"/>
          <p:cNvSpPr/>
          <p:nvPr/>
        </p:nvSpPr>
        <p:spPr>
          <a:xfrm>
            <a:off x="466344" y="575340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E4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54"/>
          <p:cNvSpPr/>
          <p:nvPr/>
        </p:nvSpPr>
        <p:spPr>
          <a:xfrm>
            <a:off x="6633058" y="4876495"/>
            <a:ext cx="5181905" cy="609905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55"/>
          <p:cNvSpPr/>
          <p:nvPr/>
        </p:nvSpPr>
        <p:spPr>
          <a:xfrm>
            <a:off x="6785762" y="5029200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871716" y="5115154"/>
            <a:ext cx="133502" cy="133502"/>
          </a:xfrm>
          <a:prstGeom prst="rect">
            <a:avLst/>
          </a:prstGeom>
        </p:spPr>
      </p:pic>
      <p:sp>
        <p:nvSpPr>
          <p:cNvPr id="71" name="Text 56"/>
          <p:cNvSpPr txBox="1"/>
          <p:nvPr/>
        </p:nvSpPr>
        <p:spPr>
          <a:xfrm>
            <a:off x="7204558" y="5009998"/>
            <a:ext cx="15105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Parallelism &amp; Caching</a:t>
            </a:r>
            <a:endParaRPr lang="en-US" sz="1000" dirty="0"/>
          </a:p>
        </p:txBody>
      </p:sp>
      <p:sp>
        <p:nvSpPr>
          <p:cNvPr id="72" name="Text 57"/>
          <p:cNvSpPr txBox="1"/>
          <p:nvPr/>
        </p:nvSpPr>
        <p:spPr>
          <a:xfrm>
            <a:off x="7204558" y="5210251"/>
            <a:ext cx="2162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parallel agents + result caching</a:t>
            </a:r>
            <a:endParaRPr lang="en-US" sz="900" dirty="0"/>
          </a:p>
        </p:txBody>
      </p:sp>
      <p:pic>
        <p:nvPicPr>
          <p:cNvPr id="73" name="Image 13" descr="preencoded.png"/>
          <p:cNvPicPr>
            <a:picLocks noChangeAspect="1"/>
          </p:cNvPicPr>
          <p:nvPr/>
        </p:nvPicPr>
        <p:blipFill>
          <a:blip r:embed="rId16"/>
          <a:srcRect l="-2512" r="-2512"/>
          <a:stretch/>
        </p:blipFill>
        <p:spPr>
          <a:xfrm>
            <a:off x="566928" y="5838444"/>
            <a:ext cx="105156" cy="133502"/>
          </a:xfrm>
          <a:prstGeom prst="rect">
            <a:avLst/>
          </a:prstGeom>
        </p:spPr>
      </p:pic>
      <p:sp>
        <p:nvSpPr>
          <p:cNvPr id="74" name="Text 58"/>
          <p:cNvSpPr txBox="1"/>
          <p:nvPr/>
        </p:nvSpPr>
        <p:spPr>
          <a:xfrm>
            <a:off x="886054" y="5734202"/>
            <a:ext cx="1205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Call Failures</a:t>
            </a:r>
            <a:endParaRPr lang="en-US" sz="1000" dirty="0"/>
          </a:p>
        </p:txBody>
      </p:sp>
      <p:sp>
        <p:nvSpPr>
          <p:cNvPr id="75" name="Text 59"/>
          <p:cNvSpPr txBox="1"/>
          <p:nvPr/>
        </p:nvSpPr>
        <p:spPr>
          <a:xfrm>
            <a:off x="886054" y="5934456"/>
            <a:ext cx="1267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1239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timeouts or errors</a:t>
            </a:r>
            <a:endParaRPr lang="en-US" sz="900" dirty="0"/>
          </a:p>
        </p:txBody>
      </p:sp>
      <p:sp>
        <p:nvSpPr>
          <p:cNvPr id="76" name="Shape 60"/>
          <p:cNvSpPr/>
          <p:nvPr/>
        </p:nvSpPr>
        <p:spPr>
          <a:xfrm>
            <a:off x="6633058" y="5600700"/>
            <a:ext cx="5181905" cy="609905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Shape 61"/>
          <p:cNvSpPr/>
          <p:nvPr/>
        </p:nvSpPr>
        <p:spPr>
          <a:xfrm>
            <a:off x="6785762" y="575340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8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871716" y="5838444"/>
            <a:ext cx="133502" cy="133502"/>
          </a:xfrm>
          <a:prstGeom prst="rect">
            <a:avLst/>
          </a:prstGeom>
        </p:spPr>
      </p:pic>
      <p:sp>
        <p:nvSpPr>
          <p:cNvPr id="79" name="Text 62"/>
          <p:cNvSpPr txBox="1"/>
          <p:nvPr/>
        </p:nvSpPr>
        <p:spPr>
          <a:xfrm>
            <a:off x="7204558" y="5734202"/>
            <a:ext cx="1739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Handling Strategies</a:t>
            </a:r>
            <a:endParaRPr lang="en-US" sz="1000" dirty="0"/>
          </a:p>
        </p:txBody>
      </p:sp>
      <p:sp>
        <p:nvSpPr>
          <p:cNvPr id="80" name="Text 63"/>
          <p:cNvSpPr txBox="1"/>
          <p:nvPr/>
        </p:nvSpPr>
        <p:spPr>
          <a:xfrm>
            <a:off x="7204558" y="5934456"/>
            <a:ext cx="2477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try-catch blocks &amp; fallbacks</a:t>
            </a:r>
            <a:endParaRPr lang="en-US" sz="900" dirty="0"/>
          </a:p>
        </p:txBody>
      </p:sp>
      <p:sp>
        <p:nvSpPr>
          <p:cNvPr id="81" name="Shape 6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65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3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57200" y="6572707"/>
            <a:ext cx="114300" cy="114300"/>
          </a:xfrm>
          <a:prstGeom prst="rect">
            <a:avLst/>
          </a:prstGeom>
        </p:spPr>
      </p:pic>
      <p:sp>
        <p:nvSpPr>
          <p:cNvPr id="84" name="Text 66"/>
          <p:cNvSpPr txBox="1"/>
          <p:nvPr/>
        </p:nvSpPr>
        <p:spPr>
          <a:xfrm>
            <a:off x="609905" y="6558077"/>
            <a:ext cx="1743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Major Challenges Addressed</a:t>
            </a:r>
            <a:endParaRPr lang="en-US" sz="900" dirty="0"/>
          </a:p>
        </p:txBody>
      </p:sp>
      <p:pic>
        <p:nvPicPr>
          <p:cNvPr id="85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2491740" y="6572707"/>
            <a:ext cx="114300" cy="114300"/>
          </a:xfrm>
          <a:prstGeom prst="rect">
            <a:avLst/>
          </a:prstGeom>
        </p:spPr>
      </p:pic>
      <p:sp>
        <p:nvSpPr>
          <p:cNvPr id="86" name="Text 67"/>
          <p:cNvSpPr txBox="1"/>
          <p:nvPr/>
        </p:nvSpPr>
        <p:spPr>
          <a:xfrm>
            <a:off x="2644445" y="6558077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Production System</a:t>
            </a:r>
            <a:endParaRPr lang="en-US" sz="900" dirty="0"/>
          </a:p>
        </p:txBody>
      </p:sp>
      <p:sp>
        <p:nvSpPr>
          <p:cNvPr id="87" name="Text 68"/>
          <p:cNvSpPr txBox="1"/>
          <p:nvPr/>
        </p:nvSpPr>
        <p:spPr>
          <a:xfrm>
            <a:off x="11292840" y="6558077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48</a:t>
            </a:r>
            <a:endParaRPr lang="en-US" sz="900" dirty="0"/>
          </a:p>
        </p:txBody>
      </p:sp>
      <p:sp>
        <p:nvSpPr>
          <p:cNvPr id="88" name="Shape 69"/>
          <p:cNvSpPr/>
          <p:nvPr/>
        </p:nvSpPr>
        <p:spPr>
          <a:xfrm>
            <a:off x="4907585" y="1257300"/>
            <a:ext cx="1733702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9" name="Image 17" descr="preencoded.png"/>
          <p:cNvPicPr>
            <a:picLocks noChangeAspect="1"/>
          </p:cNvPicPr>
          <p:nvPr/>
        </p:nvPicPr>
        <p:blipFill>
          <a:blip r:embed="rId20"/>
          <a:srcRect l="-3753" r="-3753"/>
          <a:stretch/>
        </p:blipFill>
        <p:spPr>
          <a:xfrm>
            <a:off x="5618074" y="1382573"/>
            <a:ext cx="304495" cy="323698"/>
          </a:xfrm>
          <a:prstGeom prst="rect">
            <a:avLst/>
          </a:prstGeom>
        </p:spPr>
      </p:pic>
      <p:sp>
        <p:nvSpPr>
          <p:cNvPr id="90" name="Shape 70"/>
          <p:cNvSpPr/>
          <p:nvPr/>
        </p:nvSpPr>
        <p:spPr>
          <a:xfrm>
            <a:off x="4907585" y="1981505"/>
            <a:ext cx="1733702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1" name="Image 18" descr="preencoded.png"/>
          <p:cNvPicPr>
            <a:picLocks noChangeAspect="1"/>
          </p:cNvPicPr>
          <p:nvPr/>
        </p:nvPicPr>
        <p:blipFill>
          <a:blip r:embed="rId20"/>
          <a:srcRect l="-3753" r="-3753"/>
          <a:stretch/>
        </p:blipFill>
        <p:spPr>
          <a:xfrm>
            <a:off x="5618074" y="2105863"/>
            <a:ext cx="304495" cy="323698"/>
          </a:xfrm>
          <a:prstGeom prst="rect">
            <a:avLst/>
          </a:prstGeom>
        </p:spPr>
      </p:pic>
      <p:sp>
        <p:nvSpPr>
          <p:cNvPr id="92" name="Shape 71"/>
          <p:cNvSpPr/>
          <p:nvPr/>
        </p:nvSpPr>
        <p:spPr>
          <a:xfrm>
            <a:off x="4907585" y="2704795"/>
            <a:ext cx="1733702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3" name="Image 19" descr="preencoded.png"/>
          <p:cNvPicPr>
            <a:picLocks noChangeAspect="1"/>
          </p:cNvPicPr>
          <p:nvPr/>
        </p:nvPicPr>
        <p:blipFill>
          <a:blip r:embed="rId20"/>
          <a:srcRect l="-3753" r="-3753"/>
          <a:stretch/>
        </p:blipFill>
        <p:spPr>
          <a:xfrm>
            <a:off x="5618074" y="2830068"/>
            <a:ext cx="304495" cy="323698"/>
          </a:xfrm>
          <a:prstGeom prst="rect">
            <a:avLst/>
          </a:prstGeom>
        </p:spPr>
      </p:pic>
      <p:sp>
        <p:nvSpPr>
          <p:cNvPr id="94" name="Shape 72"/>
          <p:cNvSpPr/>
          <p:nvPr/>
        </p:nvSpPr>
        <p:spPr>
          <a:xfrm>
            <a:off x="4907585" y="3429000"/>
            <a:ext cx="1733702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5" name="Image 20" descr="preencoded.png"/>
          <p:cNvPicPr>
            <a:picLocks noChangeAspect="1"/>
          </p:cNvPicPr>
          <p:nvPr/>
        </p:nvPicPr>
        <p:blipFill>
          <a:blip r:embed="rId20"/>
          <a:srcRect l="-3753" r="-3753"/>
          <a:stretch/>
        </p:blipFill>
        <p:spPr>
          <a:xfrm>
            <a:off x="5618074" y="3554273"/>
            <a:ext cx="304495" cy="323698"/>
          </a:xfrm>
          <a:prstGeom prst="rect">
            <a:avLst/>
          </a:prstGeom>
        </p:spPr>
      </p:pic>
      <p:sp>
        <p:nvSpPr>
          <p:cNvPr id="96" name="Shape 73"/>
          <p:cNvSpPr/>
          <p:nvPr/>
        </p:nvSpPr>
        <p:spPr>
          <a:xfrm>
            <a:off x="4907585" y="4153205"/>
            <a:ext cx="1733702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7" name="Image 21" descr="preencoded.png"/>
          <p:cNvPicPr>
            <a:picLocks noChangeAspect="1"/>
          </p:cNvPicPr>
          <p:nvPr/>
        </p:nvPicPr>
        <p:blipFill>
          <a:blip r:embed="rId20"/>
          <a:srcRect l="-3753" r="-3753"/>
          <a:stretch/>
        </p:blipFill>
        <p:spPr>
          <a:xfrm>
            <a:off x="5618074" y="4277563"/>
            <a:ext cx="304495" cy="323698"/>
          </a:xfrm>
          <a:prstGeom prst="rect">
            <a:avLst/>
          </a:prstGeom>
        </p:spPr>
      </p:pic>
      <p:sp>
        <p:nvSpPr>
          <p:cNvPr id="98" name="Shape 74"/>
          <p:cNvSpPr/>
          <p:nvPr/>
        </p:nvSpPr>
        <p:spPr>
          <a:xfrm>
            <a:off x="4907585" y="4876495"/>
            <a:ext cx="1733702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9" name="Image 22" descr="preencoded.png"/>
          <p:cNvPicPr>
            <a:picLocks noChangeAspect="1"/>
          </p:cNvPicPr>
          <p:nvPr/>
        </p:nvPicPr>
        <p:blipFill>
          <a:blip r:embed="rId20"/>
          <a:srcRect l="-3753" r="-3753"/>
          <a:stretch/>
        </p:blipFill>
        <p:spPr>
          <a:xfrm>
            <a:off x="5618074" y="5001768"/>
            <a:ext cx="304495" cy="323698"/>
          </a:xfrm>
          <a:prstGeom prst="rect">
            <a:avLst/>
          </a:prstGeom>
        </p:spPr>
      </p:pic>
      <p:sp>
        <p:nvSpPr>
          <p:cNvPr id="100" name="Shape 75"/>
          <p:cNvSpPr/>
          <p:nvPr/>
        </p:nvSpPr>
        <p:spPr>
          <a:xfrm>
            <a:off x="4907585" y="5600700"/>
            <a:ext cx="1733702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1" name="Image 23" descr="preencoded.png"/>
          <p:cNvPicPr>
            <a:picLocks noChangeAspect="1"/>
          </p:cNvPicPr>
          <p:nvPr/>
        </p:nvPicPr>
        <p:blipFill>
          <a:blip r:embed="rId20"/>
          <a:srcRect l="-3753" r="-3753"/>
          <a:stretch/>
        </p:blipFill>
        <p:spPr>
          <a:xfrm>
            <a:off x="5618074" y="5725973"/>
            <a:ext cx="304495" cy="323698"/>
          </a:xfrm>
          <a:prstGeom prst="rect">
            <a:avLst/>
          </a:prstGeom>
        </p:spPr>
      </p:pic>
      <p:sp>
        <p:nvSpPr>
          <p:cNvPr id="102" name="Shape 76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4" name="Image 24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06" name="Text 79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07" name="Image 25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08" name="Text 80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12" name="Text 43">
            <a:extLst>
              <a:ext uri="{FF2B5EF4-FFF2-40B4-BE49-F238E27FC236}">
                <a16:creationId xmlns:a16="http://schemas.microsoft.com/office/drawing/2014/main" id="{3DE62F60-DD54-2EB7-CE08-B84CC53B6285}"/>
              </a:ext>
            </a:extLst>
          </p:cNvPr>
          <p:cNvSpPr txBox="1"/>
          <p:nvPr/>
        </p:nvSpPr>
        <p:spPr>
          <a:xfrm>
            <a:off x="877824" y="5018684"/>
            <a:ext cx="1709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and solutions</a:t>
            </a:r>
            <a:endParaRPr lang="en-US" sz="1000" dirty="0"/>
          </a:p>
        </p:txBody>
      </p:sp>
      <p:sp>
        <p:nvSpPr>
          <p:cNvPr id="113" name="Shape 7">
            <a:extLst>
              <a:ext uri="{FF2B5EF4-FFF2-40B4-BE49-F238E27FC236}">
                <a16:creationId xmlns:a16="http://schemas.microsoft.com/office/drawing/2014/main" id="{7C9AF92F-1C1E-1280-9FE0-6309C6FF3A02}"/>
              </a:ext>
            </a:extLst>
          </p:cNvPr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4" name="Image 0" descr="preencoded.png">
            <a:extLst>
              <a:ext uri="{FF2B5EF4-FFF2-40B4-BE49-F238E27FC236}">
                <a16:creationId xmlns:a16="http://schemas.microsoft.com/office/drawing/2014/main" id="{96CF3B73-35B5-31AB-705D-0A4231596A52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115" name="Text 8">
            <a:extLst>
              <a:ext uri="{FF2B5EF4-FFF2-40B4-BE49-F238E27FC236}">
                <a16:creationId xmlns:a16="http://schemas.microsoft.com/office/drawing/2014/main" id="{1459342A-D18B-1007-30F1-6D01D1361A55}"/>
              </a:ext>
            </a:extLst>
          </p:cNvPr>
          <p:cNvSpPr txBox="1"/>
          <p:nvPr/>
        </p:nvSpPr>
        <p:spPr>
          <a:xfrm>
            <a:off x="990295" y="237744"/>
            <a:ext cx="6306617" cy="237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and solutions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26066" y="38405"/>
            <a:ext cx="3743554" cy="2210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4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400" dirty="0"/>
          </a:p>
        </p:txBody>
      </p:sp>
      <p:sp>
        <p:nvSpPr>
          <p:cNvPr id="6" name="Shape 4"/>
          <p:cNvSpPr/>
          <p:nvPr/>
        </p:nvSpPr>
        <p:spPr>
          <a:xfrm>
            <a:off x="0" y="2229307"/>
            <a:ext cx="914400" cy="18288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0" y="2572207"/>
            <a:ext cx="1218895" cy="2438705"/>
          </a:xfrm>
          <a:prstGeom prst="roundRect">
            <a:avLst>
              <a:gd name="adj" fmla="val 75019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0195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38582" y="286207"/>
            <a:ext cx="219456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90295" y="237744"/>
            <a:ext cx="4172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5: Conclusions &amp; Future Work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761695"/>
            <a:ext cx="121916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43346" y="1505102"/>
            <a:ext cx="705002" cy="761695"/>
          </a:xfrm>
          <a:prstGeom prst="roundRect">
            <a:avLst>
              <a:gd name="adj" fmla="val 12970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5896051" y="1657807"/>
            <a:ext cx="400507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499055" y="2514600"/>
            <a:ext cx="7629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Conclusions &amp; Future Work</a:t>
            </a:r>
            <a:endParaRPr lang="en-US" sz="4500" dirty="0"/>
          </a:p>
        </p:txBody>
      </p:sp>
      <p:sp>
        <p:nvSpPr>
          <p:cNvPr id="17" name="Shape 13"/>
          <p:cNvSpPr/>
          <p:nvPr/>
        </p:nvSpPr>
        <p:spPr>
          <a:xfrm>
            <a:off x="5486400" y="3448202"/>
            <a:ext cx="1218895" cy="75895"/>
          </a:xfrm>
          <a:prstGeom prst="rect">
            <a:avLst/>
          </a:prstGeom>
          <a:solidFill>
            <a:srgbClr val="C41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439619" y="3952951"/>
            <a:ext cx="74871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 of contributions, validation results, and strategic next steps for the research.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2965399" y="5257800"/>
            <a:ext cx="1752905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3203143" y="5400446"/>
            <a:ext cx="219456" cy="19019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013655" y="5257800"/>
            <a:ext cx="2009851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3536899" y="5400446"/>
            <a:ext cx="1057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5252314" y="5400446"/>
            <a:ext cx="219456" cy="19019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328002" y="5257800"/>
            <a:ext cx="1904695" cy="476402"/>
          </a:xfrm>
          <a:prstGeom prst="roundRect">
            <a:avLst>
              <a:gd name="adj" fmla="val 3071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5585155" y="5400446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Ahead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65746" y="5400446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70241" y="5400446"/>
            <a:ext cx="1239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Broader Impact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457200" y="6558077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1292840" y="6558077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49</a:t>
            </a:r>
            <a:endParaRPr lang="en-US" sz="9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298" y="286207"/>
            <a:ext cx="190195" cy="190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90295" y="152705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&amp; Future Work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90295" y="476402"/>
            <a:ext cx="13240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project.roadmap.v2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719158" y="295351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Final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838505"/>
            <a:ext cx="12191695" cy="55622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81305" y="1248156"/>
            <a:ext cx="23390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CONSTRAINTS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04795" y="1347826"/>
            <a:ext cx="1362456" cy="9144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1305" y="1714500"/>
            <a:ext cx="3685946" cy="1429207"/>
          </a:xfrm>
          <a:prstGeom prst="roundRect">
            <a:avLst>
              <a:gd name="adj" fmla="val 3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09905" y="1876349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952244"/>
            <a:ext cx="152705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8700" y="1933956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Overhead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09905" y="2266798"/>
            <a:ext cx="28821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system significantly slower than pipeline approach.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9905" y="2714854"/>
            <a:ext cx="1591056" cy="267005"/>
          </a:xfrm>
          <a:prstGeom prst="roundRect">
            <a:avLst>
              <a:gd name="adj" fmla="val 48924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6598" y="2786177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9302" y="2771546"/>
            <a:ext cx="685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15-30 mins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275027" y="2714854"/>
            <a:ext cx="1591056" cy="267005"/>
          </a:xfrm>
          <a:prstGeom prst="roundRect">
            <a:avLst>
              <a:gd name="adj" fmla="val 48924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31720" y="2786177"/>
            <a:ext cx="114300" cy="1143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484425" y="2771546"/>
            <a:ext cx="619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Cost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81305" y="3295498"/>
            <a:ext cx="3685946" cy="1410005"/>
          </a:xfrm>
          <a:prstGeom prst="roundRect">
            <a:avLst>
              <a:gd name="adj" fmla="val 3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09905" y="3457346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5800" y="3534156"/>
            <a:ext cx="152705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28700" y="3514954"/>
            <a:ext cx="972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Scope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09905" y="3847795"/>
            <a:ext cx="30339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Currently optimized for structured tabular data (CSV) only.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09905" y="4295851"/>
            <a:ext cx="800100" cy="247802"/>
          </a:xfrm>
          <a:prstGeom prst="roundRect">
            <a:avLst>
              <a:gd name="adj" fmla="val 56770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 txBox="1"/>
          <p:nvPr/>
        </p:nvSpPr>
        <p:spPr>
          <a:xfrm>
            <a:off x="685800" y="4334256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Series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1477670" y="4295851"/>
            <a:ext cx="381305" cy="247802"/>
          </a:xfrm>
          <a:prstGeom prst="roundRect">
            <a:avLst>
              <a:gd name="adj" fmla="val 56770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1553566" y="4334256"/>
            <a:ext cx="314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1930298" y="4295851"/>
            <a:ext cx="828446" cy="247802"/>
          </a:xfrm>
          <a:prstGeom prst="roundRect">
            <a:avLst>
              <a:gd name="adj" fmla="val 5677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 txBox="1"/>
          <p:nvPr/>
        </p:nvSpPr>
        <p:spPr>
          <a:xfrm>
            <a:off x="2015338" y="4343400"/>
            <a:ext cx="743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&lt;100k Rows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81305" y="4858207"/>
            <a:ext cx="3685946" cy="1505102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609905" y="5020056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5800" y="5095951"/>
            <a:ext cx="152705" cy="1527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28700" y="5076749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Customization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609905" y="5410505"/>
            <a:ext cx="25392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agent workflow graph limits user intervention.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771754" y="5857646"/>
            <a:ext cx="2296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algorithm hyperparameter tuning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771754" y="6048756"/>
            <a:ext cx="2115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swap agent roles dynamically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4444898" y="1248156"/>
            <a:ext cx="24149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6836969" y="1347826"/>
            <a:ext cx="4981651" cy="9144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4444898" y="1714500"/>
            <a:ext cx="7372807" cy="4304995"/>
          </a:xfrm>
          <a:prstGeom prst="roundRect">
            <a:avLst>
              <a:gd name="adj" fmla="val 5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4464101" y="1733702"/>
            <a:ext cx="1466698" cy="5806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4464101" y="2305202"/>
            <a:ext cx="1466698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 txBox="1"/>
          <p:nvPr/>
        </p:nvSpPr>
        <p:spPr>
          <a:xfrm>
            <a:off x="4616806" y="1857146"/>
            <a:ext cx="10579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ENHANCEMENT AREA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5929884" y="1733702"/>
            <a:ext cx="3305556" cy="5806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39"/>
          <p:cNvSpPr/>
          <p:nvPr/>
        </p:nvSpPr>
        <p:spPr>
          <a:xfrm>
            <a:off x="5929884" y="2305202"/>
            <a:ext cx="330555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 txBox="1"/>
          <p:nvPr/>
        </p:nvSpPr>
        <p:spPr>
          <a:xfrm>
            <a:off x="6081674" y="1943100"/>
            <a:ext cx="1638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IMPROVEMENT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9227210" y="1733702"/>
            <a:ext cx="1466698" cy="5806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2"/>
          <p:cNvSpPr/>
          <p:nvPr/>
        </p:nvSpPr>
        <p:spPr>
          <a:xfrm>
            <a:off x="9227210" y="2305202"/>
            <a:ext cx="1466698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3"/>
          <p:cNvSpPr txBox="1"/>
          <p:nvPr/>
        </p:nvSpPr>
        <p:spPr>
          <a:xfrm>
            <a:off x="9379001" y="1943100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10692994" y="1733702"/>
            <a:ext cx="1104595" cy="5806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10692994" y="2305202"/>
            <a:ext cx="11045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 txBox="1"/>
          <p:nvPr/>
        </p:nvSpPr>
        <p:spPr>
          <a:xfrm>
            <a:off x="10844784" y="1943100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4464101" y="2314346"/>
            <a:ext cx="1466698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8"/>
          <p:cNvSpPr/>
          <p:nvPr/>
        </p:nvSpPr>
        <p:spPr>
          <a:xfrm>
            <a:off x="4464101" y="3048610"/>
            <a:ext cx="14666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49"/>
          <p:cNvSpPr/>
          <p:nvPr/>
        </p:nvSpPr>
        <p:spPr>
          <a:xfrm>
            <a:off x="4616806" y="2552090"/>
            <a:ext cx="752551" cy="256946"/>
          </a:xfrm>
          <a:prstGeom prst="roundRect">
            <a:avLst>
              <a:gd name="adj" fmla="val 35587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40250" y="2627071"/>
            <a:ext cx="95098" cy="105156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4912157" y="2599639"/>
            <a:ext cx="414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</a:t>
            </a:r>
            <a:endParaRPr lang="en-US" sz="800" dirty="0"/>
          </a:p>
        </p:txBody>
      </p:sp>
      <p:sp>
        <p:nvSpPr>
          <p:cNvPr id="60" name="Shape 51"/>
          <p:cNvSpPr/>
          <p:nvPr/>
        </p:nvSpPr>
        <p:spPr>
          <a:xfrm>
            <a:off x="5929884" y="2314346"/>
            <a:ext cx="3305556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2"/>
          <p:cNvSpPr/>
          <p:nvPr/>
        </p:nvSpPr>
        <p:spPr>
          <a:xfrm>
            <a:off x="5929884" y="3048610"/>
            <a:ext cx="3305556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3"/>
          <p:cNvSpPr txBox="1"/>
          <p:nvPr/>
        </p:nvSpPr>
        <p:spPr>
          <a:xfrm>
            <a:off x="6081674" y="2515514"/>
            <a:ext cx="16212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Agent Execution</a:t>
            </a:r>
            <a:endParaRPr lang="en-US" sz="1000" dirty="0"/>
          </a:p>
        </p:txBody>
      </p:sp>
      <p:sp>
        <p:nvSpPr>
          <p:cNvPr id="63" name="Text 54"/>
          <p:cNvSpPr txBox="1"/>
          <p:nvPr/>
        </p:nvSpPr>
        <p:spPr>
          <a:xfrm>
            <a:off x="6081674" y="2710282"/>
            <a:ext cx="2743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Coding, Search, and Viz agents concurrently</a:t>
            </a:r>
            <a:endParaRPr lang="en-US" sz="900" dirty="0"/>
          </a:p>
        </p:txBody>
      </p:sp>
      <p:sp>
        <p:nvSpPr>
          <p:cNvPr id="64" name="Shape 55"/>
          <p:cNvSpPr/>
          <p:nvPr/>
        </p:nvSpPr>
        <p:spPr>
          <a:xfrm>
            <a:off x="9227210" y="2314346"/>
            <a:ext cx="1466698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56"/>
          <p:cNvSpPr/>
          <p:nvPr/>
        </p:nvSpPr>
        <p:spPr>
          <a:xfrm>
            <a:off x="9227210" y="3048610"/>
            <a:ext cx="14666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57"/>
          <p:cNvSpPr txBox="1"/>
          <p:nvPr/>
        </p:nvSpPr>
        <p:spPr>
          <a:xfrm>
            <a:off x="9379001" y="2527402"/>
            <a:ext cx="78364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 Latency Reduction</a:t>
            </a:r>
            <a:endParaRPr lang="en-US" sz="1000" dirty="0"/>
          </a:p>
        </p:txBody>
      </p:sp>
      <p:sp>
        <p:nvSpPr>
          <p:cNvPr id="67" name="Shape 58"/>
          <p:cNvSpPr/>
          <p:nvPr/>
        </p:nvSpPr>
        <p:spPr>
          <a:xfrm>
            <a:off x="10692994" y="2314346"/>
            <a:ext cx="1104595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59"/>
          <p:cNvSpPr/>
          <p:nvPr/>
        </p:nvSpPr>
        <p:spPr>
          <a:xfrm>
            <a:off x="10692994" y="3048610"/>
            <a:ext cx="1104595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0"/>
          <p:cNvSpPr txBox="1"/>
          <p:nvPr/>
        </p:nvSpPr>
        <p:spPr>
          <a:xfrm>
            <a:off x="10844784" y="2601468"/>
            <a:ext cx="4882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Dev</a:t>
            </a:r>
            <a:endParaRPr lang="en-US" sz="1000" dirty="0"/>
          </a:p>
        </p:txBody>
      </p:sp>
      <p:sp>
        <p:nvSpPr>
          <p:cNvPr id="70" name="Shape 61"/>
          <p:cNvSpPr/>
          <p:nvPr/>
        </p:nvSpPr>
        <p:spPr>
          <a:xfrm>
            <a:off x="4464101" y="3054096"/>
            <a:ext cx="1466698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2"/>
          <p:cNvSpPr/>
          <p:nvPr/>
        </p:nvSpPr>
        <p:spPr>
          <a:xfrm>
            <a:off x="4464101" y="3788359"/>
            <a:ext cx="14666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3"/>
          <p:cNvSpPr/>
          <p:nvPr/>
        </p:nvSpPr>
        <p:spPr>
          <a:xfrm>
            <a:off x="4616806" y="3290926"/>
            <a:ext cx="761695" cy="256946"/>
          </a:xfrm>
          <a:prstGeom prst="roundRect">
            <a:avLst>
              <a:gd name="adj" fmla="val 355872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740250" y="3365906"/>
            <a:ext cx="105156" cy="105156"/>
          </a:xfrm>
          <a:prstGeom prst="rect">
            <a:avLst/>
          </a:prstGeom>
        </p:spPr>
      </p:pic>
      <p:sp>
        <p:nvSpPr>
          <p:cNvPr id="74" name="Text 64"/>
          <p:cNvSpPr txBox="1"/>
          <p:nvPr/>
        </p:nvSpPr>
        <p:spPr>
          <a:xfrm>
            <a:off x="4921301" y="3338474"/>
            <a:ext cx="414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800" dirty="0"/>
          </a:p>
        </p:txBody>
      </p:sp>
      <p:sp>
        <p:nvSpPr>
          <p:cNvPr id="75" name="Shape 65"/>
          <p:cNvSpPr/>
          <p:nvPr/>
        </p:nvSpPr>
        <p:spPr>
          <a:xfrm>
            <a:off x="5929884" y="3054096"/>
            <a:ext cx="3305556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66"/>
          <p:cNvSpPr/>
          <p:nvPr/>
        </p:nvSpPr>
        <p:spPr>
          <a:xfrm>
            <a:off x="5929884" y="3788359"/>
            <a:ext cx="3305556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67"/>
          <p:cNvSpPr txBox="1"/>
          <p:nvPr/>
        </p:nvSpPr>
        <p:spPr>
          <a:xfrm>
            <a:off x="6081674" y="3255264"/>
            <a:ext cx="15837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Data Support</a:t>
            </a:r>
            <a:endParaRPr lang="en-US" sz="1000" dirty="0"/>
          </a:p>
        </p:txBody>
      </p:sp>
      <p:sp>
        <p:nvSpPr>
          <p:cNvPr id="78" name="Text 68"/>
          <p:cNvSpPr txBox="1"/>
          <p:nvPr/>
        </p:nvSpPr>
        <p:spPr>
          <a:xfrm>
            <a:off x="6081674" y="3449117"/>
            <a:ext cx="2915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 for Time Series, NLP, and Computer Vision</a:t>
            </a:r>
            <a:endParaRPr lang="en-US" sz="900" dirty="0"/>
          </a:p>
        </p:txBody>
      </p:sp>
      <p:sp>
        <p:nvSpPr>
          <p:cNvPr id="79" name="Shape 69"/>
          <p:cNvSpPr/>
          <p:nvPr/>
        </p:nvSpPr>
        <p:spPr>
          <a:xfrm>
            <a:off x="9227210" y="3054096"/>
            <a:ext cx="1466698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0"/>
          <p:cNvSpPr/>
          <p:nvPr/>
        </p:nvSpPr>
        <p:spPr>
          <a:xfrm>
            <a:off x="9227210" y="3788359"/>
            <a:ext cx="14666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1"/>
          <p:cNvSpPr txBox="1"/>
          <p:nvPr/>
        </p:nvSpPr>
        <p:spPr>
          <a:xfrm>
            <a:off x="9379001" y="3266237"/>
            <a:ext cx="86959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Universal Applicability</a:t>
            </a:r>
            <a:endParaRPr lang="en-US" sz="1000" dirty="0"/>
          </a:p>
        </p:txBody>
      </p:sp>
      <p:sp>
        <p:nvSpPr>
          <p:cNvPr id="82" name="Shape 72"/>
          <p:cNvSpPr/>
          <p:nvPr/>
        </p:nvSpPr>
        <p:spPr>
          <a:xfrm>
            <a:off x="10692994" y="3054096"/>
            <a:ext cx="1104595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73"/>
          <p:cNvSpPr/>
          <p:nvPr/>
        </p:nvSpPr>
        <p:spPr>
          <a:xfrm>
            <a:off x="10692994" y="3788359"/>
            <a:ext cx="1104595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4"/>
          <p:cNvSpPr txBox="1"/>
          <p:nvPr/>
        </p:nvSpPr>
        <p:spPr>
          <a:xfrm>
            <a:off x="10844784" y="3340303"/>
            <a:ext cx="5925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000" dirty="0"/>
          </a:p>
        </p:txBody>
      </p:sp>
      <p:sp>
        <p:nvSpPr>
          <p:cNvPr id="85" name="Shape 75"/>
          <p:cNvSpPr/>
          <p:nvPr/>
        </p:nvSpPr>
        <p:spPr>
          <a:xfrm>
            <a:off x="4464101" y="3792931"/>
            <a:ext cx="1466698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76"/>
          <p:cNvSpPr/>
          <p:nvPr/>
        </p:nvSpPr>
        <p:spPr>
          <a:xfrm>
            <a:off x="4464101" y="4527194"/>
            <a:ext cx="14666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77"/>
          <p:cNvSpPr/>
          <p:nvPr/>
        </p:nvSpPr>
        <p:spPr>
          <a:xfrm>
            <a:off x="4616806" y="4030675"/>
            <a:ext cx="1028700" cy="256946"/>
          </a:xfrm>
          <a:prstGeom prst="roundRect">
            <a:avLst>
              <a:gd name="adj" fmla="val 355872"/>
            </a:avLst>
          </a:prstGeom>
          <a:solidFill>
            <a:srgbClr val="FAF5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40250" y="4105656"/>
            <a:ext cx="105156" cy="105156"/>
          </a:xfrm>
          <a:prstGeom prst="rect">
            <a:avLst/>
          </a:prstGeom>
        </p:spPr>
      </p:pic>
      <p:sp>
        <p:nvSpPr>
          <p:cNvPr id="89" name="Text 78"/>
          <p:cNvSpPr txBox="1"/>
          <p:nvPr/>
        </p:nvSpPr>
        <p:spPr>
          <a:xfrm>
            <a:off x="4921301" y="4078224"/>
            <a:ext cx="68031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90" name="Shape 79"/>
          <p:cNvSpPr/>
          <p:nvPr/>
        </p:nvSpPr>
        <p:spPr>
          <a:xfrm>
            <a:off x="5929884" y="3792931"/>
            <a:ext cx="3305556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0"/>
          <p:cNvSpPr/>
          <p:nvPr/>
        </p:nvSpPr>
        <p:spPr>
          <a:xfrm>
            <a:off x="5929884" y="4527194"/>
            <a:ext cx="3305556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1"/>
          <p:cNvSpPr txBox="1"/>
          <p:nvPr/>
        </p:nvSpPr>
        <p:spPr>
          <a:xfrm>
            <a:off x="6081674" y="3994099"/>
            <a:ext cx="16687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Meta-Learning Optimizer</a:t>
            </a:r>
            <a:endParaRPr lang="en-US" sz="1000" dirty="0"/>
          </a:p>
        </p:txBody>
      </p:sp>
      <p:sp>
        <p:nvSpPr>
          <p:cNvPr id="93" name="Text 82"/>
          <p:cNvSpPr txBox="1"/>
          <p:nvPr/>
        </p:nvSpPr>
        <p:spPr>
          <a:xfrm>
            <a:off x="6081674" y="4188866"/>
            <a:ext cx="2305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learn from past analysis mistakes</a:t>
            </a:r>
            <a:endParaRPr lang="en-US" sz="900" dirty="0"/>
          </a:p>
        </p:txBody>
      </p:sp>
      <p:sp>
        <p:nvSpPr>
          <p:cNvPr id="94" name="Shape 83"/>
          <p:cNvSpPr/>
          <p:nvPr/>
        </p:nvSpPr>
        <p:spPr>
          <a:xfrm>
            <a:off x="9227210" y="3792931"/>
            <a:ext cx="1466698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84"/>
          <p:cNvSpPr/>
          <p:nvPr/>
        </p:nvSpPr>
        <p:spPr>
          <a:xfrm>
            <a:off x="9227210" y="4527194"/>
            <a:ext cx="14666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85"/>
          <p:cNvSpPr txBox="1"/>
          <p:nvPr/>
        </p:nvSpPr>
        <p:spPr>
          <a:xfrm>
            <a:off x="9379001" y="4005986"/>
            <a:ext cx="102138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Self-Improving Core</a:t>
            </a:r>
            <a:endParaRPr lang="en-US" sz="1000" dirty="0"/>
          </a:p>
        </p:txBody>
      </p:sp>
      <p:sp>
        <p:nvSpPr>
          <p:cNvPr id="97" name="Shape 86"/>
          <p:cNvSpPr/>
          <p:nvPr/>
        </p:nvSpPr>
        <p:spPr>
          <a:xfrm>
            <a:off x="10692994" y="3792931"/>
            <a:ext cx="1104595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87"/>
          <p:cNvSpPr/>
          <p:nvPr/>
        </p:nvSpPr>
        <p:spPr>
          <a:xfrm>
            <a:off x="10692994" y="4527194"/>
            <a:ext cx="1104595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88"/>
          <p:cNvSpPr txBox="1"/>
          <p:nvPr/>
        </p:nvSpPr>
        <p:spPr>
          <a:xfrm>
            <a:off x="10844784" y="4080053"/>
            <a:ext cx="5925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000" dirty="0"/>
          </a:p>
        </p:txBody>
      </p:sp>
      <p:sp>
        <p:nvSpPr>
          <p:cNvPr id="100" name="Shape 89"/>
          <p:cNvSpPr/>
          <p:nvPr/>
        </p:nvSpPr>
        <p:spPr>
          <a:xfrm>
            <a:off x="4464101" y="4532681"/>
            <a:ext cx="1466698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0"/>
          <p:cNvSpPr/>
          <p:nvPr/>
        </p:nvSpPr>
        <p:spPr>
          <a:xfrm>
            <a:off x="4464101" y="5266944"/>
            <a:ext cx="14666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91"/>
          <p:cNvSpPr/>
          <p:nvPr/>
        </p:nvSpPr>
        <p:spPr>
          <a:xfrm>
            <a:off x="4616806" y="4769510"/>
            <a:ext cx="1152144" cy="256946"/>
          </a:xfrm>
          <a:prstGeom prst="roundRect">
            <a:avLst>
              <a:gd name="adj" fmla="val 355872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3" name="Image 9" descr="preencoded.png"/>
          <p:cNvPicPr>
            <a:picLocks noChangeAspect="1"/>
          </p:cNvPicPr>
          <p:nvPr/>
        </p:nvPicPr>
        <p:blipFill>
          <a:blip r:embed="rId12"/>
          <a:srcRect l="-783" r="-783"/>
          <a:stretch/>
        </p:blipFill>
        <p:spPr>
          <a:xfrm>
            <a:off x="4740250" y="4845406"/>
            <a:ext cx="133502" cy="105156"/>
          </a:xfrm>
          <a:prstGeom prst="rect">
            <a:avLst/>
          </a:prstGeom>
        </p:spPr>
      </p:pic>
      <p:sp>
        <p:nvSpPr>
          <p:cNvPr id="104" name="Text 92"/>
          <p:cNvSpPr txBox="1"/>
          <p:nvPr/>
        </p:nvSpPr>
        <p:spPr>
          <a:xfrm>
            <a:off x="4949647" y="4817974"/>
            <a:ext cx="77541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</a:t>
            </a:r>
            <a:endParaRPr lang="en-US" sz="800" dirty="0"/>
          </a:p>
        </p:txBody>
      </p:sp>
      <p:sp>
        <p:nvSpPr>
          <p:cNvPr id="105" name="Shape 93"/>
          <p:cNvSpPr/>
          <p:nvPr/>
        </p:nvSpPr>
        <p:spPr>
          <a:xfrm>
            <a:off x="5929884" y="4532681"/>
            <a:ext cx="3305556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94"/>
          <p:cNvSpPr/>
          <p:nvPr/>
        </p:nvSpPr>
        <p:spPr>
          <a:xfrm>
            <a:off x="5929884" y="5266944"/>
            <a:ext cx="3305556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95"/>
          <p:cNvSpPr txBox="1"/>
          <p:nvPr/>
        </p:nvSpPr>
        <p:spPr>
          <a:xfrm>
            <a:off x="6081674" y="4733849"/>
            <a:ext cx="1221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Multi-User Teams</a:t>
            </a:r>
            <a:endParaRPr lang="en-US" sz="1000" dirty="0"/>
          </a:p>
        </p:txBody>
      </p:sp>
      <p:sp>
        <p:nvSpPr>
          <p:cNvPr id="108" name="Text 96"/>
          <p:cNvSpPr txBox="1"/>
          <p:nvPr/>
        </p:nvSpPr>
        <p:spPr>
          <a:xfrm>
            <a:off x="6081674" y="4927702"/>
            <a:ext cx="2677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state for human researchers + AI agents</a:t>
            </a:r>
            <a:endParaRPr lang="en-US" sz="900" dirty="0"/>
          </a:p>
        </p:txBody>
      </p:sp>
      <p:sp>
        <p:nvSpPr>
          <p:cNvPr id="109" name="Shape 97"/>
          <p:cNvSpPr/>
          <p:nvPr/>
        </p:nvSpPr>
        <p:spPr>
          <a:xfrm>
            <a:off x="9227210" y="4532681"/>
            <a:ext cx="1466698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98"/>
          <p:cNvSpPr/>
          <p:nvPr/>
        </p:nvSpPr>
        <p:spPr>
          <a:xfrm>
            <a:off x="9227210" y="5266944"/>
            <a:ext cx="14666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99"/>
          <p:cNvSpPr txBox="1"/>
          <p:nvPr/>
        </p:nvSpPr>
        <p:spPr>
          <a:xfrm>
            <a:off x="9379001" y="4821631"/>
            <a:ext cx="10314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Integration</a:t>
            </a:r>
            <a:endParaRPr lang="en-US" sz="1000" dirty="0"/>
          </a:p>
        </p:txBody>
      </p:sp>
      <p:sp>
        <p:nvSpPr>
          <p:cNvPr id="112" name="Shape 100"/>
          <p:cNvSpPr/>
          <p:nvPr/>
        </p:nvSpPr>
        <p:spPr>
          <a:xfrm>
            <a:off x="10692994" y="4532681"/>
            <a:ext cx="1104595" cy="7434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01"/>
          <p:cNvSpPr/>
          <p:nvPr/>
        </p:nvSpPr>
        <p:spPr>
          <a:xfrm>
            <a:off x="10692994" y="5266944"/>
            <a:ext cx="1104595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2"/>
          <p:cNvSpPr txBox="1"/>
          <p:nvPr/>
        </p:nvSpPr>
        <p:spPr>
          <a:xfrm>
            <a:off x="10844784" y="4819802"/>
            <a:ext cx="63093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2025</a:t>
            </a:r>
            <a:endParaRPr lang="en-US" sz="1000" dirty="0"/>
          </a:p>
        </p:txBody>
      </p:sp>
      <p:sp>
        <p:nvSpPr>
          <p:cNvPr id="115" name="Shape 103"/>
          <p:cNvSpPr/>
          <p:nvPr/>
        </p:nvSpPr>
        <p:spPr>
          <a:xfrm>
            <a:off x="4464101" y="5272430"/>
            <a:ext cx="1466698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04"/>
          <p:cNvSpPr/>
          <p:nvPr/>
        </p:nvSpPr>
        <p:spPr>
          <a:xfrm>
            <a:off x="4616806" y="5508346"/>
            <a:ext cx="1057046" cy="256946"/>
          </a:xfrm>
          <a:prstGeom prst="roundRect">
            <a:avLst>
              <a:gd name="adj" fmla="val 355872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7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740250" y="5584241"/>
            <a:ext cx="105156" cy="105156"/>
          </a:xfrm>
          <a:prstGeom prst="rect">
            <a:avLst/>
          </a:prstGeom>
        </p:spPr>
      </p:pic>
      <p:sp>
        <p:nvSpPr>
          <p:cNvPr id="118" name="Text 105"/>
          <p:cNvSpPr txBox="1"/>
          <p:nvPr/>
        </p:nvSpPr>
        <p:spPr>
          <a:xfrm>
            <a:off x="4921301" y="5555894"/>
            <a:ext cx="7086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119" name="Shape 106"/>
          <p:cNvSpPr/>
          <p:nvPr/>
        </p:nvSpPr>
        <p:spPr>
          <a:xfrm>
            <a:off x="5929884" y="5272430"/>
            <a:ext cx="3305556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07"/>
          <p:cNvSpPr txBox="1"/>
          <p:nvPr/>
        </p:nvSpPr>
        <p:spPr>
          <a:xfrm>
            <a:off x="6081674" y="5472684"/>
            <a:ext cx="15736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API &amp; IDE Plugins</a:t>
            </a:r>
            <a:endParaRPr lang="en-US" sz="1000" dirty="0"/>
          </a:p>
        </p:txBody>
      </p:sp>
      <p:sp>
        <p:nvSpPr>
          <p:cNvPr id="121" name="Text 108"/>
          <p:cNvSpPr txBox="1"/>
          <p:nvPr/>
        </p:nvSpPr>
        <p:spPr>
          <a:xfrm>
            <a:off x="6081674" y="5666537"/>
            <a:ext cx="2286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Jupyter Notebook &amp; VS Code extensions</a:t>
            </a:r>
            <a:endParaRPr lang="en-US" sz="900" dirty="0"/>
          </a:p>
        </p:txBody>
      </p:sp>
      <p:sp>
        <p:nvSpPr>
          <p:cNvPr id="122" name="Shape 109"/>
          <p:cNvSpPr/>
          <p:nvPr/>
        </p:nvSpPr>
        <p:spPr>
          <a:xfrm>
            <a:off x="9227210" y="5272430"/>
            <a:ext cx="1466698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10"/>
          <p:cNvSpPr txBox="1"/>
          <p:nvPr/>
        </p:nvSpPr>
        <p:spPr>
          <a:xfrm>
            <a:off x="9379001" y="5483657"/>
            <a:ext cx="73609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Adoption</a:t>
            </a:r>
            <a:endParaRPr lang="en-US" sz="1000" dirty="0"/>
          </a:p>
        </p:txBody>
      </p:sp>
      <p:sp>
        <p:nvSpPr>
          <p:cNvPr id="124" name="Shape 111"/>
          <p:cNvSpPr/>
          <p:nvPr/>
        </p:nvSpPr>
        <p:spPr>
          <a:xfrm>
            <a:off x="10692994" y="5272430"/>
            <a:ext cx="1104595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12"/>
          <p:cNvSpPr txBox="1"/>
          <p:nvPr/>
        </p:nvSpPr>
        <p:spPr>
          <a:xfrm>
            <a:off x="10844784" y="5558638"/>
            <a:ext cx="6409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2025</a:t>
            </a:r>
            <a:endParaRPr lang="en-US" sz="1000" dirty="0"/>
          </a:p>
        </p:txBody>
      </p:sp>
      <p:sp>
        <p:nvSpPr>
          <p:cNvPr id="126" name="Shape 1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14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8" name="Image 11" descr="preencoded.png"/>
          <p:cNvPicPr>
            <a:picLocks noChangeAspect="1"/>
          </p:cNvPicPr>
          <p:nvPr/>
        </p:nvPicPr>
        <p:blipFill>
          <a:blip r:embed="rId14"/>
          <a:srcRect l="-2571" r="-2571"/>
          <a:stretch/>
        </p:blipFill>
        <p:spPr>
          <a:xfrm>
            <a:off x="457200" y="6572707"/>
            <a:ext cx="105156" cy="114300"/>
          </a:xfrm>
          <a:prstGeom prst="rect">
            <a:avLst/>
          </a:prstGeom>
        </p:spPr>
      </p:pic>
      <p:sp>
        <p:nvSpPr>
          <p:cNvPr id="129" name="Text 115"/>
          <p:cNvSpPr txBox="1"/>
          <p:nvPr/>
        </p:nvSpPr>
        <p:spPr>
          <a:xfrm>
            <a:off x="599846" y="6558077"/>
            <a:ext cx="12481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Version 2.0</a:t>
            </a:r>
            <a:endParaRPr lang="en-US" sz="900" dirty="0"/>
          </a:p>
        </p:txBody>
      </p:sp>
      <p:pic>
        <p:nvPicPr>
          <p:cNvPr id="130" name="Image 12" descr="preencoded.png"/>
          <p:cNvPicPr>
            <a:picLocks noChangeAspect="1"/>
          </p:cNvPicPr>
          <p:nvPr/>
        </p:nvPicPr>
        <p:blipFill>
          <a:blip r:embed="rId15"/>
          <a:srcRect l="-2571" r="-2571"/>
          <a:stretch/>
        </p:blipFill>
        <p:spPr>
          <a:xfrm>
            <a:off x="1981505" y="6572707"/>
            <a:ext cx="105156" cy="114300"/>
          </a:xfrm>
          <a:prstGeom prst="rect">
            <a:avLst/>
          </a:prstGeom>
        </p:spPr>
      </p:pic>
      <p:sp>
        <p:nvSpPr>
          <p:cNvPr id="131" name="Text 116"/>
          <p:cNvSpPr txBox="1"/>
          <p:nvPr/>
        </p:nvSpPr>
        <p:spPr>
          <a:xfrm>
            <a:off x="2124151" y="6558077"/>
            <a:ext cx="1381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Release: Jan 2026</a:t>
            </a:r>
            <a:endParaRPr lang="en-US" sz="900" dirty="0"/>
          </a:p>
        </p:txBody>
      </p:sp>
      <p:sp>
        <p:nvSpPr>
          <p:cNvPr id="132" name="Text 117"/>
          <p:cNvSpPr txBox="1"/>
          <p:nvPr/>
        </p:nvSpPr>
        <p:spPr>
          <a:xfrm>
            <a:off x="11323015" y="6558077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51</a:t>
            </a:r>
            <a:endParaRPr lang="en-US" sz="900" dirty="0"/>
          </a:p>
        </p:txBody>
      </p:sp>
      <p:sp>
        <p:nvSpPr>
          <p:cNvPr id="133" name="Shape 118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5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37" name="Text 121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138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139" name="Text 122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134" name="Text 8">
            <a:extLst>
              <a:ext uri="{FF2B5EF4-FFF2-40B4-BE49-F238E27FC236}">
                <a16:creationId xmlns:a16="http://schemas.microsoft.com/office/drawing/2014/main" id="{97B118EA-60DE-A061-5A7E-B182353F864B}"/>
              </a:ext>
            </a:extLst>
          </p:cNvPr>
          <p:cNvSpPr txBox="1"/>
          <p:nvPr/>
        </p:nvSpPr>
        <p:spPr>
          <a:xfrm>
            <a:off x="359816" y="238200"/>
            <a:ext cx="4172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Improvements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9" r="-9"/>
          <a:stretch/>
        </p:blipFill>
        <p:spPr>
          <a:xfrm>
            <a:off x="9144000" y="4190695"/>
            <a:ext cx="3810305" cy="304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83326" y="33833"/>
            <a:ext cx="5790895" cy="3476549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52744" y="691286"/>
            <a:ext cx="5162702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52744" y="13898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403" r="-1403"/>
          <a:stretch/>
        </p:blipFill>
        <p:spPr>
          <a:xfrm>
            <a:off x="6038698" y="239573"/>
            <a:ext cx="209398" cy="1810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39105" y="3587191"/>
            <a:ext cx="5790895" cy="3086100"/>
          </a:xfrm>
          <a:prstGeom prst="roundRect">
            <a:avLst>
              <a:gd name="adj" fmla="val 10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952744" y="4473245"/>
            <a:ext cx="5162702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6486754" y="149047"/>
            <a:ext cx="18150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Information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86754" y="386791"/>
            <a:ext cx="1828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in touch or explore the code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67044" y="1091794"/>
            <a:ext cx="304495" cy="304495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52998" y="1177747"/>
            <a:ext cx="133502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24244" y="1044245"/>
            <a:ext cx="476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6486754" y="3930091"/>
            <a:ext cx="17007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Acknowledgments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486754" y="4167835"/>
            <a:ext cx="1848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thanks to our supporters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6524244" y="1234440"/>
            <a:ext cx="2115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anuragkj@andrew.cmu.edu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67044" y="1796796"/>
            <a:ext cx="304495" cy="304495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613" r="-1613"/>
          <a:stretch/>
        </p:blipFill>
        <p:spPr>
          <a:xfrm>
            <a:off x="6152998" y="1881835"/>
            <a:ext cx="133502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24244" y="1749247"/>
            <a:ext cx="562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6524244" y="1939442"/>
            <a:ext cx="2743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</a:t>
            </a:r>
            <a:r>
              <a:rPr lang="en-US" sz="1200" dirty="0" err="1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anuragkj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en-US" sz="1200" dirty="0" err="1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DS_Final_Project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067044" y="2501798"/>
            <a:ext cx="304495" cy="304495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l="-2838" r="-2838"/>
          <a:stretch/>
        </p:blipFill>
        <p:spPr>
          <a:xfrm>
            <a:off x="6157570" y="2586838"/>
            <a:ext cx="123444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524244" y="2453335"/>
            <a:ext cx="11814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6524244" y="2644445"/>
            <a:ext cx="2429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anuragkj.github.io/project-docs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952744" y="392094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53328" y="4020617"/>
            <a:ext cx="181051" cy="181051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181344" y="4721047"/>
            <a:ext cx="489021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 Leo for guidance and feedback throughout the research process.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6181344" y="5269687"/>
            <a:ext cx="496702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CMU Data Science Program for providing computational resources and academic support.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6181344" y="5817413"/>
            <a:ext cx="459486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Community especially the teams behind LangChain, LangGraph, and OpenAI for their transformative tools.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6596482"/>
            <a:ext cx="2400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Science Workflow System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1301984" y="6596482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55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0" y="0"/>
            <a:ext cx="4876495" cy="647669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609905" y="552298"/>
            <a:ext cx="27624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Thank</a:t>
            </a:r>
            <a:endParaRPr lang="en-US" sz="5400" dirty="0"/>
          </a:p>
        </p:txBody>
      </p:sp>
      <p:sp>
        <p:nvSpPr>
          <p:cNvPr id="37" name="Text 29"/>
          <p:cNvSpPr txBox="1"/>
          <p:nvPr/>
        </p:nvSpPr>
        <p:spPr>
          <a:xfrm>
            <a:off x="609905" y="1306678"/>
            <a:ext cx="1762963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</a:t>
            </a:r>
            <a:endParaRPr lang="en-US" sz="5400" dirty="0"/>
          </a:p>
        </p:txBody>
      </p:sp>
      <p:sp>
        <p:nvSpPr>
          <p:cNvPr id="38" name="Shape 30"/>
          <p:cNvSpPr/>
          <p:nvPr/>
        </p:nvSpPr>
        <p:spPr>
          <a:xfrm>
            <a:off x="609905" y="2347265"/>
            <a:ext cx="38405" cy="93360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 txBox="1"/>
          <p:nvPr/>
        </p:nvSpPr>
        <p:spPr>
          <a:xfrm>
            <a:off x="875995" y="2366467"/>
            <a:ext cx="1877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Anurag Kumar Jha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875995" y="2660904"/>
            <a:ext cx="17199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Science Final Project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875995" y="2994660"/>
            <a:ext cx="2257654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 txBox="1"/>
          <p:nvPr/>
        </p:nvSpPr>
        <p:spPr>
          <a:xfrm>
            <a:off x="961949" y="3061411"/>
            <a:ext cx="21863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Carnegie Mellon University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09905" y="3909974"/>
            <a:ext cx="914400" cy="914400"/>
          </a:xfrm>
          <a:prstGeom prst="ellipse">
            <a:avLst/>
          </a:prstGeom>
          <a:solidFill>
            <a:srgbClr val="EF4444"/>
          </a:solidFill>
          <a:ln/>
          <a:effectLst>
            <a:outerShdw blurRad="139700" dist="101600" dir="5400000" algn="bl" rotWithShape="0">
              <a:srgbClr val="EF444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609905" y="3909974"/>
            <a:ext cx="914400" cy="914400"/>
          </a:xfrm>
          <a:prstGeom prst="ellips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t="-120" b="-120"/>
          <a:stretch/>
        </p:blipFill>
        <p:spPr>
          <a:xfrm>
            <a:off x="947318" y="4176979"/>
            <a:ext cx="237744" cy="381305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609905" y="5062118"/>
            <a:ext cx="1448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47" name="Text 38"/>
          <p:cNvSpPr txBox="1"/>
          <p:nvPr/>
        </p:nvSpPr>
        <p:spPr>
          <a:xfrm>
            <a:off x="609905" y="5453482"/>
            <a:ext cx="29196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Happy to discuss methodology, architecture,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609905" y="5670194"/>
            <a:ext cx="1729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implementation details.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1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7703</Words>
  <Application>Microsoft Office PowerPoint</Application>
  <PresentationFormat>Widescreen</PresentationFormat>
  <Paragraphs>2064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Aptos</vt:lpstr>
      <vt:lpstr>Aptos Display</vt:lpstr>
      <vt:lpstr>Arial</vt:lpstr>
      <vt:lpstr>Courier New</vt:lpstr>
      <vt:lpstr>Inter</vt:lpstr>
      <vt:lpstr>Merriweather</vt:lpstr>
      <vt:lpstr>ui-monospace</vt:lpstr>
      <vt:lpstr>ui-sans-serif</vt:lpstr>
      <vt:lpstr>ui-serif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Jha</dc:creator>
  <cp:lastModifiedBy>Anurag Jha</cp:lastModifiedBy>
  <cp:revision>9</cp:revision>
  <dcterms:created xsi:type="dcterms:W3CDTF">2025-11-24T06:50:23Z</dcterms:created>
  <dcterms:modified xsi:type="dcterms:W3CDTF">2025-11-24T08:53:31Z</dcterms:modified>
</cp:coreProperties>
</file>